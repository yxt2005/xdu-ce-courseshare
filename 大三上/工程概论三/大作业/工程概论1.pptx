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26"/>
  </p:handoutMasterIdLst>
  <p:sldIdLst>
    <p:sldId id="257" r:id="rId3"/>
    <p:sldId id="259" r:id="rId4"/>
    <p:sldId id="261" r:id="rId5"/>
    <p:sldId id="263" r:id="rId7"/>
    <p:sldId id="265" r:id="rId8"/>
    <p:sldId id="266" r:id="rId9"/>
    <p:sldId id="269" r:id="rId10"/>
    <p:sldId id="271" r:id="rId11"/>
    <p:sldId id="272" r:id="rId12"/>
    <p:sldId id="274" r:id="rId13"/>
    <p:sldId id="275" r:id="rId14"/>
    <p:sldId id="276" r:id="rId15"/>
    <p:sldId id="277" r:id="rId16"/>
    <p:sldId id="278" r:id="rId17"/>
    <p:sldId id="280" r:id="rId18"/>
    <p:sldId id="279" r:id="rId19"/>
    <p:sldId id="281" r:id="rId20"/>
    <p:sldId id="282" r:id="rId21"/>
    <p:sldId id="283" r:id="rId22"/>
    <p:sldId id="284" r:id="rId23"/>
    <p:sldId id="285" r:id="rId24"/>
    <p:sldId id="286" r:id="rId25"/>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26" userDrawn="1">
          <p15:clr>
            <a:srgbClr val="A4A3A4"/>
          </p15:clr>
        </p15:guide>
        <p15:guide id="2" pos="3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1" clrIdx="0"/>
  <p:cmAuthor id="2" name="ALA11.黄宜隆" initials="A" lastIdx="1" clrIdx="1"/>
  <p:cmAuthor id="3" name="陈 源晨" initials="陈"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026"/>
        <p:guide pos="36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commentAuthors" Target="commentAuthors.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E:\leaning\&#22823;&#19977;&#19978;\&#24037;&#31243;&#27010;&#35770;&#19977;\&#22823;&#20316;&#19994;\Excel&#34920;&#26684;\&#32508;&#21512;&#26696;&#20363;2&#34920;&#26684;&#27719;&#2463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投资</c:v>
                </c:pt>
              </c:strCache>
            </c:strRef>
          </c:tx>
          <c:spPr/>
          <c:explosion val="0"/>
          <c:dPt>
            <c:idx val="0"/>
            <c:bubble3D val="0"/>
            <c:spPr>
              <a:gradFill>
                <a:gsLst>
                  <a:gs pos="0">
                    <a:schemeClr val="accent1">
                      <a:lumMod val="40000"/>
                      <a:lumOff val="60000"/>
                    </a:schemeClr>
                  </a:gs>
                  <a:gs pos="90000">
                    <a:schemeClr val="accent1"/>
                  </a:gs>
                </a:gsLst>
                <a:lin ang="5400000" scaled="0"/>
              </a:gradFill>
              <a:ln>
                <a:gradFill>
                  <a:gsLst>
                    <a:gs pos="0">
                      <a:schemeClr val="accent1"/>
                    </a:gs>
                    <a:gs pos="100000">
                      <a:schemeClr val="accent1">
                        <a:lumMod val="75000"/>
                      </a:schemeClr>
                    </a:gs>
                  </a:gsLst>
                  <a:lin ang="5400000" scaled="1"/>
                </a:gradFill>
              </a:ln>
              <a:effectLst/>
            </c:spPr>
          </c:dPt>
          <c:dPt>
            <c:idx val="1"/>
            <c:bubble3D val="0"/>
            <c:spPr>
              <a:gradFill>
                <a:gsLst>
                  <a:gs pos="0">
                    <a:schemeClr val="accent2">
                      <a:lumMod val="40000"/>
                      <a:lumOff val="60000"/>
                    </a:schemeClr>
                  </a:gs>
                  <a:gs pos="90000">
                    <a:schemeClr val="accent2"/>
                  </a:gs>
                </a:gsLst>
                <a:lin ang="5400000" scaled="0"/>
              </a:gradFill>
              <a:ln>
                <a:gradFill>
                  <a:gsLst>
                    <a:gs pos="0">
                      <a:schemeClr val="accent2"/>
                    </a:gs>
                    <a:gs pos="100000">
                      <a:schemeClr val="accent2">
                        <a:lumMod val="75000"/>
                      </a:schemeClr>
                    </a:gs>
                  </a:gsLst>
                  <a:lin ang="5400000" scaled="1"/>
                </a:gradFill>
              </a:ln>
              <a:effectLst/>
            </c:spPr>
          </c:dPt>
          <c:dPt>
            <c:idx val="2"/>
            <c:bubble3D val="0"/>
            <c:spPr>
              <a:gradFill>
                <a:gsLst>
                  <a:gs pos="0">
                    <a:schemeClr val="accent3">
                      <a:lumMod val="40000"/>
                      <a:lumOff val="60000"/>
                    </a:schemeClr>
                  </a:gs>
                  <a:gs pos="90000">
                    <a:schemeClr val="accent3"/>
                  </a:gs>
                </a:gsLst>
                <a:lin ang="5400000" scaled="0"/>
              </a:gradFill>
              <a:ln>
                <a:gradFill>
                  <a:gsLst>
                    <a:gs pos="0">
                      <a:schemeClr val="accent3"/>
                    </a:gs>
                    <a:gs pos="100000">
                      <a:schemeClr val="accent3">
                        <a:lumMod val="75000"/>
                      </a:schemeClr>
                    </a:gs>
                  </a:gsLst>
                  <a:lin ang="5400000" scaled="1"/>
                </a:gradFill>
              </a:ln>
              <a:effectLst/>
            </c:spPr>
          </c:dPt>
          <c:dLbls>
            <c:dLbl>
              <c:idx val="0"/>
              <c:layout/>
              <c:spPr>
                <a:noFill/>
                <a:ln>
                  <a:noFill/>
                </a:ln>
                <a:effectLst/>
              </c:spPr>
              <c:txPr>
                <a:bodyPr rot="0" spcFirstLastPara="0" vertOverflow="ellipsis" vert="horz" wrap="square" lIns="38100" tIns="19050" rIns="38100" bIns="19050" anchor="ctr" anchorCtr="1"/>
                <a:lstStyle/>
                <a:p>
                  <a:pPr>
                    <a:defRPr lang="zh-CN" sz="1000" b="1" i="0" u="none" strike="noStrike" kern="1200" spc="0" baseline="0">
                      <a:solidFill>
                        <a:schemeClr val="accent1"/>
                      </a:solidFill>
                      <a:latin typeface="+mn-lt"/>
                      <a:ea typeface="+mn-ea"/>
                      <a:cs typeface="+mn-cs"/>
                    </a:defRPr>
                  </a:pPr>
                </a:p>
              </c:txPr>
              <c:dLblPos val="outEnd"/>
              <c:showLegendKey val="0"/>
              <c:showVal val="1"/>
              <c:showCatName val="1"/>
              <c:showSerName val="0"/>
              <c:showPercent val="0"/>
              <c:showBubbleSize val="0"/>
              <c:extLst>
                <c:ext xmlns:c15="http://schemas.microsoft.com/office/drawing/2012/chart" uri="{CE6537A1-D6FC-4f65-9D91-7224C49458BB}"/>
              </c:extLst>
            </c:dLbl>
            <c:dLbl>
              <c:idx val="1"/>
              <c:layout/>
              <c:spPr>
                <a:noFill/>
                <a:ln>
                  <a:noFill/>
                </a:ln>
                <a:effectLst/>
              </c:spPr>
              <c:txPr>
                <a:bodyPr rot="0" spcFirstLastPara="0" vertOverflow="ellipsis" vert="horz" wrap="square" lIns="38100" tIns="19050" rIns="38100" bIns="19050" anchor="ctr" anchorCtr="1"/>
                <a:lstStyle/>
                <a:p>
                  <a:pPr>
                    <a:defRPr lang="zh-CN" sz="1000" b="1" i="0" u="none" strike="noStrike" kern="1200" spc="0" baseline="0">
                      <a:solidFill>
                        <a:schemeClr val="accent2"/>
                      </a:solidFill>
                      <a:latin typeface="+mn-lt"/>
                      <a:ea typeface="+mn-ea"/>
                      <a:cs typeface="+mn-cs"/>
                    </a:defRPr>
                  </a:pPr>
                </a:p>
              </c:txPr>
              <c:dLblPos val="outEnd"/>
              <c:showLegendKey val="0"/>
              <c:showVal val="1"/>
              <c:showCatName val="1"/>
              <c:showSerName val="0"/>
              <c:showPercent val="0"/>
              <c:showBubbleSize val="0"/>
              <c:extLst>
                <c:ext xmlns:c15="http://schemas.microsoft.com/office/drawing/2012/chart" uri="{CE6537A1-D6FC-4f65-9D91-7224C49458BB}"/>
              </c:extLst>
            </c:dLbl>
            <c:dLbl>
              <c:idx val="2"/>
              <c:layout/>
              <c:spPr>
                <a:noFill/>
                <a:ln>
                  <a:noFill/>
                </a:ln>
                <a:effectLst/>
              </c:spPr>
              <c:txPr>
                <a:bodyPr rot="0" spcFirstLastPara="0" vertOverflow="ellipsis" vert="horz" wrap="square" lIns="38100" tIns="19050" rIns="38100" bIns="19050" anchor="ctr" anchorCtr="1"/>
                <a:lstStyle/>
                <a:p>
                  <a:pPr>
                    <a:defRPr lang="zh-CN" sz="1000" b="1" i="0" u="none" strike="noStrike" kern="1200" spc="0" baseline="0">
                      <a:solidFill>
                        <a:schemeClr val="accent3"/>
                      </a:solidFill>
                      <a:latin typeface="+mn-lt"/>
                      <a:ea typeface="+mn-ea"/>
                      <a:cs typeface="+mn-cs"/>
                    </a:defRPr>
                  </a:pPr>
                </a:p>
              </c:txPr>
              <c:dLblPos val="outEnd"/>
              <c:showLegendKey val="0"/>
              <c:showVal val="1"/>
              <c:showCatName val="1"/>
              <c:showSerName val="0"/>
              <c:showPercent val="0"/>
              <c:showBubbleSize val="0"/>
              <c:extLst>
                <c:ext xmlns:c15="http://schemas.microsoft.com/office/drawing/2012/chart" uri="{CE6537A1-D6FC-4f65-9D91-7224C49458BB}"/>
              </c:extLst>
            </c:dLbl>
            <c:spPr>
              <a:noFill/>
              <a:ln>
                <a:noFill/>
              </a:ln>
              <a:effectLst/>
            </c:spPr>
            <c:txPr>
              <a:bodyPr rot="0" spcFirstLastPara="0" vertOverflow="ellipsis" vert="horz" wrap="square" lIns="38100" tIns="19050" rIns="38100" bIns="19050" anchor="ctr" anchorCtr="1"/>
              <a:lstStyle/>
              <a:p>
                <a:pPr>
                  <a:defRPr lang="zh-CN" sz="1000" b="1" i="0" u="none" strike="noStrike" kern="1200" spc="0" baseline="0">
                    <a:solidFill>
                      <a:schemeClr val="accent1"/>
                    </a:solidFill>
                    <a:latin typeface="+mn-lt"/>
                    <a:ea typeface="+mn-ea"/>
                    <a:cs typeface="+mn-cs"/>
                  </a:defRPr>
                </a:pPr>
              </a:p>
            </c:txPr>
            <c:dLblPos val="outEnd"/>
            <c:showLegendKey val="0"/>
            <c:showVal val="1"/>
            <c:showCatName val="1"/>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固定资产</c:v>
                </c:pt>
                <c:pt idx="1">
                  <c:v>无形资产</c:v>
                </c:pt>
                <c:pt idx="2">
                  <c:v>预备费</c:v>
                </c:pt>
              </c:strCache>
            </c:strRef>
          </c:cat>
          <c:val>
            <c:numRef>
              <c:f>Sheet1!$B$2:$B$4</c:f>
              <c:numCache>
                <c:formatCode>0.0%</c:formatCode>
                <c:ptCount val="3"/>
                <c:pt idx="0">
                  <c:v>0.816</c:v>
                </c:pt>
                <c:pt idx="1">
                  <c:v>0.128</c:v>
                </c:pt>
                <c:pt idx="2">
                  <c:v>0.056</c:v>
                </c:pt>
              </c:numCache>
            </c:numRef>
          </c:val>
        </c:ser>
        <c:dLbls>
          <c:showLegendKey val="0"/>
          <c:showVal val="1"/>
          <c:showCatName val="0"/>
          <c:showSerName val="0"/>
          <c:showPercent val="0"/>
          <c:showBubbleSize val="0"/>
          <c:showLeaderLines val="1"/>
        </c:dLbls>
        <c:firstSliceAng val="310"/>
      </c:pie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defTabSz="914400">
              <a:defRPr lang="zh-CN" sz="1400" b="1" i="0" u="none" strike="noStrike" kern="1200" baseline="0">
                <a:solidFill>
                  <a:schemeClr val="dk1">
                    <a:lumMod val="75000"/>
                    <a:lumOff val="25000"/>
                  </a:schemeClr>
                </a:solidFill>
                <a:latin typeface="+mn-lt"/>
                <a:ea typeface="+mn-ea"/>
                <a:cs typeface="+mn-cs"/>
              </a:defRPr>
            </a:pPr>
            <a:r>
              <a:rPr altLang="en-US"/>
              <a:t>各年税前利润与净利润折线图</a:t>
            </a:r>
            <a:endParaRPr lang="en-US" altLang="zh-CN"/>
          </a:p>
        </c:rich>
      </c:tx>
      <c:layout/>
      <c:overlay val="0"/>
      <c:spPr>
        <a:noFill/>
        <a:ln>
          <a:noFill/>
        </a:ln>
        <a:effectLst/>
      </c:spPr>
    </c:title>
    <c:autoTitleDeleted val="0"/>
    <c:plotArea>
      <c:layout/>
      <c:lineChart>
        <c:grouping val="standard"/>
        <c:varyColors val="0"/>
        <c:ser>
          <c:idx val="0"/>
          <c:order val="0"/>
          <c:spPr>
            <a:ln w="28575" cap="rnd" cmpd="sng">
              <a:solidFill>
                <a:schemeClr val="accent1"/>
              </a:solidFill>
              <a:prstDash val="sysDash"/>
              <a:round/>
            </a:ln>
            <a:effectLst>
              <a:outerShdw blurRad="50800" dist="25400" dir="5400000" algn="t" rotWithShape="0">
                <a:schemeClr val="accent1">
                  <a:lumMod val="50000"/>
                  <a:alpha val="30000"/>
                </a:schemeClr>
              </a:outerShdw>
            </a:effectLst>
            <a:sp3d contourW="28575"/>
          </c:spPr>
          <c:marker>
            <c:symbol val="circle"/>
            <c:size val="5"/>
            <c:spPr>
              <a:solidFill>
                <a:schemeClr val="accent1"/>
              </a:solidFill>
              <a:ln w="9525">
                <a:solidFill>
                  <a:schemeClr val="accent1"/>
                </a:solidFill>
              </a:ln>
              <a:effectLst/>
            </c:spPr>
          </c:marker>
          <c:dLbls>
            <c:delete val="1"/>
          </c:dLbls>
          <c:val>
            <c:numRef>
              <c:f>'[综合案例2表格汇总.xlsx]表2-7利润及利润分配'!$B$7:$W$7</c:f>
              <c:numCache>
                <c:formatCode>General</c:formatCode>
                <c:ptCount val="22"/>
                <c:pt idx="0">
                  <c:v>4</c:v>
                </c:pt>
                <c:pt idx="1">
                  <c:v>0</c:v>
                </c:pt>
                <c:pt idx="2" c:formatCode="0.0_ ">
                  <c:v>784.1</c:v>
                </c:pt>
                <c:pt idx="3" c:formatCode="0.0_ ">
                  <c:v>784.1</c:v>
                </c:pt>
                <c:pt idx="4" c:formatCode="0.0_ ">
                  <c:v>784.1</c:v>
                </c:pt>
                <c:pt idx="5" c:formatCode="0.0_ ">
                  <c:v>784.1</c:v>
                </c:pt>
                <c:pt idx="6" c:formatCode="0.0_ ">
                  <c:v>784.1</c:v>
                </c:pt>
                <c:pt idx="7" c:formatCode="0.0_ ">
                  <c:v>784.1</c:v>
                </c:pt>
                <c:pt idx="8" c:formatCode="0.0_ ">
                  <c:v>784.1</c:v>
                </c:pt>
                <c:pt idx="9" c:formatCode="0.0_ ">
                  <c:v>784.1</c:v>
                </c:pt>
                <c:pt idx="10" c:formatCode="0.0_ ">
                  <c:v>784.1</c:v>
                </c:pt>
                <c:pt idx="11" c:formatCode="0.0_ ">
                  <c:v>784.1</c:v>
                </c:pt>
                <c:pt idx="12" c:formatCode="0.0_ ">
                  <c:v>803.1</c:v>
                </c:pt>
                <c:pt idx="13" c:formatCode="0.0_ ">
                  <c:v>803.1</c:v>
                </c:pt>
                <c:pt idx="14" c:formatCode="0.0_ ">
                  <c:v>803.1</c:v>
                </c:pt>
                <c:pt idx="15" c:formatCode="0.0_ ">
                  <c:v>803.1</c:v>
                </c:pt>
                <c:pt idx="16" c:formatCode="0.0_ ">
                  <c:v>803.1</c:v>
                </c:pt>
                <c:pt idx="17" c:formatCode="0.0_ ">
                  <c:v>871.2</c:v>
                </c:pt>
                <c:pt idx="18" c:formatCode="0.0_ ">
                  <c:v>871.2</c:v>
                </c:pt>
                <c:pt idx="19" c:formatCode="0.0_ ">
                  <c:v>871.2</c:v>
                </c:pt>
                <c:pt idx="20" c:formatCode="0.0_ ">
                  <c:v>871.2</c:v>
                </c:pt>
                <c:pt idx="21" c:formatCode="0.0_ ">
                  <c:v>871.2</c:v>
                </c:pt>
              </c:numCache>
            </c:numRef>
          </c:val>
          <c:smooth val="0"/>
        </c:ser>
        <c:ser>
          <c:idx val="1"/>
          <c:order val="1"/>
          <c:spPr>
            <a:ln w="28575" cap="rnd" cmpd="sng">
              <a:solidFill>
                <a:schemeClr val="accent2"/>
              </a:solidFill>
              <a:prstDash val="sysDash"/>
              <a:round/>
            </a:ln>
            <a:effectLst>
              <a:outerShdw blurRad="50800" dist="25400" dir="5400000" algn="t" rotWithShape="0">
                <a:schemeClr val="accent2">
                  <a:lumMod val="50000"/>
                  <a:alpha val="30000"/>
                </a:schemeClr>
              </a:outerShdw>
            </a:effectLst>
            <a:sp3d contourW="28575"/>
          </c:spPr>
          <c:marker>
            <c:symbol val="circle"/>
            <c:size val="5"/>
            <c:spPr>
              <a:solidFill>
                <a:schemeClr val="accent2"/>
              </a:solidFill>
              <a:ln w="9525">
                <a:solidFill>
                  <a:schemeClr val="accent2"/>
                </a:solidFill>
              </a:ln>
              <a:effectLst/>
            </c:spPr>
          </c:marker>
          <c:dLbls>
            <c:delete val="1"/>
          </c:dLbls>
          <c:val>
            <c:numRef>
              <c:f>'[综合案例2表格汇总.xlsx]表2-7利润及利润分配'!$B$9:$W$9</c:f>
              <c:numCache>
                <c:formatCode>General</c:formatCode>
                <c:ptCount val="22"/>
                <c:pt idx="0">
                  <c:v>6</c:v>
                </c:pt>
                <c:pt idx="1">
                  <c:v>0</c:v>
                </c:pt>
                <c:pt idx="2" c:formatCode="0.0_ ">
                  <c:v>784.1</c:v>
                </c:pt>
                <c:pt idx="3" c:formatCode="0.0_ ">
                  <c:v>784.1</c:v>
                </c:pt>
                <c:pt idx="4" c:formatCode="0.0_ ">
                  <c:v>784.1</c:v>
                </c:pt>
                <c:pt idx="5" c:formatCode="0.0_ ">
                  <c:v>588.075</c:v>
                </c:pt>
                <c:pt idx="6" c:formatCode="0.0_ ">
                  <c:v>588.075</c:v>
                </c:pt>
                <c:pt idx="7" c:formatCode="0.0_ ">
                  <c:v>588.075</c:v>
                </c:pt>
                <c:pt idx="8" c:formatCode="0.0_ ">
                  <c:v>588.075</c:v>
                </c:pt>
                <c:pt idx="9" c:formatCode="0.0_ ">
                  <c:v>588.075</c:v>
                </c:pt>
                <c:pt idx="10" c:formatCode="0.0_ ">
                  <c:v>588.075</c:v>
                </c:pt>
                <c:pt idx="11" c:formatCode="0.0_ ">
                  <c:v>588.075</c:v>
                </c:pt>
                <c:pt idx="12" c:formatCode="0.0_ ">
                  <c:v>602.325</c:v>
                </c:pt>
                <c:pt idx="13" c:formatCode="0.0_ ">
                  <c:v>602.325</c:v>
                </c:pt>
                <c:pt idx="14" c:formatCode="0.0_ ">
                  <c:v>602.325</c:v>
                </c:pt>
                <c:pt idx="15" c:formatCode="0.0_ ">
                  <c:v>602.325</c:v>
                </c:pt>
                <c:pt idx="16" c:formatCode="0.0_ ">
                  <c:v>602.325</c:v>
                </c:pt>
                <c:pt idx="17" c:formatCode="0.0_ ">
                  <c:v>653.4</c:v>
                </c:pt>
                <c:pt idx="18" c:formatCode="0.0_ ">
                  <c:v>653.4</c:v>
                </c:pt>
                <c:pt idx="19" c:formatCode="0.0_ ">
                  <c:v>653.4</c:v>
                </c:pt>
                <c:pt idx="20" c:formatCode="0.0_ ">
                  <c:v>653.4</c:v>
                </c:pt>
                <c:pt idx="21" c:formatCode="0.0_ ">
                  <c:v>653.4</c:v>
                </c:pt>
              </c:numCache>
            </c:numRef>
          </c:val>
          <c:smooth val="0"/>
        </c:ser>
        <c:dLbls>
          <c:showLegendKey val="0"/>
          <c:showVal val="0"/>
          <c:showCatName val="0"/>
          <c:showSerName val="0"/>
          <c:showPercent val="0"/>
          <c:showBubbleSize val="0"/>
        </c:dLbls>
        <c:marker val="1"/>
        <c:smooth val="0"/>
        <c:axId val="524266107"/>
        <c:axId val="36240030"/>
      </c:lineChart>
      <c:catAx>
        <c:axId val="524266107"/>
        <c:scaling>
          <c:orientation val="minMax"/>
        </c:scaling>
        <c:delete val="0"/>
        <c:axPos val="b"/>
        <c:majorGridlines>
          <c:spPr>
            <a:ln w="9525" cap="flat" cmpd="sng" algn="ctr">
              <a:solidFill>
                <a:schemeClr val="lt1">
                  <a:lumMod val="90200"/>
                </a:schemeClr>
              </a:solidFill>
              <a:round/>
            </a:ln>
            <a:effectLst/>
          </c:spPr>
        </c:majorGridlines>
        <c:minorGridlines>
          <c:spPr>
            <a:ln w="9525" cap="flat" cmpd="sng" algn="ctr">
              <a:solidFill>
                <a:schemeClr val="tx1">
                  <a:lumMod val="5000"/>
                  <a:lumOff val="95000"/>
                </a:schemeClr>
              </a:solidFill>
              <a:round/>
            </a:ln>
            <a:effectLst/>
          </c:spPr>
        </c:minorGridlines>
        <c:majorTickMark val="none"/>
        <c:minorTickMark val="none"/>
        <c:tickLblPos val="nextTo"/>
        <c:spPr>
          <a:noFill/>
          <a:ln w="9525" cap="flat" cmpd="sng" algn="ctr">
            <a:solidFill>
              <a:schemeClr val="dk1">
                <a:lumMod val="15000"/>
                <a:lumOff val="85000"/>
              </a:schemeClr>
            </a:solidFill>
            <a:round/>
          </a:ln>
          <a:effectLst/>
        </c:spPr>
        <c:txPr>
          <a:bodyPr rot="-60000000" spcFirstLastPara="0" vertOverflow="ellipsis" vert="horz" wrap="square" anchor="ctr" anchorCtr="1"/>
          <a:lstStyle/>
          <a:p>
            <a:pPr>
              <a:defRPr lang="zh-CN" sz="900" b="0" i="0" u="none" strike="noStrike" kern="1200" baseline="0">
                <a:solidFill>
                  <a:schemeClr val="dk1">
                    <a:lumMod val="65000"/>
                    <a:lumOff val="35000"/>
                  </a:schemeClr>
                </a:solidFill>
                <a:latin typeface="+mn-lt"/>
                <a:ea typeface="+mn-ea"/>
                <a:cs typeface="+mn-cs"/>
              </a:defRPr>
            </a:pPr>
          </a:p>
        </c:txPr>
        <c:crossAx val="36240030"/>
        <c:crosses val="autoZero"/>
        <c:auto val="1"/>
        <c:lblAlgn val="ctr"/>
        <c:lblOffset val="100"/>
        <c:noMultiLvlLbl val="0"/>
      </c:catAx>
      <c:valAx>
        <c:axId val="36240030"/>
        <c:scaling>
          <c:orientation val="minMax"/>
        </c:scaling>
        <c:delete val="0"/>
        <c:axPos val="l"/>
        <c:majorGridlines>
          <c:spPr>
            <a:ln w="9525" cap="flat" cmpd="sng" algn="ctr">
              <a:solidFill>
                <a:schemeClr val="lt1">
                  <a:lumMod val="90200"/>
                </a:schemeClr>
              </a:solidFill>
              <a:round/>
            </a:ln>
            <a:effectLst/>
          </c:spPr>
        </c:majorGridlines>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0" vertOverflow="ellipsis" vert="horz" wrap="square" anchor="ctr" anchorCtr="1"/>
          <a:lstStyle/>
          <a:p>
            <a:pPr>
              <a:defRPr lang="zh-CN" sz="900" b="0" i="0" u="none" strike="noStrike" kern="1200" baseline="0">
                <a:solidFill>
                  <a:schemeClr val="dk1">
                    <a:lumMod val="65000"/>
                    <a:lumOff val="35000"/>
                  </a:schemeClr>
                </a:solidFill>
                <a:latin typeface="+mn-lt"/>
                <a:ea typeface="+mn-ea"/>
                <a:cs typeface="+mn-cs"/>
              </a:defRPr>
            </a:pPr>
          </a:p>
        </c:txPr>
        <c:crossAx val="524266107"/>
        <c:crosses val="autoZero"/>
        <c:crossBetween val="between"/>
      </c:valAx>
      <c:dTable>
        <c:showHorzBorder val="1"/>
        <c:showVertBorder val="1"/>
        <c:showOutline val="1"/>
        <c:showKeys val="1"/>
        <c:spPr>
          <a:noFill/>
          <a:ln w="9525" cap="flat" cmpd="sng" algn="ctr">
            <a:solidFill>
              <a:schemeClr val="dk1">
                <a:lumMod val="15000"/>
                <a:lumOff val="85000"/>
              </a:schemeClr>
            </a:solidFill>
            <a:round/>
          </a:ln>
          <a:effectLst/>
        </c:spPr>
        <c:txPr>
          <a:bodyPr rot="0" spcFirstLastPara="0" vertOverflow="ellipsis" vert="horz" wrap="square" anchor="ctr" anchorCtr="1"/>
          <a:lstStyle/>
          <a:p>
            <a:pPr>
              <a:defRPr lang="zh-CN" sz="900" b="0" i="0" u="none" strike="noStrike" kern="1200" baseline="0">
                <a:solidFill>
                  <a:schemeClr val="dk1">
                    <a:lumMod val="65000"/>
                    <a:lumOff val="35000"/>
                  </a:schemeClr>
                </a:solidFill>
                <a:latin typeface="+mn-lt"/>
                <a:ea typeface="+mn-ea"/>
                <a:cs typeface="+mn-cs"/>
              </a:defRPr>
            </a:pPr>
          </a:p>
        </c:txPr>
      </c:dTable>
      <c:spPr>
        <a:noFill/>
        <a:ln>
          <a:noFill/>
        </a:ln>
        <a:effectLst/>
      </c:spPr>
    </c:plotArea>
    <c:plotVisOnly val="1"/>
    <c:dispBlanksAs val="gap"/>
    <c:showDLblsOverMax val="0"/>
  </c:chart>
  <c:spPr>
    <a:solidFill>
      <a:schemeClr val="lt1">
        <a:lumMod val="96000"/>
      </a:schemeClr>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08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cs:styleClr val="auto"/>
    </cs:fontRef>
    <cs:defRPr sz="1000" b="1" i="0" u="none" strike="noStrike" kern="1200" spc="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lumMod val="40000"/>
              <a:lumOff val="60000"/>
            </a:schemeClr>
          </a:gs>
          <a:gs pos="90000">
            <a:schemeClr val="phClr"/>
          </a:gs>
        </a:gsLst>
        <a:lin ang="5400000" scaled="0"/>
      </a:gradFill>
      <a:ln>
        <a:gradFill>
          <a:gsLst>
            <a:gs pos="0">
              <a:schemeClr val="phClr"/>
            </a:gs>
            <a:gs pos="100000">
              <a:schemeClr val="phClr">
                <a:lumMod val="75000"/>
              </a:schemeClr>
            </a:gs>
          </a:gsLst>
          <a:lin ang="5400000" scaled="1"/>
        </a:gradFill>
      </a:ln>
      <a:effectLst/>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034">
  <cs:axisTitle>
    <cs:lnRef idx="0"/>
    <cs:fillRef idx="0"/>
    <cs:effectRef idx="0"/>
    <cs:fontRef idx="minor">
      <a:schemeClr val="dk1">
        <a:lumMod val="65000"/>
        <a:lumOff val="35000"/>
      </a:schemeClr>
    </cs:fontRef>
    <cs:defRPr sz="1000"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lt1">
          <a:lumMod val="96000"/>
        </a:schemeClr>
      </a:solidFill>
      <a:ln w="9525" cap="flat" cmpd="sng" algn="ctr">
        <a:solidFill>
          <a:schemeClr val="tx1">
            <a:lumMod val="15000"/>
            <a:lumOff val="85000"/>
          </a:schemeClr>
        </a:solidFill>
        <a:round/>
      </a:ln>
    </cs:spPr>
    <cs:defRPr sz="1000" kern="1200"/>
  </cs:chartArea>
  <cs:dataLabel>
    <cs:lnRef idx="0"/>
    <cs:fillRef idx="0"/>
    <cs:effectRef idx="0"/>
    <cs:fontRef idx="minor">
      <a:schemeClr val="dk1">
        <a:lumMod val="75000"/>
        <a:lumOff val="25000"/>
      </a:schemeClr>
    </cs:fontRef>
    <cs:defRPr sz="10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0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0">
      <cs:styleClr val="auto"/>
    </cs:fillRef>
    <cs:effectRef idx="0">
      <cs:styleClr val="auto"/>
    </cs:effectRef>
    <cs:fontRef idx="minor">
      <a:schemeClr val="dk1"/>
    </cs:fontRef>
    <cs:spPr>
      <a:ln w="28575" cap="rnd">
        <a:solidFill>
          <a:schemeClr val="phClr"/>
        </a:solidFill>
        <a:round/>
      </a:ln>
      <a:effectLst>
        <a:outerShdw blurRad="50800" dist="25400" dir="5400000" algn="t" rotWithShape="0">
          <a:schemeClr val="phClr">
            <a:lumMod val="50000"/>
            <a:alpha val="30000"/>
          </a:schemeClr>
        </a:outerShdw>
      </a:effectLst>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a:solidFill>
          <a:schemeClr val="dk1">
            <a:lumMod val="35000"/>
            <a:lumOff val="65000"/>
          </a:schemeClr>
        </a:solidFill>
      </a:ln>
    </cs:spPr>
  </cs:dropLine>
  <cs:errorBar>
    <cs:lnRef idx="0"/>
    <cs:fillRef idx="0"/>
    <cs:effectRef idx="0"/>
    <cs:fontRef idx="minor">
      <a:schemeClr val="tx1"/>
    </cs:fontRef>
    <cs:spPr>
      <a:ln w="9525" cap="flat" cmpd="sng" algn="ctr">
        <a:solidFill>
          <a:schemeClr val="dk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lt1">
            <a:lumMod val="902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a:solidFill>
          <a:schemeClr val="dk1">
            <a:lumMod val="75000"/>
            <a:lumOff val="25000"/>
          </a:schemeClr>
        </a:solidFill>
      </a:ln>
    </cs:spPr>
  </cs:hiLoLine>
  <cs:leaderLine>
    <cs:lnRef idx="0"/>
    <cs:fillRef idx="0"/>
    <cs:effectRef idx="0"/>
    <cs:fontRef idx="minor">
      <a:schemeClr val="tx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dk1">
        <a:lumMod val="65000"/>
        <a:lumOff val="35000"/>
      </a:schemeClr>
    </cs:fontRef>
    <cs:defRPr sz="900" kern="1200"/>
  </cs:seriesAxis>
  <cs:seriesLine>
    <cs:lnRef idx="0"/>
    <cs:fillRef idx="0"/>
    <cs:effectRef idx="0"/>
    <cs:fontRef idx="minor">
      <a:schemeClr val="tx1"/>
    </cs:fontRef>
    <cs:spPr>
      <a:ln w="9525">
        <a:solidFill>
          <a:schemeClr val="dk1">
            <a:lumMod val="35000"/>
            <a:lumOff val="65000"/>
          </a:schemeClr>
        </a:solidFill>
      </a:ln>
    </cs:spPr>
  </cs:seriesLine>
  <cs:title>
    <cs:lnRef idx="0"/>
    <cs:fillRef idx="0"/>
    <cs:effectRef idx="0"/>
    <cs:fontRef idx="minor">
      <a:schemeClr val="dk1">
        <a:lumMod val="75000"/>
        <a:lumOff val="25000"/>
      </a:schemeClr>
    </cs:fontRef>
    <cs:defRPr sz="1400" b="1" kern="120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EC0D08F-9AAF-4B9E-AA1D-041E5B6F0D61}"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EC0D08F-9AAF-4B9E-AA1D-041E5B6F0D61}"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EC0D08F-9AAF-4B9E-AA1D-041E5B6F0D61}"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EC0D08F-9AAF-4B9E-AA1D-041E5B6F0D61}"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0CF942E-BFF7-41E3-B61A-73029109CCC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F1CD535-01D9-48D7-846D-85316ED8BE4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8" Type="http://schemas.openxmlformats.org/officeDocument/2006/relationships/slideLayout" Target="../slideLayouts/slideLayout2.xml"/><Relationship Id="rId17" Type="http://schemas.openxmlformats.org/officeDocument/2006/relationships/themeOverride" Target="../theme/themeOverride1.xml"/><Relationship Id="rId16" Type="http://schemas.openxmlformats.org/officeDocument/2006/relationships/image" Target="../media/image6.svg"/><Relationship Id="rId15" Type="http://schemas.openxmlformats.org/officeDocument/2006/relationships/image" Target="../media/image5.png"/><Relationship Id="rId14" Type="http://schemas.openxmlformats.org/officeDocument/2006/relationships/image" Target="../media/image4.svg"/><Relationship Id="rId13" Type="http://schemas.openxmlformats.org/officeDocument/2006/relationships/image" Target="../media/image3.png"/><Relationship Id="rId12" Type="http://schemas.openxmlformats.org/officeDocument/2006/relationships/image" Target="../media/image2.svg"/><Relationship Id="rId11" Type="http://schemas.openxmlformats.org/officeDocument/2006/relationships/image" Target="../media/image1.png"/><Relationship Id="rId10" Type="http://schemas.openxmlformats.org/officeDocument/2006/relationships/tags" Target="../tags/tag10.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2" Type="http://schemas.openxmlformats.org/officeDocument/2006/relationships/slideLayout" Target="../slideLayouts/slideLayout1.xml"/><Relationship Id="rId11" Type="http://schemas.openxmlformats.org/officeDocument/2006/relationships/image" Target="../media/image7.jpeg"/><Relationship Id="rId10" Type="http://schemas.openxmlformats.org/officeDocument/2006/relationships/tags" Target="../tags/tag20.xml"/><Relationship Id="rId1" Type="http://schemas.openxmlformats.org/officeDocument/2006/relationships/tags" Target="../tags/tag11.xml"/></Relationships>
</file>

<file path=ppt/slides/_rels/slide3.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2" Type="http://schemas.openxmlformats.org/officeDocument/2006/relationships/notesSlide" Target="../notesSlides/notesSlide1.xml"/><Relationship Id="rId11" Type="http://schemas.openxmlformats.org/officeDocument/2006/relationships/slideLayout" Target="../slideLayouts/slideLayout1.xml"/><Relationship Id="rId10" Type="http://schemas.openxmlformats.org/officeDocument/2006/relationships/tags" Target="../tags/tag30.xml"/><Relationship Id="rId1" Type="http://schemas.openxmlformats.org/officeDocument/2006/relationships/tags" Target="../tags/tag21.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2.xml"/><Relationship Id="rId1" Type="http://schemas.openxmlformats.org/officeDocument/2006/relationships/tags" Target="../tags/tag31.xml"/></Relationships>
</file>

<file path=ppt/slides/_rels/slide5.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1" Type="http://schemas.openxmlformats.org/officeDocument/2006/relationships/slideLayout" Target="../slideLayouts/slideLayout1.xml"/><Relationship Id="rId10" Type="http://schemas.openxmlformats.org/officeDocument/2006/relationships/tags" Target="../tags/tag42.xml"/><Relationship Id="rId1" Type="http://schemas.openxmlformats.org/officeDocument/2006/relationships/tags" Target="../tags/tag33.xml"/></Relationships>
</file>

<file path=ppt/slides/_rels/slide6.xml.rels><?xml version="1.0" encoding="UTF-8" standalone="yes"?>
<Relationships xmlns="http://schemas.openxmlformats.org/package/2006/relationships"><Relationship Id="rId9" Type="http://schemas.openxmlformats.org/officeDocument/2006/relationships/tags" Target="../tags/tag51.xml"/><Relationship Id="rId8" Type="http://schemas.openxmlformats.org/officeDocument/2006/relationships/tags" Target="../tags/tag50.xml"/><Relationship Id="rId7" Type="http://schemas.openxmlformats.org/officeDocument/2006/relationships/tags" Target="../tags/tag49.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tags" Target="../tags/tag45.xml"/><Relationship Id="rId2" Type="http://schemas.openxmlformats.org/officeDocument/2006/relationships/tags" Target="../tags/tag44.xml"/><Relationship Id="rId11" Type="http://schemas.openxmlformats.org/officeDocument/2006/relationships/slideLayout" Target="../slideLayouts/slideLayout1.xml"/><Relationship Id="rId10" Type="http://schemas.openxmlformats.org/officeDocument/2006/relationships/tags" Target="../tags/tag52.xml"/><Relationship Id="rId1" Type="http://schemas.openxmlformats.org/officeDocument/2006/relationships/tags" Target="../tags/tag43.xml"/></Relationships>
</file>

<file path=ppt/slides/_rels/slide7.xml.rels><?xml version="1.0" encoding="UTF-8" standalone="yes"?>
<Relationships xmlns="http://schemas.openxmlformats.org/package/2006/relationships"><Relationship Id="rId9" Type="http://schemas.openxmlformats.org/officeDocument/2006/relationships/tags" Target="../tags/tag60.xml"/><Relationship Id="rId8" Type="http://schemas.openxmlformats.org/officeDocument/2006/relationships/tags" Target="../tags/tag59.xml"/><Relationship Id="rId7" Type="http://schemas.openxmlformats.org/officeDocument/2006/relationships/tags" Target="../tags/tag58.xml"/><Relationship Id="rId6" Type="http://schemas.openxmlformats.org/officeDocument/2006/relationships/tags" Target="../tags/tag57.xml"/><Relationship Id="rId5" Type="http://schemas.openxmlformats.org/officeDocument/2006/relationships/tags" Target="../tags/tag56.xml"/><Relationship Id="rId4" Type="http://schemas.openxmlformats.org/officeDocument/2006/relationships/tags" Target="../tags/tag55.xml"/><Relationship Id="rId3" Type="http://schemas.openxmlformats.org/officeDocument/2006/relationships/tags" Target="../tags/tag54.xml"/><Relationship Id="rId2" Type="http://schemas.openxmlformats.org/officeDocument/2006/relationships/tags" Target="../tags/tag53.xml"/><Relationship Id="rId14" Type="http://schemas.openxmlformats.org/officeDocument/2006/relationships/slideLayout" Target="../slideLayouts/slideLayout1.xml"/><Relationship Id="rId13" Type="http://schemas.openxmlformats.org/officeDocument/2006/relationships/tags" Target="../tags/tag64.xml"/><Relationship Id="rId12" Type="http://schemas.openxmlformats.org/officeDocument/2006/relationships/tags" Target="../tags/tag63.xml"/><Relationship Id="rId11" Type="http://schemas.openxmlformats.org/officeDocument/2006/relationships/tags" Target="../tags/tag62.xml"/><Relationship Id="rId10" Type="http://schemas.openxmlformats.org/officeDocument/2006/relationships/tags" Target="../tags/tag61.xml"/><Relationship Id="rId1" Type="http://schemas.openxmlformats.org/officeDocument/2006/relationships/chart" Target="../charts/chart1.xml"/></Relationships>
</file>

<file path=ppt/slides/_rels/slide8.xml.rels><?xml version="1.0" encoding="UTF-8" standalone="yes"?>
<Relationships xmlns="http://schemas.openxmlformats.org/package/2006/relationships"><Relationship Id="rId9" Type="http://schemas.openxmlformats.org/officeDocument/2006/relationships/tags" Target="../tags/tag73.xml"/><Relationship Id="rId8" Type="http://schemas.openxmlformats.org/officeDocument/2006/relationships/tags" Target="../tags/tag72.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tags" Target="../tags/tag69.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2" Type="http://schemas.openxmlformats.org/officeDocument/2006/relationships/slideLayout" Target="../slideLayouts/slideLayout1.xml"/><Relationship Id="rId11" Type="http://schemas.openxmlformats.org/officeDocument/2006/relationships/image" Target="../media/image8.png"/><Relationship Id="rId10" Type="http://schemas.openxmlformats.org/officeDocument/2006/relationships/tags" Target="../tags/tag74.xml"/><Relationship Id="rId1" Type="http://schemas.openxmlformats.org/officeDocument/2006/relationships/tags" Target="../tags/tag65.xml"/></Relationships>
</file>

<file path=ppt/slides/_rels/slide9.xml.rels><?xml version="1.0" encoding="UTF-8" standalone="yes"?>
<Relationships xmlns="http://schemas.openxmlformats.org/package/2006/relationships"><Relationship Id="rId9" Type="http://schemas.openxmlformats.org/officeDocument/2006/relationships/tags" Target="../tags/tag83.xml"/><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2" Type="http://schemas.openxmlformats.org/officeDocument/2006/relationships/slideLayout" Target="../slideLayouts/slideLayout1.xml"/><Relationship Id="rId11" Type="http://schemas.openxmlformats.org/officeDocument/2006/relationships/image" Target="../media/image9.png"/><Relationship Id="rId10" Type="http://schemas.openxmlformats.org/officeDocument/2006/relationships/tags" Target="../tags/tag84.xml"/><Relationship Id="rId1" Type="http://schemas.openxmlformats.org/officeDocument/2006/relationships/tags" Target="../tags/tag75.xml"/></Relationships>
</file>

<file path=ppt/slides/_rels/slide10.xml.rels><?xml version="1.0" encoding="UTF-8" standalone="yes"?>
<Relationships xmlns="http://schemas.openxmlformats.org/package/2006/relationships"><Relationship Id="rId9" Type="http://schemas.openxmlformats.org/officeDocument/2006/relationships/tags" Target="../tags/tag93.xml"/><Relationship Id="rId8" Type="http://schemas.openxmlformats.org/officeDocument/2006/relationships/tags" Target="../tags/tag92.xml"/><Relationship Id="rId7" Type="http://schemas.openxmlformats.org/officeDocument/2006/relationships/tags" Target="../tags/tag91.xml"/><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tags" Target="../tags/tag86.xml"/><Relationship Id="rId12" Type="http://schemas.openxmlformats.org/officeDocument/2006/relationships/notesSlide" Target="../notesSlides/notesSlide2.xml"/><Relationship Id="rId11" Type="http://schemas.openxmlformats.org/officeDocument/2006/relationships/slideLayout" Target="../slideLayouts/slideLayout1.xml"/><Relationship Id="rId10" Type="http://schemas.openxmlformats.org/officeDocument/2006/relationships/tags" Target="../tags/tag94.xml"/><Relationship Id="rId1" Type="http://schemas.openxmlformats.org/officeDocument/2006/relationships/tags" Target="../tags/tag85.xml"/></Relationships>
</file>

<file path=ppt/slides/_rels/slide11.xml.rels><?xml version="1.0" encoding="UTF-8" standalone="yes"?>
<Relationships xmlns="http://schemas.openxmlformats.org/package/2006/relationships"><Relationship Id="rId9" Type="http://schemas.openxmlformats.org/officeDocument/2006/relationships/tags" Target="../tags/tag103.xml"/><Relationship Id="rId8" Type="http://schemas.openxmlformats.org/officeDocument/2006/relationships/tags" Target="../tags/tag102.xml"/><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4" Type="http://schemas.openxmlformats.org/officeDocument/2006/relationships/notesSlide" Target="../notesSlides/notesSlide3.xml"/><Relationship Id="rId13" Type="http://schemas.openxmlformats.org/officeDocument/2006/relationships/slideLayout" Target="../slideLayouts/slideLayout1.xml"/><Relationship Id="rId12" Type="http://schemas.openxmlformats.org/officeDocument/2006/relationships/tags" Target="../tags/tag106.xml"/><Relationship Id="rId11" Type="http://schemas.openxmlformats.org/officeDocument/2006/relationships/tags" Target="../tags/tag105.xml"/><Relationship Id="rId10" Type="http://schemas.openxmlformats.org/officeDocument/2006/relationships/tags" Target="../tags/tag104.xml"/><Relationship Id="rId1" Type="http://schemas.openxmlformats.org/officeDocument/2006/relationships/tags" Target="../tags/tag95.xml"/></Relationships>
</file>

<file path=ppt/slides/_rels/slide12.xml.rels><?xml version="1.0" encoding="UTF-8" standalone="yes"?>
<Relationships xmlns="http://schemas.openxmlformats.org/package/2006/relationships"><Relationship Id="rId9" Type="http://schemas.openxmlformats.org/officeDocument/2006/relationships/tags" Target="../tags/tag115.xml"/><Relationship Id="rId8" Type="http://schemas.openxmlformats.org/officeDocument/2006/relationships/tags" Target="../tags/tag114.xml"/><Relationship Id="rId7" Type="http://schemas.openxmlformats.org/officeDocument/2006/relationships/tags" Target="../tags/tag113.xml"/><Relationship Id="rId6" Type="http://schemas.openxmlformats.org/officeDocument/2006/relationships/tags" Target="../tags/tag112.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tags" Target="../tags/tag108.xml"/><Relationship Id="rId12" Type="http://schemas.openxmlformats.org/officeDocument/2006/relationships/notesSlide" Target="../notesSlides/notesSlide4.xml"/><Relationship Id="rId11" Type="http://schemas.openxmlformats.org/officeDocument/2006/relationships/slideLayout" Target="../slideLayouts/slideLayout1.xml"/><Relationship Id="rId10" Type="http://schemas.openxmlformats.org/officeDocument/2006/relationships/tags" Target="../tags/tag116.xml"/><Relationship Id="rId1" Type="http://schemas.openxmlformats.org/officeDocument/2006/relationships/tags" Target="../tags/tag10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5.xml"/><Relationship Id="rId2" Type="http://schemas.openxmlformats.org/officeDocument/2006/relationships/image" Target="../media/image11.png"/><Relationship Id="rId1" Type="http://schemas.openxmlformats.org/officeDocument/2006/relationships/chart" Target="../charts/chart2.xml"/></Relationships>
</file>

<file path=ppt/slides/_rels/slide15.xml.rels><?xml version="1.0" encoding="UTF-8" standalone="yes"?>
<Relationships xmlns="http://schemas.openxmlformats.org/package/2006/relationships"><Relationship Id="rId9" Type="http://schemas.openxmlformats.org/officeDocument/2006/relationships/tags" Target="../tags/tag125.xml"/><Relationship Id="rId8" Type="http://schemas.openxmlformats.org/officeDocument/2006/relationships/tags" Target="../tags/tag124.xml"/><Relationship Id="rId7" Type="http://schemas.openxmlformats.org/officeDocument/2006/relationships/tags" Target="../tags/tag123.xml"/><Relationship Id="rId6" Type="http://schemas.openxmlformats.org/officeDocument/2006/relationships/tags" Target="../tags/tag122.xml"/><Relationship Id="rId5" Type="http://schemas.openxmlformats.org/officeDocument/2006/relationships/tags" Target="../tags/tag121.xml"/><Relationship Id="rId4" Type="http://schemas.openxmlformats.org/officeDocument/2006/relationships/tags" Target="../tags/tag120.xml"/><Relationship Id="rId3" Type="http://schemas.openxmlformats.org/officeDocument/2006/relationships/tags" Target="../tags/tag119.xml"/><Relationship Id="rId2" Type="http://schemas.openxmlformats.org/officeDocument/2006/relationships/tags" Target="../tags/tag118.xml"/><Relationship Id="rId12" Type="http://schemas.openxmlformats.org/officeDocument/2006/relationships/notesSlide" Target="../notesSlides/notesSlide7.xml"/><Relationship Id="rId11" Type="http://schemas.openxmlformats.org/officeDocument/2006/relationships/slideLayout" Target="../slideLayouts/slideLayout1.xml"/><Relationship Id="rId10" Type="http://schemas.openxmlformats.org/officeDocument/2006/relationships/tags" Target="../tags/tag126.xml"/><Relationship Id="rId1" Type="http://schemas.openxmlformats.org/officeDocument/2006/relationships/tags" Target="../tags/tag11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9" Type="http://schemas.openxmlformats.org/officeDocument/2006/relationships/tags" Target="../tags/tag135.xml"/><Relationship Id="rId8" Type="http://schemas.openxmlformats.org/officeDocument/2006/relationships/tags" Target="../tags/tag134.xml"/><Relationship Id="rId7" Type="http://schemas.openxmlformats.org/officeDocument/2006/relationships/tags" Target="../tags/tag133.xml"/><Relationship Id="rId6" Type="http://schemas.openxmlformats.org/officeDocument/2006/relationships/tags" Target="../tags/tag132.xml"/><Relationship Id="rId5" Type="http://schemas.openxmlformats.org/officeDocument/2006/relationships/tags" Target="../tags/tag131.xml"/><Relationship Id="rId4" Type="http://schemas.openxmlformats.org/officeDocument/2006/relationships/tags" Target="../tags/tag130.xml"/><Relationship Id="rId3" Type="http://schemas.openxmlformats.org/officeDocument/2006/relationships/tags" Target="../tags/tag129.xml"/><Relationship Id="rId2" Type="http://schemas.openxmlformats.org/officeDocument/2006/relationships/tags" Target="../tags/tag128.xml"/><Relationship Id="rId12" Type="http://schemas.openxmlformats.org/officeDocument/2006/relationships/notesSlide" Target="../notesSlides/notesSlide10.xml"/><Relationship Id="rId11" Type="http://schemas.openxmlformats.org/officeDocument/2006/relationships/slideLayout" Target="../slideLayouts/slideLayout1.xml"/><Relationship Id="rId10" Type="http://schemas.openxmlformats.org/officeDocument/2006/relationships/tags" Target="../tags/tag136.xml"/><Relationship Id="rId1" Type="http://schemas.openxmlformats.org/officeDocument/2006/relationships/tags" Target="../tags/tag127.xml"/></Relationships>
</file>

<file path=ppt/slides/_rels/slide19.xml.rels><?xml version="1.0" encoding="UTF-8" standalone="yes"?>
<Relationships xmlns="http://schemas.openxmlformats.org/package/2006/relationships"><Relationship Id="rId9" Type="http://schemas.openxmlformats.org/officeDocument/2006/relationships/tags" Target="../tags/tag145.xml"/><Relationship Id="rId8" Type="http://schemas.openxmlformats.org/officeDocument/2006/relationships/tags" Target="../tags/tag144.xml"/><Relationship Id="rId7" Type="http://schemas.openxmlformats.org/officeDocument/2006/relationships/tags" Target="../tags/tag143.xml"/><Relationship Id="rId6" Type="http://schemas.openxmlformats.org/officeDocument/2006/relationships/tags" Target="../tags/tag142.xml"/><Relationship Id="rId5" Type="http://schemas.openxmlformats.org/officeDocument/2006/relationships/tags" Target="../tags/tag141.xml"/><Relationship Id="rId4" Type="http://schemas.openxmlformats.org/officeDocument/2006/relationships/tags" Target="../tags/tag140.xml"/><Relationship Id="rId3" Type="http://schemas.openxmlformats.org/officeDocument/2006/relationships/tags" Target="../tags/tag139.xml"/><Relationship Id="rId2" Type="http://schemas.openxmlformats.org/officeDocument/2006/relationships/tags" Target="../tags/tag138.xml"/><Relationship Id="rId13" Type="http://schemas.openxmlformats.org/officeDocument/2006/relationships/slideLayout" Target="../slideLayouts/slideLayout1.xml"/><Relationship Id="rId12" Type="http://schemas.openxmlformats.org/officeDocument/2006/relationships/image" Target="../media/image15.png"/><Relationship Id="rId11" Type="http://schemas.openxmlformats.org/officeDocument/2006/relationships/image" Target="../media/image14.png"/><Relationship Id="rId10" Type="http://schemas.openxmlformats.org/officeDocument/2006/relationships/tags" Target="../tags/tag146.xml"/><Relationship Id="rId1" Type="http://schemas.openxmlformats.org/officeDocument/2006/relationships/tags" Target="../tags/tag137.xml"/></Relationships>
</file>

<file path=ppt/slides/_rels/slide20.xml.rels><?xml version="1.0" encoding="UTF-8" standalone="yes"?>
<Relationships xmlns="http://schemas.openxmlformats.org/package/2006/relationships"><Relationship Id="rId9" Type="http://schemas.openxmlformats.org/officeDocument/2006/relationships/tags" Target="../tags/tag155.xml"/><Relationship Id="rId8" Type="http://schemas.openxmlformats.org/officeDocument/2006/relationships/tags" Target="../tags/tag154.xml"/><Relationship Id="rId7" Type="http://schemas.openxmlformats.org/officeDocument/2006/relationships/tags" Target="../tags/tag153.xml"/><Relationship Id="rId6" Type="http://schemas.openxmlformats.org/officeDocument/2006/relationships/tags" Target="../tags/tag152.xml"/><Relationship Id="rId5" Type="http://schemas.openxmlformats.org/officeDocument/2006/relationships/tags" Target="../tags/tag151.xml"/><Relationship Id="rId4" Type="http://schemas.openxmlformats.org/officeDocument/2006/relationships/tags" Target="../tags/tag150.xml"/><Relationship Id="rId3" Type="http://schemas.openxmlformats.org/officeDocument/2006/relationships/tags" Target="../tags/tag149.xml"/><Relationship Id="rId2" Type="http://schemas.openxmlformats.org/officeDocument/2006/relationships/tags" Target="../tags/tag148.xml"/><Relationship Id="rId12" Type="http://schemas.openxmlformats.org/officeDocument/2006/relationships/notesSlide" Target="../notesSlides/notesSlide11.xml"/><Relationship Id="rId11" Type="http://schemas.openxmlformats.org/officeDocument/2006/relationships/slideLayout" Target="../slideLayouts/slideLayout1.xml"/><Relationship Id="rId10" Type="http://schemas.openxmlformats.org/officeDocument/2006/relationships/tags" Target="../tags/tag156.xml"/><Relationship Id="rId1" Type="http://schemas.openxmlformats.org/officeDocument/2006/relationships/tags" Target="../tags/tag147.xml"/></Relationships>
</file>

<file path=ppt/slides/_rels/slide21.xml.rels><?xml version="1.0" encoding="UTF-8" standalone="yes"?>
<Relationships xmlns="http://schemas.openxmlformats.org/package/2006/relationships"><Relationship Id="rId9" Type="http://schemas.openxmlformats.org/officeDocument/2006/relationships/tags" Target="../tags/tag165.xml"/><Relationship Id="rId8" Type="http://schemas.openxmlformats.org/officeDocument/2006/relationships/tags" Target="../tags/tag164.xml"/><Relationship Id="rId7" Type="http://schemas.openxmlformats.org/officeDocument/2006/relationships/tags" Target="../tags/tag163.xml"/><Relationship Id="rId6" Type="http://schemas.openxmlformats.org/officeDocument/2006/relationships/tags" Target="../tags/tag162.xml"/><Relationship Id="rId5" Type="http://schemas.openxmlformats.org/officeDocument/2006/relationships/tags" Target="../tags/tag161.xml"/><Relationship Id="rId4" Type="http://schemas.openxmlformats.org/officeDocument/2006/relationships/tags" Target="../tags/tag160.xml"/><Relationship Id="rId3" Type="http://schemas.openxmlformats.org/officeDocument/2006/relationships/tags" Target="../tags/tag159.xml"/><Relationship Id="rId2" Type="http://schemas.openxmlformats.org/officeDocument/2006/relationships/tags" Target="../tags/tag158.xml"/><Relationship Id="rId13" Type="http://schemas.openxmlformats.org/officeDocument/2006/relationships/notesSlide" Target="../notesSlides/notesSlide12.xml"/><Relationship Id="rId12" Type="http://schemas.openxmlformats.org/officeDocument/2006/relationships/slideLayout" Target="../slideLayouts/slideLayout1.xml"/><Relationship Id="rId11" Type="http://schemas.openxmlformats.org/officeDocument/2006/relationships/image" Target="../media/image16.png"/><Relationship Id="rId10" Type="http://schemas.openxmlformats.org/officeDocument/2006/relationships/tags" Target="../tags/tag166.xml"/><Relationship Id="rId1" Type="http://schemas.openxmlformats.org/officeDocument/2006/relationships/tags" Target="../tags/tag157.xml"/></Relationships>
</file>

<file path=ppt/slides/_rels/slide22.xml.rels><?xml version="1.0" encoding="UTF-8" standalone="yes"?>
<Relationships xmlns="http://schemas.openxmlformats.org/package/2006/relationships"><Relationship Id="rId9" Type="http://schemas.openxmlformats.org/officeDocument/2006/relationships/tags" Target="../tags/tag175.xml"/><Relationship Id="rId8" Type="http://schemas.openxmlformats.org/officeDocument/2006/relationships/tags" Target="../tags/tag174.xml"/><Relationship Id="rId7" Type="http://schemas.openxmlformats.org/officeDocument/2006/relationships/tags" Target="../tags/tag173.xml"/><Relationship Id="rId6" Type="http://schemas.openxmlformats.org/officeDocument/2006/relationships/tags" Target="../tags/tag172.xml"/><Relationship Id="rId5" Type="http://schemas.openxmlformats.org/officeDocument/2006/relationships/tags" Target="../tags/tag171.xml"/><Relationship Id="rId4" Type="http://schemas.openxmlformats.org/officeDocument/2006/relationships/tags" Target="../tags/tag170.xml"/><Relationship Id="rId3" Type="http://schemas.openxmlformats.org/officeDocument/2006/relationships/tags" Target="../tags/tag169.xml"/><Relationship Id="rId2" Type="http://schemas.openxmlformats.org/officeDocument/2006/relationships/tags" Target="../tags/tag168.xml"/><Relationship Id="rId12" Type="http://schemas.openxmlformats.org/officeDocument/2006/relationships/slideLayout" Target="../slideLayouts/slideLayout1.xml"/><Relationship Id="rId11" Type="http://schemas.openxmlformats.org/officeDocument/2006/relationships/image" Target="../media/image1.png"/><Relationship Id="rId10" Type="http://schemas.openxmlformats.org/officeDocument/2006/relationships/tags" Target="../tags/tag176.xml"/><Relationship Id="rId1" Type="http://schemas.openxmlformats.org/officeDocument/2006/relationships/tags" Target="../tags/tag16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4" name="小李PPT1"/>
          <p:cNvSpPr/>
          <p:nvPr>
            <p:custDataLst>
              <p:tags r:id="rId1"/>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2"/>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3"/>
            </p:custDataLst>
          </p:nvPr>
        </p:nvSpPr>
        <p:spPr>
          <a:xfrm>
            <a:off x="4000500" y="-914400"/>
            <a:ext cx="635000" cy="635000"/>
          </a:xfrm>
          <a:prstGeom prst="rect">
            <a:avLst/>
          </a:prstGeom>
          <a:solidFill>
            <a:schemeClr val="dk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4"/>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5"/>
            </p:custDataLst>
          </p:nvPr>
        </p:nvSpPr>
        <p:spPr>
          <a:xfrm>
            <a:off x="5778500" y="-914400"/>
            <a:ext cx="635000" cy="6350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6"/>
            </p:custDataLst>
          </p:nvPr>
        </p:nvSpPr>
        <p:spPr>
          <a:xfrm>
            <a:off x="6540500" y="-914400"/>
            <a:ext cx="635000" cy="635000"/>
          </a:xfrm>
          <a:prstGeom prst="rect">
            <a:avLst/>
          </a:prstGeom>
          <a:solidFill>
            <a:schemeClr val="accen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7"/>
            </p:custDataLst>
          </p:nvPr>
        </p:nvSpPr>
        <p:spPr>
          <a:xfrm>
            <a:off x="7302500" y="-914400"/>
            <a:ext cx="635000" cy="635000"/>
          </a:xfrm>
          <a:prstGeom prst="rect">
            <a:avLst/>
          </a:prstGeom>
          <a:solidFill>
            <a:schemeClr val="accent3"/>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8"/>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9"/>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0"/>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 name="小李PPT11"/>
          <p:cNvSpPr/>
          <p:nvPr/>
        </p:nvSpPr>
        <p:spPr>
          <a:xfrm>
            <a:off x="0" y="0"/>
            <a:ext cx="12192000" cy="5329238"/>
          </a:xfrm>
          <a:prstGeom prst="rect">
            <a:avLst/>
          </a:prstGeom>
          <a:solidFill>
            <a:schemeClr val="accent1"/>
          </a:solidFill>
          <a:ln w="12700" cap="flat" cmpd="sng" algn="ctr">
            <a:noFill/>
            <a:prstDash val="solid"/>
            <a:miter lim="800000"/>
          </a:ln>
          <a:effectLst/>
        </p:spPr>
        <p:txBody>
          <a:bodyPr wrap="square" rtlCol="0" anchor="ctr">
            <a:noAutofit/>
          </a:bodyPr>
          <a:lstStyle/>
          <a:p>
            <a:pPr algn="ctr"/>
            <a:endParaRPr lang="zh-CN" altLang="en-US" kern="0" dirty="0">
              <a:solidFill>
                <a:srgbClr val="FFFFFF"/>
              </a:solidFill>
              <a:latin typeface="Montserrat"/>
              <a:ea typeface="思源黑体 CN Normal"/>
            </a:endParaRPr>
          </a:p>
        </p:txBody>
      </p:sp>
      <p:sp>
        <p:nvSpPr>
          <p:cNvPr id="4" name="小李PPT12-1"/>
          <p:cNvSpPr/>
          <p:nvPr/>
        </p:nvSpPr>
        <p:spPr>
          <a:xfrm>
            <a:off x="10753725" y="6084829"/>
            <a:ext cx="127000" cy="127000"/>
          </a:xfrm>
          <a:prstGeom prst="ellipse">
            <a:avLst/>
          </a:prstGeom>
          <a:solidFill>
            <a:srgbClr val="FFFFFF"/>
          </a:solidFill>
          <a:ln w="12700"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5" name="小李PPT12-2"/>
          <p:cNvSpPr/>
          <p:nvPr/>
        </p:nvSpPr>
        <p:spPr>
          <a:xfrm>
            <a:off x="10932795" y="6084829"/>
            <a:ext cx="127000" cy="127000"/>
          </a:xfrm>
          <a:prstGeom prst="ellipse">
            <a:avLst/>
          </a:prstGeom>
          <a:solidFill>
            <a:schemeClr val="accent1"/>
          </a:solidFill>
          <a:ln w="12700"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6" name="小李PPT13"/>
          <p:cNvSpPr/>
          <p:nvPr/>
        </p:nvSpPr>
        <p:spPr>
          <a:xfrm>
            <a:off x="11111865" y="6084829"/>
            <a:ext cx="127000" cy="127000"/>
          </a:xfrm>
          <a:prstGeom prst="ellipse">
            <a:avLst/>
          </a:prstGeom>
          <a:solidFill>
            <a:srgbClr val="FFFFFF"/>
          </a:solidFill>
          <a:ln w="12700"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7" name="小李PPT14"/>
          <p:cNvSpPr/>
          <p:nvPr/>
        </p:nvSpPr>
        <p:spPr>
          <a:xfrm>
            <a:off x="11290935" y="6084829"/>
            <a:ext cx="127000" cy="127000"/>
          </a:xfrm>
          <a:prstGeom prst="ellipse">
            <a:avLst/>
          </a:prstGeom>
          <a:solidFill>
            <a:schemeClr val="accent1"/>
          </a:solidFill>
          <a:ln w="12700" cap="flat" cmpd="sng" algn="ctr">
            <a:solidFill>
              <a:schemeClr val="accent1"/>
            </a:solidFill>
            <a:prstDash val="solid"/>
            <a:miter lim="800000"/>
          </a:ln>
          <a:effectLst/>
        </p:spPr>
        <p:txBody>
          <a:bodyPr rtlCol="0" anchor="ctr"/>
          <a:lstStyle/>
          <a:p>
            <a:pPr algn="ctr"/>
            <a:endParaRPr lang="zh-CN" altLang="en-US" kern="0" dirty="0">
              <a:solidFill>
                <a:srgbClr val="FFFFFF"/>
              </a:solidFill>
              <a:latin typeface="微软雅黑" panose="020B0503020204020204" charset="-122"/>
              <a:ea typeface="微软雅黑" panose="020B0503020204020204" charset="-122"/>
            </a:endParaRPr>
          </a:p>
        </p:txBody>
      </p:sp>
      <p:grpSp>
        <p:nvGrpSpPr>
          <p:cNvPr id="8" name="小李PPT15"/>
          <p:cNvGrpSpPr/>
          <p:nvPr/>
        </p:nvGrpSpPr>
        <p:grpSpPr>
          <a:xfrm>
            <a:off x="5739539" y="4972777"/>
            <a:ext cx="712922" cy="712922"/>
            <a:chOff x="5500999" y="4972777"/>
            <a:chExt cx="712922" cy="712922"/>
          </a:xfrm>
        </p:grpSpPr>
        <p:sp>
          <p:nvSpPr>
            <p:cNvPr id="9" name="小李PPT15-1"/>
            <p:cNvSpPr/>
            <p:nvPr/>
          </p:nvSpPr>
          <p:spPr>
            <a:xfrm>
              <a:off x="5500999" y="4972777"/>
              <a:ext cx="712922" cy="712922"/>
            </a:xfrm>
            <a:prstGeom prst="ellipse">
              <a:avLst/>
            </a:prstGeom>
            <a:solidFill>
              <a:schemeClr val="accent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pic>
          <p:nvPicPr>
            <p:cNvPr id="10" name="小李PPT15-2"/>
            <p:cNvPicPr>
              <a:picLocks noChangeAspect="1"/>
            </p:cNvPicPr>
            <p:nvPr/>
          </p:nvPicPr>
          <p:blipFill>
            <a:blip r:embed="rId11" cstate="email">
              <a:extLst>
                <a:ext uri="{96DAC541-7B7A-43D3-8B79-37D633B846F1}">
                  <asvg:svgBlip xmlns:asvg="http://schemas.microsoft.com/office/drawing/2016/SVG/main" r:embed="rId12"/>
                </a:ext>
              </a:extLst>
            </a:blip>
            <a:stretch>
              <a:fillRect/>
            </a:stretch>
          </p:blipFill>
          <p:spPr>
            <a:xfrm rot="5400000">
              <a:off x="5616580" y="5089605"/>
              <a:ext cx="481759" cy="481759"/>
            </a:xfrm>
            <a:prstGeom prst="rect">
              <a:avLst/>
            </a:prstGeom>
          </p:spPr>
        </p:pic>
      </p:grpSp>
      <p:grpSp>
        <p:nvGrpSpPr>
          <p:cNvPr id="11" name="小李PPT16"/>
          <p:cNvGrpSpPr/>
          <p:nvPr/>
        </p:nvGrpSpPr>
        <p:grpSpPr>
          <a:xfrm>
            <a:off x="3186430" y="3794100"/>
            <a:ext cx="5819140" cy="551180"/>
            <a:chOff x="2828545" y="3794100"/>
            <a:chExt cx="5819140" cy="551180"/>
          </a:xfrm>
        </p:grpSpPr>
        <p:sp>
          <p:nvSpPr>
            <p:cNvPr id="12" name="小李PPT16-1"/>
            <p:cNvSpPr/>
            <p:nvPr/>
          </p:nvSpPr>
          <p:spPr>
            <a:xfrm>
              <a:off x="2828545" y="3794100"/>
              <a:ext cx="5819140" cy="441325"/>
            </a:xfrm>
            <a:prstGeom prst="roundRect">
              <a:avLst>
                <a:gd name="adj" fmla="val 50000"/>
              </a:avLst>
            </a:prstGeom>
            <a:solidFill>
              <a:srgbClr val="FFFFFF"/>
            </a:solidFill>
            <a:ln w="3175" cap="flat" cmpd="sng" algn="ctr">
              <a:solidFill>
                <a:schemeClr val="accent2">
                  <a:lumMod val="20000"/>
                  <a:lumOff val="8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3" name="小李PPT16-2"/>
            <p:cNvSpPr txBox="1"/>
            <p:nvPr/>
          </p:nvSpPr>
          <p:spPr>
            <a:xfrm>
              <a:off x="3408300" y="3823310"/>
              <a:ext cx="5132705" cy="521970"/>
            </a:xfrm>
            <a:prstGeom prst="rect">
              <a:avLst/>
            </a:prstGeom>
            <a:noFill/>
          </p:spPr>
          <p:txBody>
            <a:bodyPr wrap="square" rtlCol="0">
              <a:spAutoFit/>
            </a:bodyPr>
            <a:lstStyle/>
            <a:p>
              <a:pPr algn="dist"/>
              <a:r>
                <a:rPr lang="zh-CN" altLang="en-US" sz="1400" cap="all" dirty="0">
                  <a:solidFill>
                    <a:schemeClr val="tx1"/>
                  </a:solidFill>
                  <a:latin typeface="微软雅黑" panose="020B0503020204020204" charset="-122"/>
                  <a:ea typeface="微软雅黑" panose="020B0503020204020204" charset="-122"/>
                  <a:cs typeface="思源黑体 CN Bold" panose="020B0800000000000000" charset="-122"/>
                </a:rPr>
                <a:t>成员：</a:t>
              </a:r>
              <a:r>
                <a:rPr lang="zh-CN" altLang="en-US" sz="1400" dirty="0">
                  <a:solidFill>
                    <a:schemeClr val="tx1"/>
                  </a:solidFill>
                  <a:latin typeface="思源黑体 Normal" panose="020B0400000000000000" pitchFamily="34" charset="-122"/>
                  <a:ea typeface="思源黑体 Normal" panose="020B0400000000000000" pitchFamily="34" charset="-122"/>
                  <a:sym typeface="+mn-ea"/>
                </a:rPr>
                <a:t>杨玄鼗、贾栋元、杨祎璠、杜北辰、苏博纳、罗远航</a:t>
              </a:r>
              <a:endParaRPr lang="zh-CN" altLang="en-US" sz="1400" dirty="0">
                <a:solidFill>
                  <a:schemeClr val="tx1"/>
                </a:solidFill>
                <a:latin typeface="思源黑体 Normal" panose="020B0400000000000000" pitchFamily="34" charset="-122"/>
                <a:ea typeface="思源黑体 Normal" panose="020B0400000000000000" pitchFamily="34" charset="-122"/>
              </a:endParaRPr>
            </a:p>
            <a:p>
              <a:pPr algn="dist"/>
              <a:endParaRPr lang="zh-CN" altLang="en-US" sz="1400" cap="all" dirty="0">
                <a:solidFill>
                  <a:schemeClr val="tx1"/>
                </a:solidFill>
                <a:latin typeface="思源黑体 Normal" panose="020B0400000000000000" pitchFamily="34" charset="-122"/>
                <a:ea typeface="思源黑体 Normal" panose="020B0400000000000000" pitchFamily="34" charset="-122"/>
                <a:cs typeface="思源黑体 CN Bold" panose="020B0800000000000000" charset="-122"/>
              </a:endParaRPr>
            </a:p>
          </p:txBody>
        </p:sp>
        <p:pic>
          <p:nvPicPr>
            <p:cNvPr id="20" name="小李PPT16-5"/>
            <p:cNvPicPr>
              <a:picLocks noChangeAspect="1"/>
            </p:cNvPicPr>
            <p:nvPr/>
          </p:nvPicPr>
          <p:blipFill>
            <a:blip r:embed="rId13" cstate="email">
              <a:extLst>
                <a:ext uri="{96DAC541-7B7A-43D3-8B79-37D633B846F1}">
                  <asvg:svgBlip xmlns:asvg="http://schemas.microsoft.com/office/drawing/2016/SVG/main" r:embed="rId14"/>
                </a:ext>
              </a:extLst>
            </a:blip>
            <a:stretch>
              <a:fillRect/>
            </a:stretch>
          </p:blipFill>
          <p:spPr>
            <a:xfrm>
              <a:off x="3191854" y="3854426"/>
              <a:ext cx="242115" cy="242115"/>
            </a:xfrm>
            <a:prstGeom prst="rect">
              <a:avLst/>
            </a:prstGeom>
          </p:spPr>
        </p:pic>
      </p:grpSp>
      <p:sp>
        <p:nvSpPr>
          <p:cNvPr id="21" name="小李PPT17"/>
          <p:cNvSpPr txBox="1"/>
          <p:nvPr/>
        </p:nvSpPr>
        <p:spPr>
          <a:xfrm>
            <a:off x="1243965" y="1998527"/>
            <a:ext cx="9704070" cy="829945"/>
          </a:xfrm>
          <a:prstGeom prst="rect">
            <a:avLst/>
          </a:prstGeom>
          <a:noFill/>
        </p:spPr>
        <p:txBody>
          <a:bodyPr wrap="none" rtlCol="0">
            <a:spAutoFit/>
          </a:bodyPr>
          <a:lstStyle/>
          <a:p>
            <a:pPr algn="ctr"/>
            <a:r>
              <a:rPr kumimoji="1" lang="zh-CN" altLang="en-US" sz="4800" b="1" dirty="0">
                <a:solidFill>
                  <a:srgbClr val="FFFFFF"/>
                </a:solidFill>
                <a:latin typeface="微软雅黑" panose="020B0503020204020204" charset="-122"/>
                <a:ea typeface="微软雅黑" panose="020B0503020204020204" charset="-122"/>
              </a:rPr>
              <a:t>某 PVC 管材项目的可行性研究报告</a:t>
            </a:r>
            <a:endParaRPr kumimoji="1" lang="zh-CN" altLang="en-US" sz="4800" b="1" dirty="0">
              <a:solidFill>
                <a:srgbClr val="FFFFFF"/>
              </a:solidFill>
              <a:latin typeface="微软雅黑" panose="020B0503020204020204" charset="-122"/>
              <a:ea typeface="微软雅黑" panose="020B0503020204020204" charset="-122"/>
            </a:endParaRPr>
          </a:p>
        </p:txBody>
      </p:sp>
      <p:sp>
        <p:nvSpPr>
          <p:cNvPr id="22" name="小李PPT18"/>
          <p:cNvSpPr/>
          <p:nvPr/>
        </p:nvSpPr>
        <p:spPr>
          <a:xfrm>
            <a:off x="3967483" y="925734"/>
            <a:ext cx="4257040" cy="1769745"/>
          </a:xfrm>
          <a:prstGeom prst="rect">
            <a:avLst/>
          </a:prstGeom>
        </p:spPr>
        <p:txBody>
          <a:bodyPr wrap="none" lIns="0" tIns="0" rIns="0" bIns="0">
            <a:spAutoFit/>
          </a:bodyPr>
          <a:lstStyle/>
          <a:p>
            <a:pPr algn="ctr">
              <a:spcBef>
                <a:spcPts val="600"/>
              </a:spcBef>
              <a:defRPr/>
            </a:pPr>
            <a:r>
              <a:rPr lang="en-US" altLang="zh-CN" sz="11500" b="1" dirty="0">
                <a:ln>
                  <a:gradFill>
                    <a:gsLst>
                      <a:gs pos="0">
                        <a:srgbClr val="FFFFFF"/>
                      </a:gs>
                      <a:gs pos="60000">
                        <a:srgbClr val="FFFFFF">
                          <a:alpha val="0"/>
                        </a:srgbClr>
                      </a:gs>
                    </a:gsLst>
                    <a:lin ang="5400000" scaled="1"/>
                  </a:gradFill>
                </a:ln>
                <a:gradFill>
                  <a:gsLst>
                    <a:gs pos="0">
                      <a:srgbClr val="FFFFFF">
                        <a:alpha val="30000"/>
                      </a:srgbClr>
                    </a:gs>
                    <a:gs pos="60000">
                      <a:srgbClr val="FFFFFF">
                        <a:alpha val="0"/>
                      </a:srgbClr>
                    </a:gs>
                  </a:gsLst>
                  <a:lin ang="5400000" scaled="0"/>
                </a:gradFill>
                <a:latin typeface="Montserrat"/>
                <a:ea typeface="思源黑体 CN Bold"/>
                <a:cs typeface="阿里巴巴普惠体 Heavy" panose="00020600040101010101" pitchFamily="18" charset="-122"/>
              </a:rPr>
              <a:t>2025</a:t>
            </a:r>
            <a:endParaRPr lang="zh-CN" altLang="en-US" sz="11500" dirty="0">
              <a:ln>
                <a:gradFill>
                  <a:gsLst>
                    <a:gs pos="0">
                      <a:srgbClr val="FFFFFF"/>
                    </a:gs>
                    <a:gs pos="60000">
                      <a:srgbClr val="FFFFFF">
                        <a:alpha val="0"/>
                      </a:srgbClr>
                    </a:gs>
                  </a:gsLst>
                  <a:lin ang="5400000" scaled="1"/>
                </a:gradFill>
              </a:ln>
              <a:gradFill>
                <a:gsLst>
                  <a:gs pos="0">
                    <a:srgbClr val="FFFFFF">
                      <a:alpha val="30000"/>
                    </a:srgbClr>
                  </a:gs>
                  <a:gs pos="60000">
                    <a:srgbClr val="FFFFFF">
                      <a:alpha val="0"/>
                    </a:srgbClr>
                  </a:gs>
                </a:gsLst>
                <a:lin ang="5400000" scaled="0"/>
              </a:gradFill>
              <a:latin typeface="思源黑体 CN Bold"/>
              <a:ea typeface="思源黑体 CN Bold"/>
              <a:cs typeface="阿里巴巴普惠体 Heavy" panose="00020600040101010101" pitchFamily="18" charset="-122"/>
            </a:endParaRPr>
          </a:p>
        </p:txBody>
      </p:sp>
      <p:sp>
        <p:nvSpPr>
          <p:cNvPr id="14" name="小李PPT16-1"/>
          <p:cNvSpPr/>
          <p:nvPr/>
        </p:nvSpPr>
        <p:spPr>
          <a:xfrm>
            <a:off x="3186430" y="4446905"/>
            <a:ext cx="5819140" cy="441325"/>
          </a:xfrm>
          <a:prstGeom prst="roundRect">
            <a:avLst>
              <a:gd name="adj" fmla="val 50000"/>
            </a:avLst>
          </a:prstGeom>
          <a:solidFill>
            <a:srgbClr val="FFFFFF"/>
          </a:solidFill>
          <a:ln w="3175" cap="flat" cmpd="sng" algn="ctr">
            <a:solidFill>
              <a:schemeClr val="accent2">
                <a:lumMod val="20000"/>
                <a:lumOff val="80000"/>
              </a:schemeClr>
            </a:solidFill>
            <a:prstDash val="solid"/>
            <a:miter lim="800000"/>
          </a:ln>
          <a:effectLst/>
        </p:spPr>
        <p:txBody>
          <a:bodyPr rtlCol="0" anchor="ct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grpSp>
        <p:nvGrpSpPr>
          <p:cNvPr id="25" name="组合 24"/>
          <p:cNvGrpSpPr/>
          <p:nvPr/>
        </p:nvGrpSpPr>
        <p:grpSpPr>
          <a:xfrm>
            <a:off x="4805363" y="4486275"/>
            <a:ext cx="2581910" cy="306705"/>
            <a:chOff x="9567" y="7065"/>
            <a:chExt cx="4066" cy="483"/>
          </a:xfrm>
        </p:grpSpPr>
        <p:sp>
          <p:nvSpPr>
            <p:cNvPr id="16" name="小李PPT16-3"/>
            <p:cNvSpPr txBox="1"/>
            <p:nvPr/>
          </p:nvSpPr>
          <p:spPr>
            <a:xfrm>
              <a:off x="9958" y="7065"/>
              <a:ext cx="3675" cy="483"/>
            </a:xfrm>
            <a:prstGeom prst="rect">
              <a:avLst/>
            </a:prstGeom>
            <a:noFill/>
          </p:spPr>
          <p:txBody>
            <a:bodyPr wrap="square" rtlCol="0">
              <a:spAutoFit/>
            </a:bodyPr>
            <a:p>
              <a:pPr algn="ctr"/>
              <a:r>
                <a:rPr lang="zh-CN" altLang="en-US" sz="1400" cap="all" dirty="0">
                  <a:solidFill>
                    <a:srgbClr val="0D0D0D">
                      <a:lumMod val="85000"/>
                      <a:lumOff val="15000"/>
                    </a:srgbClr>
                  </a:solidFill>
                  <a:latin typeface="微软雅黑" panose="020B0503020204020204" charset="-122"/>
                  <a:ea typeface="微软雅黑" panose="020B0503020204020204" charset="-122"/>
                  <a:cs typeface="思源黑体 CN Bold" panose="020B0800000000000000" charset="-122"/>
                </a:rPr>
                <a:t>时间：</a:t>
              </a:r>
              <a:r>
                <a:rPr lang="en-US" altLang="zh-CN" sz="1400" cap="all" dirty="0">
                  <a:solidFill>
                    <a:srgbClr val="0D0D0D">
                      <a:lumMod val="85000"/>
                      <a:lumOff val="15000"/>
                    </a:srgbClr>
                  </a:solidFill>
                  <a:latin typeface="微软雅黑" panose="020B0503020204020204" charset="-122"/>
                  <a:ea typeface="微软雅黑" panose="020B0503020204020204" charset="-122"/>
                  <a:cs typeface="思源黑体 CN Bold" panose="020B0800000000000000" charset="-122"/>
                </a:rPr>
                <a:t>2025</a:t>
              </a:r>
              <a:r>
                <a:rPr lang="zh-CN" altLang="en-US" sz="1400" cap="all" dirty="0">
                  <a:solidFill>
                    <a:srgbClr val="0D0D0D">
                      <a:lumMod val="85000"/>
                      <a:lumOff val="15000"/>
                    </a:srgbClr>
                  </a:solidFill>
                  <a:latin typeface="微软雅黑" panose="020B0503020204020204" charset="-122"/>
                  <a:ea typeface="微软雅黑" panose="020B0503020204020204" charset="-122"/>
                  <a:cs typeface="思源黑体 CN Bold" panose="020B0800000000000000" charset="-122"/>
                </a:rPr>
                <a:t>年</a:t>
              </a:r>
              <a:r>
                <a:rPr lang="en-US" altLang="zh-CN" sz="1400" cap="all" dirty="0">
                  <a:solidFill>
                    <a:srgbClr val="0D0D0D">
                      <a:lumMod val="85000"/>
                      <a:lumOff val="15000"/>
                    </a:srgbClr>
                  </a:solidFill>
                  <a:latin typeface="微软雅黑" panose="020B0503020204020204" charset="-122"/>
                  <a:ea typeface="微软雅黑" panose="020B0503020204020204" charset="-122"/>
                  <a:cs typeface="思源黑体 CN Bold" panose="020B0800000000000000" charset="-122"/>
                </a:rPr>
                <a:t>10</a:t>
              </a:r>
              <a:r>
                <a:rPr lang="zh-CN" altLang="en-US" sz="1400" cap="all" dirty="0">
                  <a:solidFill>
                    <a:srgbClr val="0D0D0D">
                      <a:lumMod val="85000"/>
                      <a:lumOff val="15000"/>
                    </a:srgbClr>
                  </a:solidFill>
                  <a:latin typeface="微软雅黑" panose="020B0503020204020204" charset="-122"/>
                  <a:ea typeface="微软雅黑" panose="020B0503020204020204" charset="-122"/>
                  <a:cs typeface="思源黑体 CN Bold" panose="020B0800000000000000" charset="-122"/>
                </a:rPr>
                <a:t>月</a:t>
              </a:r>
              <a:r>
                <a:rPr lang="en-US" altLang="zh-CN" sz="1400" cap="all" dirty="0">
                  <a:solidFill>
                    <a:srgbClr val="0D0D0D">
                      <a:lumMod val="85000"/>
                      <a:lumOff val="15000"/>
                    </a:srgbClr>
                  </a:solidFill>
                  <a:latin typeface="微软雅黑" panose="020B0503020204020204" charset="-122"/>
                  <a:ea typeface="微软雅黑" panose="020B0503020204020204" charset="-122"/>
                  <a:cs typeface="思源黑体 CN Bold" panose="020B0800000000000000" charset="-122"/>
                </a:rPr>
                <a:t>31</a:t>
              </a:r>
              <a:r>
                <a:rPr lang="zh-CN" altLang="en-US" sz="1400" cap="all" dirty="0">
                  <a:solidFill>
                    <a:srgbClr val="0D0D0D">
                      <a:lumMod val="85000"/>
                      <a:lumOff val="15000"/>
                    </a:srgbClr>
                  </a:solidFill>
                  <a:latin typeface="微软雅黑" panose="020B0503020204020204" charset="-122"/>
                  <a:ea typeface="微软雅黑" panose="020B0503020204020204" charset="-122"/>
                  <a:cs typeface="思源黑体 CN Bold" panose="020B0800000000000000" charset="-122"/>
                </a:rPr>
                <a:t>日</a:t>
              </a:r>
              <a:endParaRPr sz="1400" cap="all" dirty="0">
                <a:solidFill>
                  <a:srgbClr val="0D0D0D">
                    <a:lumMod val="85000"/>
                    <a:lumOff val="15000"/>
                  </a:srgbClr>
                </a:solidFill>
                <a:latin typeface="微软雅黑" panose="020B0503020204020204" charset="-122"/>
                <a:ea typeface="微软雅黑" panose="020B0503020204020204" charset="-122"/>
                <a:cs typeface="思源黑体 CN Bold" panose="020B0800000000000000" charset="-122"/>
              </a:endParaRPr>
            </a:p>
          </p:txBody>
        </p:sp>
        <p:pic>
          <p:nvPicPr>
            <p:cNvPr id="17" name="小李PPT16-4"/>
            <p:cNvPicPr>
              <a:picLocks noChangeAspect="1"/>
            </p:cNvPicPr>
            <p:nvPr/>
          </p:nvPicPr>
          <p:blipFill>
            <a:blip r:embed="rId15" cstate="email">
              <a:extLst>
                <a:ext uri="{96DAC541-7B7A-43D3-8B79-37D633B846F1}">
                  <asvg:svgBlip xmlns:asvg="http://schemas.microsoft.com/office/drawing/2016/SVG/main" r:embed="rId16"/>
                </a:ext>
              </a:extLst>
            </a:blip>
            <a:stretch>
              <a:fillRect/>
            </a:stretch>
          </p:blipFill>
          <p:spPr>
            <a:xfrm>
              <a:off x="9567" y="7100"/>
              <a:ext cx="426" cy="426"/>
            </a:xfrm>
            <a:prstGeom prst="rect">
              <a:avLst/>
            </a:prstGeom>
          </p:spPr>
        </p:pic>
      </p:gr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小李PPT1"/>
          <p:cNvSpPr/>
          <p:nvPr>
            <p:custDataLst>
              <p:tags r:id="rId1"/>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2"/>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3"/>
            </p:custDataLst>
          </p:nvPr>
        </p:nvSpPr>
        <p:spPr>
          <a:xfrm>
            <a:off x="4000500" y="-914400"/>
            <a:ext cx="635000" cy="635000"/>
          </a:xfrm>
          <a:prstGeom prst="rect">
            <a:avLst/>
          </a:prstGeom>
          <a:solidFill>
            <a:schemeClr val="dk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4"/>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5"/>
            </p:custDataLst>
          </p:nvPr>
        </p:nvSpPr>
        <p:spPr>
          <a:xfrm>
            <a:off x="5778500" y="-914400"/>
            <a:ext cx="635000" cy="6350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6"/>
            </p:custDataLst>
          </p:nvPr>
        </p:nvSpPr>
        <p:spPr>
          <a:xfrm>
            <a:off x="6540500" y="-914400"/>
            <a:ext cx="635000" cy="635000"/>
          </a:xfrm>
          <a:prstGeom prst="rect">
            <a:avLst/>
          </a:prstGeom>
          <a:solidFill>
            <a:schemeClr val="accen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7"/>
            </p:custDataLst>
          </p:nvPr>
        </p:nvSpPr>
        <p:spPr>
          <a:xfrm>
            <a:off x="7302500" y="-914400"/>
            <a:ext cx="635000" cy="635000"/>
          </a:xfrm>
          <a:prstGeom prst="rect">
            <a:avLst/>
          </a:prstGeom>
          <a:solidFill>
            <a:schemeClr val="accent3"/>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8"/>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9"/>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0"/>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grpSp>
        <p:nvGrpSpPr>
          <p:cNvPr id="2" name="组合 1"/>
          <p:cNvGrpSpPr/>
          <p:nvPr/>
        </p:nvGrpSpPr>
        <p:grpSpPr>
          <a:xfrm>
            <a:off x="0" y="0"/>
            <a:ext cx="2828290" cy="6858000"/>
            <a:chOff x="0" y="0"/>
            <a:chExt cx="7291" cy="10800"/>
          </a:xfrm>
        </p:grpSpPr>
        <p:pic>
          <p:nvPicPr>
            <p:cNvPr id="9" name="小李PPT11" descr="图示, 工程绘图&#10;&#10;描述已自动生成"/>
            <p:cNvPicPr>
              <a:picLocks noChangeAspect="1"/>
            </p:cNvPicPr>
            <p:nvPr/>
          </p:nvPicPr>
          <p:blipFill rotWithShape="1">
            <a:blip r:embed="rId11" cstate="email"/>
            <a:srcRect/>
            <a:stretch>
              <a:fillRect/>
            </a:stretch>
          </p:blipFill>
          <p:spPr>
            <a:xfrm>
              <a:off x="0" y="0"/>
              <a:ext cx="7291" cy="108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10" name="小李PPT12"/>
            <p:cNvSpPr/>
            <p:nvPr/>
          </p:nvSpPr>
          <p:spPr>
            <a:xfrm>
              <a:off x="0" y="0"/>
              <a:ext cx="7291" cy="108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a:solidFill>
              <a:schemeClr val="accent1"/>
            </a:solidFill>
            <a:ln w="12700" cap="flat" cmpd="sng" algn="ctr">
              <a:noFill/>
              <a:prstDash val="solid"/>
              <a:miter lim="800000"/>
            </a:ln>
            <a:effectLst/>
          </p:spPr>
          <p:txBody>
            <a:bodyPr wrap="square" rtlCol="0" anchor="ctr">
              <a:noAutofit/>
            </a:bodyPr>
            <a:lstStyle/>
            <a:p>
              <a:pPr algn="ctr"/>
              <a:endParaRPr lang="zh-CN" altLang="en-US" kern="0">
                <a:solidFill>
                  <a:srgbClr val="FFFFFF"/>
                </a:solidFill>
                <a:latin typeface="Montserrat"/>
                <a:ea typeface="思源黑体 CN Normal"/>
              </a:endParaRPr>
            </a:p>
          </p:txBody>
        </p:sp>
        <p:sp>
          <p:nvSpPr>
            <p:cNvPr id="16" name="小李PPT13"/>
            <p:cNvSpPr txBox="1"/>
            <p:nvPr/>
          </p:nvSpPr>
          <p:spPr>
            <a:xfrm>
              <a:off x="2761" y="3389"/>
              <a:ext cx="805" cy="4021"/>
            </a:xfrm>
            <a:prstGeom prst="rect">
              <a:avLst/>
            </a:prstGeom>
            <a:noFill/>
          </p:spPr>
          <p:txBody>
            <a:bodyPr wrap="square" rtlCol="0">
              <a:spAutoFit/>
            </a:bodyPr>
            <a:lstStyle/>
            <a:p>
              <a:pPr algn="ctr">
                <a:defRPr/>
              </a:pPr>
              <a:r>
                <a:rPr lang="zh-CN" altLang="en-US" sz="8000" dirty="0">
                  <a:solidFill>
                    <a:srgbClr val="FFFFFF"/>
                  </a:solidFill>
                  <a:latin typeface="思源黑体 CN Bold" panose="020B0800000000000000" charset="-122"/>
                  <a:ea typeface="思源黑体 CN Bold" panose="020B0800000000000000" charset="-122"/>
                </a:rPr>
                <a:t>目 录</a:t>
              </a:r>
              <a:endParaRPr lang="zh-CN" altLang="en-US" sz="8000" dirty="0">
                <a:solidFill>
                  <a:srgbClr val="FFFFFF"/>
                </a:solidFill>
                <a:latin typeface="思源黑体 CN Bold" panose="020B0800000000000000" charset="-122"/>
                <a:ea typeface="思源黑体 CN Bold" panose="020B0800000000000000" charset="-122"/>
              </a:endParaRPr>
            </a:p>
          </p:txBody>
        </p:sp>
        <p:sp>
          <p:nvSpPr>
            <p:cNvPr id="17" name="小李PPT14"/>
            <p:cNvSpPr txBox="1"/>
            <p:nvPr/>
          </p:nvSpPr>
          <p:spPr>
            <a:xfrm rot="16200000">
              <a:off x="401" y="4526"/>
              <a:ext cx="9196" cy="2377"/>
            </a:xfrm>
            <a:prstGeom prst="rect">
              <a:avLst/>
            </a:prstGeom>
            <a:noFill/>
          </p:spPr>
          <p:txBody>
            <a:bodyPr wrap="square" rtlCol="0">
              <a:spAutoFit/>
            </a:bodyPr>
            <a:lstStyle>
              <a:defPPr>
                <a:defRPr lang="zh-CN"/>
              </a:defPPr>
              <a:lvl1pPr marR="0" lvl="0" indent="0" fontAlgn="auto">
                <a:lnSpc>
                  <a:spcPct val="100000"/>
                </a:lnSpc>
                <a:spcBef>
                  <a:spcPts val="0"/>
                </a:spcBef>
                <a:spcAft>
                  <a:spcPts val="0"/>
                </a:spcAft>
                <a:buClrTx/>
                <a:buSzTx/>
                <a:buFontTx/>
                <a:buNone/>
                <a:defRPr kumimoji="0" sz="3200" b="0" i="0" u="none" strike="noStrike" cap="none" spc="0" normalizeH="0" baseline="0">
                  <a:ln>
                    <a:noFill/>
                  </a:ln>
                  <a:gradFill>
                    <a:gsLst>
                      <a:gs pos="100000">
                        <a:schemeClr val="accent2">
                          <a:alpha val="10000"/>
                        </a:schemeClr>
                      </a:gs>
                      <a:gs pos="0">
                        <a:schemeClr val="accent1">
                          <a:alpha val="10000"/>
                        </a:schemeClr>
                      </a:gs>
                    </a:gsLst>
                    <a:lin ang="2700000" scaled="1"/>
                  </a:gradFill>
                  <a:effectLst/>
                  <a:uLnTx/>
                  <a:uFillTx/>
                  <a:latin typeface="苹方 特粗" panose="020B0800000000000000" pitchFamily="34" charset="-122"/>
                  <a:ea typeface="苹方 特粗" panose="020B0800000000000000" pitchFamily="34" charset="-122"/>
                </a:defRPr>
              </a:lvl1pPr>
            </a:lstStyle>
            <a:p>
              <a:pPr marL="0" marR="0" lvl="0" indent="0" algn="dist" defTabSz="914400" eaLnBrk="1" fontAlgn="auto" latinLnBrk="0" hangingPunct="1">
                <a:lnSpc>
                  <a:spcPct val="100000"/>
                </a:lnSpc>
                <a:spcBef>
                  <a:spcPts val="0"/>
                </a:spcBef>
                <a:spcAft>
                  <a:spcPts val="0"/>
                </a:spcAft>
                <a:buClrTx/>
                <a:buSzTx/>
                <a:buFontTx/>
                <a:buNone/>
                <a:defRPr/>
              </a:pPr>
              <a:r>
                <a:rPr kumimoji="0" lang="en-US" altLang="zh-CN" sz="5400" b="1" i="0" u="none" strike="noStrike" kern="0" cap="none" spc="0" normalizeH="0" baseline="0" noProof="0" dirty="0">
                  <a:ln>
                    <a:solidFill>
                      <a:srgbClr val="FFFFFF">
                        <a:alpha val="53000"/>
                      </a:srgbClr>
                    </a:solidFill>
                  </a:ln>
                  <a:noFill/>
                  <a:effectLst/>
                  <a:uLnTx/>
                  <a:uFillTx/>
                  <a:latin typeface="苹方 特粗" panose="020B0800000000000000" pitchFamily="34" charset="-122"/>
                  <a:ea typeface="苹方 特粗" panose="020B0800000000000000" pitchFamily="34" charset="-122"/>
                </a:rPr>
                <a:t>CONTENTS</a:t>
              </a:r>
              <a:endParaRPr kumimoji="0" lang="zh-CN" altLang="en-US" sz="5400" b="1" i="0" u="none" strike="noStrike" kern="0" cap="none" spc="0" normalizeH="0" baseline="0" noProof="0" dirty="0">
                <a:ln>
                  <a:solidFill>
                    <a:srgbClr val="FFFFFF">
                      <a:alpha val="53000"/>
                    </a:srgbClr>
                  </a:solidFill>
                </a:ln>
                <a:noFill/>
                <a:effectLst/>
                <a:uLnTx/>
                <a:uFillTx/>
                <a:latin typeface="苹方 特粗" panose="020B0800000000000000" pitchFamily="34" charset="-122"/>
                <a:ea typeface="苹方 特粗" panose="020B0800000000000000" pitchFamily="34" charset="-122"/>
              </a:endParaRPr>
            </a:p>
          </p:txBody>
        </p:sp>
      </p:grpSp>
      <p:grpSp>
        <p:nvGrpSpPr>
          <p:cNvPr id="4" name="组合 3"/>
          <p:cNvGrpSpPr/>
          <p:nvPr/>
        </p:nvGrpSpPr>
        <p:grpSpPr>
          <a:xfrm>
            <a:off x="6237605" y="781050"/>
            <a:ext cx="2510155" cy="5318125"/>
            <a:chOff x="10205" y="1232"/>
            <a:chExt cx="3953" cy="8375"/>
          </a:xfrm>
        </p:grpSpPr>
        <p:sp>
          <p:nvSpPr>
            <p:cNvPr id="21" name="小李PPT16"/>
            <p:cNvSpPr>
              <a:spLocks noChangeArrowheads="1"/>
            </p:cNvSpPr>
            <p:nvPr/>
          </p:nvSpPr>
          <p:spPr bwMode="auto">
            <a:xfrm>
              <a:off x="10205" y="1232"/>
              <a:ext cx="3944" cy="3867"/>
            </a:xfrm>
            <a:prstGeom prst="snip2DiagRect">
              <a:avLst/>
            </a:prstGeom>
            <a:solidFill>
              <a:srgbClr val="FFFFFF"/>
            </a:solidFill>
            <a:ln>
              <a:noFill/>
            </a:ln>
            <a:effectLst>
              <a:outerShdw blurRad="190500" dist="114300" dir="5400000" algn="ctr" rotWithShape="0">
                <a:srgbClr val="1D4223">
                  <a:alpha val="12000"/>
                </a:srgbClr>
              </a:outerShdw>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Montserrat"/>
                <a:ea typeface="思源黑体 CN Normal"/>
              </a:endParaRPr>
            </a:p>
          </p:txBody>
        </p:sp>
        <p:sp>
          <p:nvSpPr>
            <p:cNvPr id="32" name="小李PPT18"/>
            <p:cNvSpPr>
              <a:spLocks noChangeArrowheads="1"/>
            </p:cNvSpPr>
            <p:nvPr/>
          </p:nvSpPr>
          <p:spPr bwMode="auto">
            <a:xfrm>
              <a:off x="10214" y="5740"/>
              <a:ext cx="3944" cy="3867"/>
            </a:xfrm>
            <a:prstGeom prst="snip2DiagRect">
              <a:avLst/>
            </a:prstGeom>
            <a:solidFill>
              <a:srgbClr val="FFFFFF"/>
            </a:solidFill>
            <a:ln>
              <a:noFill/>
            </a:ln>
            <a:effectLst>
              <a:outerShdw blurRad="190500" dist="114300" dir="5400000" algn="ctr" rotWithShape="0">
                <a:srgbClr val="387C43">
                  <a:alpha val="12000"/>
                </a:srgbClr>
              </a:outerShdw>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Montserrat"/>
                <a:ea typeface="思源黑体 CN Normal"/>
              </a:endParaRPr>
            </a:p>
          </p:txBody>
        </p:sp>
        <p:sp>
          <p:nvSpPr>
            <p:cNvPr id="33" name="小李PPT19"/>
            <p:cNvSpPr>
              <a:spLocks noEditPoints="1"/>
            </p:cNvSpPr>
            <p:nvPr/>
          </p:nvSpPr>
          <p:spPr bwMode="auto">
            <a:xfrm>
              <a:off x="11228" y="1673"/>
              <a:ext cx="748" cy="790"/>
            </a:xfrm>
            <a:custGeom>
              <a:avLst/>
              <a:gdLst>
                <a:gd name="T0" fmla="*/ 130 w 160"/>
                <a:gd name="T1" fmla="*/ 30 h 169"/>
                <a:gd name="T2" fmla="*/ 109 w 160"/>
                <a:gd name="T3" fmla="*/ 12 h 169"/>
                <a:gd name="T4" fmla="*/ 100 w 160"/>
                <a:gd name="T5" fmla="*/ 8 h 169"/>
                <a:gd name="T6" fmla="*/ 96 w 160"/>
                <a:gd name="T7" fmla="*/ 1 h 169"/>
                <a:gd name="T8" fmla="*/ 71 w 160"/>
                <a:gd name="T9" fmla="*/ 4 h 169"/>
                <a:gd name="T10" fmla="*/ 68 w 160"/>
                <a:gd name="T11" fmla="*/ 11 h 169"/>
                <a:gd name="T12" fmla="*/ 51 w 160"/>
                <a:gd name="T13" fmla="*/ 12 h 169"/>
                <a:gd name="T14" fmla="*/ 30 w 160"/>
                <a:gd name="T15" fmla="*/ 30 h 169"/>
                <a:gd name="T16" fmla="*/ 2 w 160"/>
                <a:gd name="T17" fmla="*/ 41 h 169"/>
                <a:gd name="T18" fmla="*/ 0 w 160"/>
                <a:gd name="T19" fmla="*/ 43 h 169"/>
                <a:gd name="T20" fmla="*/ 0 w 160"/>
                <a:gd name="T21" fmla="*/ 128 h 169"/>
                <a:gd name="T22" fmla="*/ 78 w 160"/>
                <a:gd name="T23" fmla="*/ 169 h 169"/>
                <a:gd name="T24" fmla="*/ 82 w 160"/>
                <a:gd name="T25" fmla="*/ 169 h 169"/>
                <a:gd name="T26" fmla="*/ 160 w 160"/>
                <a:gd name="T27" fmla="*/ 128 h 169"/>
                <a:gd name="T28" fmla="*/ 160 w 160"/>
                <a:gd name="T29" fmla="*/ 45 h 169"/>
                <a:gd name="T30" fmla="*/ 110 w 160"/>
                <a:gd name="T31" fmla="*/ 20 h 169"/>
                <a:gd name="T32" fmla="*/ 110 w 160"/>
                <a:gd name="T33" fmla="*/ 39 h 169"/>
                <a:gd name="T34" fmla="*/ 110 w 160"/>
                <a:gd name="T35" fmla="*/ 20 h 169"/>
                <a:gd name="T36" fmla="*/ 76 w 160"/>
                <a:gd name="T37" fmla="*/ 31 h 169"/>
                <a:gd name="T38" fmla="*/ 38 w 160"/>
                <a:gd name="T39" fmla="*/ 29 h 169"/>
                <a:gd name="T40" fmla="*/ 35 w 160"/>
                <a:gd name="T41" fmla="*/ 138 h 169"/>
                <a:gd name="T42" fmla="*/ 8 w 160"/>
                <a:gd name="T43" fmla="*/ 51 h 169"/>
                <a:gd name="T44" fmla="*/ 35 w 160"/>
                <a:gd name="T45" fmla="*/ 138 h 169"/>
                <a:gd name="T46" fmla="*/ 32 w 160"/>
                <a:gd name="T47" fmla="*/ 38 h 169"/>
                <a:gd name="T48" fmla="*/ 63 w 160"/>
                <a:gd name="T49" fmla="*/ 46 h 169"/>
                <a:gd name="T50" fmla="*/ 15 w 160"/>
                <a:gd name="T51" fmla="*/ 45 h 169"/>
                <a:gd name="T52" fmla="*/ 43 w 160"/>
                <a:gd name="T53" fmla="*/ 142 h 169"/>
                <a:gd name="T54" fmla="*/ 76 w 160"/>
                <a:gd name="T55" fmla="*/ 79 h 169"/>
                <a:gd name="T56" fmla="*/ 80 w 160"/>
                <a:gd name="T57" fmla="*/ 72 h 169"/>
                <a:gd name="T58" fmla="*/ 80 w 160"/>
                <a:gd name="T59" fmla="*/ 48 h 169"/>
                <a:gd name="T60" fmla="*/ 80 w 160"/>
                <a:gd name="T61" fmla="*/ 72 h 169"/>
                <a:gd name="T62" fmla="*/ 84 w 160"/>
                <a:gd name="T63" fmla="*/ 158 h 169"/>
                <a:gd name="T64" fmla="*/ 117 w 160"/>
                <a:gd name="T65" fmla="*/ 66 h 169"/>
                <a:gd name="T66" fmla="*/ 97 w 160"/>
                <a:gd name="T67" fmla="*/ 46 h 169"/>
                <a:gd name="T68" fmla="*/ 128 w 160"/>
                <a:gd name="T69" fmla="*/ 38 h 169"/>
                <a:gd name="T70" fmla="*/ 144 w 160"/>
                <a:gd name="T71" fmla="*/ 46 h 169"/>
                <a:gd name="T72" fmla="*/ 97 w 160"/>
                <a:gd name="T73" fmla="*/ 46 h 169"/>
                <a:gd name="T74" fmla="*/ 125 w 160"/>
                <a:gd name="T75" fmla="*/ 138 h 169"/>
                <a:gd name="T76" fmla="*/ 147 w 160"/>
                <a:gd name="T77" fmla="*/ 53 h 169"/>
                <a:gd name="T78" fmla="*/ 152 w 160"/>
                <a:gd name="T79" fmla="*/ 125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0" h="169">
                  <a:moveTo>
                    <a:pt x="158" y="41"/>
                  </a:moveTo>
                  <a:cubicBezTo>
                    <a:pt x="130" y="30"/>
                    <a:pt x="130" y="30"/>
                    <a:pt x="130" y="30"/>
                  </a:cubicBezTo>
                  <a:cubicBezTo>
                    <a:pt x="130" y="29"/>
                    <a:pt x="130" y="29"/>
                    <a:pt x="130" y="29"/>
                  </a:cubicBezTo>
                  <a:cubicBezTo>
                    <a:pt x="130" y="23"/>
                    <a:pt x="127" y="12"/>
                    <a:pt x="109" y="12"/>
                  </a:cubicBezTo>
                  <a:cubicBezTo>
                    <a:pt x="104" y="12"/>
                    <a:pt x="97" y="13"/>
                    <a:pt x="90" y="16"/>
                  </a:cubicBezTo>
                  <a:cubicBezTo>
                    <a:pt x="93" y="13"/>
                    <a:pt x="96" y="10"/>
                    <a:pt x="100" y="8"/>
                  </a:cubicBezTo>
                  <a:cubicBezTo>
                    <a:pt x="102" y="7"/>
                    <a:pt x="103" y="4"/>
                    <a:pt x="101" y="2"/>
                  </a:cubicBezTo>
                  <a:cubicBezTo>
                    <a:pt x="100" y="0"/>
                    <a:pt x="98" y="0"/>
                    <a:pt x="96" y="1"/>
                  </a:cubicBezTo>
                  <a:cubicBezTo>
                    <a:pt x="90" y="4"/>
                    <a:pt x="85" y="9"/>
                    <a:pt x="81" y="15"/>
                  </a:cubicBezTo>
                  <a:cubicBezTo>
                    <a:pt x="77" y="7"/>
                    <a:pt x="72" y="4"/>
                    <a:pt x="71" y="4"/>
                  </a:cubicBezTo>
                  <a:cubicBezTo>
                    <a:pt x="69" y="3"/>
                    <a:pt x="67" y="4"/>
                    <a:pt x="66" y="6"/>
                  </a:cubicBezTo>
                  <a:cubicBezTo>
                    <a:pt x="65" y="8"/>
                    <a:pt x="66" y="10"/>
                    <a:pt x="68" y="11"/>
                  </a:cubicBezTo>
                  <a:cubicBezTo>
                    <a:pt x="68" y="11"/>
                    <a:pt x="71" y="13"/>
                    <a:pt x="73" y="18"/>
                  </a:cubicBezTo>
                  <a:cubicBezTo>
                    <a:pt x="66" y="14"/>
                    <a:pt x="57" y="12"/>
                    <a:pt x="51" y="12"/>
                  </a:cubicBezTo>
                  <a:cubicBezTo>
                    <a:pt x="33" y="12"/>
                    <a:pt x="30" y="23"/>
                    <a:pt x="30" y="29"/>
                  </a:cubicBezTo>
                  <a:cubicBezTo>
                    <a:pt x="30" y="30"/>
                    <a:pt x="30" y="30"/>
                    <a:pt x="30" y="30"/>
                  </a:cubicBezTo>
                  <a:cubicBezTo>
                    <a:pt x="2" y="41"/>
                    <a:pt x="2" y="41"/>
                    <a:pt x="2" y="41"/>
                  </a:cubicBezTo>
                  <a:cubicBezTo>
                    <a:pt x="2" y="41"/>
                    <a:pt x="2" y="41"/>
                    <a:pt x="2" y="41"/>
                  </a:cubicBezTo>
                  <a:cubicBezTo>
                    <a:pt x="2" y="41"/>
                    <a:pt x="2" y="41"/>
                    <a:pt x="2" y="41"/>
                  </a:cubicBezTo>
                  <a:cubicBezTo>
                    <a:pt x="2" y="41"/>
                    <a:pt x="1" y="42"/>
                    <a:pt x="0" y="43"/>
                  </a:cubicBezTo>
                  <a:cubicBezTo>
                    <a:pt x="0" y="44"/>
                    <a:pt x="0" y="45"/>
                    <a:pt x="0" y="45"/>
                  </a:cubicBezTo>
                  <a:cubicBezTo>
                    <a:pt x="0" y="128"/>
                    <a:pt x="0" y="128"/>
                    <a:pt x="0" y="128"/>
                  </a:cubicBezTo>
                  <a:cubicBezTo>
                    <a:pt x="0" y="129"/>
                    <a:pt x="0" y="131"/>
                    <a:pt x="2" y="132"/>
                  </a:cubicBezTo>
                  <a:cubicBezTo>
                    <a:pt x="78" y="169"/>
                    <a:pt x="78" y="169"/>
                    <a:pt x="78" y="169"/>
                  </a:cubicBezTo>
                  <a:cubicBezTo>
                    <a:pt x="79" y="169"/>
                    <a:pt x="79" y="169"/>
                    <a:pt x="80" y="169"/>
                  </a:cubicBezTo>
                  <a:cubicBezTo>
                    <a:pt x="81" y="169"/>
                    <a:pt x="81" y="169"/>
                    <a:pt x="82" y="169"/>
                  </a:cubicBezTo>
                  <a:cubicBezTo>
                    <a:pt x="158" y="132"/>
                    <a:pt x="158" y="132"/>
                    <a:pt x="158" y="132"/>
                  </a:cubicBezTo>
                  <a:cubicBezTo>
                    <a:pt x="159" y="131"/>
                    <a:pt x="160" y="129"/>
                    <a:pt x="160" y="128"/>
                  </a:cubicBezTo>
                  <a:cubicBezTo>
                    <a:pt x="160" y="45"/>
                    <a:pt x="160" y="45"/>
                    <a:pt x="160" y="45"/>
                  </a:cubicBezTo>
                  <a:cubicBezTo>
                    <a:pt x="160" y="45"/>
                    <a:pt x="160" y="45"/>
                    <a:pt x="160" y="45"/>
                  </a:cubicBezTo>
                  <a:cubicBezTo>
                    <a:pt x="160" y="43"/>
                    <a:pt x="159" y="42"/>
                    <a:pt x="158" y="41"/>
                  </a:cubicBezTo>
                  <a:close/>
                  <a:moveTo>
                    <a:pt x="110" y="20"/>
                  </a:moveTo>
                  <a:cubicBezTo>
                    <a:pt x="120" y="20"/>
                    <a:pt x="122" y="24"/>
                    <a:pt x="122" y="29"/>
                  </a:cubicBezTo>
                  <a:cubicBezTo>
                    <a:pt x="122" y="34"/>
                    <a:pt x="120" y="39"/>
                    <a:pt x="110" y="39"/>
                  </a:cubicBezTo>
                  <a:cubicBezTo>
                    <a:pt x="104" y="39"/>
                    <a:pt x="85" y="36"/>
                    <a:pt x="85" y="31"/>
                  </a:cubicBezTo>
                  <a:cubicBezTo>
                    <a:pt x="85" y="27"/>
                    <a:pt x="98" y="20"/>
                    <a:pt x="110" y="20"/>
                  </a:cubicBezTo>
                  <a:close/>
                  <a:moveTo>
                    <a:pt x="50" y="20"/>
                  </a:moveTo>
                  <a:cubicBezTo>
                    <a:pt x="62" y="20"/>
                    <a:pt x="76" y="27"/>
                    <a:pt x="76" y="31"/>
                  </a:cubicBezTo>
                  <a:cubicBezTo>
                    <a:pt x="76" y="36"/>
                    <a:pt x="56" y="39"/>
                    <a:pt x="50" y="39"/>
                  </a:cubicBezTo>
                  <a:cubicBezTo>
                    <a:pt x="40" y="39"/>
                    <a:pt x="38" y="34"/>
                    <a:pt x="38" y="29"/>
                  </a:cubicBezTo>
                  <a:cubicBezTo>
                    <a:pt x="38" y="24"/>
                    <a:pt x="40" y="20"/>
                    <a:pt x="50" y="20"/>
                  </a:cubicBezTo>
                  <a:close/>
                  <a:moveTo>
                    <a:pt x="35" y="138"/>
                  </a:moveTo>
                  <a:cubicBezTo>
                    <a:pt x="8" y="125"/>
                    <a:pt x="8" y="125"/>
                    <a:pt x="8" y="125"/>
                  </a:cubicBezTo>
                  <a:cubicBezTo>
                    <a:pt x="8" y="51"/>
                    <a:pt x="8" y="51"/>
                    <a:pt x="8" y="51"/>
                  </a:cubicBezTo>
                  <a:cubicBezTo>
                    <a:pt x="35" y="62"/>
                    <a:pt x="35" y="62"/>
                    <a:pt x="35" y="62"/>
                  </a:cubicBezTo>
                  <a:lnTo>
                    <a:pt x="35" y="138"/>
                  </a:lnTo>
                  <a:close/>
                  <a:moveTo>
                    <a:pt x="15" y="45"/>
                  </a:moveTo>
                  <a:cubicBezTo>
                    <a:pt x="32" y="38"/>
                    <a:pt x="32" y="38"/>
                    <a:pt x="32" y="38"/>
                  </a:cubicBezTo>
                  <a:cubicBezTo>
                    <a:pt x="34" y="43"/>
                    <a:pt x="39" y="47"/>
                    <a:pt x="51" y="47"/>
                  </a:cubicBezTo>
                  <a:cubicBezTo>
                    <a:pt x="54" y="47"/>
                    <a:pt x="59" y="47"/>
                    <a:pt x="63" y="46"/>
                  </a:cubicBezTo>
                  <a:cubicBezTo>
                    <a:pt x="41" y="56"/>
                    <a:pt x="41" y="56"/>
                    <a:pt x="41" y="56"/>
                  </a:cubicBezTo>
                  <a:lnTo>
                    <a:pt x="15" y="45"/>
                  </a:lnTo>
                  <a:close/>
                  <a:moveTo>
                    <a:pt x="76" y="158"/>
                  </a:moveTo>
                  <a:cubicBezTo>
                    <a:pt x="43" y="142"/>
                    <a:pt x="43" y="142"/>
                    <a:pt x="43" y="142"/>
                  </a:cubicBezTo>
                  <a:cubicBezTo>
                    <a:pt x="43" y="66"/>
                    <a:pt x="43" y="66"/>
                    <a:pt x="43" y="66"/>
                  </a:cubicBezTo>
                  <a:cubicBezTo>
                    <a:pt x="76" y="79"/>
                    <a:pt x="76" y="79"/>
                    <a:pt x="76" y="79"/>
                  </a:cubicBezTo>
                  <a:lnTo>
                    <a:pt x="76" y="158"/>
                  </a:lnTo>
                  <a:close/>
                  <a:moveTo>
                    <a:pt x="80" y="72"/>
                  </a:moveTo>
                  <a:cubicBezTo>
                    <a:pt x="52" y="60"/>
                    <a:pt x="52" y="60"/>
                    <a:pt x="52" y="60"/>
                  </a:cubicBezTo>
                  <a:cubicBezTo>
                    <a:pt x="80" y="48"/>
                    <a:pt x="80" y="48"/>
                    <a:pt x="80" y="48"/>
                  </a:cubicBezTo>
                  <a:cubicBezTo>
                    <a:pt x="108" y="60"/>
                    <a:pt x="108" y="60"/>
                    <a:pt x="108" y="60"/>
                  </a:cubicBezTo>
                  <a:lnTo>
                    <a:pt x="80" y="72"/>
                  </a:lnTo>
                  <a:close/>
                  <a:moveTo>
                    <a:pt x="117" y="142"/>
                  </a:moveTo>
                  <a:cubicBezTo>
                    <a:pt x="84" y="158"/>
                    <a:pt x="84" y="158"/>
                    <a:pt x="84" y="158"/>
                  </a:cubicBezTo>
                  <a:cubicBezTo>
                    <a:pt x="84" y="79"/>
                    <a:pt x="84" y="79"/>
                    <a:pt x="84" y="79"/>
                  </a:cubicBezTo>
                  <a:cubicBezTo>
                    <a:pt x="117" y="66"/>
                    <a:pt x="117" y="66"/>
                    <a:pt x="117" y="66"/>
                  </a:cubicBezTo>
                  <a:lnTo>
                    <a:pt x="117" y="142"/>
                  </a:lnTo>
                  <a:close/>
                  <a:moveTo>
                    <a:pt x="97" y="46"/>
                  </a:moveTo>
                  <a:cubicBezTo>
                    <a:pt x="101" y="47"/>
                    <a:pt x="106" y="47"/>
                    <a:pt x="109" y="47"/>
                  </a:cubicBezTo>
                  <a:cubicBezTo>
                    <a:pt x="120" y="47"/>
                    <a:pt x="126" y="43"/>
                    <a:pt x="128" y="38"/>
                  </a:cubicBezTo>
                  <a:cubicBezTo>
                    <a:pt x="145" y="45"/>
                    <a:pt x="145" y="45"/>
                    <a:pt x="145" y="45"/>
                  </a:cubicBezTo>
                  <a:cubicBezTo>
                    <a:pt x="144" y="46"/>
                    <a:pt x="144" y="46"/>
                    <a:pt x="144" y="46"/>
                  </a:cubicBezTo>
                  <a:cubicBezTo>
                    <a:pt x="119" y="56"/>
                    <a:pt x="119" y="56"/>
                    <a:pt x="119" y="56"/>
                  </a:cubicBezTo>
                  <a:lnTo>
                    <a:pt x="97" y="46"/>
                  </a:lnTo>
                  <a:close/>
                  <a:moveTo>
                    <a:pt x="152" y="125"/>
                  </a:moveTo>
                  <a:cubicBezTo>
                    <a:pt x="125" y="138"/>
                    <a:pt x="125" y="138"/>
                    <a:pt x="125" y="138"/>
                  </a:cubicBezTo>
                  <a:cubicBezTo>
                    <a:pt x="125" y="62"/>
                    <a:pt x="125" y="62"/>
                    <a:pt x="125" y="62"/>
                  </a:cubicBezTo>
                  <a:cubicBezTo>
                    <a:pt x="147" y="53"/>
                    <a:pt x="147" y="53"/>
                    <a:pt x="147" y="53"/>
                  </a:cubicBezTo>
                  <a:cubicBezTo>
                    <a:pt x="152" y="51"/>
                    <a:pt x="152" y="51"/>
                    <a:pt x="152" y="51"/>
                  </a:cubicBezTo>
                  <a:lnTo>
                    <a:pt x="152" y="125"/>
                  </a:lnTo>
                  <a:close/>
                </a:path>
              </a:pathLst>
            </a:custGeom>
            <a:solidFill>
              <a:schemeClr val="accent2"/>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Montserrat"/>
                <a:ea typeface="思源黑体 CN Normal"/>
              </a:endParaRPr>
            </a:p>
          </p:txBody>
        </p:sp>
        <p:sp>
          <p:nvSpPr>
            <p:cNvPr id="73" name="小李PPT21-2"/>
            <p:cNvSpPr txBox="1"/>
            <p:nvPr/>
          </p:nvSpPr>
          <p:spPr>
            <a:xfrm>
              <a:off x="11075" y="2629"/>
              <a:ext cx="2519" cy="911"/>
            </a:xfrm>
            <a:prstGeom prst="rect">
              <a:avLst/>
            </a:prstGeom>
            <a:noFill/>
          </p:spPr>
          <p:txBody>
            <a:bodyPr wrap="square" rtlCol="0">
              <a:spAutoFit/>
            </a:bodyPr>
            <a:lstStyle/>
            <a:p>
              <a:pPr>
                <a:lnSpc>
                  <a:spcPts val="1900"/>
                </a:lnSpc>
              </a:pPr>
              <a:r>
                <a:rPr lang="zh-CN" altLang="en-US" dirty="0">
                  <a:solidFill>
                    <a:srgbClr val="000000"/>
                  </a:solidFill>
                  <a:latin typeface="思源黑体 CN Bold"/>
                  <a:ea typeface="思源黑体 CN Bold"/>
                </a:rPr>
                <a:t>投资估算与资金筹措</a:t>
              </a:r>
              <a:endParaRPr lang="zh-CN" altLang="en-US" dirty="0">
                <a:solidFill>
                  <a:srgbClr val="000000"/>
                </a:solidFill>
                <a:latin typeface="思源黑体 CN Bold"/>
                <a:ea typeface="思源黑体 CN Bold"/>
              </a:endParaRPr>
            </a:p>
          </p:txBody>
        </p:sp>
        <p:sp>
          <p:nvSpPr>
            <p:cNvPr id="85" name="小李PPT23-2"/>
            <p:cNvSpPr txBox="1"/>
            <p:nvPr/>
          </p:nvSpPr>
          <p:spPr>
            <a:xfrm>
              <a:off x="11080" y="7249"/>
              <a:ext cx="2519" cy="527"/>
            </a:xfrm>
            <a:prstGeom prst="rect">
              <a:avLst/>
            </a:prstGeom>
            <a:noFill/>
          </p:spPr>
          <p:txBody>
            <a:bodyPr wrap="square" rtlCol="0">
              <a:spAutoFit/>
            </a:bodyPr>
            <a:lstStyle/>
            <a:p>
              <a:pPr>
                <a:lnSpc>
                  <a:spcPts val="1900"/>
                </a:lnSpc>
              </a:pPr>
              <a:r>
                <a:rPr lang="zh-CN" altLang="en-US" dirty="0">
                  <a:solidFill>
                    <a:srgbClr val="000000"/>
                  </a:solidFill>
                  <a:latin typeface="思源黑体 CN Bold"/>
                  <a:ea typeface="思源黑体 CN Bold"/>
                </a:rPr>
                <a:t>不确定</a:t>
              </a:r>
              <a:r>
                <a:rPr lang="zh-CN" altLang="en-US" dirty="0">
                  <a:solidFill>
                    <a:srgbClr val="000000"/>
                  </a:solidFill>
                  <a:latin typeface="思源黑体 CN Bold"/>
                  <a:ea typeface="思源黑体 CN Bold"/>
                </a:rPr>
                <a:t>性分析</a:t>
              </a:r>
              <a:endParaRPr lang="zh-CN" altLang="en-US" dirty="0">
                <a:solidFill>
                  <a:srgbClr val="000000"/>
                </a:solidFill>
                <a:latin typeface="思源黑体 CN Bold"/>
                <a:ea typeface="思源黑体 CN Bold"/>
              </a:endParaRPr>
            </a:p>
          </p:txBody>
        </p:sp>
        <p:sp>
          <p:nvSpPr>
            <p:cNvPr id="87" name="小李PPT25"/>
            <p:cNvSpPr>
              <a:spLocks noEditPoints="1"/>
            </p:cNvSpPr>
            <p:nvPr/>
          </p:nvSpPr>
          <p:spPr bwMode="auto">
            <a:xfrm>
              <a:off x="11210" y="6236"/>
              <a:ext cx="696" cy="883"/>
            </a:xfrm>
            <a:custGeom>
              <a:avLst/>
              <a:gdLst>
                <a:gd name="T0" fmla="*/ 152 w 173"/>
                <a:gd name="T1" fmla="*/ 200 h 218"/>
                <a:gd name="T2" fmla="*/ 133 w 173"/>
                <a:gd name="T3" fmla="*/ 160 h 218"/>
                <a:gd name="T4" fmla="*/ 138 w 173"/>
                <a:gd name="T5" fmla="*/ 131 h 218"/>
                <a:gd name="T6" fmla="*/ 151 w 173"/>
                <a:gd name="T7" fmla="*/ 124 h 218"/>
                <a:gd name="T8" fmla="*/ 138 w 173"/>
                <a:gd name="T9" fmla="*/ 116 h 218"/>
                <a:gd name="T10" fmla="*/ 123 w 173"/>
                <a:gd name="T11" fmla="*/ 121 h 218"/>
                <a:gd name="T12" fmla="*/ 95 w 173"/>
                <a:gd name="T13" fmla="*/ 30 h 218"/>
                <a:gd name="T14" fmla="*/ 75 w 173"/>
                <a:gd name="T15" fmla="*/ 10 h 218"/>
                <a:gd name="T16" fmla="*/ 62 w 173"/>
                <a:gd name="T17" fmla="*/ 62 h 218"/>
                <a:gd name="T18" fmla="*/ 34 w 173"/>
                <a:gd name="T19" fmla="*/ 117 h 218"/>
                <a:gd name="T20" fmla="*/ 28 w 173"/>
                <a:gd name="T21" fmla="*/ 115 h 218"/>
                <a:gd name="T22" fmla="*/ 32 w 173"/>
                <a:gd name="T23" fmla="*/ 131 h 218"/>
                <a:gd name="T24" fmla="*/ 36 w 173"/>
                <a:gd name="T25" fmla="*/ 160 h 218"/>
                <a:gd name="T26" fmla="*/ 22 w 173"/>
                <a:gd name="T27" fmla="*/ 200 h 218"/>
                <a:gd name="T28" fmla="*/ 0 w 173"/>
                <a:gd name="T29" fmla="*/ 197 h 218"/>
                <a:gd name="T30" fmla="*/ 22 w 173"/>
                <a:gd name="T31" fmla="*/ 207 h 218"/>
                <a:gd name="T32" fmla="*/ 71 w 173"/>
                <a:gd name="T33" fmla="*/ 218 h 218"/>
                <a:gd name="T34" fmla="*/ 152 w 173"/>
                <a:gd name="T35" fmla="*/ 205 h 218"/>
                <a:gd name="T36" fmla="*/ 173 w 173"/>
                <a:gd name="T37" fmla="*/ 207 h 218"/>
                <a:gd name="T38" fmla="*/ 139 w 173"/>
                <a:gd name="T39" fmla="*/ 124 h 218"/>
                <a:gd name="T40" fmla="*/ 28 w 173"/>
                <a:gd name="T41" fmla="*/ 127 h 218"/>
                <a:gd name="T42" fmla="*/ 32 w 173"/>
                <a:gd name="T43" fmla="*/ 122 h 218"/>
                <a:gd name="T44" fmla="*/ 5 w 173"/>
                <a:gd name="T45" fmla="*/ 204 h 218"/>
                <a:gd name="T46" fmla="*/ 127 w 173"/>
                <a:gd name="T47" fmla="*/ 167 h 218"/>
                <a:gd name="T48" fmla="*/ 90 w 173"/>
                <a:gd name="T49" fmla="*/ 79 h 218"/>
                <a:gd name="T50" fmla="*/ 103 w 173"/>
                <a:gd name="T51" fmla="*/ 72 h 218"/>
                <a:gd name="T52" fmla="*/ 78 w 173"/>
                <a:gd name="T53" fmla="*/ 117 h 218"/>
                <a:gd name="T54" fmla="*/ 91 w 173"/>
                <a:gd name="T55" fmla="*/ 117 h 218"/>
                <a:gd name="T56" fmla="*/ 86 w 173"/>
                <a:gd name="T57" fmla="*/ 120 h 218"/>
                <a:gd name="T58" fmla="*/ 88 w 173"/>
                <a:gd name="T59" fmla="*/ 24 h 218"/>
                <a:gd name="T60" fmla="*/ 81 w 173"/>
                <a:gd name="T61" fmla="*/ 24 h 218"/>
                <a:gd name="T62" fmla="*/ 80 w 173"/>
                <a:gd name="T63" fmla="*/ 33 h 218"/>
                <a:gd name="T64" fmla="*/ 83 w 173"/>
                <a:gd name="T65" fmla="*/ 33 h 218"/>
                <a:gd name="T66" fmla="*/ 88 w 173"/>
                <a:gd name="T67" fmla="*/ 33 h 218"/>
                <a:gd name="T68" fmla="*/ 91 w 173"/>
                <a:gd name="T69" fmla="*/ 34 h 218"/>
                <a:gd name="T70" fmla="*/ 96 w 173"/>
                <a:gd name="T71" fmla="*/ 67 h 218"/>
                <a:gd name="T72" fmla="*/ 94 w 173"/>
                <a:gd name="T73" fmla="*/ 68 h 218"/>
                <a:gd name="T74" fmla="*/ 90 w 173"/>
                <a:gd name="T75" fmla="*/ 70 h 218"/>
                <a:gd name="T76" fmla="*/ 82 w 173"/>
                <a:gd name="T77" fmla="*/ 70 h 218"/>
                <a:gd name="T78" fmla="*/ 74 w 173"/>
                <a:gd name="T79" fmla="*/ 67 h 218"/>
                <a:gd name="T80" fmla="*/ 71 w 173"/>
                <a:gd name="T81" fmla="*/ 65 h 218"/>
                <a:gd name="T82" fmla="*/ 71 w 173"/>
                <a:gd name="T83" fmla="*/ 64 h 218"/>
                <a:gd name="T84" fmla="*/ 69 w 173"/>
                <a:gd name="T85" fmla="*/ 62 h 218"/>
                <a:gd name="T86" fmla="*/ 66 w 173"/>
                <a:gd name="T87" fmla="*/ 51 h 218"/>
                <a:gd name="T88" fmla="*/ 66 w 173"/>
                <a:gd name="T89" fmla="*/ 72 h 218"/>
                <a:gd name="T90" fmla="*/ 76 w 173"/>
                <a:gd name="T91" fmla="*/ 78 h 218"/>
                <a:gd name="T92" fmla="*/ 54 w 173"/>
                <a:gd name="T93" fmla="*/ 172 h 218"/>
                <a:gd name="T94" fmla="*/ 101 w 173"/>
                <a:gd name="T95" fmla="*/ 213 h 218"/>
                <a:gd name="T96" fmla="*/ 106 w 173"/>
                <a:gd name="T97" fmla="*/ 197 h 218"/>
                <a:gd name="T98" fmla="*/ 68 w 173"/>
                <a:gd name="T99" fmla="*/ 203 h 218"/>
                <a:gd name="T100" fmla="*/ 62 w 173"/>
                <a:gd name="T101" fmla="*/ 167 h 218"/>
                <a:gd name="T102" fmla="*/ 89 w 173"/>
                <a:gd name="T103" fmla="*/ 133 h 218"/>
                <a:gd name="T104" fmla="*/ 114 w 173"/>
                <a:gd name="T105" fmla="*/ 175 h 218"/>
                <a:gd name="T106" fmla="*/ 168 w 173"/>
                <a:gd name="T107" fmla="*/ 204 h 218"/>
                <a:gd name="T108" fmla="*/ 85 w 173"/>
                <a:gd name="T109" fmla="*/ 67 h 218"/>
                <a:gd name="T110" fmla="*/ 85 w 173"/>
                <a:gd name="T111" fmla="*/ 36 h 218"/>
                <a:gd name="T112" fmla="*/ 89 w 173"/>
                <a:gd name="T113" fmla="*/ 47 h 218"/>
                <a:gd name="T114" fmla="*/ 78 w 173"/>
                <a:gd name="T115" fmla="*/ 51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73" h="218">
                  <a:moveTo>
                    <a:pt x="173" y="196"/>
                  </a:moveTo>
                  <a:cubicBezTo>
                    <a:pt x="172" y="195"/>
                    <a:pt x="172" y="195"/>
                    <a:pt x="171" y="195"/>
                  </a:cubicBezTo>
                  <a:cubicBezTo>
                    <a:pt x="154" y="195"/>
                    <a:pt x="154" y="195"/>
                    <a:pt x="154" y="195"/>
                  </a:cubicBezTo>
                  <a:cubicBezTo>
                    <a:pt x="154" y="195"/>
                    <a:pt x="153" y="195"/>
                    <a:pt x="153" y="196"/>
                  </a:cubicBezTo>
                  <a:cubicBezTo>
                    <a:pt x="152" y="196"/>
                    <a:pt x="152" y="197"/>
                    <a:pt x="152" y="197"/>
                  </a:cubicBezTo>
                  <a:cubicBezTo>
                    <a:pt x="152" y="200"/>
                    <a:pt x="152" y="200"/>
                    <a:pt x="152" y="200"/>
                  </a:cubicBezTo>
                  <a:cubicBezTo>
                    <a:pt x="134" y="201"/>
                    <a:pt x="134" y="201"/>
                    <a:pt x="134" y="201"/>
                  </a:cubicBezTo>
                  <a:cubicBezTo>
                    <a:pt x="135" y="201"/>
                    <a:pt x="135" y="199"/>
                    <a:pt x="135" y="198"/>
                  </a:cubicBezTo>
                  <a:cubicBezTo>
                    <a:pt x="127" y="175"/>
                    <a:pt x="127" y="175"/>
                    <a:pt x="127" y="175"/>
                  </a:cubicBezTo>
                  <a:cubicBezTo>
                    <a:pt x="127" y="175"/>
                    <a:pt x="127" y="175"/>
                    <a:pt x="127" y="175"/>
                  </a:cubicBezTo>
                  <a:cubicBezTo>
                    <a:pt x="129" y="174"/>
                    <a:pt x="131" y="172"/>
                    <a:pt x="132" y="170"/>
                  </a:cubicBezTo>
                  <a:cubicBezTo>
                    <a:pt x="134" y="167"/>
                    <a:pt x="134" y="163"/>
                    <a:pt x="133" y="160"/>
                  </a:cubicBezTo>
                  <a:cubicBezTo>
                    <a:pt x="124" y="126"/>
                    <a:pt x="124" y="126"/>
                    <a:pt x="124" y="126"/>
                  </a:cubicBezTo>
                  <a:cubicBezTo>
                    <a:pt x="134" y="126"/>
                    <a:pt x="134" y="126"/>
                    <a:pt x="134" y="126"/>
                  </a:cubicBezTo>
                  <a:cubicBezTo>
                    <a:pt x="134" y="126"/>
                    <a:pt x="134" y="126"/>
                    <a:pt x="134" y="126"/>
                  </a:cubicBezTo>
                  <a:cubicBezTo>
                    <a:pt x="135" y="128"/>
                    <a:pt x="136" y="129"/>
                    <a:pt x="137" y="130"/>
                  </a:cubicBezTo>
                  <a:cubicBezTo>
                    <a:pt x="137" y="130"/>
                    <a:pt x="137" y="131"/>
                    <a:pt x="137" y="131"/>
                  </a:cubicBezTo>
                  <a:cubicBezTo>
                    <a:pt x="137" y="131"/>
                    <a:pt x="138" y="131"/>
                    <a:pt x="138" y="131"/>
                  </a:cubicBezTo>
                  <a:cubicBezTo>
                    <a:pt x="138" y="131"/>
                    <a:pt x="138" y="131"/>
                    <a:pt x="138" y="131"/>
                  </a:cubicBezTo>
                  <a:cubicBezTo>
                    <a:pt x="139" y="132"/>
                    <a:pt x="139" y="132"/>
                    <a:pt x="139" y="132"/>
                  </a:cubicBezTo>
                  <a:cubicBezTo>
                    <a:pt x="139" y="132"/>
                    <a:pt x="140" y="132"/>
                    <a:pt x="140" y="132"/>
                  </a:cubicBezTo>
                  <a:cubicBezTo>
                    <a:pt x="140" y="132"/>
                    <a:pt x="140" y="132"/>
                    <a:pt x="141" y="132"/>
                  </a:cubicBezTo>
                  <a:cubicBezTo>
                    <a:pt x="141" y="132"/>
                    <a:pt x="142" y="132"/>
                    <a:pt x="142" y="132"/>
                  </a:cubicBezTo>
                  <a:cubicBezTo>
                    <a:pt x="147" y="132"/>
                    <a:pt x="151" y="128"/>
                    <a:pt x="151" y="124"/>
                  </a:cubicBezTo>
                  <a:cubicBezTo>
                    <a:pt x="151" y="119"/>
                    <a:pt x="147" y="115"/>
                    <a:pt x="142" y="115"/>
                  </a:cubicBezTo>
                  <a:cubicBezTo>
                    <a:pt x="142" y="115"/>
                    <a:pt x="141" y="115"/>
                    <a:pt x="141" y="115"/>
                  </a:cubicBezTo>
                  <a:cubicBezTo>
                    <a:pt x="140" y="115"/>
                    <a:pt x="140" y="115"/>
                    <a:pt x="140" y="115"/>
                  </a:cubicBezTo>
                  <a:cubicBezTo>
                    <a:pt x="140" y="116"/>
                    <a:pt x="139" y="116"/>
                    <a:pt x="139" y="116"/>
                  </a:cubicBezTo>
                  <a:cubicBezTo>
                    <a:pt x="139" y="116"/>
                    <a:pt x="139" y="116"/>
                    <a:pt x="138" y="116"/>
                  </a:cubicBezTo>
                  <a:cubicBezTo>
                    <a:pt x="138" y="116"/>
                    <a:pt x="138" y="116"/>
                    <a:pt x="138" y="116"/>
                  </a:cubicBezTo>
                  <a:cubicBezTo>
                    <a:pt x="138" y="116"/>
                    <a:pt x="137" y="117"/>
                    <a:pt x="137" y="117"/>
                  </a:cubicBezTo>
                  <a:cubicBezTo>
                    <a:pt x="137" y="117"/>
                    <a:pt x="137" y="117"/>
                    <a:pt x="137" y="117"/>
                  </a:cubicBezTo>
                  <a:cubicBezTo>
                    <a:pt x="135" y="118"/>
                    <a:pt x="135" y="120"/>
                    <a:pt x="134" y="121"/>
                  </a:cubicBezTo>
                  <a:cubicBezTo>
                    <a:pt x="134" y="121"/>
                    <a:pt x="134" y="121"/>
                    <a:pt x="134" y="121"/>
                  </a:cubicBezTo>
                  <a:cubicBezTo>
                    <a:pt x="124" y="121"/>
                    <a:pt x="124" y="121"/>
                    <a:pt x="124" y="121"/>
                  </a:cubicBezTo>
                  <a:cubicBezTo>
                    <a:pt x="123" y="121"/>
                    <a:pt x="123" y="121"/>
                    <a:pt x="123" y="121"/>
                  </a:cubicBezTo>
                  <a:cubicBezTo>
                    <a:pt x="107" y="63"/>
                    <a:pt x="107" y="63"/>
                    <a:pt x="107" y="63"/>
                  </a:cubicBezTo>
                  <a:cubicBezTo>
                    <a:pt x="107" y="62"/>
                    <a:pt x="107" y="62"/>
                    <a:pt x="107" y="62"/>
                  </a:cubicBezTo>
                  <a:cubicBezTo>
                    <a:pt x="107" y="62"/>
                    <a:pt x="107" y="61"/>
                    <a:pt x="107" y="61"/>
                  </a:cubicBezTo>
                  <a:cubicBezTo>
                    <a:pt x="108" y="58"/>
                    <a:pt x="109" y="55"/>
                    <a:pt x="109" y="51"/>
                  </a:cubicBezTo>
                  <a:cubicBezTo>
                    <a:pt x="109" y="45"/>
                    <a:pt x="106" y="39"/>
                    <a:pt x="102" y="35"/>
                  </a:cubicBezTo>
                  <a:cubicBezTo>
                    <a:pt x="100" y="32"/>
                    <a:pt x="97" y="31"/>
                    <a:pt x="95" y="30"/>
                  </a:cubicBezTo>
                  <a:cubicBezTo>
                    <a:pt x="95" y="29"/>
                    <a:pt x="95" y="29"/>
                    <a:pt x="95" y="29"/>
                  </a:cubicBezTo>
                  <a:cubicBezTo>
                    <a:pt x="95" y="10"/>
                    <a:pt x="95" y="10"/>
                    <a:pt x="95" y="10"/>
                  </a:cubicBezTo>
                  <a:cubicBezTo>
                    <a:pt x="95" y="7"/>
                    <a:pt x="94" y="4"/>
                    <a:pt x="92" y="3"/>
                  </a:cubicBezTo>
                  <a:cubicBezTo>
                    <a:pt x="90" y="1"/>
                    <a:pt x="87" y="0"/>
                    <a:pt x="85" y="0"/>
                  </a:cubicBezTo>
                  <a:cubicBezTo>
                    <a:pt x="82" y="0"/>
                    <a:pt x="80" y="1"/>
                    <a:pt x="78" y="3"/>
                  </a:cubicBezTo>
                  <a:cubicBezTo>
                    <a:pt x="76" y="4"/>
                    <a:pt x="75" y="7"/>
                    <a:pt x="75" y="10"/>
                  </a:cubicBezTo>
                  <a:cubicBezTo>
                    <a:pt x="75" y="15"/>
                    <a:pt x="75" y="22"/>
                    <a:pt x="75" y="28"/>
                  </a:cubicBezTo>
                  <a:cubicBezTo>
                    <a:pt x="75" y="29"/>
                    <a:pt x="75" y="29"/>
                    <a:pt x="75" y="30"/>
                  </a:cubicBezTo>
                  <a:cubicBezTo>
                    <a:pt x="72" y="31"/>
                    <a:pt x="70" y="32"/>
                    <a:pt x="68" y="35"/>
                  </a:cubicBezTo>
                  <a:cubicBezTo>
                    <a:pt x="63" y="39"/>
                    <a:pt x="61" y="45"/>
                    <a:pt x="61" y="51"/>
                  </a:cubicBezTo>
                  <a:cubicBezTo>
                    <a:pt x="61" y="55"/>
                    <a:pt x="62" y="58"/>
                    <a:pt x="63" y="61"/>
                  </a:cubicBezTo>
                  <a:cubicBezTo>
                    <a:pt x="63" y="61"/>
                    <a:pt x="62" y="61"/>
                    <a:pt x="62" y="62"/>
                  </a:cubicBezTo>
                  <a:cubicBezTo>
                    <a:pt x="62" y="62"/>
                    <a:pt x="62" y="62"/>
                    <a:pt x="62" y="62"/>
                  </a:cubicBezTo>
                  <a:cubicBezTo>
                    <a:pt x="46" y="121"/>
                    <a:pt x="46" y="121"/>
                    <a:pt x="46" y="121"/>
                  </a:cubicBezTo>
                  <a:cubicBezTo>
                    <a:pt x="46" y="121"/>
                    <a:pt x="46" y="121"/>
                    <a:pt x="46" y="121"/>
                  </a:cubicBezTo>
                  <a:cubicBezTo>
                    <a:pt x="37" y="121"/>
                    <a:pt x="37" y="121"/>
                    <a:pt x="37" y="121"/>
                  </a:cubicBezTo>
                  <a:cubicBezTo>
                    <a:pt x="36" y="120"/>
                    <a:pt x="35" y="118"/>
                    <a:pt x="34" y="117"/>
                  </a:cubicBezTo>
                  <a:cubicBezTo>
                    <a:pt x="34" y="117"/>
                    <a:pt x="34" y="117"/>
                    <a:pt x="34" y="117"/>
                  </a:cubicBezTo>
                  <a:cubicBezTo>
                    <a:pt x="33" y="117"/>
                    <a:pt x="33" y="116"/>
                    <a:pt x="33" y="116"/>
                  </a:cubicBezTo>
                  <a:cubicBezTo>
                    <a:pt x="33" y="116"/>
                    <a:pt x="32" y="116"/>
                    <a:pt x="32" y="116"/>
                  </a:cubicBezTo>
                  <a:cubicBezTo>
                    <a:pt x="32" y="116"/>
                    <a:pt x="32" y="116"/>
                    <a:pt x="32" y="116"/>
                  </a:cubicBezTo>
                  <a:cubicBezTo>
                    <a:pt x="31" y="116"/>
                    <a:pt x="31" y="116"/>
                    <a:pt x="31" y="115"/>
                  </a:cubicBezTo>
                  <a:cubicBezTo>
                    <a:pt x="30" y="115"/>
                    <a:pt x="30" y="115"/>
                    <a:pt x="30" y="115"/>
                  </a:cubicBezTo>
                  <a:cubicBezTo>
                    <a:pt x="30" y="115"/>
                    <a:pt x="29" y="115"/>
                    <a:pt x="28" y="115"/>
                  </a:cubicBezTo>
                  <a:cubicBezTo>
                    <a:pt x="24" y="115"/>
                    <a:pt x="20" y="119"/>
                    <a:pt x="20" y="124"/>
                  </a:cubicBezTo>
                  <a:cubicBezTo>
                    <a:pt x="20" y="128"/>
                    <a:pt x="24" y="132"/>
                    <a:pt x="28" y="132"/>
                  </a:cubicBezTo>
                  <a:cubicBezTo>
                    <a:pt x="29" y="132"/>
                    <a:pt x="30" y="132"/>
                    <a:pt x="30" y="132"/>
                  </a:cubicBezTo>
                  <a:cubicBezTo>
                    <a:pt x="30" y="132"/>
                    <a:pt x="30" y="132"/>
                    <a:pt x="31" y="132"/>
                  </a:cubicBezTo>
                  <a:cubicBezTo>
                    <a:pt x="31" y="132"/>
                    <a:pt x="31" y="132"/>
                    <a:pt x="32" y="132"/>
                  </a:cubicBezTo>
                  <a:cubicBezTo>
                    <a:pt x="32" y="132"/>
                    <a:pt x="32" y="132"/>
                    <a:pt x="32" y="131"/>
                  </a:cubicBezTo>
                  <a:cubicBezTo>
                    <a:pt x="32" y="131"/>
                    <a:pt x="33" y="131"/>
                    <a:pt x="33" y="131"/>
                  </a:cubicBezTo>
                  <a:cubicBezTo>
                    <a:pt x="33" y="131"/>
                    <a:pt x="33" y="131"/>
                    <a:pt x="34" y="131"/>
                  </a:cubicBezTo>
                  <a:cubicBezTo>
                    <a:pt x="34" y="131"/>
                    <a:pt x="34" y="130"/>
                    <a:pt x="34" y="130"/>
                  </a:cubicBezTo>
                  <a:cubicBezTo>
                    <a:pt x="35" y="129"/>
                    <a:pt x="36" y="128"/>
                    <a:pt x="37" y="126"/>
                  </a:cubicBezTo>
                  <a:cubicBezTo>
                    <a:pt x="45" y="126"/>
                    <a:pt x="45" y="126"/>
                    <a:pt x="45" y="126"/>
                  </a:cubicBezTo>
                  <a:cubicBezTo>
                    <a:pt x="36" y="160"/>
                    <a:pt x="36" y="160"/>
                    <a:pt x="36" y="160"/>
                  </a:cubicBezTo>
                  <a:cubicBezTo>
                    <a:pt x="35" y="163"/>
                    <a:pt x="36" y="167"/>
                    <a:pt x="37" y="170"/>
                  </a:cubicBezTo>
                  <a:cubicBezTo>
                    <a:pt x="39" y="172"/>
                    <a:pt x="40" y="174"/>
                    <a:pt x="43" y="175"/>
                  </a:cubicBezTo>
                  <a:cubicBezTo>
                    <a:pt x="43" y="175"/>
                    <a:pt x="43" y="175"/>
                    <a:pt x="43" y="175"/>
                  </a:cubicBezTo>
                  <a:cubicBezTo>
                    <a:pt x="35" y="198"/>
                    <a:pt x="35" y="198"/>
                    <a:pt x="35" y="198"/>
                  </a:cubicBezTo>
                  <a:cubicBezTo>
                    <a:pt x="35" y="199"/>
                    <a:pt x="35" y="200"/>
                    <a:pt x="36" y="201"/>
                  </a:cubicBezTo>
                  <a:cubicBezTo>
                    <a:pt x="22" y="200"/>
                    <a:pt x="22" y="200"/>
                    <a:pt x="22" y="200"/>
                  </a:cubicBezTo>
                  <a:cubicBezTo>
                    <a:pt x="22" y="197"/>
                    <a:pt x="22" y="197"/>
                    <a:pt x="22" y="197"/>
                  </a:cubicBezTo>
                  <a:cubicBezTo>
                    <a:pt x="22" y="197"/>
                    <a:pt x="21" y="196"/>
                    <a:pt x="21" y="196"/>
                  </a:cubicBezTo>
                  <a:cubicBezTo>
                    <a:pt x="20" y="195"/>
                    <a:pt x="20" y="195"/>
                    <a:pt x="19" y="195"/>
                  </a:cubicBezTo>
                  <a:cubicBezTo>
                    <a:pt x="3" y="195"/>
                    <a:pt x="3" y="195"/>
                    <a:pt x="3" y="195"/>
                  </a:cubicBezTo>
                  <a:cubicBezTo>
                    <a:pt x="2" y="195"/>
                    <a:pt x="1" y="195"/>
                    <a:pt x="1" y="196"/>
                  </a:cubicBezTo>
                  <a:cubicBezTo>
                    <a:pt x="0" y="196"/>
                    <a:pt x="0" y="197"/>
                    <a:pt x="0" y="197"/>
                  </a:cubicBezTo>
                  <a:cubicBezTo>
                    <a:pt x="0" y="207"/>
                    <a:pt x="0" y="207"/>
                    <a:pt x="0" y="207"/>
                  </a:cubicBezTo>
                  <a:cubicBezTo>
                    <a:pt x="0" y="207"/>
                    <a:pt x="0" y="208"/>
                    <a:pt x="1" y="209"/>
                  </a:cubicBezTo>
                  <a:cubicBezTo>
                    <a:pt x="1" y="209"/>
                    <a:pt x="2" y="209"/>
                    <a:pt x="3" y="209"/>
                  </a:cubicBezTo>
                  <a:cubicBezTo>
                    <a:pt x="19" y="209"/>
                    <a:pt x="19" y="209"/>
                    <a:pt x="19" y="209"/>
                  </a:cubicBezTo>
                  <a:cubicBezTo>
                    <a:pt x="20" y="209"/>
                    <a:pt x="20" y="209"/>
                    <a:pt x="21" y="209"/>
                  </a:cubicBezTo>
                  <a:cubicBezTo>
                    <a:pt x="21" y="208"/>
                    <a:pt x="22" y="207"/>
                    <a:pt x="22" y="207"/>
                  </a:cubicBezTo>
                  <a:cubicBezTo>
                    <a:pt x="22" y="205"/>
                    <a:pt x="22" y="205"/>
                    <a:pt x="22" y="205"/>
                  </a:cubicBezTo>
                  <a:cubicBezTo>
                    <a:pt x="37" y="206"/>
                    <a:pt x="37" y="206"/>
                    <a:pt x="37" y="206"/>
                  </a:cubicBezTo>
                  <a:cubicBezTo>
                    <a:pt x="68" y="208"/>
                    <a:pt x="68" y="208"/>
                    <a:pt x="68" y="208"/>
                  </a:cubicBezTo>
                  <a:cubicBezTo>
                    <a:pt x="68" y="215"/>
                    <a:pt x="68" y="215"/>
                    <a:pt x="68" y="215"/>
                  </a:cubicBezTo>
                  <a:cubicBezTo>
                    <a:pt x="68" y="216"/>
                    <a:pt x="68" y="216"/>
                    <a:pt x="69" y="217"/>
                  </a:cubicBezTo>
                  <a:cubicBezTo>
                    <a:pt x="69" y="217"/>
                    <a:pt x="70" y="218"/>
                    <a:pt x="71" y="218"/>
                  </a:cubicBezTo>
                  <a:cubicBezTo>
                    <a:pt x="103" y="218"/>
                    <a:pt x="103" y="218"/>
                    <a:pt x="103" y="218"/>
                  </a:cubicBezTo>
                  <a:cubicBezTo>
                    <a:pt x="104" y="218"/>
                    <a:pt x="104" y="217"/>
                    <a:pt x="105" y="217"/>
                  </a:cubicBezTo>
                  <a:cubicBezTo>
                    <a:pt x="105" y="216"/>
                    <a:pt x="106" y="216"/>
                    <a:pt x="106" y="215"/>
                  </a:cubicBezTo>
                  <a:cubicBezTo>
                    <a:pt x="106" y="208"/>
                    <a:pt x="106" y="208"/>
                    <a:pt x="106" y="208"/>
                  </a:cubicBezTo>
                  <a:cubicBezTo>
                    <a:pt x="133" y="206"/>
                    <a:pt x="133" y="206"/>
                    <a:pt x="133" y="206"/>
                  </a:cubicBezTo>
                  <a:cubicBezTo>
                    <a:pt x="152" y="205"/>
                    <a:pt x="152" y="205"/>
                    <a:pt x="152" y="205"/>
                  </a:cubicBezTo>
                  <a:cubicBezTo>
                    <a:pt x="152" y="207"/>
                    <a:pt x="152" y="207"/>
                    <a:pt x="152" y="207"/>
                  </a:cubicBezTo>
                  <a:cubicBezTo>
                    <a:pt x="152" y="207"/>
                    <a:pt x="152" y="208"/>
                    <a:pt x="153" y="209"/>
                  </a:cubicBezTo>
                  <a:cubicBezTo>
                    <a:pt x="153" y="209"/>
                    <a:pt x="154" y="209"/>
                    <a:pt x="154" y="209"/>
                  </a:cubicBezTo>
                  <a:cubicBezTo>
                    <a:pt x="171" y="209"/>
                    <a:pt x="171" y="209"/>
                    <a:pt x="171" y="209"/>
                  </a:cubicBezTo>
                  <a:cubicBezTo>
                    <a:pt x="172" y="209"/>
                    <a:pt x="172" y="209"/>
                    <a:pt x="173" y="209"/>
                  </a:cubicBezTo>
                  <a:cubicBezTo>
                    <a:pt x="173" y="208"/>
                    <a:pt x="173" y="207"/>
                    <a:pt x="173" y="207"/>
                  </a:cubicBezTo>
                  <a:cubicBezTo>
                    <a:pt x="173" y="197"/>
                    <a:pt x="173" y="197"/>
                    <a:pt x="173" y="197"/>
                  </a:cubicBezTo>
                  <a:cubicBezTo>
                    <a:pt x="173" y="197"/>
                    <a:pt x="173" y="196"/>
                    <a:pt x="173" y="196"/>
                  </a:cubicBezTo>
                  <a:close/>
                  <a:moveTo>
                    <a:pt x="142" y="120"/>
                  </a:moveTo>
                  <a:cubicBezTo>
                    <a:pt x="144" y="120"/>
                    <a:pt x="146" y="122"/>
                    <a:pt x="146" y="124"/>
                  </a:cubicBezTo>
                  <a:cubicBezTo>
                    <a:pt x="146" y="126"/>
                    <a:pt x="144" y="127"/>
                    <a:pt x="142" y="127"/>
                  </a:cubicBezTo>
                  <a:cubicBezTo>
                    <a:pt x="140" y="127"/>
                    <a:pt x="139" y="126"/>
                    <a:pt x="139" y="124"/>
                  </a:cubicBezTo>
                  <a:cubicBezTo>
                    <a:pt x="139" y="122"/>
                    <a:pt x="140" y="120"/>
                    <a:pt x="142" y="120"/>
                  </a:cubicBezTo>
                  <a:close/>
                  <a:moveTo>
                    <a:pt x="32" y="125"/>
                  </a:moveTo>
                  <a:cubicBezTo>
                    <a:pt x="31" y="126"/>
                    <a:pt x="31" y="126"/>
                    <a:pt x="31" y="127"/>
                  </a:cubicBezTo>
                  <a:cubicBezTo>
                    <a:pt x="30" y="127"/>
                    <a:pt x="30" y="127"/>
                    <a:pt x="30" y="127"/>
                  </a:cubicBezTo>
                  <a:cubicBezTo>
                    <a:pt x="30" y="127"/>
                    <a:pt x="30" y="127"/>
                    <a:pt x="30" y="127"/>
                  </a:cubicBezTo>
                  <a:cubicBezTo>
                    <a:pt x="29" y="127"/>
                    <a:pt x="29" y="127"/>
                    <a:pt x="28" y="127"/>
                  </a:cubicBezTo>
                  <a:cubicBezTo>
                    <a:pt x="26" y="127"/>
                    <a:pt x="25" y="126"/>
                    <a:pt x="25" y="124"/>
                  </a:cubicBezTo>
                  <a:cubicBezTo>
                    <a:pt x="25" y="122"/>
                    <a:pt x="26" y="120"/>
                    <a:pt x="28" y="120"/>
                  </a:cubicBezTo>
                  <a:cubicBezTo>
                    <a:pt x="29" y="120"/>
                    <a:pt x="29" y="120"/>
                    <a:pt x="30" y="120"/>
                  </a:cubicBezTo>
                  <a:cubicBezTo>
                    <a:pt x="30" y="120"/>
                    <a:pt x="30" y="120"/>
                    <a:pt x="30" y="121"/>
                  </a:cubicBezTo>
                  <a:cubicBezTo>
                    <a:pt x="30" y="121"/>
                    <a:pt x="30" y="121"/>
                    <a:pt x="31" y="121"/>
                  </a:cubicBezTo>
                  <a:cubicBezTo>
                    <a:pt x="31" y="121"/>
                    <a:pt x="31" y="122"/>
                    <a:pt x="32" y="122"/>
                  </a:cubicBezTo>
                  <a:cubicBezTo>
                    <a:pt x="32" y="122"/>
                    <a:pt x="32" y="122"/>
                    <a:pt x="32" y="122"/>
                  </a:cubicBezTo>
                  <a:cubicBezTo>
                    <a:pt x="31" y="123"/>
                    <a:pt x="31" y="123"/>
                    <a:pt x="31" y="124"/>
                  </a:cubicBezTo>
                  <a:cubicBezTo>
                    <a:pt x="31" y="124"/>
                    <a:pt x="31" y="125"/>
                    <a:pt x="32" y="125"/>
                  </a:cubicBezTo>
                  <a:cubicBezTo>
                    <a:pt x="32" y="125"/>
                    <a:pt x="32" y="125"/>
                    <a:pt x="32" y="125"/>
                  </a:cubicBezTo>
                  <a:close/>
                  <a:moveTo>
                    <a:pt x="17" y="204"/>
                  </a:moveTo>
                  <a:cubicBezTo>
                    <a:pt x="5" y="204"/>
                    <a:pt x="5" y="204"/>
                    <a:pt x="5" y="204"/>
                  </a:cubicBezTo>
                  <a:cubicBezTo>
                    <a:pt x="5" y="200"/>
                    <a:pt x="5" y="200"/>
                    <a:pt x="5" y="200"/>
                  </a:cubicBezTo>
                  <a:cubicBezTo>
                    <a:pt x="17" y="200"/>
                    <a:pt x="17" y="200"/>
                    <a:pt x="17" y="200"/>
                  </a:cubicBezTo>
                  <a:lnTo>
                    <a:pt x="17" y="204"/>
                  </a:lnTo>
                  <a:close/>
                  <a:moveTo>
                    <a:pt x="127" y="161"/>
                  </a:moveTo>
                  <a:cubicBezTo>
                    <a:pt x="127" y="162"/>
                    <a:pt x="128" y="162"/>
                    <a:pt x="128" y="163"/>
                  </a:cubicBezTo>
                  <a:cubicBezTo>
                    <a:pt x="128" y="164"/>
                    <a:pt x="127" y="166"/>
                    <a:pt x="127" y="167"/>
                  </a:cubicBezTo>
                  <a:cubicBezTo>
                    <a:pt x="126" y="168"/>
                    <a:pt x="124" y="170"/>
                    <a:pt x="122" y="170"/>
                  </a:cubicBezTo>
                  <a:cubicBezTo>
                    <a:pt x="122" y="170"/>
                    <a:pt x="121" y="170"/>
                    <a:pt x="120" y="170"/>
                  </a:cubicBezTo>
                  <a:cubicBezTo>
                    <a:pt x="119" y="170"/>
                    <a:pt x="118" y="170"/>
                    <a:pt x="117" y="169"/>
                  </a:cubicBezTo>
                  <a:cubicBezTo>
                    <a:pt x="115" y="168"/>
                    <a:pt x="114" y="167"/>
                    <a:pt x="113" y="165"/>
                  </a:cubicBezTo>
                  <a:cubicBezTo>
                    <a:pt x="113" y="165"/>
                    <a:pt x="113" y="165"/>
                    <a:pt x="113" y="165"/>
                  </a:cubicBezTo>
                  <a:cubicBezTo>
                    <a:pt x="90" y="79"/>
                    <a:pt x="90" y="79"/>
                    <a:pt x="90" y="79"/>
                  </a:cubicBezTo>
                  <a:cubicBezTo>
                    <a:pt x="91" y="78"/>
                    <a:pt x="92" y="78"/>
                    <a:pt x="93" y="78"/>
                  </a:cubicBezTo>
                  <a:cubicBezTo>
                    <a:pt x="94" y="78"/>
                    <a:pt x="94" y="77"/>
                    <a:pt x="95" y="77"/>
                  </a:cubicBezTo>
                  <a:cubicBezTo>
                    <a:pt x="96" y="77"/>
                    <a:pt x="98" y="76"/>
                    <a:pt x="99" y="75"/>
                  </a:cubicBezTo>
                  <a:cubicBezTo>
                    <a:pt x="100" y="75"/>
                    <a:pt x="101" y="74"/>
                    <a:pt x="101" y="74"/>
                  </a:cubicBezTo>
                  <a:cubicBezTo>
                    <a:pt x="102" y="73"/>
                    <a:pt x="102" y="73"/>
                    <a:pt x="103" y="72"/>
                  </a:cubicBezTo>
                  <a:cubicBezTo>
                    <a:pt x="103" y="72"/>
                    <a:pt x="103" y="72"/>
                    <a:pt x="103" y="72"/>
                  </a:cubicBezTo>
                  <a:lnTo>
                    <a:pt x="127" y="161"/>
                  </a:lnTo>
                  <a:close/>
                  <a:moveTo>
                    <a:pt x="90" y="116"/>
                  </a:moveTo>
                  <a:cubicBezTo>
                    <a:pt x="90" y="115"/>
                    <a:pt x="89" y="115"/>
                    <a:pt x="89" y="115"/>
                  </a:cubicBezTo>
                  <a:cubicBezTo>
                    <a:pt x="81" y="115"/>
                    <a:pt x="81" y="115"/>
                    <a:pt x="81" y="115"/>
                  </a:cubicBezTo>
                  <a:cubicBezTo>
                    <a:pt x="80" y="115"/>
                    <a:pt x="80" y="115"/>
                    <a:pt x="79" y="116"/>
                  </a:cubicBezTo>
                  <a:cubicBezTo>
                    <a:pt x="79" y="116"/>
                    <a:pt x="78" y="117"/>
                    <a:pt x="78" y="117"/>
                  </a:cubicBezTo>
                  <a:cubicBezTo>
                    <a:pt x="78" y="121"/>
                    <a:pt x="78" y="121"/>
                    <a:pt x="78" y="121"/>
                  </a:cubicBezTo>
                  <a:cubicBezTo>
                    <a:pt x="74" y="121"/>
                    <a:pt x="74" y="121"/>
                    <a:pt x="74" y="121"/>
                  </a:cubicBezTo>
                  <a:cubicBezTo>
                    <a:pt x="85" y="82"/>
                    <a:pt x="85" y="82"/>
                    <a:pt x="85" y="82"/>
                  </a:cubicBezTo>
                  <a:cubicBezTo>
                    <a:pt x="95" y="121"/>
                    <a:pt x="95" y="121"/>
                    <a:pt x="95" y="121"/>
                  </a:cubicBezTo>
                  <a:cubicBezTo>
                    <a:pt x="91" y="121"/>
                    <a:pt x="91" y="121"/>
                    <a:pt x="91" y="121"/>
                  </a:cubicBezTo>
                  <a:cubicBezTo>
                    <a:pt x="91" y="117"/>
                    <a:pt x="91" y="117"/>
                    <a:pt x="91" y="117"/>
                  </a:cubicBezTo>
                  <a:cubicBezTo>
                    <a:pt x="91" y="117"/>
                    <a:pt x="91" y="116"/>
                    <a:pt x="90" y="116"/>
                  </a:cubicBezTo>
                  <a:close/>
                  <a:moveTo>
                    <a:pt x="86" y="120"/>
                  </a:moveTo>
                  <a:cubicBezTo>
                    <a:pt x="86" y="128"/>
                    <a:pt x="86" y="128"/>
                    <a:pt x="86" y="128"/>
                  </a:cubicBezTo>
                  <a:cubicBezTo>
                    <a:pt x="83" y="128"/>
                    <a:pt x="83" y="128"/>
                    <a:pt x="83" y="128"/>
                  </a:cubicBezTo>
                  <a:cubicBezTo>
                    <a:pt x="83" y="120"/>
                    <a:pt x="83" y="120"/>
                    <a:pt x="83" y="120"/>
                  </a:cubicBezTo>
                  <a:lnTo>
                    <a:pt x="86" y="120"/>
                  </a:lnTo>
                  <a:close/>
                  <a:moveTo>
                    <a:pt x="81" y="10"/>
                  </a:moveTo>
                  <a:cubicBezTo>
                    <a:pt x="81" y="9"/>
                    <a:pt x="82" y="8"/>
                    <a:pt x="82" y="7"/>
                  </a:cubicBezTo>
                  <a:cubicBezTo>
                    <a:pt x="83" y="6"/>
                    <a:pt x="84" y="6"/>
                    <a:pt x="85" y="6"/>
                  </a:cubicBezTo>
                  <a:cubicBezTo>
                    <a:pt x="86" y="6"/>
                    <a:pt x="87" y="6"/>
                    <a:pt x="87" y="7"/>
                  </a:cubicBezTo>
                  <a:cubicBezTo>
                    <a:pt x="88" y="8"/>
                    <a:pt x="88" y="9"/>
                    <a:pt x="88" y="10"/>
                  </a:cubicBezTo>
                  <a:cubicBezTo>
                    <a:pt x="88" y="24"/>
                    <a:pt x="88" y="24"/>
                    <a:pt x="88" y="24"/>
                  </a:cubicBezTo>
                  <a:cubicBezTo>
                    <a:pt x="88" y="24"/>
                    <a:pt x="88" y="24"/>
                    <a:pt x="88" y="24"/>
                  </a:cubicBezTo>
                  <a:cubicBezTo>
                    <a:pt x="87" y="24"/>
                    <a:pt x="87" y="24"/>
                    <a:pt x="87" y="24"/>
                  </a:cubicBezTo>
                  <a:cubicBezTo>
                    <a:pt x="86" y="24"/>
                    <a:pt x="85" y="24"/>
                    <a:pt x="85" y="24"/>
                  </a:cubicBezTo>
                  <a:cubicBezTo>
                    <a:pt x="84" y="24"/>
                    <a:pt x="84" y="24"/>
                    <a:pt x="83" y="24"/>
                  </a:cubicBezTo>
                  <a:cubicBezTo>
                    <a:pt x="83" y="24"/>
                    <a:pt x="82" y="24"/>
                    <a:pt x="82" y="24"/>
                  </a:cubicBezTo>
                  <a:cubicBezTo>
                    <a:pt x="82" y="24"/>
                    <a:pt x="81" y="24"/>
                    <a:pt x="81" y="24"/>
                  </a:cubicBezTo>
                  <a:lnTo>
                    <a:pt x="81" y="10"/>
                  </a:lnTo>
                  <a:close/>
                  <a:moveTo>
                    <a:pt x="71" y="38"/>
                  </a:moveTo>
                  <a:cubicBezTo>
                    <a:pt x="73" y="36"/>
                    <a:pt x="76" y="35"/>
                    <a:pt x="78" y="34"/>
                  </a:cubicBezTo>
                  <a:cubicBezTo>
                    <a:pt x="78" y="34"/>
                    <a:pt x="78" y="34"/>
                    <a:pt x="78" y="34"/>
                  </a:cubicBezTo>
                  <a:cubicBezTo>
                    <a:pt x="79" y="33"/>
                    <a:pt x="79" y="33"/>
                    <a:pt x="80" y="33"/>
                  </a:cubicBezTo>
                  <a:cubicBezTo>
                    <a:pt x="80" y="33"/>
                    <a:pt x="80" y="33"/>
                    <a:pt x="80" y="33"/>
                  </a:cubicBezTo>
                  <a:cubicBezTo>
                    <a:pt x="80" y="33"/>
                    <a:pt x="80" y="33"/>
                    <a:pt x="80" y="33"/>
                  </a:cubicBezTo>
                  <a:cubicBezTo>
                    <a:pt x="80" y="33"/>
                    <a:pt x="80" y="33"/>
                    <a:pt x="80" y="33"/>
                  </a:cubicBezTo>
                  <a:cubicBezTo>
                    <a:pt x="80" y="33"/>
                    <a:pt x="81" y="33"/>
                    <a:pt x="81" y="33"/>
                  </a:cubicBezTo>
                  <a:cubicBezTo>
                    <a:pt x="81" y="33"/>
                    <a:pt x="81" y="33"/>
                    <a:pt x="81" y="33"/>
                  </a:cubicBezTo>
                  <a:cubicBezTo>
                    <a:pt x="81" y="33"/>
                    <a:pt x="81" y="33"/>
                    <a:pt x="82" y="33"/>
                  </a:cubicBezTo>
                  <a:cubicBezTo>
                    <a:pt x="82" y="33"/>
                    <a:pt x="82" y="33"/>
                    <a:pt x="83" y="33"/>
                  </a:cubicBezTo>
                  <a:cubicBezTo>
                    <a:pt x="83" y="33"/>
                    <a:pt x="83" y="33"/>
                    <a:pt x="83" y="33"/>
                  </a:cubicBezTo>
                  <a:cubicBezTo>
                    <a:pt x="83" y="33"/>
                    <a:pt x="83" y="33"/>
                    <a:pt x="83" y="33"/>
                  </a:cubicBezTo>
                  <a:cubicBezTo>
                    <a:pt x="84" y="33"/>
                    <a:pt x="84" y="32"/>
                    <a:pt x="85" y="32"/>
                  </a:cubicBezTo>
                  <a:cubicBezTo>
                    <a:pt x="85" y="32"/>
                    <a:pt x="86" y="33"/>
                    <a:pt x="86" y="33"/>
                  </a:cubicBezTo>
                  <a:cubicBezTo>
                    <a:pt x="87" y="33"/>
                    <a:pt x="87" y="33"/>
                    <a:pt x="88" y="33"/>
                  </a:cubicBezTo>
                  <a:cubicBezTo>
                    <a:pt x="88" y="33"/>
                    <a:pt x="88" y="33"/>
                    <a:pt x="88" y="33"/>
                  </a:cubicBezTo>
                  <a:cubicBezTo>
                    <a:pt x="88" y="33"/>
                    <a:pt x="88" y="33"/>
                    <a:pt x="88" y="33"/>
                  </a:cubicBezTo>
                  <a:cubicBezTo>
                    <a:pt x="88" y="33"/>
                    <a:pt x="88" y="33"/>
                    <a:pt x="88" y="33"/>
                  </a:cubicBezTo>
                  <a:cubicBezTo>
                    <a:pt x="88" y="33"/>
                    <a:pt x="88" y="33"/>
                    <a:pt x="88" y="33"/>
                  </a:cubicBezTo>
                  <a:cubicBezTo>
                    <a:pt x="88" y="33"/>
                    <a:pt x="88" y="33"/>
                    <a:pt x="88" y="33"/>
                  </a:cubicBezTo>
                  <a:cubicBezTo>
                    <a:pt x="89" y="33"/>
                    <a:pt x="90" y="33"/>
                    <a:pt x="91" y="34"/>
                  </a:cubicBezTo>
                  <a:cubicBezTo>
                    <a:pt x="91" y="34"/>
                    <a:pt x="91" y="34"/>
                    <a:pt x="91" y="34"/>
                  </a:cubicBezTo>
                  <a:cubicBezTo>
                    <a:pt x="94" y="35"/>
                    <a:pt x="96" y="36"/>
                    <a:pt x="98" y="38"/>
                  </a:cubicBezTo>
                  <a:cubicBezTo>
                    <a:pt x="102" y="41"/>
                    <a:pt x="104" y="46"/>
                    <a:pt x="104" y="51"/>
                  </a:cubicBezTo>
                  <a:cubicBezTo>
                    <a:pt x="104" y="55"/>
                    <a:pt x="103" y="59"/>
                    <a:pt x="101" y="62"/>
                  </a:cubicBezTo>
                  <a:cubicBezTo>
                    <a:pt x="100" y="63"/>
                    <a:pt x="99" y="64"/>
                    <a:pt x="98" y="65"/>
                  </a:cubicBezTo>
                  <a:cubicBezTo>
                    <a:pt x="98" y="65"/>
                    <a:pt x="97" y="66"/>
                    <a:pt x="97" y="66"/>
                  </a:cubicBezTo>
                  <a:cubicBezTo>
                    <a:pt x="97" y="66"/>
                    <a:pt x="96" y="67"/>
                    <a:pt x="96" y="67"/>
                  </a:cubicBezTo>
                  <a:cubicBezTo>
                    <a:pt x="96" y="67"/>
                    <a:pt x="96" y="67"/>
                    <a:pt x="96" y="67"/>
                  </a:cubicBezTo>
                  <a:cubicBezTo>
                    <a:pt x="96" y="67"/>
                    <a:pt x="96" y="67"/>
                    <a:pt x="95" y="67"/>
                  </a:cubicBezTo>
                  <a:cubicBezTo>
                    <a:pt x="95" y="68"/>
                    <a:pt x="94" y="68"/>
                    <a:pt x="94" y="68"/>
                  </a:cubicBezTo>
                  <a:cubicBezTo>
                    <a:pt x="94" y="68"/>
                    <a:pt x="94" y="68"/>
                    <a:pt x="94" y="68"/>
                  </a:cubicBezTo>
                  <a:cubicBezTo>
                    <a:pt x="94" y="68"/>
                    <a:pt x="94" y="68"/>
                    <a:pt x="94" y="68"/>
                  </a:cubicBezTo>
                  <a:cubicBezTo>
                    <a:pt x="94" y="68"/>
                    <a:pt x="94" y="68"/>
                    <a:pt x="94" y="68"/>
                  </a:cubicBezTo>
                  <a:cubicBezTo>
                    <a:pt x="93" y="68"/>
                    <a:pt x="93" y="69"/>
                    <a:pt x="92" y="69"/>
                  </a:cubicBezTo>
                  <a:cubicBezTo>
                    <a:pt x="92" y="69"/>
                    <a:pt x="92" y="69"/>
                    <a:pt x="91" y="69"/>
                  </a:cubicBezTo>
                  <a:cubicBezTo>
                    <a:pt x="91" y="69"/>
                    <a:pt x="91" y="69"/>
                    <a:pt x="91" y="69"/>
                  </a:cubicBezTo>
                  <a:cubicBezTo>
                    <a:pt x="91" y="69"/>
                    <a:pt x="91" y="69"/>
                    <a:pt x="91" y="69"/>
                  </a:cubicBezTo>
                  <a:cubicBezTo>
                    <a:pt x="91" y="70"/>
                    <a:pt x="91" y="70"/>
                    <a:pt x="90" y="70"/>
                  </a:cubicBezTo>
                  <a:cubicBezTo>
                    <a:pt x="90" y="70"/>
                    <a:pt x="90" y="70"/>
                    <a:pt x="90" y="70"/>
                  </a:cubicBezTo>
                  <a:cubicBezTo>
                    <a:pt x="89" y="70"/>
                    <a:pt x="89" y="70"/>
                    <a:pt x="89" y="70"/>
                  </a:cubicBezTo>
                  <a:cubicBezTo>
                    <a:pt x="88" y="70"/>
                    <a:pt x="88" y="70"/>
                    <a:pt x="87" y="70"/>
                  </a:cubicBezTo>
                  <a:cubicBezTo>
                    <a:pt x="87" y="70"/>
                    <a:pt x="87" y="70"/>
                    <a:pt x="86" y="70"/>
                  </a:cubicBezTo>
                  <a:cubicBezTo>
                    <a:pt x="86" y="70"/>
                    <a:pt x="85" y="70"/>
                    <a:pt x="85" y="70"/>
                  </a:cubicBezTo>
                  <a:cubicBezTo>
                    <a:pt x="84" y="70"/>
                    <a:pt x="84" y="70"/>
                    <a:pt x="83" y="70"/>
                  </a:cubicBezTo>
                  <a:cubicBezTo>
                    <a:pt x="83" y="70"/>
                    <a:pt x="82" y="70"/>
                    <a:pt x="82" y="70"/>
                  </a:cubicBezTo>
                  <a:cubicBezTo>
                    <a:pt x="81" y="70"/>
                    <a:pt x="80" y="70"/>
                    <a:pt x="79" y="69"/>
                  </a:cubicBezTo>
                  <a:cubicBezTo>
                    <a:pt x="79" y="69"/>
                    <a:pt x="78" y="69"/>
                    <a:pt x="78" y="69"/>
                  </a:cubicBezTo>
                  <a:cubicBezTo>
                    <a:pt x="78" y="69"/>
                    <a:pt x="78" y="69"/>
                    <a:pt x="77" y="69"/>
                  </a:cubicBezTo>
                  <a:cubicBezTo>
                    <a:pt x="77" y="69"/>
                    <a:pt x="76" y="68"/>
                    <a:pt x="76" y="68"/>
                  </a:cubicBezTo>
                  <a:cubicBezTo>
                    <a:pt x="75" y="68"/>
                    <a:pt x="75" y="68"/>
                    <a:pt x="74" y="67"/>
                  </a:cubicBezTo>
                  <a:cubicBezTo>
                    <a:pt x="74" y="67"/>
                    <a:pt x="74" y="67"/>
                    <a:pt x="74" y="67"/>
                  </a:cubicBezTo>
                  <a:cubicBezTo>
                    <a:pt x="74" y="67"/>
                    <a:pt x="74" y="67"/>
                    <a:pt x="74" y="67"/>
                  </a:cubicBezTo>
                  <a:cubicBezTo>
                    <a:pt x="74" y="67"/>
                    <a:pt x="73" y="67"/>
                    <a:pt x="73" y="66"/>
                  </a:cubicBezTo>
                  <a:cubicBezTo>
                    <a:pt x="73" y="66"/>
                    <a:pt x="73" y="66"/>
                    <a:pt x="73" y="66"/>
                  </a:cubicBezTo>
                  <a:cubicBezTo>
                    <a:pt x="73" y="66"/>
                    <a:pt x="73" y="66"/>
                    <a:pt x="72" y="66"/>
                  </a:cubicBezTo>
                  <a:cubicBezTo>
                    <a:pt x="72" y="66"/>
                    <a:pt x="72" y="65"/>
                    <a:pt x="72" y="65"/>
                  </a:cubicBezTo>
                  <a:cubicBezTo>
                    <a:pt x="71" y="65"/>
                    <a:pt x="71" y="65"/>
                    <a:pt x="71" y="65"/>
                  </a:cubicBezTo>
                  <a:cubicBezTo>
                    <a:pt x="72" y="65"/>
                    <a:pt x="71" y="65"/>
                    <a:pt x="71" y="65"/>
                  </a:cubicBezTo>
                  <a:cubicBezTo>
                    <a:pt x="71" y="65"/>
                    <a:pt x="71" y="65"/>
                    <a:pt x="71" y="65"/>
                  </a:cubicBezTo>
                  <a:cubicBezTo>
                    <a:pt x="71" y="65"/>
                    <a:pt x="71" y="65"/>
                    <a:pt x="71" y="65"/>
                  </a:cubicBezTo>
                  <a:cubicBezTo>
                    <a:pt x="71" y="65"/>
                    <a:pt x="71" y="65"/>
                    <a:pt x="71" y="65"/>
                  </a:cubicBezTo>
                  <a:cubicBezTo>
                    <a:pt x="71" y="65"/>
                    <a:pt x="71" y="65"/>
                    <a:pt x="71" y="64"/>
                  </a:cubicBezTo>
                  <a:cubicBezTo>
                    <a:pt x="71" y="64"/>
                    <a:pt x="71" y="64"/>
                    <a:pt x="71" y="64"/>
                  </a:cubicBezTo>
                  <a:cubicBezTo>
                    <a:pt x="71" y="64"/>
                    <a:pt x="71" y="64"/>
                    <a:pt x="71" y="64"/>
                  </a:cubicBezTo>
                  <a:cubicBezTo>
                    <a:pt x="71" y="64"/>
                    <a:pt x="71" y="64"/>
                    <a:pt x="71" y="64"/>
                  </a:cubicBezTo>
                  <a:cubicBezTo>
                    <a:pt x="70" y="64"/>
                    <a:pt x="70" y="63"/>
                    <a:pt x="69" y="63"/>
                  </a:cubicBezTo>
                  <a:cubicBezTo>
                    <a:pt x="69" y="62"/>
                    <a:pt x="69" y="62"/>
                    <a:pt x="69" y="62"/>
                  </a:cubicBezTo>
                  <a:cubicBezTo>
                    <a:pt x="69" y="62"/>
                    <a:pt x="69" y="62"/>
                    <a:pt x="69" y="62"/>
                  </a:cubicBezTo>
                  <a:cubicBezTo>
                    <a:pt x="69" y="62"/>
                    <a:pt x="69" y="62"/>
                    <a:pt x="69" y="62"/>
                  </a:cubicBezTo>
                  <a:cubicBezTo>
                    <a:pt x="69" y="62"/>
                    <a:pt x="69" y="61"/>
                    <a:pt x="68" y="61"/>
                  </a:cubicBezTo>
                  <a:cubicBezTo>
                    <a:pt x="68" y="61"/>
                    <a:pt x="68" y="61"/>
                    <a:pt x="68" y="61"/>
                  </a:cubicBezTo>
                  <a:cubicBezTo>
                    <a:pt x="68" y="61"/>
                    <a:pt x="68" y="61"/>
                    <a:pt x="68" y="61"/>
                  </a:cubicBezTo>
                  <a:cubicBezTo>
                    <a:pt x="68" y="60"/>
                    <a:pt x="68" y="60"/>
                    <a:pt x="68" y="60"/>
                  </a:cubicBezTo>
                  <a:cubicBezTo>
                    <a:pt x="68" y="60"/>
                    <a:pt x="68" y="60"/>
                    <a:pt x="68" y="60"/>
                  </a:cubicBezTo>
                  <a:cubicBezTo>
                    <a:pt x="67" y="58"/>
                    <a:pt x="66" y="55"/>
                    <a:pt x="66" y="51"/>
                  </a:cubicBezTo>
                  <a:cubicBezTo>
                    <a:pt x="66" y="46"/>
                    <a:pt x="68" y="41"/>
                    <a:pt x="71" y="38"/>
                  </a:cubicBezTo>
                  <a:close/>
                  <a:moveTo>
                    <a:pt x="42" y="163"/>
                  </a:moveTo>
                  <a:cubicBezTo>
                    <a:pt x="42" y="162"/>
                    <a:pt x="42" y="162"/>
                    <a:pt x="42" y="161"/>
                  </a:cubicBezTo>
                  <a:cubicBezTo>
                    <a:pt x="66" y="72"/>
                    <a:pt x="66" y="72"/>
                    <a:pt x="66" y="72"/>
                  </a:cubicBezTo>
                  <a:cubicBezTo>
                    <a:pt x="66" y="72"/>
                    <a:pt x="66" y="72"/>
                    <a:pt x="66" y="72"/>
                  </a:cubicBezTo>
                  <a:cubicBezTo>
                    <a:pt x="66" y="72"/>
                    <a:pt x="66" y="72"/>
                    <a:pt x="66" y="72"/>
                  </a:cubicBezTo>
                  <a:cubicBezTo>
                    <a:pt x="66" y="72"/>
                    <a:pt x="66" y="72"/>
                    <a:pt x="66" y="72"/>
                  </a:cubicBezTo>
                  <a:cubicBezTo>
                    <a:pt x="67" y="73"/>
                    <a:pt x="68" y="73"/>
                    <a:pt x="68" y="74"/>
                  </a:cubicBezTo>
                  <a:cubicBezTo>
                    <a:pt x="68" y="74"/>
                    <a:pt x="68" y="74"/>
                    <a:pt x="68" y="74"/>
                  </a:cubicBezTo>
                  <a:cubicBezTo>
                    <a:pt x="70" y="75"/>
                    <a:pt x="71" y="76"/>
                    <a:pt x="73" y="76"/>
                  </a:cubicBezTo>
                  <a:cubicBezTo>
                    <a:pt x="73" y="77"/>
                    <a:pt x="74" y="77"/>
                    <a:pt x="75" y="77"/>
                  </a:cubicBezTo>
                  <a:cubicBezTo>
                    <a:pt x="75" y="77"/>
                    <a:pt x="76" y="78"/>
                    <a:pt x="76" y="78"/>
                  </a:cubicBezTo>
                  <a:cubicBezTo>
                    <a:pt x="76" y="78"/>
                    <a:pt x="77" y="78"/>
                    <a:pt x="77" y="78"/>
                  </a:cubicBezTo>
                  <a:cubicBezTo>
                    <a:pt x="78" y="78"/>
                    <a:pt x="78" y="79"/>
                    <a:pt x="79" y="79"/>
                  </a:cubicBezTo>
                  <a:cubicBezTo>
                    <a:pt x="79" y="79"/>
                    <a:pt x="79" y="79"/>
                    <a:pt x="79" y="79"/>
                  </a:cubicBezTo>
                  <a:cubicBezTo>
                    <a:pt x="56" y="165"/>
                    <a:pt x="56" y="165"/>
                    <a:pt x="56" y="165"/>
                  </a:cubicBezTo>
                  <a:cubicBezTo>
                    <a:pt x="56" y="167"/>
                    <a:pt x="54" y="168"/>
                    <a:pt x="53" y="169"/>
                  </a:cubicBezTo>
                  <a:cubicBezTo>
                    <a:pt x="54" y="172"/>
                    <a:pt x="54" y="172"/>
                    <a:pt x="54" y="172"/>
                  </a:cubicBezTo>
                  <a:cubicBezTo>
                    <a:pt x="53" y="169"/>
                    <a:pt x="53" y="169"/>
                    <a:pt x="53" y="169"/>
                  </a:cubicBezTo>
                  <a:cubicBezTo>
                    <a:pt x="52" y="170"/>
                    <a:pt x="50" y="170"/>
                    <a:pt x="49" y="170"/>
                  </a:cubicBezTo>
                  <a:cubicBezTo>
                    <a:pt x="48" y="170"/>
                    <a:pt x="48" y="170"/>
                    <a:pt x="47" y="170"/>
                  </a:cubicBezTo>
                  <a:cubicBezTo>
                    <a:pt x="45" y="170"/>
                    <a:pt x="44" y="168"/>
                    <a:pt x="43" y="167"/>
                  </a:cubicBezTo>
                  <a:cubicBezTo>
                    <a:pt x="42" y="166"/>
                    <a:pt x="42" y="164"/>
                    <a:pt x="42" y="163"/>
                  </a:cubicBezTo>
                  <a:close/>
                  <a:moveTo>
                    <a:pt x="101" y="213"/>
                  </a:moveTo>
                  <a:cubicBezTo>
                    <a:pt x="73" y="213"/>
                    <a:pt x="73" y="213"/>
                    <a:pt x="73" y="213"/>
                  </a:cubicBezTo>
                  <a:cubicBezTo>
                    <a:pt x="73" y="199"/>
                    <a:pt x="73" y="199"/>
                    <a:pt x="73" y="199"/>
                  </a:cubicBezTo>
                  <a:cubicBezTo>
                    <a:pt x="101" y="199"/>
                    <a:pt x="101" y="199"/>
                    <a:pt x="101" y="199"/>
                  </a:cubicBezTo>
                  <a:lnTo>
                    <a:pt x="101" y="213"/>
                  </a:lnTo>
                  <a:close/>
                  <a:moveTo>
                    <a:pt x="106" y="203"/>
                  </a:moveTo>
                  <a:cubicBezTo>
                    <a:pt x="106" y="197"/>
                    <a:pt x="106" y="197"/>
                    <a:pt x="106" y="197"/>
                  </a:cubicBezTo>
                  <a:cubicBezTo>
                    <a:pt x="106" y="196"/>
                    <a:pt x="105" y="195"/>
                    <a:pt x="105" y="195"/>
                  </a:cubicBezTo>
                  <a:cubicBezTo>
                    <a:pt x="104" y="194"/>
                    <a:pt x="104" y="194"/>
                    <a:pt x="103" y="194"/>
                  </a:cubicBezTo>
                  <a:cubicBezTo>
                    <a:pt x="71" y="194"/>
                    <a:pt x="71" y="194"/>
                    <a:pt x="71" y="194"/>
                  </a:cubicBezTo>
                  <a:cubicBezTo>
                    <a:pt x="70" y="194"/>
                    <a:pt x="69" y="194"/>
                    <a:pt x="69" y="195"/>
                  </a:cubicBezTo>
                  <a:cubicBezTo>
                    <a:pt x="68" y="195"/>
                    <a:pt x="68" y="196"/>
                    <a:pt x="68" y="197"/>
                  </a:cubicBezTo>
                  <a:cubicBezTo>
                    <a:pt x="68" y="203"/>
                    <a:pt x="68" y="203"/>
                    <a:pt x="68" y="203"/>
                  </a:cubicBezTo>
                  <a:cubicBezTo>
                    <a:pt x="39" y="201"/>
                    <a:pt x="39" y="201"/>
                    <a:pt x="39" y="201"/>
                  </a:cubicBezTo>
                  <a:cubicBezTo>
                    <a:pt x="39" y="201"/>
                    <a:pt x="40" y="200"/>
                    <a:pt x="40" y="200"/>
                  </a:cubicBezTo>
                  <a:cubicBezTo>
                    <a:pt x="47" y="177"/>
                    <a:pt x="47" y="177"/>
                    <a:pt x="47" y="177"/>
                  </a:cubicBezTo>
                  <a:cubicBezTo>
                    <a:pt x="47" y="176"/>
                    <a:pt x="47" y="176"/>
                    <a:pt x="47" y="176"/>
                  </a:cubicBezTo>
                  <a:cubicBezTo>
                    <a:pt x="50" y="177"/>
                    <a:pt x="53" y="176"/>
                    <a:pt x="56" y="175"/>
                  </a:cubicBezTo>
                  <a:cubicBezTo>
                    <a:pt x="59" y="173"/>
                    <a:pt x="61" y="170"/>
                    <a:pt x="62" y="167"/>
                  </a:cubicBezTo>
                  <a:cubicBezTo>
                    <a:pt x="73" y="126"/>
                    <a:pt x="73" y="126"/>
                    <a:pt x="73" y="126"/>
                  </a:cubicBezTo>
                  <a:cubicBezTo>
                    <a:pt x="78" y="126"/>
                    <a:pt x="78" y="126"/>
                    <a:pt x="78" y="126"/>
                  </a:cubicBezTo>
                  <a:cubicBezTo>
                    <a:pt x="78" y="130"/>
                    <a:pt x="78" y="130"/>
                    <a:pt x="78" y="130"/>
                  </a:cubicBezTo>
                  <a:cubicBezTo>
                    <a:pt x="78" y="131"/>
                    <a:pt x="79" y="131"/>
                    <a:pt x="79" y="132"/>
                  </a:cubicBezTo>
                  <a:cubicBezTo>
                    <a:pt x="80" y="132"/>
                    <a:pt x="80" y="133"/>
                    <a:pt x="81" y="133"/>
                  </a:cubicBezTo>
                  <a:cubicBezTo>
                    <a:pt x="89" y="133"/>
                    <a:pt x="89" y="133"/>
                    <a:pt x="89" y="133"/>
                  </a:cubicBezTo>
                  <a:cubicBezTo>
                    <a:pt x="89" y="133"/>
                    <a:pt x="90" y="132"/>
                    <a:pt x="90" y="132"/>
                  </a:cubicBezTo>
                  <a:cubicBezTo>
                    <a:pt x="91" y="131"/>
                    <a:pt x="91" y="131"/>
                    <a:pt x="91" y="130"/>
                  </a:cubicBezTo>
                  <a:cubicBezTo>
                    <a:pt x="91" y="126"/>
                    <a:pt x="91" y="126"/>
                    <a:pt x="91" y="126"/>
                  </a:cubicBezTo>
                  <a:cubicBezTo>
                    <a:pt x="96" y="126"/>
                    <a:pt x="96" y="126"/>
                    <a:pt x="96" y="126"/>
                  </a:cubicBezTo>
                  <a:cubicBezTo>
                    <a:pt x="107" y="167"/>
                    <a:pt x="107" y="167"/>
                    <a:pt x="107" y="167"/>
                  </a:cubicBezTo>
                  <a:cubicBezTo>
                    <a:pt x="108" y="170"/>
                    <a:pt x="111" y="173"/>
                    <a:pt x="114" y="175"/>
                  </a:cubicBezTo>
                  <a:cubicBezTo>
                    <a:pt x="116" y="176"/>
                    <a:pt x="119" y="177"/>
                    <a:pt x="122" y="176"/>
                  </a:cubicBezTo>
                  <a:cubicBezTo>
                    <a:pt x="122" y="177"/>
                    <a:pt x="122" y="177"/>
                    <a:pt x="122" y="177"/>
                  </a:cubicBezTo>
                  <a:cubicBezTo>
                    <a:pt x="130" y="200"/>
                    <a:pt x="130" y="200"/>
                    <a:pt x="130" y="200"/>
                  </a:cubicBezTo>
                  <a:cubicBezTo>
                    <a:pt x="130" y="201"/>
                    <a:pt x="131" y="201"/>
                    <a:pt x="131" y="201"/>
                  </a:cubicBezTo>
                  <a:lnTo>
                    <a:pt x="106" y="203"/>
                  </a:lnTo>
                  <a:close/>
                  <a:moveTo>
                    <a:pt x="168" y="204"/>
                  </a:moveTo>
                  <a:cubicBezTo>
                    <a:pt x="157" y="204"/>
                    <a:pt x="157" y="204"/>
                    <a:pt x="157" y="204"/>
                  </a:cubicBezTo>
                  <a:cubicBezTo>
                    <a:pt x="157" y="200"/>
                    <a:pt x="157" y="200"/>
                    <a:pt x="157" y="200"/>
                  </a:cubicBezTo>
                  <a:cubicBezTo>
                    <a:pt x="168" y="200"/>
                    <a:pt x="168" y="200"/>
                    <a:pt x="168" y="200"/>
                  </a:cubicBezTo>
                  <a:lnTo>
                    <a:pt x="168" y="204"/>
                  </a:lnTo>
                  <a:close/>
                  <a:moveTo>
                    <a:pt x="74" y="62"/>
                  </a:moveTo>
                  <a:cubicBezTo>
                    <a:pt x="77" y="65"/>
                    <a:pt x="81" y="67"/>
                    <a:pt x="85" y="67"/>
                  </a:cubicBezTo>
                  <a:cubicBezTo>
                    <a:pt x="85" y="67"/>
                    <a:pt x="85" y="67"/>
                    <a:pt x="85" y="67"/>
                  </a:cubicBezTo>
                  <a:cubicBezTo>
                    <a:pt x="89" y="67"/>
                    <a:pt x="93" y="65"/>
                    <a:pt x="95" y="62"/>
                  </a:cubicBezTo>
                  <a:cubicBezTo>
                    <a:pt x="96" y="62"/>
                    <a:pt x="96" y="62"/>
                    <a:pt x="96" y="62"/>
                  </a:cubicBezTo>
                  <a:cubicBezTo>
                    <a:pt x="98" y="59"/>
                    <a:pt x="100" y="56"/>
                    <a:pt x="100" y="51"/>
                  </a:cubicBezTo>
                  <a:cubicBezTo>
                    <a:pt x="100" y="47"/>
                    <a:pt x="98" y="43"/>
                    <a:pt x="96" y="41"/>
                  </a:cubicBezTo>
                  <a:cubicBezTo>
                    <a:pt x="93" y="38"/>
                    <a:pt x="89" y="36"/>
                    <a:pt x="85" y="36"/>
                  </a:cubicBezTo>
                  <a:cubicBezTo>
                    <a:pt x="81" y="36"/>
                    <a:pt x="77" y="38"/>
                    <a:pt x="74" y="41"/>
                  </a:cubicBezTo>
                  <a:cubicBezTo>
                    <a:pt x="71" y="43"/>
                    <a:pt x="70" y="47"/>
                    <a:pt x="70" y="51"/>
                  </a:cubicBezTo>
                  <a:cubicBezTo>
                    <a:pt x="70" y="56"/>
                    <a:pt x="71" y="59"/>
                    <a:pt x="74" y="62"/>
                  </a:cubicBezTo>
                  <a:close/>
                  <a:moveTo>
                    <a:pt x="80" y="47"/>
                  </a:moveTo>
                  <a:cubicBezTo>
                    <a:pt x="81" y="46"/>
                    <a:pt x="83" y="45"/>
                    <a:pt x="85" y="45"/>
                  </a:cubicBezTo>
                  <a:cubicBezTo>
                    <a:pt x="87" y="45"/>
                    <a:pt x="88" y="46"/>
                    <a:pt x="89" y="47"/>
                  </a:cubicBezTo>
                  <a:cubicBezTo>
                    <a:pt x="91" y="48"/>
                    <a:pt x="91" y="50"/>
                    <a:pt x="91" y="51"/>
                  </a:cubicBezTo>
                  <a:cubicBezTo>
                    <a:pt x="91" y="53"/>
                    <a:pt x="91" y="55"/>
                    <a:pt x="89" y="56"/>
                  </a:cubicBezTo>
                  <a:cubicBezTo>
                    <a:pt x="89" y="56"/>
                    <a:pt x="89" y="56"/>
                    <a:pt x="89" y="56"/>
                  </a:cubicBezTo>
                  <a:cubicBezTo>
                    <a:pt x="88" y="57"/>
                    <a:pt x="86" y="58"/>
                    <a:pt x="85" y="58"/>
                  </a:cubicBezTo>
                  <a:cubicBezTo>
                    <a:pt x="83" y="58"/>
                    <a:pt x="81" y="57"/>
                    <a:pt x="80" y="56"/>
                  </a:cubicBezTo>
                  <a:cubicBezTo>
                    <a:pt x="79" y="55"/>
                    <a:pt x="78" y="53"/>
                    <a:pt x="78" y="51"/>
                  </a:cubicBezTo>
                  <a:cubicBezTo>
                    <a:pt x="78" y="50"/>
                    <a:pt x="79" y="48"/>
                    <a:pt x="80" y="47"/>
                  </a:cubicBezTo>
                  <a:close/>
                </a:path>
              </a:pathLst>
            </a:custGeom>
            <a:solidFill>
              <a:schemeClr val="accent2"/>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Montserrat"/>
                <a:ea typeface="思源黑体 CN Normal"/>
              </a:endParaRPr>
            </a:p>
          </p:txBody>
        </p:sp>
        <p:sp>
          <p:nvSpPr>
            <p:cNvPr id="90" name="小李PPT28"/>
            <p:cNvSpPr txBox="1"/>
            <p:nvPr/>
          </p:nvSpPr>
          <p:spPr>
            <a:xfrm>
              <a:off x="12882" y="4096"/>
              <a:ext cx="1266" cy="822"/>
            </a:xfrm>
            <a:prstGeom prst="rect">
              <a:avLst/>
            </a:prstGeom>
            <a:noFill/>
          </p:spPr>
          <p:txBody>
            <a:bodyPr wrap="square" rtlCol="0">
              <a:spAutoFit/>
            </a:bodyPr>
            <a:lstStyle/>
            <a:p>
              <a:pPr algn="r"/>
              <a:r>
                <a:rPr lang="en-US" altLang="zh-CN" sz="2800" dirty="0">
                  <a:solidFill>
                    <a:schemeClr val="accent2"/>
                  </a:solidFill>
                  <a:latin typeface="Montserrat"/>
                  <a:ea typeface="思源黑体 CN Normal"/>
                </a:rPr>
                <a:t>02</a:t>
              </a:r>
              <a:endParaRPr lang="zh-CN" altLang="en-US" sz="2800" dirty="0">
                <a:solidFill>
                  <a:schemeClr val="accent2"/>
                </a:solidFill>
                <a:latin typeface="Montserrat"/>
                <a:ea typeface="思源黑体 CN Normal"/>
              </a:endParaRPr>
            </a:p>
          </p:txBody>
        </p:sp>
        <p:sp>
          <p:nvSpPr>
            <p:cNvPr id="91" name="小李PPT29"/>
            <p:cNvSpPr txBox="1"/>
            <p:nvPr/>
          </p:nvSpPr>
          <p:spPr>
            <a:xfrm>
              <a:off x="12963" y="8636"/>
              <a:ext cx="1155" cy="822"/>
            </a:xfrm>
            <a:prstGeom prst="rect">
              <a:avLst/>
            </a:prstGeom>
            <a:noFill/>
          </p:spPr>
          <p:txBody>
            <a:bodyPr wrap="square" rtlCol="0">
              <a:spAutoFit/>
            </a:bodyPr>
            <a:lstStyle/>
            <a:p>
              <a:pPr algn="r"/>
              <a:r>
                <a:rPr lang="en-US" altLang="zh-CN" sz="2800" dirty="0">
                  <a:solidFill>
                    <a:schemeClr val="accent2"/>
                  </a:solidFill>
                  <a:latin typeface="Montserrat"/>
                  <a:ea typeface="思源黑体 CN Normal"/>
                </a:rPr>
                <a:t>05</a:t>
              </a:r>
              <a:endParaRPr lang="zh-CN" altLang="en-US" sz="2800" dirty="0">
                <a:solidFill>
                  <a:schemeClr val="accent2"/>
                </a:solidFill>
                <a:latin typeface="Montserrat"/>
                <a:ea typeface="思源黑体 CN Normal"/>
              </a:endParaRPr>
            </a:p>
          </p:txBody>
        </p:sp>
        <p:sp>
          <p:nvSpPr>
            <p:cNvPr id="93" name="小李PPT31"/>
            <p:cNvSpPr>
              <a:spLocks noChangeArrowheads="1"/>
            </p:cNvSpPr>
            <p:nvPr/>
          </p:nvSpPr>
          <p:spPr bwMode="auto">
            <a:xfrm>
              <a:off x="10330" y="5856"/>
              <a:ext cx="3731" cy="3658"/>
            </a:xfrm>
            <a:prstGeom prst="snip2DiagRect">
              <a:avLst/>
            </a:prstGeom>
            <a:noFill/>
            <a:ln w="3175">
              <a:solidFill>
                <a:schemeClr val="accent2">
                  <a:alpha val="41000"/>
                </a:schemeClr>
              </a:solidFill>
            </a:ln>
            <a:effectLst>
              <a:outerShdw blurRad="190500" dist="114300" dir="5400000" algn="ctr" rotWithShape="0">
                <a:srgbClr val="3B8BF1">
                  <a:alpha val="12000"/>
                </a:srgbClr>
              </a:outerShdw>
            </a:effectLst>
          </p:spPr>
          <p:txBody>
            <a:bodyPr vert="horz" wrap="square" lIns="91440" tIns="45720" rIns="91440" bIns="45720" numCol="1" anchor="t" anchorCtr="0" compatLnSpc="1"/>
            <a:lstStyle/>
            <a:p>
              <a:endParaRPr lang="en-US" kern="0">
                <a:solidFill>
                  <a:srgbClr val="000000"/>
                </a:solidFill>
                <a:latin typeface="Montserrat"/>
                <a:ea typeface="思源黑体 CN Normal"/>
              </a:endParaRPr>
            </a:p>
          </p:txBody>
        </p:sp>
        <p:sp>
          <p:nvSpPr>
            <p:cNvPr id="94" name="小李PPT32"/>
            <p:cNvSpPr>
              <a:spLocks noChangeArrowheads="1"/>
            </p:cNvSpPr>
            <p:nvPr/>
          </p:nvSpPr>
          <p:spPr bwMode="auto">
            <a:xfrm>
              <a:off x="10311" y="1336"/>
              <a:ext cx="3731" cy="3658"/>
            </a:xfrm>
            <a:prstGeom prst="snip2DiagRect">
              <a:avLst/>
            </a:prstGeom>
            <a:noFill/>
            <a:ln w="3175">
              <a:solidFill>
                <a:schemeClr val="accent2">
                  <a:alpha val="41000"/>
                </a:schemeClr>
              </a:solidFill>
            </a:ln>
            <a:effectLst>
              <a:outerShdw blurRad="190500" dist="114300" dir="5400000" algn="ctr" rotWithShape="0">
                <a:srgbClr val="3B8BF1">
                  <a:alpha val="12000"/>
                </a:srgbClr>
              </a:outerShdw>
            </a:effectLst>
          </p:spPr>
          <p:txBody>
            <a:bodyPr vert="horz" wrap="square" lIns="91440" tIns="45720" rIns="91440" bIns="45720" numCol="1" anchor="t" anchorCtr="0" compatLnSpc="1"/>
            <a:lstStyle/>
            <a:p>
              <a:endParaRPr lang="en-US" kern="0">
                <a:solidFill>
                  <a:srgbClr val="000000"/>
                </a:solidFill>
                <a:latin typeface="Montserrat"/>
                <a:ea typeface="思源黑体 CN Normal"/>
              </a:endParaRPr>
            </a:p>
          </p:txBody>
        </p:sp>
        <p:cxnSp>
          <p:nvCxnSpPr>
            <p:cNvPr id="97" name="小李PPT34"/>
            <p:cNvCxnSpPr/>
            <p:nvPr/>
          </p:nvCxnSpPr>
          <p:spPr>
            <a:xfrm>
              <a:off x="11228" y="4096"/>
              <a:ext cx="279" cy="0"/>
            </a:xfrm>
            <a:prstGeom prst="line">
              <a:avLst/>
            </a:prstGeom>
            <a:noFill/>
            <a:ln w="6350" cap="flat" cmpd="sng" algn="ctr">
              <a:solidFill>
                <a:schemeClr val="accent2"/>
              </a:solidFill>
              <a:prstDash val="solid"/>
              <a:miter lim="800000"/>
            </a:ln>
            <a:effectLst/>
          </p:spPr>
        </p:cxnSp>
        <p:cxnSp>
          <p:nvCxnSpPr>
            <p:cNvPr id="98" name="小李PPT35"/>
            <p:cNvCxnSpPr/>
            <p:nvPr/>
          </p:nvCxnSpPr>
          <p:spPr>
            <a:xfrm>
              <a:off x="11228" y="8482"/>
              <a:ext cx="279" cy="0"/>
            </a:xfrm>
            <a:prstGeom prst="line">
              <a:avLst/>
            </a:prstGeom>
            <a:noFill/>
            <a:ln w="6350" cap="flat" cmpd="sng" algn="ctr">
              <a:solidFill>
                <a:schemeClr val="accent2"/>
              </a:solidFill>
              <a:prstDash val="solid"/>
              <a:miter lim="800000"/>
            </a:ln>
            <a:effectLst/>
          </p:spPr>
        </p:cxnSp>
      </p:grpSp>
      <p:grpSp>
        <p:nvGrpSpPr>
          <p:cNvPr id="53" name="组合 52"/>
          <p:cNvGrpSpPr/>
          <p:nvPr/>
        </p:nvGrpSpPr>
        <p:grpSpPr>
          <a:xfrm>
            <a:off x="3169285" y="781050"/>
            <a:ext cx="2529205" cy="5318125"/>
            <a:chOff x="4991" y="1230"/>
            <a:chExt cx="3983" cy="8375"/>
          </a:xfrm>
        </p:grpSpPr>
        <p:sp>
          <p:nvSpPr>
            <p:cNvPr id="20" name="小李PPT15"/>
            <p:cNvSpPr>
              <a:spLocks noChangeArrowheads="1"/>
            </p:cNvSpPr>
            <p:nvPr/>
          </p:nvSpPr>
          <p:spPr bwMode="auto">
            <a:xfrm>
              <a:off x="4991" y="1230"/>
              <a:ext cx="3944" cy="3867"/>
            </a:xfrm>
            <a:prstGeom prst="snip2Diag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FFFFFF"/>
                </a:solidFill>
                <a:latin typeface="Montserrat"/>
                <a:ea typeface="思源黑体 CN Normal"/>
              </a:endParaRPr>
            </a:p>
          </p:txBody>
        </p:sp>
        <p:sp>
          <p:nvSpPr>
            <p:cNvPr id="25" name="小李PPT17"/>
            <p:cNvSpPr>
              <a:spLocks noChangeArrowheads="1"/>
            </p:cNvSpPr>
            <p:nvPr/>
          </p:nvSpPr>
          <p:spPr bwMode="auto">
            <a:xfrm>
              <a:off x="5030" y="5738"/>
              <a:ext cx="3944" cy="3867"/>
            </a:xfrm>
            <a:prstGeom prst="snip2DiagRect">
              <a:avLst/>
            </a:prstGeom>
            <a:solidFill>
              <a:srgbClr val="FFFFFF"/>
            </a:solidFill>
            <a:ln>
              <a:noFill/>
            </a:ln>
            <a:effectLst>
              <a:outerShdw blurRad="190500" dist="114300" dir="5400000" algn="ctr" rotWithShape="0">
                <a:srgbClr val="1D4223">
                  <a:alpha val="12000"/>
                </a:srgbClr>
              </a:outerShdw>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Montserrat"/>
                <a:ea typeface="思源黑体 CN Normal"/>
              </a:endParaRPr>
            </a:p>
          </p:txBody>
        </p:sp>
        <p:grpSp>
          <p:nvGrpSpPr>
            <p:cNvPr id="34" name="小李PPT20"/>
            <p:cNvGrpSpPr/>
            <p:nvPr/>
          </p:nvGrpSpPr>
          <p:grpSpPr>
            <a:xfrm rot="0">
              <a:off x="5888" y="1647"/>
              <a:ext cx="2519" cy="2071"/>
              <a:chOff x="6317951" y="1200825"/>
              <a:chExt cx="1599353" cy="1315271"/>
            </a:xfrm>
          </p:grpSpPr>
          <p:sp>
            <p:nvSpPr>
              <p:cNvPr id="45" name="小李PPT20-1"/>
              <p:cNvSpPr>
                <a:spLocks noEditPoints="1"/>
              </p:cNvSpPr>
              <p:nvPr/>
            </p:nvSpPr>
            <p:spPr bwMode="auto">
              <a:xfrm>
                <a:off x="6369508" y="1200825"/>
                <a:ext cx="479290" cy="501936"/>
              </a:xfrm>
              <a:custGeom>
                <a:avLst/>
                <a:gdLst>
                  <a:gd name="T0" fmla="*/ 152 w 162"/>
                  <a:gd name="T1" fmla="*/ 54 h 169"/>
                  <a:gd name="T2" fmla="*/ 152 w 162"/>
                  <a:gd name="T3" fmla="*/ 9 h 169"/>
                  <a:gd name="T4" fmla="*/ 148 w 162"/>
                  <a:gd name="T5" fmla="*/ 1 h 169"/>
                  <a:gd name="T6" fmla="*/ 137 w 162"/>
                  <a:gd name="T7" fmla="*/ 7 h 169"/>
                  <a:gd name="T8" fmla="*/ 64 w 162"/>
                  <a:gd name="T9" fmla="*/ 40 h 169"/>
                  <a:gd name="T10" fmla="*/ 55 w 162"/>
                  <a:gd name="T11" fmla="*/ 44 h 169"/>
                  <a:gd name="T12" fmla="*/ 53 w 162"/>
                  <a:gd name="T13" fmla="*/ 51 h 169"/>
                  <a:gd name="T14" fmla="*/ 53 w 162"/>
                  <a:gd name="T15" fmla="*/ 97 h 169"/>
                  <a:gd name="T16" fmla="*/ 60 w 162"/>
                  <a:gd name="T17" fmla="*/ 107 h 169"/>
                  <a:gd name="T18" fmla="*/ 64 w 162"/>
                  <a:gd name="T19" fmla="*/ 107 h 169"/>
                  <a:gd name="T20" fmla="*/ 99 w 162"/>
                  <a:gd name="T21" fmla="*/ 113 h 169"/>
                  <a:gd name="T22" fmla="*/ 138 w 162"/>
                  <a:gd name="T23" fmla="*/ 142 h 169"/>
                  <a:gd name="T24" fmla="*/ 138 w 162"/>
                  <a:gd name="T25" fmla="*/ 143 h 169"/>
                  <a:gd name="T26" fmla="*/ 144 w 162"/>
                  <a:gd name="T27" fmla="*/ 147 h 169"/>
                  <a:gd name="T28" fmla="*/ 149 w 162"/>
                  <a:gd name="T29" fmla="*/ 146 h 169"/>
                  <a:gd name="T30" fmla="*/ 152 w 162"/>
                  <a:gd name="T31" fmla="*/ 139 h 169"/>
                  <a:gd name="T32" fmla="*/ 152 w 162"/>
                  <a:gd name="T33" fmla="*/ 94 h 169"/>
                  <a:gd name="T34" fmla="*/ 162 w 162"/>
                  <a:gd name="T35" fmla="*/ 74 h 169"/>
                  <a:gd name="T36" fmla="*/ 152 w 162"/>
                  <a:gd name="T37" fmla="*/ 54 h 169"/>
                  <a:gd name="T38" fmla="*/ 142 w 162"/>
                  <a:gd name="T39" fmla="*/ 61 h 169"/>
                  <a:gd name="T40" fmla="*/ 142 w 162"/>
                  <a:gd name="T41" fmla="*/ 88 h 169"/>
                  <a:gd name="T42" fmla="*/ 141 w 162"/>
                  <a:gd name="T43" fmla="*/ 129 h 169"/>
                  <a:gd name="T44" fmla="*/ 102 w 162"/>
                  <a:gd name="T45" fmla="*/ 103 h 169"/>
                  <a:gd name="T46" fmla="*/ 64 w 162"/>
                  <a:gd name="T47" fmla="*/ 97 h 169"/>
                  <a:gd name="T48" fmla="*/ 64 w 162"/>
                  <a:gd name="T49" fmla="*/ 51 h 169"/>
                  <a:gd name="T50" fmla="*/ 142 w 162"/>
                  <a:gd name="T51" fmla="*/ 19 h 169"/>
                  <a:gd name="T52" fmla="*/ 142 w 162"/>
                  <a:gd name="T53" fmla="*/ 61 h 169"/>
                  <a:gd name="T54" fmla="*/ 40 w 162"/>
                  <a:gd name="T55" fmla="*/ 47 h 169"/>
                  <a:gd name="T56" fmla="*/ 18 w 162"/>
                  <a:gd name="T57" fmla="*/ 47 h 169"/>
                  <a:gd name="T58" fmla="*/ 0 w 162"/>
                  <a:gd name="T59" fmla="*/ 64 h 169"/>
                  <a:gd name="T60" fmla="*/ 0 w 162"/>
                  <a:gd name="T61" fmla="*/ 87 h 169"/>
                  <a:gd name="T62" fmla="*/ 17 w 162"/>
                  <a:gd name="T63" fmla="*/ 107 h 169"/>
                  <a:gd name="T64" fmla="*/ 23 w 162"/>
                  <a:gd name="T65" fmla="*/ 117 h 169"/>
                  <a:gd name="T66" fmla="*/ 23 w 162"/>
                  <a:gd name="T67" fmla="*/ 159 h 169"/>
                  <a:gd name="T68" fmla="*/ 28 w 162"/>
                  <a:gd name="T69" fmla="*/ 166 h 169"/>
                  <a:gd name="T70" fmla="*/ 38 w 162"/>
                  <a:gd name="T71" fmla="*/ 149 h 169"/>
                  <a:gd name="T72" fmla="*/ 39 w 162"/>
                  <a:gd name="T73" fmla="*/ 119 h 169"/>
                  <a:gd name="T74" fmla="*/ 45 w 162"/>
                  <a:gd name="T75" fmla="*/ 106 h 169"/>
                  <a:gd name="T76" fmla="*/ 45 w 162"/>
                  <a:gd name="T77" fmla="*/ 53 h 169"/>
                  <a:gd name="T78" fmla="*/ 40 w 162"/>
                  <a:gd name="T79" fmla="*/ 47 h 169"/>
                  <a:gd name="T80" fmla="*/ 132 w 162"/>
                  <a:gd name="T81" fmla="*/ 41 h 169"/>
                  <a:gd name="T82" fmla="*/ 126 w 162"/>
                  <a:gd name="T83" fmla="*/ 43 h 169"/>
                  <a:gd name="T84" fmla="*/ 92 w 162"/>
                  <a:gd name="T85" fmla="*/ 56 h 169"/>
                  <a:gd name="T86" fmla="*/ 88 w 162"/>
                  <a:gd name="T87" fmla="*/ 60 h 169"/>
                  <a:gd name="T88" fmla="*/ 91 w 162"/>
                  <a:gd name="T89" fmla="*/ 65 h 169"/>
                  <a:gd name="T90" fmla="*/ 92 w 162"/>
                  <a:gd name="T91" fmla="*/ 65 h 169"/>
                  <a:gd name="T92" fmla="*/ 134 w 162"/>
                  <a:gd name="T93" fmla="*/ 46 h 169"/>
                  <a:gd name="T94" fmla="*/ 132 w 162"/>
                  <a:gd name="T95" fmla="*/ 41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62" h="169">
                    <a:moveTo>
                      <a:pt x="152" y="54"/>
                    </a:moveTo>
                    <a:cubicBezTo>
                      <a:pt x="152" y="9"/>
                      <a:pt x="152" y="9"/>
                      <a:pt x="152" y="9"/>
                    </a:cubicBezTo>
                    <a:cubicBezTo>
                      <a:pt x="153" y="4"/>
                      <a:pt x="150" y="2"/>
                      <a:pt x="148" y="1"/>
                    </a:cubicBezTo>
                    <a:cubicBezTo>
                      <a:pt x="144" y="0"/>
                      <a:pt x="140" y="3"/>
                      <a:pt x="137" y="7"/>
                    </a:cubicBezTo>
                    <a:cubicBezTo>
                      <a:pt x="114" y="43"/>
                      <a:pt x="64" y="40"/>
                      <a:pt x="64" y="40"/>
                    </a:cubicBezTo>
                    <a:cubicBezTo>
                      <a:pt x="59" y="40"/>
                      <a:pt x="57" y="42"/>
                      <a:pt x="55" y="44"/>
                    </a:cubicBezTo>
                    <a:cubicBezTo>
                      <a:pt x="53" y="47"/>
                      <a:pt x="53" y="50"/>
                      <a:pt x="53" y="51"/>
                    </a:cubicBezTo>
                    <a:cubicBezTo>
                      <a:pt x="53" y="97"/>
                      <a:pt x="53" y="97"/>
                      <a:pt x="53" y="97"/>
                    </a:cubicBezTo>
                    <a:cubicBezTo>
                      <a:pt x="53" y="102"/>
                      <a:pt x="56" y="105"/>
                      <a:pt x="60" y="107"/>
                    </a:cubicBezTo>
                    <a:cubicBezTo>
                      <a:pt x="62" y="107"/>
                      <a:pt x="63" y="107"/>
                      <a:pt x="64" y="107"/>
                    </a:cubicBezTo>
                    <a:cubicBezTo>
                      <a:pt x="76" y="108"/>
                      <a:pt x="88" y="109"/>
                      <a:pt x="99" y="113"/>
                    </a:cubicBezTo>
                    <a:cubicBezTo>
                      <a:pt x="127" y="123"/>
                      <a:pt x="138" y="142"/>
                      <a:pt x="138" y="142"/>
                    </a:cubicBezTo>
                    <a:cubicBezTo>
                      <a:pt x="138" y="143"/>
                      <a:pt x="138" y="143"/>
                      <a:pt x="138" y="143"/>
                    </a:cubicBezTo>
                    <a:cubicBezTo>
                      <a:pt x="139" y="144"/>
                      <a:pt x="141" y="146"/>
                      <a:pt x="144" y="147"/>
                    </a:cubicBezTo>
                    <a:cubicBezTo>
                      <a:pt x="146" y="148"/>
                      <a:pt x="148" y="147"/>
                      <a:pt x="149" y="146"/>
                    </a:cubicBezTo>
                    <a:cubicBezTo>
                      <a:pt x="152" y="144"/>
                      <a:pt x="152" y="140"/>
                      <a:pt x="152" y="139"/>
                    </a:cubicBezTo>
                    <a:cubicBezTo>
                      <a:pt x="152" y="94"/>
                      <a:pt x="152" y="94"/>
                      <a:pt x="152" y="94"/>
                    </a:cubicBezTo>
                    <a:cubicBezTo>
                      <a:pt x="159" y="89"/>
                      <a:pt x="162" y="82"/>
                      <a:pt x="162" y="74"/>
                    </a:cubicBezTo>
                    <a:cubicBezTo>
                      <a:pt x="162" y="66"/>
                      <a:pt x="159" y="59"/>
                      <a:pt x="152" y="54"/>
                    </a:cubicBezTo>
                    <a:close/>
                    <a:moveTo>
                      <a:pt x="142" y="61"/>
                    </a:moveTo>
                    <a:cubicBezTo>
                      <a:pt x="142" y="88"/>
                      <a:pt x="142" y="88"/>
                      <a:pt x="142" y="88"/>
                    </a:cubicBezTo>
                    <a:cubicBezTo>
                      <a:pt x="141" y="129"/>
                      <a:pt x="141" y="129"/>
                      <a:pt x="141" y="129"/>
                    </a:cubicBezTo>
                    <a:cubicBezTo>
                      <a:pt x="135" y="121"/>
                      <a:pt x="123" y="110"/>
                      <a:pt x="102" y="103"/>
                    </a:cubicBezTo>
                    <a:cubicBezTo>
                      <a:pt x="91" y="99"/>
                      <a:pt x="78" y="97"/>
                      <a:pt x="64" y="97"/>
                    </a:cubicBezTo>
                    <a:cubicBezTo>
                      <a:pt x="64" y="51"/>
                      <a:pt x="64" y="51"/>
                      <a:pt x="64" y="51"/>
                    </a:cubicBezTo>
                    <a:cubicBezTo>
                      <a:pt x="69" y="51"/>
                      <a:pt x="115" y="52"/>
                      <a:pt x="142" y="19"/>
                    </a:cubicBezTo>
                    <a:lnTo>
                      <a:pt x="142" y="61"/>
                    </a:lnTo>
                    <a:close/>
                    <a:moveTo>
                      <a:pt x="40" y="47"/>
                    </a:moveTo>
                    <a:cubicBezTo>
                      <a:pt x="18" y="47"/>
                      <a:pt x="18" y="47"/>
                      <a:pt x="18" y="47"/>
                    </a:cubicBezTo>
                    <a:cubicBezTo>
                      <a:pt x="18" y="47"/>
                      <a:pt x="0" y="47"/>
                      <a:pt x="0" y="64"/>
                    </a:cubicBezTo>
                    <a:cubicBezTo>
                      <a:pt x="0" y="87"/>
                      <a:pt x="0" y="87"/>
                      <a:pt x="0" y="87"/>
                    </a:cubicBezTo>
                    <a:cubicBezTo>
                      <a:pt x="0" y="87"/>
                      <a:pt x="0" y="107"/>
                      <a:pt x="17" y="107"/>
                    </a:cubicBezTo>
                    <a:cubicBezTo>
                      <a:pt x="17" y="107"/>
                      <a:pt x="23" y="107"/>
                      <a:pt x="23" y="117"/>
                    </a:cubicBezTo>
                    <a:cubicBezTo>
                      <a:pt x="23" y="159"/>
                      <a:pt x="23" y="159"/>
                      <a:pt x="23" y="159"/>
                    </a:cubicBezTo>
                    <a:cubicBezTo>
                      <a:pt x="23" y="159"/>
                      <a:pt x="21" y="166"/>
                      <a:pt x="28" y="166"/>
                    </a:cubicBezTo>
                    <a:cubicBezTo>
                      <a:pt x="28" y="166"/>
                      <a:pt x="48" y="169"/>
                      <a:pt x="38" y="149"/>
                    </a:cubicBezTo>
                    <a:cubicBezTo>
                      <a:pt x="45" y="141"/>
                      <a:pt x="35" y="131"/>
                      <a:pt x="39" y="119"/>
                    </a:cubicBezTo>
                    <a:cubicBezTo>
                      <a:pt x="39" y="119"/>
                      <a:pt x="45" y="111"/>
                      <a:pt x="45" y="106"/>
                    </a:cubicBezTo>
                    <a:cubicBezTo>
                      <a:pt x="45" y="53"/>
                      <a:pt x="45" y="53"/>
                      <a:pt x="45" y="53"/>
                    </a:cubicBezTo>
                    <a:cubicBezTo>
                      <a:pt x="45" y="53"/>
                      <a:pt x="47" y="47"/>
                      <a:pt x="40" y="47"/>
                    </a:cubicBezTo>
                    <a:close/>
                    <a:moveTo>
                      <a:pt x="132" y="41"/>
                    </a:moveTo>
                    <a:cubicBezTo>
                      <a:pt x="130" y="40"/>
                      <a:pt x="127" y="40"/>
                      <a:pt x="126" y="43"/>
                    </a:cubicBezTo>
                    <a:cubicBezTo>
                      <a:pt x="119" y="58"/>
                      <a:pt x="93" y="56"/>
                      <a:pt x="92" y="56"/>
                    </a:cubicBezTo>
                    <a:cubicBezTo>
                      <a:pt x="90" y="56"/>
                      <a:pt x="88" y="58"/>
                      <a:pt x="88" y="60"/>
                    </a:cubicBezTo>
                    <a:cubicBezTo>
                      <a:pt x="88" y="62"/>
                      <a:pt x="89" y="64"/>
                      <a:pt x="91" y="65"/>
                    </a:cubicBezTo>
                    <a:cubicBezTo>
                      <a:pt x="91" y="65"/>
                      <a:pt x="91" y="65"/>
                      <a:pt x="92" y="65"/>
                    </a:cubicBezTo>
                    <a:cubicBezTo>
                      <a:pt x="93" y="65"/>
                      <a:pt x="124" y="67"/>
                      <a:pt x="134" y="46"/>
                    </a:cubicBezTo>
                    <a:cubicBezTo>
                      <a:pt x="135" y="44"/>
                      <a:pt x="134" y="42"/>
                      <a:pt x="132" y="41"/>
                    </a:cubicBezTo>
                    <a:close/>
                  </a:path>
                </a:pathLst>
              </a:custGeom>
              <a:solidFill>
                <a:srgbClr val="FFFFFF"/>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Montserrat"/>
                  <a:ea typeface="思源黑体 CN Normal"/>
                </a:endParaRPr>
              </a:p>
            </p:txBody>
          </p:sp>
          <p:sp>
            <p:nvSpPr>
              <p:cNvPr id="49" name="小李PPT20-3"/>
              <p:cNvSpPr txBox="1"/>
              <p:nvPr/>
            </p:nvSpPr>
            <p:spPr>
              <a:xfrm>
                <a:off x="6317951" y="1822082"/>
                <a:ext cx="1599353" cy="694014"/>
              </a:xfrm>
              <a:prstGeom prst="rect">
                <a:avLst/>
              </a:prstGeom>
              <a:noFill/>
            </p:spPr>
            <p:txBody>
              <a:bodyPr wrap="square" rtlCol="0">
                <a:spAutoFit/>
              </a:bodyPr>
              <a:lstStyle/>
              <a:p>
                <a:pPr marL="0" marR="0" lvl="0" indent="0" defTabSz="914400" eaLnBrk="1" fontAlgn="auto" latinLnBrk="0" hangingPunct="1">
                  <a:lnSpc>
                    <a:spcPts val="19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思源黑体 CN Bold"/>
                    <a:ea typeface="思源黑体 CN Bold"/>
                  </a:rPr>
                  <a:t>项目概述与</a:t>
                </a:r>
                <a:endParaRPr kumimoji="0" lang="zh-CN" altLang="en-US" sz="1800" b="0" i="0" u="none" strike="noStrike" kern="0" cap="none" spc="0" normalizeH="0" baseline="0" noProof="0" dirty="0">
                  <a:ln>
                    <a:noFill/>
                  </a:ln>
                  <a:solidFill>
                    <a:srgbClr val="FFFFFF"/>
                  </a:solidFill>
                  <a:effectLst/>
                  <a:uLnTx/>
                  <a:uFillTx/>
                  <a:latin typeface="思源黑体 CN Bold"/>
                  <a:ea typeface="思源黑体 CN Bold"/>
                </a:endParaRPr>
              </a:p>
              <a:p>
                <a:pPr marL="0" marR="0" lvl="0" indent="0" defTabSz="914400" eaLnBrk="1" fontAlgn="auto" latinLnBrk="0" hangingPunct="1">
                  <a:lnSpc>
                    <a:spcPts val="19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FFFFFF"/>
                    </a:solidFill>
                    <a:effectLst/>
                    <a:uLnTx/>
                    <a:uFillTx/>
                    <a:latin typeface="思源黑体 CN Bold"/>
                    <a:ea typeface="思源黑体 CN Bold"/>
                  </a:rPr>
                  <a:t>必要性</a:t>
                </a:r>
                <a:r>
                  <a:rPr kumimoji="0" lang="zh-CN" altLang="en-US" sz="1800" b="0" i="0" u="none" strike="noStrike" kern="0" cap="none" spc="0" normalizeH="0" baseline="0" noProof="0" dirty="0">
                    <a:ln>
                      <a:noFill/>
                    </a:ln>
                    <a:solidFill>
                      <a:srgbClr val="FFFFFF"/>
                    </a:solidFill>
                    <a:effectLst/>
                    <a:uLnTx/>
                    <a:uFillTx/>
                    <a:latin typeface="思源黑体 CN Bold"/>
                    <a:ea typeface="思源黑体 CN Bold"/>
                  </a:rPr>
                  <a:t>分析</a:t>
                </a:r>
                <a:endParaRPr kumimoji="0" lang="zh-CN" altLang="en-US" sz="1800" b="0" i="0" u="none" strike="noStrike" kern="0" cap="none" spc="0" normalizeH="0" baseline="0" noProof="0" dirty="0">
                  <a:ln>
                    <a:noFill/>
                  </a:ln>
                  <a:solidFill>
                    <a:srgbClr val="FFFFFF"/>
                  </a:solidFill>
                  <a:effectLst/>
                  <a:uLnTx/>
                  <a:uFillTx/>
                  <a:latin typeface="思源黑体 CN Bold"/>
                  <a:ea typeface="思源黑体 CN Bold"/>
                </a:endParaRPr>
              </a:p>
            </p:txBody>
          </p:sp>
        </p:grpSp>
        <p:sp>
          <p:nvSpPr>
            <p:cNvPr id="77" name="小李PPT22-2"/>
            <p:cNvSpPr txBox="1"/>
            <p:nvPr/>
          </p:nvSpPr>
          <p:spPr>
            <a:xfrm>
              <a:off x="5856" y="7249"/>
              <a:ext cx="2519" cy="527"/>
            </a:xfrm>
            <a:prstGeom prst="rect">
              <a:avLst/>
            </a:prstGeom>
            <a:noFill/>
          </p:spPr>
          <p:txBody>
            <a:bodyPr wrap="square" rtlCol="0">
              <a:spAutoFit/>
            </a:bodyPr>
            <a:lstStyle/>
            <a:p>
              <a:pPr>
                <a:lnSpc>
                  <a:spcPts val="1900"/>
                </a:lnSpc>
              </a:pPr>
              <a:r>
                <a:rPr lang="zh-CN" altLang="en-US" dirty="0">
                  <a:solidFill>
                    <a:srgbClr val="000000"/>
                  </a:solidFill>
                  <a:latin typeface="思源黑体 CN Bold"/>
                  <a:ea typeface="思源黑体 CN Bold"/>
                </a:rPr>
                <a:t>财务评价</a:t>
              </a:r>
              <a:endParaRPr lang="zh-CN" altLang="en-US" dirty="0">
                <a:solidFill>
                  <a:srgbClr val="000000"/>
                </a:solidFill>
                <a:latin typeface="思源黑体 CN Bold"/>
                <a:ea typeface="思源黑体 CN Bold"/>
              </a:endParaRPr>
            </a:p>
          </p:txBody>
        </p:sp>
        <p:sp>
          <p:nvSpPr>
            <p:cNvPr id="86" name="小李PPT24"/>
            <p:cNvSpPr>
              <a:spLocks noEditPoints="1"/>
            </p:cNvSpPr>
            <p:nvPr/>
          </p:nvSpPr>
          <p:spPr bwMode="auto">
            <a:xfrm>
              <a:off x="6008" y="6256"/>
              <a:ext cx="766" cy="847"/>
            </a:xfrm>
            <a:custGeom>
              <a:avLst/>
              <a:gdLst>
                <a:gd name="T0" fmla="*/ 164 w 164"/>
                <a:gd name="T1" fmla="*/ 17 h 181"/>
                <a:gd name="T2" fmla="*/ 111 w 164"/>
                <a:gd name="T3" fmla="*/ 0 h 181"/>
                <a:gd name="T4" fmla="*/ 57 w 164"/>
                <a:gd name="T5" fmla="*/ 17 h 181"/>
                <a:gd name="T6" fmla="*/ 57 w 164"/>
                <a:gd name="T7" fmla="*/ 60 h 181"/>
                <a:gd name="T8" fmla="*/ 57 w 164"/>
                <a:gd name="T9" fmla="*/ 77 h 181"/>
                <a:gd name="T10" fmla="*/ 101 w 164"/>
                <a:gd name="T11" fmla="*/ 146 h 181"/>
                <a:gd name="T12" fmla="*/ 164 w 164"/>
                <a:gd name="T13" fmla="*/ 129 h 181"/>
                <a:gd name="T14" fmla="*/ 164 w 164"/>
                <a:gd name="T15" fmla="*/ 88 h 181"/>
                <a:gd name="T16" fmla="*/ 164 w 164"/>
                <a:gd name="T17" fmla="*/ 65 h 181"/>
                <a:gd name="T18" fmla="*/ 164 w 164"/>
                <a:gd name="T19" fmla="*/ 60 h 181"/>
                <a:gd name="T20" fmla="*/ 111 w 164"/>
                <a:gd name="T21" fmla="*/ 24 h 181"/>
                <a:gd name="T22" fmla="*/ 7 w 164"/>
                <a:gd name="T23" fmla="*/ 129 h 181"/>
                <a:gd name="T24" fmla="*/ 158 w 164"/>
                <a:gd name="T25" fmla="*/ 129 h 181"/>
                <a:gd name="T26" fmla="*/ 103 w 164"/>
                <a:gd name="T27" fmla="*/ 140 h 181"/>
                <a:gd name="T28" fmla="*/ 158 w 164"/>
                <a:gd name="T29" fmla="*/ 119 h 181"/>
                <a:gd name="T30" fmla="*/ 158 w 164"/>
                <a:gd name="T31" fmla="*/ 109 h 181"/>
                <a:gd name="T32" fmla="*/ 111 w 164"/>
                <a:gd name="T33" fmla="*/ 105 h 181"/>
                <a:gd name="T34" fmla="*/ 158 w 164"/>
                <a:gd name="T35" fmla="*/ 87 h 181"/>
                <a:gd name="T36" fmla="*/ 63 w 164"/>
                <a:gd name="T37" fmla="*/ 78 h 181"/>
                <a:gd name="T38" fmla="*/ 158 w 164"/>
                <a:gd name="T39" fmla="*/ 87 h 181"/>
                <a:gd name="T40" fmla="*/ 111 w 164"/>
                <a:gd name="T41" fmla="*/ 71 h 181"/>
                <a:gd name="T42" fmla="*/ 63 w 164"/>
                <a:gd name="T43" fmla="*/ 47 h 181"/>
                <a:gd name="T44" fmla="*/ 158 w 164"/>
                <a:gd name="T45" fmla="*/ 38 h 181"/>
                <a:gd name="T46" fmla="*/ 63 w 164"/>
                <a:gd name="T47" fmla="*/ 38 h 181"/>
                <a:gd name="T48" fmla="*/ 111 w 164"/>
                <a:gd name="T49" fmla="*/ 31 h 181"/>
                <a:gd name="T50" fmla="*/ 17 w 164"/>
                <a:gd name="T51" fmla="*/ 129 h 181"/>
                <a:gd name="T52" fmla="*/ 52 w 164"/>
                <a:gd name="T53" fmla="*/ 160 h 181"/>
                <a:gd name="T54" fmla="*/ 52 w 164"/>
                <a:gd name="T55" fmla="*/ 160 h 181"/>
                <a:gd name="T56" fmla="*/ 52 w 164"/>
                <a:gd name="T57" fmla="*/ 122 h 181"/>
                <a:gd name="T58" fmla="*/ 53 w 164"/>
                <a:gd name="T59" fmla="*/ 120 h 181"/>
                <a:gd name="T60" fmla="*/ 61 w 164"/>
                <a:gd name="T61" fmla="*/ 122 h 181"/>
                <a:gd name="T62" fmla="*/ 63 w 164"/>
                <a:gd name="T63" fmla="*/ 112 h 181"/>
                <a:gd name="T64" fmla="*/ 50 w 164"/>
                <a:gd name="T65" fmla="*/ 105 h 181"/>
                <a:gd name="T66" fmla="*/ 40 w 164"/>
                <a:gd name="T67" fmla="*/ 122 h 181"/>
                <a:gd name="T68" fmla="*/ 54 w 164"/>
                <a:gd name="T69" fmla="*/ 136 h 181"/>
                <a:gd name="T70" fmla="*/ 52 w 164"/>
                <a:gd name="T71" fmla="*/ 138 h 181"/>
                <a:gd name="T72" fmla="*/ 41 w 164"/>
                <a:gd name="T73" fmla="*/ 137 h 181"/>
                <a:gd name="T74" fmla="*/ 45 w 164"/>
                <a:gd name="T75" fmla="*/ 148 h 181"/>
                <a:gd name="T76" fmla="*/ 55 w 164"/>
                <a:gd name="T77" fmla="*/ 154 h 181"/>
                <a:gd name="T78" fmla="*/ 66 w 164"/>
                <a:gd name="T79" fmla="*/ 136 h 181"/>
                <a:gd name="T80" fmla="*/ 59 w 164"/>
                <a:gd name="T81" fmla="*/ 141 h 181"/>
                <a:gd name="T82" fmla="*/ 52 w 164"/>
                <a:gd name="T83" fmla="*/ 149 h 181"/>
                <a:gd name="T84" fmla="*/ 44 w 164"/>
                <a:gd name="T85" fmla="*/ 143 h 181"/>
                <a:gd name="T86" fmla="*/ 59 w 164"/>
                <a:gd name="T87" fmla="*/ 137 h 181"/>
                <a:gd name="T88" fmla="*/ 47 w 164"/>
                <a:gd name="T89" fmla="*/ 127 h 181"/>
                <a:gd name="T90" fmla="*/ 50 w 164"/>
                <a:gd name="T91" fmla="*/ 115 h 181"/>
                <a:gd name="T92" fmla="*/ 53 w 164"/>
                <a:gd name="T93" fmla="*/ 112 h 181"/>
                <a:gd name="T94" fmla="*/ 58 w 164"/>
                <a:gd name="T95" fmla="*/ 116 h 181"/>
                <a:gd name="T96" fmla="*/ 47 w 164"/>
                <a:gd name="T97" fmla="*/ 123 h 181"/>
                <a:gd name="T98" fmla="*/ 58 w 164"/>
                <a:gd name="T99" fmla="*/ 13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64" h="181">
                  <a:moveTo>
                    <a:pt x="164" y="39"/>
                  </a:moveTo>
                  <a:cubicBezTo>
                    <a:pt x="164" y="38"/>
                    <a:pt x="164" y="38"/>
                    <a:pt x="164" y="37"/>
                  </a:cubicBezTo>
                  <a:cubicBezTo>
                    <a:pt x="164" y="37"/>
                    <a:pt x="164" y="37"/>
                    <a:pt x="164" y="36"/>
                  </a:cubicBezTo>
                  <a:cubicBezTo>
                    <a:pt x="164" y="17"/>
                    <a:pt x="164" y="17"/>
                    <a:pt x="164" y="17"/>
                  </a:cubicBezTo>
                  <a:cubicBezTo>
                    <a:pt x="164" y="16"/>
                    <a:pt x="164" y="16"/>
                    <a:pt x="164" y="15"/>
                  </a:cubicBezTo>
                  <a:cubicBezTo>
                    <a:pt x="164" y="15"/>
                    <a:pt x="164" y="14"/>
                    <a:pt x="164" y="13"/>
                  </a:cubicBezTo>
                  <a:cubicBezTo>
                    <a:pt x="163" y="11"/>
                    <a:pt x="162" y="10"/>
                    <a:pt x="161" y="9"/>
                  </a:cubicBezTo>
                  <a:cubicBezTo>
                    <a:pt x="150" y="0"/>
                    <a:pt x="115" y="0"/>
                    <a:pt x="111" y="0"/>
                  </a:cubicBezTo>
                  <a:cubicBezTo>
                    <a:pt x="106" y="0"/>
                    <a:pt x="71" y="0"/>
                    <a:pt x="60" y="9"/>
                  </a:cubicBezTo>
                  <a:cubicBezTo>
                    <a:pt x="59" y="10"/>
                    <a:pt x="58" y="11"/>
                    <a:pt x="58" y="13"/>
                  </a:cubicBezTo>
                  <a:cubicBezTo>
                    <a:pt x="57" y="14"/>
                    <a:pt x="57" y="15"/>
                    <a:pt x="57" y="15"/>
                  </a:cubicBezTo>
                  <a:cubicBezTo>
                    <a:pt x="57" y="16"/>
                    <a:pt x="57" y="16"/>
                    <a:pt x="57" y="17"/>
                  </a:cubicBezTo>
                  <a:cubicBezTo>
                    <a:pt x="57" y="36"/>
                    <a:pt x="57" y="36"/>
                    <a:pt x="57" y="36"/>
                  </a:cubicBezTo>
                  <a:cubicBezTo>
                    <a:pt x="57" y="37"/>
                    <a:pt x="57" y="37"/>
                    <a:pt x="57" y="37"/>
                  </a:cubicBezTo>
                  <a:cubicBezTo>
                    <a:pt x="57" y="38"/>
                    <a:pt x="57" y="38"/>
                    <a:pt x="57" y="39"/>
                  </a:cubicBezTo>
                  <a:cubicBezTo>
                    <a:pt x="57" y="60"/>
                    <a:pt x="57" y="60"/>
                    <a:pt x="57" y="60"/>
                  </a:cubicBezTo>
                  <a:cubicBezTo>
                    <a:pt x="57" y="61"/>
                    <a:pt x="57" y="62"/>
                    <a:pt x="58" y="62"/>
                  </a:cubicBezTo>
                  <a:cubicBezTo>
                    <a:pt x="57" y="63"/>
                    <a:pt x="57" y="64"/>
                    <a:pt x="57" y="65"/>
                  </a:cubicBezTo>
                  <a:cubicBezTo>
                    <a:pt x="57" y="65"/>
                    <a:pt x="57" y="66"/>
                    <a:pt x="57" y="66"/>
                  </a:cubicBezTo>
                  <a:cubicBezTo>
                    <a:pt x="57" y="77"/>
                    <a:pt x="57" y="77"/>
                    <a:pt x="57" y="77"/>
                  </a:cubicBezTo>
                  <a:cubicBezTo>
                    <a:pt x="56" y="77"/>
                    <a:pt x="54" y="77"/>
                    <a:pt x="52" y="77"/>
                  </a:cubicBezTo>
                  <a:cubicBezTo>
                    <a:pt x="23" y="77"/>
                    <a:pt x="0" y="101"/>
                    <a:pt x="0" y="129"/>
                  </a:cubicBezTo>
                  <a:cubicBezTo>
                    <a:pt x="0" y="158"/>
                    <a:pt x="23" y="181"/>
                    <a:pt x="52" y="181"/>
                  </a:cubicBezTo>
                  <a:cubicBezTo>
                    <a:pt x="75" y="181"/>
                    <a:pt x="94" y="167"/>
                    <a:pt x="101" y="146"/>
                  </a:cubicBezTo>
                  <a:cubicBezTo>
                    <a:pt x="105" y="147"/>
                    <a:pt x="108" y="147"/>
                    <a:pt x="111" y="147"/>
                  </a:cubicBezTo>
                  <a:cubicBezTo>
                    <a:pt x="127" y="147"/>
                    <a:pt x="164" y="145"/>
                    <a:pt x="164" y="129"/>
                  </a:cubicBezTo>
                  <a:cubicBezTo>
                    <a:pt x="164" y="129"/>
                    <a:pt x="164" y="129"/>
                    <a:pt x="164" y="129"/>
                  </a:cubicBezTo>
                  <a:cubicBezTo>
                    <a:pt x="164" y="129"/>
                    <a:pt x="164" y="129"/>
                    <a:pt x="164" y="129"/>
                  </a:cubicBezTo>
                  <a:cubicBezTo>
                    <a:pt x="164" y="108"/>
                    <a:pt x="164" y="108"/>
                    <a:pt x="164" y="108"/>
                  </a:cubicBezTo>
                  <a:cubicBezTo>
                    <a:pt x="164" y="108"/>
                    <a:pt x="164" y="107"/>
                    <a:pt x="164" y="107"/>
                  </a:cubicBezTo>
                  <a:cubicBezTo>
                    <a:pt x="164" y="106"/>
                    <a:pt x="164" y="106"/>
                    <a:pt x="164" y="105"/>
                  </a:cubicBezTo>
                  <a:cubicBezTo>
                    <a:pt x="164" y="88"/>
                    <a:pt x="164" y="88"/>
                    <a:pt x="164" y="88"/>
                  </a:cubicBezTo>
                  <a:cubicBezTo>
                    <a:pt x="164" y="88"/>
                    <a:pt x="164" y="87"/>
                    <a:pt x="164" y="87"/>
                  </a:cubicBezTo>
                  <a:cubicBezTo>
                    <a:pt x="164" y="86"/>
                    <a:pt x="164" y="86"/>
                    <a:pt x="164" y="85"/>
                  </a:cubicBezTo>
                  <a:cubicBezTo>
                    <a:pt x="164" y="66"/>
                    <a:pt x="164" y="66"/>
                    <a:pt x="164" y="66"/>
                  </a:cubicBezTo>
                  <a:cubicBezTo>
                    <a:pt x="164" y="66"/>
                    <a:pt x="164" y="65"/>
                    <a:pt x="164" y="65"/>
                  </a:cubicBezTo>
                  <a:cubicBezTo>
                    <a:pt x="164" y="64"/>
                    <a:pt x="164" y="63"/>
                    <a:pt x="164" y="62"/>
                  </a:cubicBezTo>
                  <a:cubicBezTo>
                    <a:pt x="164" y="62"/>
                    <a:pt x="164" y="61"/>
                    <a:pt x="164" y="60"/>
                  </a:cubicBezTo>
                  <a:cubicBezTo>
                    <a:pt x="164" y="60"/>
                    <a:pt x="164" y="60"/>
                    <a:pt x="164" y="60"/>
                  </a:cubicBezTo>
                  <a:cubicBezTo>
                    <a:pt x="164" y="60"/>
                    <a:pt x="164" y="60"/>
                    <a:pt x="164" y="60"/>
                  </a:cubicBezTo>
                  <a:lnTo>
                    <a:pt x="164" y="39"/>
                  </a:lnTo>
                  <a:close/>
                  <a:moveTo>
                    <a:pt x="111" y="7"/>
                  </a:moveTo>
                  <a:cubicBezTo>
                    <a:pt x="137" y="7"/>
                    <a:pt x="154" y="12"/>
                    <a:pt x="157" y="15"/>
                  </a:cubicBezTo>
                  <a:cubicBezTo>
                    <a:pt x="154" y="19"/>
                    <a:pt x="137" y="24"/>
                    <a:pt x="111" y="24"/>
                  </a:cubicBezTo>
                  <a:cubicBezTo>
                    <a:pt x="84" y="24"/>
                    <a:pt x="67" y="19"/>
                    <a:pt x="64" y="15"/>
                  </a:cubicBezTo>
                  <a:cubicBezTo>
                    <a:pt x="67" y="12"/>
                    <a:pt x="84" y="7"/>
                    <a:pt x="111" y="7"/>
                  </a:cubicBezTo>
                  <a:close/>
                  <a:moveTo>
                    <a:pt x="52" y="175"/>
                  </a:moveTo>
                  <a:cubicBezTo>
                    <a:pt x="27" y="175"/>
                    <a:pt x="7" y="154"/>
                    <a:pt x="7" y="129"/>
                  </a:cubicBezTo>
                  <a:cubicBezTo>
                    <a:pt x="7" y="104"/>
                    <a:pt x="27" y="84"/>
                    <a:pt x="52" y="84"/>
                  </a:cubicBezTo>
                  <a:cubicBezTo>
                    <a:pt x="77" y="84"/>
                    <a:pt x="97" y="104"/>
                    <a:pt x="97" y="129"/>
                  </a:cubicBezTo>
                  <a:cubicBezTo>
                    <a:pt x="97" y="154"/>
                    <a:pt x="77" y="175"/>
                    <a:pt x="52" y="175"/>
                  </a:cubicBezTo>
                  <a:close/>
                  <a:moveTo>
                    <a:pt x="158" y="129"/>
                  </a:moveTo>
                  <a:cubicBezTo>
                    <a:pt x="158" y="129"/>
                    <a:pt x="158" y="129"/>
                    <a:pt x="158" y="129"/>
                  </a:cubicBezTo>
                  <a:cubicBezTo>
                    <a:pt x="158" y="129"/>
                    <a:pt x="158" y="129"/>
                    <a:pt x="158" y="129"/>
                  </a:cubicBezTo>
                  <a:cubicBezTo>
                    <a:pt x="157" y="135"/>
                    <a:pt x="136" y="140"/>
                    <a:pt x="111" y="140"/>
                  </a:cubicBezTo>
                  <a:cubicBezTo>
                    <a:pt x="108" y="140"/>
                    <a:pt x="106" y="140"/>
                    <a:pt x="103" y="140"/>
                  </a:cubicBezTo>
                  <a:cubicBezTo>
                    <a:pt x="104" y="136"/>
                    <a:pt x="104" y="133"/>
                    <a:pt x="104" y="129"/>
                  </a:cubicBezTo>
                  <a:cubicBezTo>
                    <a:pt x="104" y="128"/>
                    <a:pt x="104" y="127"/>
                    <a:pt x="104" y="127"/>
                  </a:cubicBezTo>
                  <a:cubicBezTo>
                    <a:pt x="106" y="127"/>
                    <a:pt x="109" y="127"/>
                    <a:pt x="111" y="127"/>
                  </a:cubicBezTo>
                  <a:cubicBezTo>
                    <a:pt x="123" y="127"/>
                    <a:pt x="147" y="126"/>
                    <a:pt x="158" y="119"/>
                  </a:cubicBezTo>
                  <a:lnTo>
                    <a:pt x="158" y="129"/>
                  </a:lnTo>
                  <a:close/>
                  <a:moveTo>
                    <a:pt x="158" y="109"/>
                  </a:moveTo>
                  <a:cubicBezTo>
                    <a:pt x="158" y="109"/>
                    <a:pt x="158" y="109"/>
                    <a:pt x="158" y="109"/>
                  </a:cubicBezTo>
                  <a:cubicBezTo>
                    <a:pt x="158" y="109"/>
                    <a:pt x="158" y="109"/>
                    <a:pt x="158" y="109"/>
                  </a:cubicBezTo>
                  <a:cubicBezTo>
                    <a:pt x="157" y="115"/>
                    <a:pt x="136" y="120"/>
                    <a:pt x="111" y="120"/>
                  </a:cubicBezTo>
                  <a:cubicBezTo>
                    <a:pt x="108" y="120"/>
                    <a:pt x="106" y="120"/>
                    <a:pt x="103" y="120"/>
                  </a:cubicBezTo>
                  <a:cubicBezTo>
                    <a:pt x="102" y="114"/>
                    <a:pt x="100" y="109"/>
                    <a:pt x="98" y="104"/>
                  </a:cubicBezTo>
                  <a:cubicBezTo>
                    <a:pt x="103" y="105"/>
                    <a:pt x="107" y="105"/>
                    <a:pt x="111" y="105"/>
                  </a:cubicBezTo>
                  <a:cubicBezTo>
                    <a:pt x="123" y="105"/>
                    <a:pt x="147" y="104"/>
                    <a:pt x="158" y="97"/>
                  </a:cubicBezTo>
                  <a:lnTo>
                    <a:pt x="158" y="109"/>
                  </a:lnTo>
                  <a:close/>
                  <a:moveTo>
                    <a:pt x="158" y="87"/>
                  </a:moveTo>
                  <a:cubicBezTo>
                    <a:pt x="158" y="87"/>
                    <a:pt x="158" y="87"/>
                    <a:pt x="158" y="87"/>
                  </a:cubicBezTo>
                  <a:cubicBezTo>
                    <a:pt x="158" y="87"/>
                    <a:pt x="158" y="87"/>
                    <a:pt x="158" y="87"/>
                  </a:cubicBezTo>
                  <a:cubicBezTo>
                    <a:pt x="157" y="93"/>
                    <a:pt x="136" y="98"/>
                    <a:pt x="111" y="98"/>
                  </a:cubicBezTo>
                  <a:cubicBezTo>
                    <a:pt x="104" y="98"/>
                    <a:pt x="98" y="98"/>
                    <a:pt x="93" y="97"/>
                  </a:cubicBezTo>
                  <a:cubicBezTo>
                    <a:pt x="86" y="88"/>
                    <a:pt x="75" y="81"/>
                    <a:pt x="63" y="78"/>
                  </a:cubicBezTo>
                  <a:cubicBezTo>
                    <a:pt x="63" y="73"/>
                    <a:pt x="63" y="73"/>
                    <a:pt x="63" y="73"/>
                  </a:cubicBezTo>
                  <a:cubicBezTo>
                    <a:pt x="77" y="80"/>
                    <a:pt x="106" y="80"/>
                    <a:pt x="111" y="80"/>
                  </a:cubicBezTo>
                  <a:cubicBezTo>
                    <a:pt x="115" y="80"/>
                    <a:pt x="145" y="80"/>
                    <a:pt x="158" y="73"/>
                  </a:cubicBezTo>
                  <a:lnTo>
                    <a:pt x="158" y="87"/>
                  </a:lnTo>
                  <a:close/>
                  <a:moveTo>
                    <a:pt x="158" y="60"/>
                  </a:moveTo>
                  <a:cubicBezTo>
                    <a:pt x="158" y="60"/>
                    <a:pt x="158" y="60"/>
                    <a:pt x="158" y="60"/>
                  </a:cubicBezTo>
                  <a:cubicBezTo>
                    <a:pt x="158" y="60"/>
                    <a:pt x="158" y="60"/>
                    <a:pt x="158" y="60"/>
                  </a:cubicBezTo>
                  <a:cubicBezTo>
                    <a:pt x="157" y="66"/>
                    <a:pt x="136" y="71"/>
                    <a:pt x="111" y="71"/>
                  </a:cubicBezTo>
                  <a:cubicBezTo>
                    <a:pt x="85" y="71"/>
                    <a:pt x="64" y="66"/>
                    <a:pt x="63" y="60"/>
                  </a:cubicBezTo>
                  <a:cubicBezTo>
                    <a:pt x="63" y="60"/>
                    <a:pt x="63" y="60"/>
                    <a:pt x="63" y="60"/>
                  </a:cubicBezTo>
                  <a:cubicBezTo>
                    <a:pt x="63" y="60"/>
                    <a:pt x="63" y="60"/>
                    <a:pt x="63" y="60"/>
                  </a:cubicBezTo>
                  <a:cubicBezTo>
                    <a:pt x="63" y="47"/>
                    <a:pt x="63" y="47"/>
                    <a:pt x="63" y="47"/>
                  </a:cubicBezTo>
                  <a:cubicBezTo>
                    <a:pt x="75" y="55"/>
                    <a:pt x="99" y="56"/>
                    <a:pt x="111" y="56"/>
                  </a:cubicBezTo>
                  <a:cubicBezTo>
                    <a:pt x="123" y="56"/>
                    <a:pt x="147" y="55"/>
                    <a:pt x="158" y="47"/>
                  </a:cubicBezTo>
                  <a:lnTo>
                    <a:pt x="158" y="60"/>
                  </a:lnTo>
                  <a:close/>
                  <a:moveTo>
                    <a:pt x="158" y="38"/>
                  </a:moveTo>
                  <a:cubicBezTo>
                    <a:pt x="158" y="38"/>
                    <a:pt x="158" y="38"/>
                    <a:pt x="158" y="38"/>
                  </a:cubicBezTo>
                  <a:cubicBezTo>
                    <a:pt x="158" y="38"/>
                    <a:pt x="158" y="38"/>
                    <a:pt x="158" y="38"/>
                  </a:cubicBezTo>
                  <a:cubicBezTo>
                    <a:pt x="157" y="44"/>
                    <a:pt x="136" y="49"/>
                    <a:pt x="111" y="49"/>
                  </a:cubicBezTo>
                  <a:cubicBezTo>
                    <a:pt x="85" y="49"/>
                    <a:pt x="64" y="44"/>
                    <a:pt x="63" y="38"/>
                  </a:cubicBezTo>
                  <a:cubicBezTo>
                    <a:pt x="63" y="38"/>
                    <a:pt x="63" y="38"/>
                    <a:pt x="63" y="38"/>
                  </a:cubicBezTo>
                  <a:cubicBezTo>
                    <a:pt x="63" y="38"/>
                    <a:pt x="63" y="38"/>
                    <a:pt x="63" y="38"/>
                  </a:cubicBezTo>
                  <a:cubicBezTo>
                    <a:pt x="63" y="24"/>
                    <a:pt x="63" y="24"/>
                    <a:pt x="63" y="24"/>
                  </a:cubicBezTo>
                  <a:cubicBezTo>
                    <a:pt x="77" y="31"/>
                    <a:pt x="106" y="31"/>
                    <a:pt x="111" y="31"/>
                  </a:cubicBezTo>
                  <a:cubicBezTo>
                    <a:pt x="115" y="31"/>
                    <a:pt x="145" y="31"/>
                    <a:pt x="158" y="24"/>
                  </a:cubicBezTo>
                  <a:lnTo>
                    <a:pt x="158" y="38"/>
                  </a:lnTo>
                  <a:close/>
                  <a:moveTo>
                    <a:pt x="52" y="94"/>
                  </a:moveTo>
                  <a:cubicBezTo>
                    <a:pt x="33" y="94"/>
                    <a:pt x="17" y="110"/>
                    <a:pt x="17" y="129"/>
                  </a:cubicBezTo>
                  <a:cubicBezTo>
                    <a:pt x="17" y="149"/>
                    <a:pt x="33" y="164"/>
                    <a:pt x="52" y="164"/>
                  </a:cubicBezTo>
                  <a:cubicBezTo>
                    <a:pt x="71" y="164"/>
                    <a:pt x="87" y="149"/>
                    <a:pt x="87" y="129"/>
                  </a:cubicBezTo>
                  <a:cubicBezTo>
                    <a:pt x="87" y="110"/>
                    <a:pt x="71" y="94"/>
                    <a:pt x="52" y="94"/>
                  </a:cubicBezTo>
                  <a:close/>
                  <a:moveTo>
                    <a:pt x="52" y="160"/>
                  </a:moveTo>
                  <a:cubicBezTo>
                    <a:pt x="35" y="160"/>
                    <a:pt x="21" y="146"/>
                    <a:pt x="21" y="129"/>
                  </a:cubicBezTo>
                  <a:cubicBezTo>
                    <a:pt x="21" y="112"/>
                    <a:pt x="35" y="99"/>
                    <a:pt x="52" y="99"/>
                  </a:cubicBezTo>
                  <a:cubicBezTo>
                    <a:pt x="69" y="99"/>
                    <a:pt x="83" y="112"/>
                    <a:pt x="83" y="129"/>
                  </a:cubicBezTo>
                  <a:cubicBezTo>
                    <a:pt x="83" y="146"/>
                    <a:pt x="69" y="160"/>
                    <a:pt x="52" y="160"/>
                  </a:cubicBezTo>
                  <a:close/>
                  <a:moveTo>
                    <a:pt x="61" y="127"/>
                  </a:moveTo>
                  <a:cubicBezTo>
                    <a:pt x="60" y="126"/>
                    <a:pt x="58" y="125"/>
                    <a:pt x="56" y="124"/>
                  </a:cubicBezTo>
                  <a:cubicBezTo>
                    <a:pt x="56" y="124"/>
                    <a:pt x="55" y="124"/>
                    <a:pt x="55" y="124"/>
                  </a:cubicBezTo>
                  <a:cubicBezTo>
                    <a:pt x="53" y="123"/>
                    <a:pt x="52" y="122"/>
                    <a:pt x="52" y="122"/>
                  </a:cubicBezTo>
                  <a:cubicBezTo>
                    <a:pt x="51" y="122"/>
                    <a:pt x="51" y="122"/>
                    <a:pt x="51" y="121"/>
                  </a:cubicBezTo>
                  <a:cubicBezTo>
                    <a:pt x="51" y="121"/>
                    <a:pt x="51" y="121"/>
                    <a:pt x="51" y="121"/>
                  </a:cubicBezTo>
                  <a:cubicBezTo>
                    <a:pt x="51" y="121"/>
                    <a:pt x="51" y="121"/>
                    <a:pt x="51" y="121"/>
                  </a:cubicBezTo>
                  <a:cubicBezTo>
                    <a:pt x="52" y="120"/>
                    <a:pt x="52" y="120"/>
                    <a:pt x="53" y="120"/>
                  </a:cubicBezTo>
                  <a:cubicBezTo>
                    <a:pt x="54" y="120"/>
                    <a:pt x="55" y="120"/>
                    <a:pt x="56" y="121"/>
                  </a:cubicBezTo>
                  <a:cubicBezTo>
                    <a:pt x="57" y="121"/>
                    <a:pt x="58" y="121"/>
                    <a:pt x="58" y="121"/>
                  </a:cubicBezTo>
                  <a:cubicBezTo>
                    <a:pt x="59" y="122"/>
                    <a:pt x="59" y="122"/>
                    <a:pt x="59" y="122"/>
                  </a:cubicBezTo>
                  <a:cubicBezTo>
                    <a:pt x="60" y="123"/>
                    <a:pt x="60" y="123"/>
                    <a:pt x="61" y="122"/>
                  </a:cubicBezTo>
                  <a:cubicBezTo>
                    <a:pt x="62" y="122"/>
                    <a:pt x="62" y="122"/>
                    <a:pt x="62" y="121"/>
                  </a:cubicBezTo>
                  <a:cubicBezTo>
                    <a:pt x="65" y="115"/>
                    <a:pt x="65" y="115"/>
                    <a:pt x="65" y="115"/>
                  </a:cubicBezTo>
                  <a:cubicBezTo>
                    <a:pt x="65" y="114"/>
                    <a:pt x="65" y="113"/>
                    <a:pt x="64" y="113"/>
                  </a:cubicBezTo>
                  <a:cubicBezTo>
                    <a:pt x="63" y="112"/>
                    <a:pt x="63" y="112"/>
                    <a:pt x="63" y="112"/>
                  </a:cubicBezTo>
                  <a:cubicBezTo>
                    <a:pt x="61" y="111"/>
                    <a:pt x="60" y="111"/>
                    <a:pt x="58" y="110"/>
                  </a:cubicBezTo>
                  <a:cubicBezTo>
                    <a:pt x="58" y="107"/>
                    <a:pt x="58" y="107"/>
                    <a:pt x="58" y="107"/>
                  </a:cubicBezTo>
                  <a:cubicBezTo>
                    <a:pt x="58" y="106"/>
                    <a:pt x="57" y="105"/>
                    <a:pt x="56" y="105"/>
                  </a:cubicBezTo>
                  <a:cubicBezTo>
                    <a:pt x="50" y="105"/>
                    <a:pt x="50" y="105"/>
                    <a:pt x="50" y="105"/>
                  </a:cubicBezTo>
                  <a:cubicBezTo>
                    <a:pt x="49" y="105"/>
                    <a:pt x="48" y="106"/>
                    <a:pt x="48" y="107"/>
                  </a:cubicBezTo>
                  <a:cubicBezTo>
                    <a:pt x="48" y="111"/>
                    <a:pt x="48" y="111"/>
                    <a:pt x="48" y="111"/>
                  </a:cubicBezTo>
                  <a:cubicBezTo>
                    <a:pt x="46" y="112"/>
                    <a:pt x="44" y="113"/>
                    <a:pt x="43" y="114"/>
                  </a:cubicBezTo>
                  <a:cubicBezTo>
                    <a:pt x="41" y="116"/>
                    <a:pt x="40" y="119"/>
                    <a:pt x="40" y="122"/>
                  </a:cubicBezTo>
                  <a:cubicBezTo>
                    <a:pt x="40" y="123"/>
                    <a:pt x="40" y="125"/>
                    <a:pt x="41" y="126"/>
                  </a:cubicBezTo>
                  <a:cubicBezTo>
                    <a:pt x="42" y="128"/>
                    <a:pt x="43" y="130"/>
                    <a:pt x="45" y="131"/>
                  </a:cubicBezTo>
                  <a:cubicBezTo>
                    <a:pt x="46" y="132"/>
                    <a:pt x="48" y="133"/>
                    <a:pt x="51" y="134"/>
                  </a:cubicBezTo>
                  <a:cubicBezTo>
                    <a:pt x="53" y="135"/>
                    <a:pt x="53" y="135"/>
                    <a:pt x="54" y="136"/>
                  </a:cubicBezTo>
                  <a:cubicBezTo>
                    <a:pt x="54" y="136"/>
                    <a:pt x="54" y="136"/>
                    <a:pt x="54" y="136"/>
                  </a:cubicBezTo>
                  <a:cubicBezTo>
                    <a:pt x="54" y="136"/>
                    <a:pt x="54" y="136"/>
                    <a:pt x="54" y="137"/>
                  </a:cubicBezTo>
                  <a:cubicBezTo>
                    <a:pt x="54" y="137"/>
                    <a:pt x="54" y="137"/>
                    <a:pt x="54" y="138"/>
                  </a:cubicBezTo>
                  <a:cubicBezTo>
                    <a:pt x="53" y="138"/>
                    <a:pt x="53" y="138"/>
                    <a:pt x="52" y="138"/>
                  </a:cubicBezTo>
                  <a:cubicBezTo>
                    <a:pt x="49" y="138"/>
                    <a:pt x="47" y="137"/>
                    <a:pt x="46" y="137"/>
                  </a:cubicBezTo>
                  <a:cubicBezTo>
                    <a:pt x="45" y="136"/>
                    <a:pt x="45" y="136"/>
                    <a:pt x="45" y="136"/>
                  </a:cubicBezTo>
                  <a:cubicBezTo>
                    <a:pt x="44" y="135"/>
                    <a:pt x="44" y="135"/>
                    <a:pt x="43" y="136"/>
                  </a:cubicBezTo>
                  <a:cubicBezTo>
                    <a:pt x="42" y="136"/>
                    <a:pt x="42" y="136"/>
                    <a:pt x="41" y="137"/>
                  </a:cubicBezTo>
                  <a:cubicBezTo>
                    <a:pt x="39" y="143"/>
                    <a:pt x="39" y="143"/>
                    <a:pt x="39" y="143"/>
                  </a:cubicBezTo>
                  <a:cubicBezTo>
                    <a:pt x="39" y="144"/>
                    <a:pt x="39" y="145"/>
                    <a:pt x="40" y="145"/>
                  </a:cubicBezTo>
                  <a:cubicBezTo>
                    <a:pt x="41" y="146"/>
                    <a:pt x="41" y="146"/>
                    <a:pt x="41" y="146"/>
                  </a:cubicBezTo>
                  <a:cubicBezTo>
                    <a:pt x="42" y="147"/>
                    <a:pt x="44" y="147"/>
                    <a:pt x="45" y="148"/>
                  </a:cubicBezTo>
                  <a:cubicBezTo>
                    <a:pt x="46" y="148"/>
                    <a:pt x="47" y="148"/>
                    <a:pt x="47" y="148"/>
                  </a:cubicBezTo>
                  <a:cubicBezTo>
                    <a:pt x="47" y="152"/>
                    <a:pt x="47" y="152"/>
                    <a:pt x="47" y="152"/>
                  </a:cubicBezTo>
                  <a:cubicBezTo>
                    <a:pt x="47" y="153"/>
                    <a:pt x="48" y="154"/>
                    <a:pt x="50" y="154"/>
                  </a:cubicBezTo>
                  <a:cubicBezTo>
                    <a:pt x="55" y="154"/>
                    <a:pt x="55" y="154"/>
                    <a:pt x="55" y="154"/>
                  </a:cubicBezTo>
                  <a:cubicBezTo>
                    <a:pt x="56" y="154"/>
                    <a:pt x="57" y="153"/>
                    <a:pt x="57" y="152"/>
                  </a:cubicBezTo>
                  <a:cubicBezTo>
                    <a:pt x="57" y="148"/>
                    <a:pt x="57" y="148"/>
                    <a:pt x="57" y="148"/>
                  </a:cubicBezTo>
                  <a:cubicBezTo>
                    <a:pt x="60" y="147"/>
                    <a:pt x="61" y="146"/>
                    <a:pt x="63" y="144"/>
                  </a:cubicBezTo>
                  <a:cubicBezTo>
                    <a:pt x="65" y="142"/>
                    <a:pt x="66" y="139"/>
                    <a:pt x="66" y="136"/>
                  </a:cubicBezTo>
                  <a:cubicBezTo>
                    <a:pt x="66" y="135"/>
                    <a:pt x="65" y="133"/>
                    <a:pt x="65" y="132"/>
                  </a:cubicBezTo>
                  <a:cubicBezTo>
                    <a:pt x="64" y="130"/>
                    <a:pt x="63" y="128"/>
                    <a:pt x="61" y="127"/>
                  </a:cubicBezTo>
                  <a:close/>
                  <a:moveTo>
                    <a:pt x="59" y="141"/>
                  </a:moveTo>
                  <a:cubicBezTo>
                    <a:pt x="59" y="141"/>
                    <a:pt x="59" y="141"/>
                    <a:pt x="59" y="141"/>
                  </a:cubicBezTo>
                  <a:cubicBezTo>
                    <a:pt x="58" y="143"/>
                    <a:pt x="57" y="143"/>
                    <a:pt x="55" y="144"/>
                  </a:cubicBezTo>
                  <a:cubicBezTo>
                    <a:pt x="54" y="144"/>
                    <a:pt x="53" y="145"/>
                    <a:pt x="53" y="146"/>
                  </a:cubicBezTo>
                  <a:cubicBezTo>
                    <a:pt x="53" y="149"/>
                    <a:pt x="53" y="149"/>
                    <a:pt x="53" y="149"/>
                  </a:cubicBezTo>
                  <a:cubicBezTo>
                    <a:pt x="52" y="149"/>
                    <a:pt x="52" y="149"/>
                    <a:pt x="52" y="149"/>
                  </a:cubicBezTo>
                  <a:cubicBezTo>
                    <a:pt x="52" y="146"/>
                    <a:pt x="52" y="146"/>
                    <a:pt x="52" y="146"/>
                  </a:cubicBezTo>
                  <a:cubicBezTo>
                    <a:pt x="52" y="145"/>
                    <a:pt x="51" y="144"/>
                    <a:pt x="50" y="144"/>
                  </a:cubicBezTo>
                  <a:cubicBezTo>
                    <a:pt x="49" y="144"/>
                    <a:pt x="48" y="144"/>
                    <a:pt x="47" y="144"/>
                  </a:cubicBezTo>
                  <a:cubicBezTo>
                    <a:pt x="46" y="143"/>
                    <a:pt x="45" y="143"/>
                    <a:pt x="44" y="143"/>
                  </a:cubicBezTo>
                  <a:cubicBezTo>
                    <a:pt x="45" y="141"/>
                    <a:pt x="45" y="141"/>
                    <a:pt x="45" y="141"/>
                  </a:cubicBezTo>
                  <a:cubicBezTo>
                    <a:pt x="47" y="142"/>
                    <a:pt x="49" y="143"/>
                    <a:pt x="52" y="143"/>
                  </a:cubicBezTo>
                  <a:cubicBezTo>
                    <a:pt x="54" y="143"/>
                    <a:pt x="55" y="142"/>
                    <a:pt x="57" y="141"/>
                  </a:cubicBezTo>
                  <a:cubicBezTo>
                    <a:pt x="58" y="140"/>
                    <a:pt x="59" y="138"/>
                    <a:pt x="59" y="137"/>
                  </a:cubicBezTo>
                  <a:cubicBezTo>
                    <a:pt x="59" y="136"/>
                    <a:pt x="59" y="135"/>
                    <a:pt x="58" y="134"/>
                  </a:cubicBezTo>
                  <a:cubicBezTo>
                    <a:pt x="58" y="134"/>
                    <a:pt x="57" y="133"/>
                    <a:pt x="57" y="132"/>
                  </a:cubicBezTo>
                  <a:cubicBezTo>
                    <a:pt x="56" y="131"/>
                    <a:pt x="54" y="131"/>
                    <a:pt x="52" y="130"/>
                  </a:cubicBezTo>
                  <a:cubicBezTo>
                    <a:pt x="50" y="129"/>
                    <a:pt x="49" y="128"/>
                    <a:pt x="47" y="127"/>
                  </a:cubicBezTo>
                  <a:cubicBezTo>
                    <a:pt x="46" y="126"/>
                    <a:pt x="45" y="125"/>
                    <a:pt x="45" y="124"/>
                  </a:cubicBezTo>
                  <a:cubicBezTo>
                    <a:pt x="45" y="124"/>
                    <a:pt x="44" y="123"/>
                    <a:pt x="44" y="122"/>
                  </a:cubicBezTo>
                  <a:cubicBezTo>
                    <a:pt x="44" y="120"/>
                    <a:pt x="45" y="118"/>
                    <a:pt x="46" y="117"/>
                  </a:cubicBezTo>
                  <a:cubicBezTo>
                    <a:pt x="47" y="116"/>
                    <a:pt x="49" y="115"/>
                    <a:pt x="50" y="115"/>
                  </a:cubicBezTo>
                  <a:cubicBezTo>
                    <a:pt x="51" y="114"/>
                    <a:pt x="52" y="114"/>
                    <a:pt x="52" y="113"/>
                  </a:cubicBezTo>
                  <a:cubicBezTo>
                    <a:pt x="52" y="109"/>
                    <a:pt x="52" y="109"/>
                    <a:pt x="52" y="109"/>
                  </a:cubicBezTo>
                  <a:cubicBezTo>
                    <a:pt x="53" y="109"/>
                    <a:pt x="53" y="109"/>
                    <a:pt x="53" y="109"/>
                  </a:cubicBezTo>
                  <a:cubicBezTo>
                    <a:pt x="53" y="112"/>
                    <a:pt x="53" y="112"/>
                    <a:pt x="53" y="112"/>
                  </a:cubicBezTo>
                  <a:cubicBezTo>
                    <a:pt x="53" y="113"/>
                    <a:pt x="54" y="114"/>
                    <a:pt x="55" y="114"/>
                  </a:cubicBezTo>
                  <a:cubicBezTo>
                    <a:pt x="57" y="115"/>
                    <a:pt x="58" y="115"/>
                    <a:pt x="60" y="116"/>
                  </a:cubicBezTo>
                  <a:cubicBezTo>
                    <a:pt x="59" y="117"/>
                    <a:pt x="59" y="117"/>
                    <a:pt x="59" y="117"/>
                  </a:cubicBezTo>
                  <a:cubicBezTo>
                    <a:pt x="59" y="117"/>
                    <a:pt x="58" y="117"/>
                    <a:pt x="58" y="116"/>
                  </a:cubicBezTo>
                  <a:cubicBezTo>
                    <a:pt x="56" y="116"/>
                    <a:pt x="55" y="116"/>
                    <a:pt x="53" y="116"/>
                  </a:cubicBezTo>
                  <a:cubicBezTo>
                    <a:pt x="51" y="116"/>
                    <a:pt x="50" y="116"/>
                    <a:pt x="48" y="117"/>
                  </a:cubicBezTo>
                  <a:cubicBezTo>
                    <a:pt x="47" y="118"/>
                    <a:pt x="47" y="120"/>
                    <a:pt x="47" y="121"/>
                  </a:cubicBezTo>
                  <a:cubicBezTo>
                    <a:pt x="47" y="122"/>
                    <a:pt x="47" y="123"/>
                    <a:pt x="47" y="123"/>
                  </a:cubicBezTo>
                  <a:cubicBezTo>
                    <a:pt x="48" y="124"/>
                    <a:pt x="48" y="125"/>
                    <a:pt x="49" y="125"/>
                  </a:cubicBezTo>
                  <a:cubicBezTo>
                    <a:pt x="50" y="126"/>
                    <a:pt x="51" y="127"/>
                    <a:pt x="54" y="128"/>
                  </a:cubicBezTo>
                  <a:cubicBezTo>
                    <a:pt x="54" y="128"/>
                    <a:pt x="54" y="128"/>
                    <a:pt x="54" y="128"/>
                  </a:cubicBezTo>
                  <a:cubicBezTo>
                    <a:pt x="56" y="129"/>
                    <a:pt x="57" y="130"/>
                    <a:pt x="58" y="130"/>
                  </a:cubicBezTo>
                  <a:cubicBezTo>
                    <a:pt x="59" y="131"/>
                    <a:pt x="60" y="132"/>
                    <a:pt x="61" y="134"/>
                  </a:cubicBezTo>
                  <a:cubicBezTo>
                    <a:pt x="61" y="134"/>
                    <a:pt x="61" y="135"/>
                    <a:pt x="61" y="136"/>
                  </a:cubicBezTo>
                  <a:cubicBezTo>
                    <a:pt x="61" y="138"/>
                    <a:pt x="60" y="140"/>
                    <a:pt x="59" y="141"/>
                  </a:cubicBezTo>
                  <a:close/>
                </a:path>
              </a:pathLst>
            </a:custGeom>
            <a:solidFill>
              <a:schemeClr val="accent2"/>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Montserrat"/>
                <a:ea typeface="思源黑体 CN Normal"/>
              </a:endParaRPr>
            </a:p>
          </p:txBody>
        </p:sp>
        <p:sp>
          <p:nvSpPr>
            <p:cNvPr id="88" name="小李PPT26"/>
            <p:cNvSpPr txBox="1"/>
            <p:nvPr/>
          </p:nvSpPr>
          <p:spPr>
            <a:xfrm>
              <a:off x="7850" y="4096"/>
              <a:ext cx="894" cy="824"/>
            </a:xfrm>
            <a:prstGeom prst="rect">
              <a:avLst/>
            </a:prstGeom>
            <a:noFill/>
          </p:spPr>
          <p:txBody>
            <a:bodyPr wrap="none" rtlCol="0">
              <a:spAutoFit/>
            </a:bodyPr>
            <a:lstStyle/>
            <a:p>
              <a:pPr algn="r"/>
              <a:r>
                <a:rPr lang="en-US" altLang="zh-CN" sz="2800" dirty="0">
                  <a:solidFill>
                    <a:srgbClr val="FFFFFF"/>
                  </a:solidFill>
                  <a:latin typeface="Montserrat"/>
                  <a:ea typeface="思源黑体 CN Normal"/>
                </a:rPr>
                <a:t>01</a:t>
              </a:r>
              <a:endParaRPr lang="zh-CN" altLang="en-US" sz="2800" dirty="0">
                <a:solidFill>
                  <a:srgbClr val="FFFFFF"/>
                </a:solidFill>
                <a:latin typeface="Montserrat"/>
                <a:ea typeface="思源黑体 CN Normal"/>
              </a:endParaRPr>
            </a:p>
          </p:txBody>
        </p:sp>
        <p:sp>
          <p:nvSpPr>
            <p:cNvPr id="89" name="小李PPT27"/>
            <p:cNvSpPr txBox="1"/>
            <p:nvPr/>
          </p:nvSpPr>
          <p:spPr>
            <a:xfrm>
              <a:off x="7749" y="8636"/>
              <a:ext cx="1106" cy="822"/>
            </a:xfrm>
            <a:prstGeom prst="rect">
              <a:avLst/>
            </a:prstGeom>
            <a:noFill/>
          </p:spPr>
          <p:txBody>
            <a:bodyPr wrap="none" rtlCol="0">
              <a:spAutoFit/>
            </a:bodyPr>
            <a:lstStyle/>
            <a:p>
              <a:pPr algn="r"/>
              <a:r>
                <a:rPr lang="en-US" altLang="zh-CN" sz="2800" dirty="0">
                  <a:solidFill>
                    <a:schemeClr val="accent2"/>
                  </a:solidFill>
                  <a:latin typeface="Montserrat"/>
                  <a:ea typeface="思源黑体 CN Normal"/>
                </a:rPr>
                <a:t>04</a:t>
              </a:r>
              <a:endParaRPr lang="zh-CN" altLang="en-US" sz="2800" dirty="0">
                <a:solidFill>
                  <a:schemeClr val="accent2"/>
                </a:solidFill>
                <a:latin typeface="Montserrat"/>
                <a:ea typeface="思源黑体 CN Normal"/>
              </a:endParaRPr>
            </a:p>
          </p:txBody>
        </p:sp>
        <p:sp>
          <p:nvSpPr>
            <p:cNvPr id="92" name="小李PPT30"/>
            <p:cNvSpPr>
              <a:spLocks noChangeArrowheads="1"/>
            </p:cNvSpPr>
            <p:nvPr/>
          </p:nvSpPr>
          <p:spPr bwMode="auto">
            <a:xfrm>
              <a:off x="5150" y="5856"/>
              <a:ext cx="3731" cy="3658"/>
            </a:xfrm>
            <a:prstGeom prst="snip2DiagRect">
              <a:avLst/>
            </a:prstGeom>
            <a:noFill/>
            <a:ln w="3175">
              <a:solidFill>
                <a:schemeClr val="accent2">
                  <a:alpha val="41000"/>
                </a:schemeClr>
              </a:solidFill>
            </a:ln>
            <a:effectLst>
              <a:outerShdw blurRad="190500" dist="114300" dir="5400000" algn="ctr" rotWithShape="0">
                <a:srgbClr val="3B8BF1">
                  <a:alpha val="12000"/>
                </a:srgbClr>
              </a:outerShdw>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Montserrat"/>
                <a:ea typeface="思源黑体 CN Normal"/>
              </a:endParaRPr>
            </a:p>
          </p:txBody>
        </p:sp>
        <p:cxnSp>
          <p:nvCxnSpPr>
            <p:cNvPr id="96" name="小李PPT33"/>
            <p:cNvCxnSpPr/>
            <p:nvPr/>
          </p:nvCxnSpPr>
          <p:spPr>
            <a:xfrm>
              <a:off x="6048" y="4096"/>
              <a:ext cx="279" cy="0"/>
            </a:xfrm>
            <a:prstGeom prst="line">
              <a:avLst/>
            </a:prstGeom>
            <a:noFill/>
            <a:ln w="6350" cap="flat" cmpd="sng" algn="ctr">
              <a:solidFill>
                <a:srgbClr val="FFFFFF"/>
              </a:solidFill>
              <a:prstDash val="solid"/>
              <a:miter lim="800000"/>
            </a:ln>
            <a:effectLst/>
          </p:spPr>
        </p:cxnSp>
        <p:cxnSp>
          <p:nvCxnSpPr>
            <p:cNvPr id="99" name="小李PPT36"/>
            <p:cNvCxnSpPr/>
            <p:nvPr/>
          </p:nvCxnSpPr>
          <p:spPr>
            <a:xfrm>
              <a:off x="6048" y="8499"/>
              <a:ext cx="279" cy="0"/>
            </a:xfrm>
            <a:prstGeom prst="line">
              <a:avLst/>
            </a:prstGeom>
            <a:noFill/>
            <a:ln w="6350" cap="flat" cmpd="sng" algn="ctr">
              <a:solidFill>
                <a:schemeClr val="accent2"/>
              </a:solidFill>
              <a:prstDash val="solid"/>
              <a:miter lim="800000"/>
            </a:ln>
            <a:effectLst/>
          </p:spPr>
        </p:cxnSp>
      </p:grpSp>
      <p:grpSp>
        <p:nvGrpSpPr>
          <p:cNvPr id="29" name="组合 28"/>
          <p:cNvGrpSpPr/>
          <p:nvPr/>
        </p:nvGrpSpPr>
        <p:grpSpPr>
          <a:xfrm>
            <a:off x="9286875" y="781050"/>
            <a:ext cx="2510155" cy="5318125"/>
            <a:chOff x="10205" y="1232"/>
            <a:chExt cx="3953" cy="8375"/>
          </a:xfrm>
        </p:grpSpPr>
        <p:sp>
          <p:nvSpPr>
            <p:cNvPr id="30" name="小李PPT16"/>
            <p:cNvSpPr>
              <a:spLocks noChangeArrowheads="1"/>
            </p:cNvSpPr>
            <p:nvPr/>
          </p:nvSpPr>
          <p:spPr bwMode="auto">
            <a:xfrm>
              <a:off x="10205" y="1232"/>
              <a:ext cx="3944" cy="3867"/>
            </a:xfrm>
            <a:prstGeom prst="snip2DiagRect">
              <a:avLst/>
            </a:prstGeom>
            <a:solidFill>
              <a:srgbClr val="FFFFFF"/>
            </a:solidFill>
            <a:ln>
              <a:noFill/>
            </a:ln>
            <a:effectLst>
              <a:outerShdw blurRad="190500" dist="114300" dir="5400000" algn="ctr" rotWithShape="0">
                <a:srgbClr val="1D4223">
                  <a:alpha val="12000"/>
                </a:srgbClr>
              </a:outerShdw>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Montserrat"/>
                <a:ea typeface="思源黑体 CN Normal"/>
              </a:endParaRPr>
            </a:p>
          </p:txBody>
        </p:sp>
        <p:sp>
          <p:nvSpPr>
            <p:cNvPr id="31" name="小李PPT18"/>
            <p:cNvSpPr>
              <a:spLocks noChangeArrowheads="1"/>
            </p:cNvSpPr>
            <p:nvPr/>
          </p:nvSpPr>
          <p:spPr bwMode="auto">
            <a:xfrm>
              <a:off x="10214" y="5740"/>
              <a:ext cx="3944" cy="3867"/>
            </a:xfrm>
            <a:prstGeom prst="snip2DiagRect">
              <a:avLst/>
            </a:prstGeom>
            <a:solidFill>
              <a:srgbClr val="FFFFFF"/>
            </a:solidFill>
            <a:ln>
              <a:noFill/>
            </a:ln>
            <a:effectLst>
              <a:outerShdw blurRad="190500" dist="114300" dir="5400000" algn="ctr" rotWithShape="0">
                <a:srgbClr val="387C43">
                  <a:alpha val="12000"/>
                </a:srgbClr>
              </a:outerShdw>
            </a:effectLst>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Montserrat"/>
                <a:ea typeface="思源黑体 CN Normal"/>
              </a:endParaRPr>
            </a:p>
          </p:txBody>
        </p:sp>
        <p:sp>
          <p:nvSpPr>
            <p:cNvPr id="36" name="小李PPT19"/>
            <p:cNvSpPr>
              <a:spLocks noEditPoints="1"/>
            </p:cNvSpPr>
            <p:nvPr/>
          </p:nvSpPr>
          <p:spPr bwMode="auto">
            <a:xfrm>
              <a:off x="11228" y="1673"/>
              <a:ext cx="748" cy="790"/>
            </a:xfrm>
            <a:custGeom>
              <a:avLst/>
              <a:gdLst>
                <a:gd name="T0" fmla="*/ 130 w 160"/>
                <a:gd name="T1" fmla="*/ 30 h 169"/>
                <a:gd name="T2" fmla="*/ 109 w 160"/>
                <a:gd name="T3" fmla="*/ 12 h 169"/>
                <a:gd name="T4" fmla="*/ 100 w 160"/>
                <a:gd name="T5" fmla="*/ 8 h 169"/>
                <a:gd name="T6" fmla="*/ 96 w 160"/>
                <a:gd name="T7" fmla="*/ 1 h 169"/>
                <a:gd name="T8" fmla="*/ 71 w 160"/>
                <a:gd name="T9" fmla="*/ 4 h 169"/>
                <a:gd name="T10" fmla="*/ 68 w 160"/>
                <a:gd name="T11" fmla="*/ 11 h 169"/>
                <a:gd name="T12" fmla="*/ 51 w 160"/>
                <a:gd name="T13" fmla="*/ 12 h 169"/>
                <a:gd name="T14" fmla="*/ 30 w 160"/>
                <a:gd name="T15" fmla="*/ 30 h 169"/>
                <a:gd name="T16" fmla="*/ 2 w 160"/>
                <a:gd name="T17" fmla="*/ 41 h 169"/>
                <a:gd name="T18" fmla="*/ 0 w 160"/>
                <a:gd name="T19" fmla="*/ 43 h 169"/>
                <a:gd name="T20" fmla="*/ 0 w 160"/>
                <a:gd name="T21" fmla="*/ 128 h 169"/>
                <a:gd name="T22" fmla="*/ 78 w 160"/>
                <a:gd name="T23" fmla="*/ 169 h 169"/>
                <a:gd name="T24" fmla="*/ 82 w 160"/>
                <a:gd name="T25" fmla="*/ 169 h 169"/>
                <a:gd name="T26" fmla="*/ 160 w 160"/>
                <a:gd name="T27" fmla="*/ 128 h 169"/>
                <a:gd name="T28" fmla="*/ 160 w 160"/>
                <a:gd name="T29" fmla="*/ 45 h 169"/>
                <a:gd name="T30" fmla="*/ 110 w 160"/>
                <a:gd name="T31" fmla="*/ 20 h 169"/>
                <a:gd name="T32" fmla="*/ 110 w 160"/>
                <a:gd name="T33" fmla="*/ 39 h 169"/>
                <a:gd name="T34" fmla="*/ 110 w 160"/>
                <a:gd name="T35" fmla="*/ 20 h 169"/>
                <a:gd name="T36" fmla="*/ 76 w 160"/>
                <a:gd name="T37" fmla="*/ 31 h 169"/>
                <a:gd name="T38" fmla="*/ 38 w 160"/>
                <a:gd name="T39" fmla="*/ 29 h 169"/>
                <a:gd name="T40" fmla="*/ 35 w 160"/>
                <a:gd name="T41" fmla="*/ 138 h 169"/>
                <a:gd name="T42" fmla="*/ 8 w 160"/>
                <a:gd name="T43" fmla="*/ 51 h 169"/>
                <a:gd name="T44" fmla="*/ 35 w 160"/>
                <a:gd name="T45" fmla="*/ 138 h 169"/>
                <a:gd name="T46" fmla="*/ 32 w 160"/>
                <a:gd name="T47" fmla="*/ 38 h 169"/>
                <a:gd name="T48" fmla="*/ 63 w 160"/>
                <a:gd name="T49" fmla="*/ 46 h 169"/>
                <a:gd name="T50" fmla="*/ 15 w 160"/>
                <a:gd name="T51" fmla="*/ 45 h 169"/>
                <a:gd name="T52" fmla="*/ 43 w 160"/>
                <a:gd name="T53" fmla="*/ 142 h 169"/>
                <a:gd name="T54" fmla="*/ 76 w 160"/>
                <a:gd name="T55" fmla="*/ 79 h 169"/>
                <a:gd name="T56" fmla="*/ 80 w 160"/>
                <a:gd name="T57" fmla="*/ 72 h 169"/>
                <a:gd name="T58" fmla="*/ 80 w 160"/>
                <a:gd name="T59" fmla="*/ 48 h 169"/>
                <a:gd name="T60" fmla="*/ 80 w 160"/>
                <a:gd name="T61" fmla="*/ 72 h 169"/>
                <a:gd name="T62" fmla="*/ 84 w 160"/>
                <a:gd name="T63" fmla="*/ 158 h 169"/>
                <a:gd name="T64" fmla="*/ 117 w 160"/>
                <a:gd name="T65" fmla="*/ 66 h 169"/>
                <a:gd name="T66" fmla="*/ 97 w 160"/>
                <a:gd name="T67" fmla="*/ 46 h 169"/>
                <a:gd name="T68" fmla="*/ 128 w 160"/>
                <a:gd name="T69" fmla="*/ 38 h 169"/>
                <a:gd name="T70" fmla="*/ 144 w 160"/>
                <a:gd name="T71" fmla="*/ 46 h 169"/>
                <a:gd name="T72" fmla="*/ 97 w 160"/>
                <a:gd name="T73" fmla="*/ 46 h 169"/>
                <a:gd name="T74" fmla="*/ 125 w 160"/>
                <a:gd name="T75" fmla="*/ 138 h 169"/>
                <a:gd name="T76" fmla="*/ 147 w 160"/>
                <a:gd name="T77" fmla="*/ 53 h 169"/>
                <a:gd name="T78" fmla="*/ 152 w 160"/>
                <a:gd name="T79" fmla="*/ 125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0" h="169">
                  <a:moveTo>
                    <a:pt x="158" y="41"/>
                  </a:moveTo>
                  <a:cubicBezTo>
                    <a:pt x="130" y="30"/>
                    <a:pt x="130" y="30"/>
                    <a:pt x="130" y="30"/>
                  </a:cubicBezTo>
                  <a:cubicBezTo>
                    <a:pt x="130" y="29"/>
                    <a:pt x="130" y="29"/>
                    <a:pt x="130" y="29"/>
                  </a:cubicBezTo>
                  <a:cubicBezTo>
                    <a:pt x="130" y="23"/>
                    <a:pt x="127" y="12"/>
                    <a:pt x="109" y="12"/>
                  </a:cubicBezTo>
                  <a:cubicBezTo>
                    <a:pt x="104" y="12"/>
                    <a:pt x="97" y="13"/>
                    <a:pt x="90" y="16"/>
                  </a:cubicBezTo>
                  <a:cubicBezTo>
                    <a:pt x="93" y="13"/>
                    <a:pt x="96" y="10"/>
                    <a:pt x="100" y="8"/>
                  </a:cubicBezTo>
                  <a:cubicBezTo>
                    <a:pt x="102" y="7"/>
                    <a:pt x="103" y="4"/>
                    <a:pt x="101" y="2"/>
                  </a:cubicBezTo>
                  <a:cubicBezTo>
                    <a:pt x="100" y="0"/>
                    <a:pt x="98" y="0"/>
                    <a:pt x="96" y="1"/>
                  </a:cubicBezTo>
                  <a:cubicBezTo>
                    <a:pt x="90" y="4"/>
                    <a:pt x="85" y="9"/>
                    <a:pt x="81" y="15"/>
                  </a:cubicBezTo>
                  <a:cubicBezTo>
                    <a:pt x="77" y="7"/>
                    <a:pt x="72" y="4"/>
                    <a:pt x="71" y="4"/>
                  </a:cubicBezTo>
                  <a:cubicBezTo>
                    <a:pt x="69" y="3"/>
                    <a:pt x="67" y="4"/>
                    <a:pt x="66" y="6"/>
                  </a:cubicBezTo>
                  <a:cubicBezTo>
                    <a:pt x="65" y="8"/>
                    <a:pt x="66" y="10"/>
                    <a:pt x="68" y="11"/>
                  </a:cubicBezTo>
                  <a:cubicBezTo>
                    <a:pt x="68" y="11"/>
                    <a:pt x="71" y="13"/>
                    <a:pt x="73" y="18"/>
                  </a:cubicBezTo>
                  <a:cubicBezTo>
                    <a:pt x="66" y="14"/>
                    <a:pt x="57" y="12"/>
                    <a:pt x="51" y="12"/>
                  </a:cubicBezTo>
                  <a:cubicBezTo>
                    <a:pt x="33" y="12"/>
                    <a:pt x="30" y="23"/>
                    <a:pt x="30" y="29"/>
                  </a:cubicBezTo>
                  <a:cubicBezTo>
                    <a:pt x="30" y="30"/>
                    <a:pt x="30" y="30"/>
                    <a:pt x="30" y="30"/>
                  </a:cubicBezTo>
                  <a:cubicBezTo>
                    <a:pt x="2" y="41"/>
                    <a:pt x="2" y="41"/>
                    <a:pt x="2" y="41"/>
                  </a:cubicBezTo>
                  <a:cubicBezTo>
                    <a:pt x="2" y="41"/>
                    <a:pt x="2" y="41"/>
                    <a:pt x="2" y="41"/>
                  </a:cubicBezTo>
                  <a:cubicBezTo>
                    <a:pt x="2" y="41"/>
                    <a:pt x="2" y="41"/>
                    <a:pt x="2" y="41"/>
                  </a:cubicBezTo>
                  <a:cubicBezTo>
                    <a:pt x="2" y="41"/>
                    <a:pt x="1" y="42"/>
                    <a:pt x="0" y="43"/>
                  </a:cubicBezTo>
                  <a:cubicBezTo>
                    <a:pt x="0" y="44"/>
                    <a:pt x="0" y="45"/>
                    <a:pt x="0" y="45"/>
                  </a:cubicBezTo>
                  <a:cubicBezTo>
                    <a:pt x="0" y="128"/>
                    <a:pt x="0" y="128"/>
                    <a:pt x="0" y="128"/>
                  </a:cubicBezTo>
                  <a:cubicBezTo>
                    <a:pt x="0" y="129"/>
                    <a:pt x="0" y="131"/>
                    <a:pt x="2" y="132"/>
                  </a:cubicBezTo>
                  <a:cubicBezTo>
                    <a:pt x="78" y="169"/>
                    <a:pt x="78" y="169"/>
                    <a:pt x="78" y="169"/>
                  </a:cubicBezTo>
                  <a:cubicBezTo>
                    <a:pt x="79" y="169"/>
                    <a:pt x="79" y="169"/>
                    <a:pt x="80" y="169"/>
                  </a:cubicBezTo>
                  <a:cubicBezTo>
                    <a:pt x="81" y="169"/>
                    <a:pt x="81" y="169"/>
                    <a:pt x="82" y="169"/>
                  </a:cubicBezTo>
                  <a:cubicBezTo>
                    <a:pt x="158" y="132"/>
                    <a:pt x="158" y="132"/>
                    <a:pt x="158" y="132"/>
                  </a:cubicBezTo>
                  <a:cubicBezTo>
                    <a:pt x="159" y="131"/>
                    <a:pt x="160" y="129"/>
                    <a:pt x="160" y="128"/>
                  </a:cubicBezTo>
                  <a:cubicBezTo>
                    <a:pt x="160" y="45"/>
                    <a:pt x="160" y="45"/>
                    <a:pt x="160" y="45"/>
                  </a:cubicBezTo>
                  <a:cubicBezTo>
                    <a:pt x="160" y="45"/>
                    <a:pt x="160" y="45"/>
                    <a:pt x="160" y="45"/>
                  </a:cubicBezTo>
                  <a:cubicBezTo>
                    <a:pt x="160" y="43"/>
                    <a:pt x="159" y="42"/>
                    <a:pt x="158" y="41"/>
                  </a:cubicBezTo>
                  <a:close/>
                  <a:moveTo>
                    <a:pt x="110" y="20"/>
                  </a:moveTo>
                  <a:cubicBezTo>
                    <a:pt x="120" y="20"/>
                    <a:pt x="122" y="24"/>
                    <a:pt x="122" y="29"/>
                  </a:cubicBezTo>
                  <a:cubicBezTo>
                    <a:pt x="122" y="34"/>
                    <a:pt x="120" y="39"/>
                    <a:pt x="110" y="39"/>
                  </a:cubicBezTo>
                  <a:cubicBezTo>
                    <a:pt x="104" y="39"/>
                    <a:pt x="85" y="36"/>
                    <a:pt x="85" y="31"/>
                  </a:cubicBezTo>
                  <a:cubicBezTo>
                    <a:pt x="85" y="27"/>
                    <a:pt x="98" y="20"/>
                    <a:pt x="110" y="20"/>
                  </a:cubicBezTo>
                  <a:close/>
                  <a:moveTo>
                    <a:pt x="50" y="20"/>
                  </a:moveTo>
                  <a:cubicBezTo>
                    <a:pt x="62" y="20"/>
                    <a:pt x="76" y="27"/>
                    <a:pt x="76" y="31"/>
                  </a:cubicBezTo>
                  <a:cubicBezTo>
                    <a:pt x="76" y="36"/>
                    <a:pt x="56" y="39"/>
                    <a:pt x="50" y="39"/>
                  </a:cubicBezTo>
                  <a:cubicBezTo>
                    <a:pt x="40" y="39"/>
                    <a:pt x="38" y="34"/>
                    <a:pt x="38" y="29"/>
                  </a:cubicBezTo>
                  <a:cubicBezTo>
                    <a:pt x="38" y="24"/>
                    <a:pt x="40" y="20"/>
                    <a:pt x="50" y="20"/>
                  </a:cubicBezTo>
                  <a:close/>
                  <a:moveTo>
                    <a:pt x="35" y="138"/>
                  </a:moveTo>
                  <a:cubicBezTo>
                    <a:pt x="8" y="125"/>
                    <a:pt x="8" y="125"/>
                    <a:pt x="8" y="125"/>
                  </a:cubicBezTo>
                  <a:cubicBezTo>
                    <a:pt x="8" y="51"/>
                    <a:pt x="8" y="51"/>
                    <a:pt x="8" y="51"/>
                  </a:cubicBezTo>
                  <a:cubicBezTo>
                    <a:pt x="35" y="62"/>
                    <a:pt x="35" y="62"/>
                    <a:pt x="35" y="62"/>
                  </a:cubicBezTo>
                  <a:lnTo>
                    <a:pt x="35" y="138"/>
                  </a:lnTo>
                  <a:close/>
                  <a:moveTo>
                    <a:pt x="15" y="45"/>
                  </a:moveTo>
                  <a:cubicBezTo>
                    <a:pt x="32" y="38"/>
                    <a:pt x="32" y="38"/>
                    <a:pt x="32" y="38"/>
                  </a:cubicBezTo>
                  <a:cubicBezTo>
                    <a:pt x="34" y="43"/>
                    <a:pt x="39" y="47"/>
                    <a:pt x="51" y="47"/>
                  </a:cubicBezTo>
                  <a:cubicBezTo>
                    <a:pt x="54" y="47"/>
                    <a:pt x="59" y="47"/>
                    <a:pt x="63" y="46"/>
                  </a:cubicBezTo>
                  <a:cubicBezTo>
                    <a:pt x="41" y="56"/>
                    <a:pt x="41" y="56"/>
                    <a:pt x="41" y="56"/>
                  </a:cubicBezTo>
                  <a:lnTo>
                    <a:pt x="15" y="45"/>
                  </a:lnTo>
                  <a:close/>
                  <a:moveTo>
                    <a:pt x="76" y="158"/>
                  </a:moveTo>
                  <a:cubicBezTo>
                    <a:pt x="43" y="142"/>
                    <a:pt x="43" y="142"/>
                    <a:pt x="43" y="142"/>
                  </a:cubicBezTo>
                  <a:cubicBezTo>
                    <a:pt x="43" y="66"/>
                    <a:pt x="43" y="66"/>
                    <a:pt x="43" y="66"/>
                  </a:cubicBezTo>
                  <a:cubicBezTo>
                    <a:pt x="76" y="79"/>
                    <a:pt x="76" y="79"/>
                    <a:pt x="76" y="79"/>
                  </a:cubicBezTo>
                  <a:lnTo>
                    <a:pt x="76" y="158"/>
                  </a:lnTo>
                  <a:close/>
                  <a:moveTo>
                    <a:pt x="80" y="72"/>
                  </a:moveTo>
                  <a:cubicBezTo>
                    <a:pt x="52" y="60"/>
                    <a:pt x="52" y="60"/>
                    <a:pt x="52" y="60"/>
                  </a:cubicBezTo>
                  <a:cubicBezTo>
                    <a:pt x="80" y="48"/>
                    <a:pt x="80" y="48"/>
                    <a:pt x="80" y="48"/>
                  </a:cubicBezTo>
                  <a:cubicBezTo>
                    <a:pt x="108" y="60"/>
                    <a:pt x="108" y="60"/>
                    <a:pt x="108" y="60"/>
                  </a:cubicBezTo>
                  <a:lnTo>
                    <a:pt x="80" y="72"/>
                  </a:lnTo>
                  <a:close/>
                  <a:moveTo>
                    <a:pt x="117" y="142"/>
                  </a:moveTo>
                  <a:cubicBezTo>
                    <a:pt x="84" y="158"/>
                    <a:pt x="84" y="158"/>
                    <a:pt x="84" y="158"/>
                  </a:cubicBezTo>
                  <a:cubicBezTo>
                    <a:pt x="84" y="79"/>
                    <a:pt x="84" y="79"/>
                    <a:pt x="84" y="79"/>
                  </a:cubicBezTo>
                  <a:cubicBezTo>
                    <a:pt x="117" y="66"/>
                    <a:pt x="117" y="66"/>
                    <a:pt x="117" y="66"/>
                  </a:cubicBezTo>
                  <a:lnTo>
                    <a:pt x="117" y="142"/>
                  </a:lnTo>
                  <a:close/>
                  <a:moveTo>
                    <a:pt x="97" y="46"/>
                  </a:moveTo>
                  <a:cubicBezTo>
                    <a:pt x="101" y="47"/>
                    <a:pt x="106" y="47"/>
                    <a:pt x="109" y="47"/>
                  </a:cubicBezTo>
                  <a:cubicBezTo>
                    <a:pt x="120" y="47"/>
                    <a:pt x="126" y="43"/>
                    <a:pt x="128" y="38"/>
                  </a:cubicBezTo>
                  <a:cubicBezTo>
                    <a:pt x="145" y="45"/>
                    <a:pt x="145" y="45"/>
                    <a:pt x="145" y="45"/>
                  </a:cubicBezTo>
                  <a:cubicBezTo>
                    <a:pt x="144" y="46"/>
                    <a:pt x="144" y="46"/>
                    <a:pt x="144" y="46"/>
                  </a:cubicBezTo>
                  <a:cubicBezTo>
                    <a:pt x="119" y="56"/>
                    <a:pt x="119" y="56"/>
                    <a:pt x="119" y="56"/>
                  </a:cubicBezTo>
                  <a:lnTo>
                    <a:pt x="97" y="46"/>
                  </a:lnTo>
                  <a:close/>
                  <a:moveTo>
                    <a:pt x="152" y="125"/>
                  </a:moveTo>
                  <a:cubicBezTo>
                    <a:pt x="125" y="138"/>
                    <a:pt x="125" y="138"/>
                    <a:pt x="125" y="138"/>
                  </a:cubicBezTo>
                  <a:cubicBezTo>
                    <a:pt x="125" y="62"/>
                    <a:pt x="125" y="62"/>
                    <a:pt x="125" y="62"/>
                  </a:cubicBezTo>
                  <a:cubicBezTo>
                    <a:pt x="147" y="53"/>
                    <a:pt x="147" y="53"/>
                    <a:pt x="147" y="53"/>
                  </a:cubicBezTo>
                  <a:cubicBezTo>
                    <a:pt x="152" y="51"/>
                    <a:pt x="152" y="51"/>
                    <a:pt x="152" y="51"/>
                  </a:cubicBezTo>
                  <a:lnTo>
                    <a:pt x="152" y="125"/>
                  </a:lnTo>
                  <a:close/>
                </a:path>
              </a:pathLst>
            </a:custGeom>
            <a:solidFill>
              <a:schemeClr val="accent2"/>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Montserrat"/>
                <a:ea typeface="思源黑体 CN Normal"/>
              </a:endParaRPr>
            </a:p>
          </p:txBody>
        </p:sp>
        <p:sp>
          <p:nvSpPr>
            <p:cNvPr id="39" name="小李PPT21-2"/>
            <p:cNvSpPr txBox="1"/>
            <p:nvPr/>
          </p:nvSpPr>
          <p:spPr>
            <a:xfrm>
              <a:off x="11075" y="2629"/>
              <a:ext cx="2519" cy="911"/>
            </a:xfrm>
            <a:prstGeom prst="rect">
              <a:avLst/>
            </a:prstGeom>
            <a:noFill/>
          </p:spPr>
          <p:txBody>
            <a:bodyPr wrap="square" rtlCol="0">
              <a:spAutoFit/>
            </a:bodyPr>
            <a:lstStyle/>
            <a:p>
              <a:pPr>
                <a:lnSpc>
                  <a:spcPts val="1900"/>
                </a:lnSpc>
              </a:pPr>
              <a:r>
                <a:rPr lang="zh-CN" altLang="en-US" dirty="0">
                  <a:solidFill>
                    <a:srgbClr val="000000"/>
                  </a:solidFill>
                  <a:latin typeface="思源黑体 CN Bold"/>
                  <a:ea typeface="思源黑体 CN Bold"/>
                </a:rPr>
                <a:t>效益与费用估计</a:t>
              </a:r>
              <a:endParaRPr lang="zh-CN" altLang="en-US" dirty="0">
                <a:solidFill>
                  <a:srgbClr val="000000"/>
                </a:solidFill>
                <a:latin typeface="思源黑体 CN Bold"/>
                <a:ea typeface="思源黑体 CN Bold"/>
              </a:endParaRPr>
            </a:p>
          </p:txBody>
        </p:sp>
        <p:sp>
          <p:nvSpPr>
            <p:cNvPr id="42" name="小李PPT23-2"/>
            <p:cNvSpPr txBox="1"/>
            <p:nvPr/>
          </p:nvSpPr>
          <p:spPr>
            <a:xfrm>
              <a:off x="11080" y="7249"/>
              <a:ext cx="2519" cy="527"/>
            </a:xfrm>
            <a:prstGeom prst="rect">
              <a:avLst/>
            </a:prstGeom>
            <a:noFill/>
          </p:spPr>
          <p:txBody>
            <a:bodyPr wrap="square" rtlCol="0">
              <a:spAutoFit/>
            </a:bodyPr>
            <a:lstStyle/>
            <a:p>
              <a:pPr>
                <a:lnSpc>
                  <a:spcPts val="1900"/>
                </a:lnSpc>
              </a:pPr>
              <a:r>
                <a:rPr lang="zh-CN" altLang="en-US" dirty="0">
                  <a:solidFill>
                    <a:srgbClr val="000000"/>
                  </a:solidFill>
                  <a:latin typeface="思源黑体 CN Bold"/>
                  <a:ea typeface="思源黑体 CN Bold"/>
                </a:rPr>
                <a:t>结论</a:t>
              </a:r>
              <a:endParaRPr lang="zh-CN" altLang="en-US" dirty="0">
                <a:solidFill>
                  <a:srgbClr val="000000"/>
                </a:solidFill>
                <a:latin typeface="思源黑体 CN Bold"/>
                <a:ea typeface="思源黑体 CN Bold"/>
              </a:endParaRPr>
            </a:p>
          </p:txBody>
        </p:sp>
        <p:sp>
          <p:nvSpPr>
            <p:cNvPr id="43" name="小李PPT25"/>
            <p:cNvSpPr>
              <a:spLocks noEditPoints="1"/>
            </p:cNvSpPr>
            <p:nvPr/>
          </p:nvSpPr>
          <p:spPr bwMode="auto">
            <a:xfrm>
              <a:off x="11210" y="6236"/>
              <a:ext cx="696" cy="883"/>
            </a:xfrm>
            <a:custGeom>
              <a:avLst/>
              <a:gdLst>
                <a:gd name="T0" fmla="*/ 152 w 173"/>
                <a:gd name="T1" fmla="*/ 200 h 218"/>
                <a:gd name="T2" fmla="*/ 133 w 173"/>
                <a:gd name="T3" fmla="*/ 160 h 218"/>
                <a:gd name="T4" fmla="*/ 138 w 173"/>
                <a:gd name="T5" fmla="*/ 131 h 218"/>
                <a:gd name="T6" fmla="*/ 151 w 173"/>
                <a:gd name="T7" fmla="*/ 124 h 218"/>
                <a:gd name="T8" fmla="*/ 138 w 173"/>
                <a:gd name="T9" fmla="*/ 116 h 218"/>
                <a:gd name="T10" fmla="*/ 123 w 173"/>
                <a:gd name="T11" fmla="*/ 121 h 218"/>
                <a:gd name="T12" fmla="*/ 95 w 173"/>
                <a:gd name="T13" fmla="*/ 30 h 218"/>
                <a:gd name="T14" fmla="*/ 75 w 173"/>
                <a:gd name="T15" fmla="*/ 10 h 218"/>
                <a:gd name="T16" fmla="*/ 62 w 173"/>
                <a:gd name="T17" fmla="*/ 62 h 218"/>
                <a:gd name="T18" fmla="*/ 34 w 173"/>
                <a:gd name="T19" fmla="*/ 117 h 218"/>
                <a:gd name="T20" fmla="*/ 28 w 173"/>
                <a:gd name="T21" fmla="*/ 115 h 218"/>
                <a:gd name="T22" fmla="*/ 32 w 173"/>
                <a:gd name="T23" fmla="*/ 131 h 218"/>
                <a:gd name="T24" fmla="*/ 36 w 173"/>
                <a:gd name="T25" fmla="*/ 160 h 218"/>
                <a:gd name="T26" fmla="*/ 22 w 173"/>
                <a:gd name="T27" fmla="*/ 200 h 218"/>
                <a:gd name="T28" fmla="*/ 0 w 173"/>
                <a:gd name="T29" fmla="*/ 197 h 218"/>
                <a:gd name="T30" fmla="*/ 22 w 173"/>
                <a:gd name="T31" fmla="*/ 207 h 218"/>
                <a:gd name="T32" fmla="*/ 71 w 173"/>
                <a:gd name="T33" fmla="*/ 218 h 218"/>
                <a:gd name="T34" fmla="*/ 152 w 173"/>
                <a:gd name="T35" fmla="*/ 205 h 218"/>
                <a:gd name="T36" fmla="*/ 173 w 173"/>
                <a:gd name="T37" fmla="*/ 207 h 218"/>
                <a:gd name="T38" fmla="*/ 139 w 173"/>
                <a:gd name="T39" fmla="*/ 124 h 218"/>
                <a:gd name="T40" fmla="*/ 28 w 173"/>
                <a:gd name="T41" fmla="*/ 127 h 218"/>
                <a:gd name="T42" fmla="*/ 32 w 173"/>
                <a:gd name="T43" fmla="*/ 122 h 218"/>
                <a:gd name="T44" fmla="*/ 5 w 173"/>
                <a:gd name="T45" fmla="*/ 204 h 218"/>
                <a:gd name="T46" fmla="*/ 127 w 173"/>
                <a:gd name="T47" fmla="*/ 167 h 218"/>
                <a:gd name="T48" fmla="*/ 90 w 173"/>
                <a:gd name="T49" fmla="*/ 79 h 218"/>
                <a:gd name="T50" fmla="*/ 103 w 173"/>
                <a:gd name="T51" fmla="*/ 72 h 218"/>
                <a:gd name="T52" fmla="*/ 78 w 173"/>
                <a:gd name="T53" fmla="*/ 117 h 218"/>
                <a:gd name="T54" fmla="*/ 91 w 173"/>
                <a:gd name="T55" fmla="*/ 117 h 218"/>
                <a:gd name="T56" fmla="*/ 86 w 173"/>
                <a:gd name="T57" fmla="*/ 120 h 218"/>
                <a:gd name="T58" fmla="*/ 88 w 173"/>
                <a:gd name="T59" fmla="*/ 24 h 218"/>
                <a:gd name="T60" fmla="*/ 81 w 173"/>
                <a:gd name="T61" fmla="*/ 24 h 218"/>
                <a:gd name="T62" fmla="*/ 80 w 173"/>
                <a:gd name="T63" fmla="*/ 33 h 218"/>
                <a:gd name="T64" fmla="*/ 83 w 173"/>
                <a:gd name="T65" fmla="*/ 33 h 218"/>
                <a:gd name="T66" fmla="*/ 88 w 173"/>
                <a:gd name="T67" fmla="*/ 33 h 218"/>
                <a:gd name="T68" fmla="*/ 91 w 173"/>
                <a:gd name="T69" fmla="*/ 34 h 218"/>
                <a:gd name="T70" fmla="*/ 96 w 173"/>
                <a:gd name="T71" fmla="*/ 67 h 218"/>
                <a:gd name="T72" fmla="*/ 94 w 173"/>
                <a:gd name="T73" fmla="*/ 68 h 218"/>
                <a:gd name="T74" fmla="*/ 90 w 173"/>
                <a:gd name="T75" fmla="*/ 70 h 218"/>
                <a:gd name="T76" fmla="*/ 82 w 173"/>
                <a:gd name="T77" fmla="*/ 70 h 218"/>
                <a:gd name="T78" fmla="*/ 74 w 173"/>
                <a:gd name="T79" fmla="*/ 67 h 218"/>
                <a:gd name="T80" fmla="*/ 71 w 173"/>
                <a:gd name="T81" fmla="*/ 65 h 218"/>
                <a:gd name="T82" fmla="*/ 71 w 173"/>
                <a:gd name="T83" fmla="*/ 64 h 218"/>
                <a:gd name="T84" fmla="*/ 69 w 173"/>
                <a:gd name="T85" fmla="*/ 62 h 218"/>
                <a:gd name="T86" fmla="*/ 66 w 173"/>
                <a:gd name="T87" fmla="*/ 51 h 218"/>
                <a:gd name="T88" fmla="*/ 66 w 173"/>
                <a:gd name="T89" fmla="*/ 72 h 218"/>
                <a:gd name="T90" fmla="*/ 76 w 173"/>
                <a:gd name="T91" fmla="*/ 78 h 218"/>
                <a:gd name="T92" fmla="*/ 54 w 173"/>
                <a:gd name="T93" fmla="*/ 172 h 218"/>
                <a:gd name="T94" fmla="*/ 101 w 173"/>
                <a:gd name="T95" fmla="*/ 213 h 218"/>
                <a:gd name="T96" fmla="*/ 106 w 173"/>
                <a:gd name="T97" fmla="*/ 197 h 218"/>
                <a:gd name="T98" fmla="*/ 68 w 173"/>
                <a:gd name="T99" fmla="*/ 203 h 218"/>
                <a:gd name="T100" fmla="*/ 62 w 173"/>
                <a:gd name="T101" fmla="*/ 167 h 218"/>
                <a:gd name="T102" fmla="*/ 89 w 173"/>
                <a:gd name="T103" fmla="*/ 133 h 218"/>
                <a:gd name="T104" fmla="*/ 114 w 173"/>
                <a:gd name="T105" fmla="*/ 175 h 218"/>
                <a:gd name="T106" fmla="*/ 168 w 173"/>
                <a:gd name="T107" fmla="*/ 204 h 218"/>
                <a:gd name="T108" fmla="*/ 85 w 173"/>
                <a:gd name="T109" fmla="*/ 67 h 218"/>
                <a:gd name="T110" fmla="*/ 85 w 173"/>
                <a:gd name="T111" fmla="*/ 36 h 218"/>
                <a:gd name="T112" fmla="*/ 89 w 173"/>
                <a:gd name="T113" fmla="*/ 47 h 218"/>
                <a:gd name="T114" fmla="*/ 78 w 173"/>
                <a:gd name="T115" fmla="*/ 51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73" h="218">
                  <a:moveTo>
                    <a:pt x="173" y="196"/>
                  </a:moveTo>
                  <a:cubicBezTo>
                    <a:pt x="172" y="195"/>
                    <a:pt x="172" y="195"/>
                    <a:pt x="171" y="195"/>
                  </a:cubicBezTo>
                  <a:cubicBezTo>
                    <a:pt x="154" y="195"/>
                    <a:pt x="154" y="195"/>
                    <a:pt x="154" y="195"/>
                  </a:cubicBezTo>
                  <a:cubicBezTo>
                    <a:pt x="154" y="195"/>
                    <a:pt x="153" y="195"/>
                    <a:pt x="153" y="196"/>
                  </a:cubicBezTo>
                  <a:cubicBezTo>
                    <a:pt x="152" y="196"/>
                    <a:pt x="152" y="197"/>
                    <a:pt x="152" y="197"/>
                  </a:cubicBezTo>
                  <a:cubicBezTo>
                    <a:pt x="152" y="200"/>
                    <a:pt x="152" y="200"/>
                    <a:pt x="152" y="200"/>
                  </a:cubicBezTo>
                  <a:cubicBezTo>
                    <a:pt x="134" y="201"/>
                    <a:pt x="134" y="201"/>
                    <a:pt x="134" y="201"/>
                  </a:cubicBezTo>
                  <a:cubicBezTo>
                    <a:pt x="135" y="201"/>
                    <a:pt x="135" y="199"/>
                    <a:pt x="135" y="198"/>
                  </a:cubicBezTo>
                  <a:cubicBezTo>
                    <a:pt x="127" y="175"/>
                    <a:pt x="127" y="175"/>
                    <a:pt x="127" y="175"/>
                  </a:cubicBezTo>
                  <a:cubicBezTo>
                    <a:pt x="127" y="175"/>
                    <a:pt x="127" y="175"/>
                    <a:pt x="127" y="175"/>
                  </a:cubicBezTo>
                  <a:cubicBezTo>
                    <a:pt x="129" y="174"/>
                    <a:pt x="131" y="172"/>
                    <a:pt x="132" y="170"/>
                  </a:cubicBezTo>
                  <a:cubicBezTo>
                    <a:pt x="134" y="167"/>
                    <a:pt x="134" y="163"/>
                    <a:pt x="133" y="160"/>
                  </a:cubicBezTo>
                  <a:cubicBezTo>
                    <a:pt x="124" y="126"/>
                    <a:pt x="124" y="126"/>
                    <a:pt x="124" y="126"/>
                  </a:cubicBezTo>
                  <a:cubicBezTo>
                    <a:pt x="134" y="126"/>
                    <a:pt x="134" y="126"/>
                    <a:pt x="134" y="126"/>
                  </a:cubicBezTo>
                  <a:cubicBezTo>
                    <a:pt x="134" y="126"/>
                    <a:pt x="134" y="126"/>
                    <a:pt x="134" y="126"/>
                  </a:cubicBezTo>
                  <a:cubicBezTo>
                    <a:pt x="135" y="128"/>
                    <a:pt x="136" y="129"/>
                    <a:pt x="137" y="130"/>
                  </a:cubicBezTo>
                  <a:cubicBezTo>
                    <a:pt x="137" y="130"/>
                    <a:pt x="137" y="131"/>
                    <a:pt x="137" y="131"/>
                  </a:cubicBezTo>
                  <a:cubicBezTo>
                    <a:pt x="137" y="131"/>
                    <a:pt x="138" y="131"/>
                    <a:pt x="138" y="131"/>
                  </a:cubicBezTo>
                  <a:cubicBezTo>
                    <a:pt x="138" y="131"/>
                    <a:pt x="138" y="131"/>
                    <a:pt x="138" y="131"/>
                  </a:cubicBezTo>
                  <a:cubicBezTo>
                    <a:pt x="139" y="132"/>
                    <a:pt x="139" y="132"/>
                    <a:pt x="139" y="132"/>
                  </a:cubicBezTo>
                  <a:cubicBezTo>
                    <a:pt x="139" y="132"/>
                    <a:pt x="140" y="132"/>
                    <a:pt x="140" y="132"/>
                  </a:cubicBezTo>
                  <a:cubicBezTo>
                    <a:pt x="140" y="132"/>
                    <a:pt x="140" y="132"/>
                    <a:pt x="141" y="132"/>
                  </a:cubicBezTo>
                  <a:cubicBezTo>
                    <a:pt x="141" y="132"/>
                    <a:pt x="142" y="132"/>
                    <a:pt x="142" y="132"/>
                  </a:cubicBezTo>
                  <a:cubicBezTo>
                    <a:pt x="147" y="132"/>
                    <a:pt x="151" y="128"/>
                    <a:pt x="151" y="124"/>
                  </a:cubicBezTo>
                  <a:cubicBezTo>
                    <a:pt x="151" y="119"/>
                    <a:pt x="147" y="115"/>
                    <a:pt x="142" y="115"/>
                  </a:cubicBezTo>
                  <a:cubicBezTo>
                    <a:pt x="142" y="115"/>
                    <a:pt x="141" y="115"/>
                    <a:pt x="141" y="115"/>
                  </a:cubicBezTo>
                  <a:cubicBezTo>
                    <a:pt x="140" y="115"/>
                    <a:pt x="140" y="115"/>
                    <a:pt x="140" y="115"/>
                  </a:cubicBezTo>
                  <a:cubicBezTo>
                    <a:pt x="140" y="116"/>
                    <a:pt x="139" y="116"/>
                    <a:pt x="139" y="116"/>
                  </a:cubicBezTo>
                  <a:cubicBezTo>
                    <a:pt x="139" y="116"/>
                    <a:pt x="139" y="116"/>
                    <a:pt x="138" y="116"/>
                  </a:cubicBezTo>
                  <a:cubicBezTo>
                    <a:pt x="138" y="116"/>
                    <a:pt x="138" y="116"/>
                    <a:pt x="138" y="116"/>
                  </a:cubicBezTo>
                  <a:cubicBezTo>
                    <a:pt x="138" y="116"/>
                    <a:pt x="137" y="117"/>
                    <a:pt x="137" y="117"/>
                  </a:cubicBezTo>
                  <a:cubicBezTo>
                    <a:pt x="137" y="117"/>
                    <a:pt x="137" y="117"/>
                    <a:pt x="137" y="117"/>
                  </a:cubicBezTo>
                  <a:cubicBezTo>
                    <a:pt x="135" y="118"/>
                    <a:pt x="135" y="120"/>
                    <a:pt x="134" y="121"/>
                  </a:cubicBezTo>
                  <a:cubicBezTo>
                    <a:pt x="134" y="121"/>
                    <a:pt x="134" y="121"/>
                    <a:pt x="134" y="121"/>
                  </a:cubicBezTo>
                  <a:cubicBezTo>
                    <a:pt x="124" y="121"/>
                    <a:pt x="124" y="121"/>
                    <a:pt x="124" y="121"/>
                  </a:cubicBezTo>
                  <a:cubicBezTo>
                    <a:pt x="123" y="121"/>
                    <a:pt x="123" y="121"/>
                    <a:pt x="123" y="121"/>
                  </a:cubicBezTo>
                  <a:cubicBezTo>
                    <a:pt x="107" y="63"/>
                    <a:pt x="107" y="63"/>
                    <a:pt x="107" y="63"/>
                  </a:cubicBezTo>
                  <a:cubicBezTo>
                    <a:pt x="107" y="62"/>
                    <a:pt x="107" y="62"/>
                    <a:pt x="107" y="62"/>
                  </a:cubicBezTo>
                  <a:cubicBezTo>
                    <a:pt x="107" y="62"/>
                    <a:pt x="107" y="61"/>
                    <a:pt x="107" y="61"/>
                  </a:cubicBezTo>
                  <a:cubicBezTo>
                    <a:pt x="108" y="58"/>
                    <a:pt x="109" y="55"/>
                    <a:pt x="109" y="51"/>
                  </a:cubicBezTo>
                  <a:cubicBezTo>
                    <a:pt x="109" y="45"/>
                    <a:pt x="106" y="39"/>
                    <a:pt x="102" y="35"/>
                  </a:cubicBezTo>
                  <a:cubicBezTo>
                    <a:pt x="100" y="32"/>
                    <a:pt x="97" y="31"/>
                    <a:pt x="95" y="30"/>
                  </a:cubicBezTo>
                  <a:cubicBezTo>
                    <a:pt x="95" y="29"/>
                    <a:pt x="95" y="29"/>
                    <a:pt x="95" y="29"/>
                  </a:cubicBezTo>
                  <a:cubicBezTo>
                    <a:pt x="95" y="10"/>
                    <a:pt x="95" y="10"/>
                    <a:pt x="95" y="10"/>
                  </a:cubicBezTo>
                  <a:cubicBezTo>
                    <a:pt x="95" y="7"/>
                    <a:pt x="94" y="4"/>
                    <a:pt x="92" y="3"/>
                  </a:cubicBezTo>
                  <a:cubicBezTo>
                    <a:pt x="90" y="1"/>
                    <a:pt x="87" y="0"/>
                    <a:pt x="85" y="0"/>
                  </a:cubicBezTo>
                  <a:cubicBezTo>
                    <a:pt x="82" y="0"/>
                    <a:pt x="80" y="1"/>
                    <a:pt x="78" y="3"/>
                  </a:cubicBezTo>
                  <a:cubicBezTo>
                    <a:pt x="76" y="4"/>
                    <a:pt x="75" y="7"/>
                    <a:pt x="75" y="10"/>
                  </a:cubicBezTo>
                  <a:cubicBezTo>
                    <a:pt x="75" y="15"/>
                    <a:pt x="75" y="22"/>
                    <a:pt x="75" y="28"/>
                  </a:cubicBezTo>
                  <a:cubicBezTo>
                    <a:pt x="75" y="29"/>
                    <a:pt x="75" y="29"/>
                    <a:pt x="75" y="30"/>
                  </a:cubicBezTo>
                  <a:cubicBezTo>
                    <a:pt x="72" y="31"/>
                    <a:pt x="70" y="32"/>
                    <a:pt x="68" y="35"/>
                  </a:cubicBezTo>
                  <a:cubicBezTo>
                    <a:pt x="63" y="39"/>
                    <a:pt x="61" y="45"/>
                    <a:pt x="61" y="51"/>
                  </a:cubicBezTo>
                  <a:cubicBezTo>
                    <a:pt x="61" y="55"/>
                    <a:pt x="62" y="58"/>
                    <a:pt x="63" y="61"/>
                  </a:cubicBezTo>
                  <a:cubicBezTo>
                    <a:pt x="63" y="61"/>
                    <a:pt x="62" y="61"/>
                    <a:pt x="62" y="62"/>
                  </a:cubicBezTo>
                  <a:cubicBezTo>
                    <a:pt x="62" y="62"/>
                    <a:pt x="62" y="62"/>
                    <a:pt x="62" y="62"/>
                  </a:cubicBezTo>
                  <a:cubicBezTo>
                    <a:pt x="46" y="121"/>
                    <a:pt x="46" y="121"/>
                    <a:pt x="46" y="121"/>
                  </a:cubicBezTo>
                  <a:cubicBezTo>
                    <a:pt x="46" y="121"/>
                    <a:pt x="46" y="121"/>
                    <a:pt x="46" y="121"/>
                  </a:cubicBezTo>
                  <a:cubicBezTo>
                    <a:pt x="37" y="121"/>
                    <a:pt x="37" y="121"/>
                    <a:pt x="37" y="121"/>
                  </a:cubicBezTo>
                  <a:cubicBezTo>
                    <a:pt x="36" y="120"/>
                    <a:pt x="35" y="118"/>
                    <a:pt x="34" y="117"/>
                  </a:cubicBezTo>
                  <a:cubicBezTo>
                    <a:pt x="34" y="117"/>
                    <a:pt x="34" y="117"/>
                    <a:pt x="34" y="117"/>
                  </a:cubicBezTo>
                  <a:cubicBezTo>
                    <a:pt x="33" y="117"/>
                    <a:pt x="33" y="116"/>
                    <a:pt x="33" y="116"/>
                  </a:cubicBezTo>
                  <a:cubicBezTo>
                    <a:pt x="33" y="116"/>
                    <a:pt x="32" y="116"/>
                    <a:pt x="32" y="116"/>
                  </a:cubicBezTo>
                  <a:cubicBezTo>
                    <a:pt x="32" y="116"/>
                    <a:pt x="32" y="116"/>
                    <a:pt x="32" y="116"/>
                  </a:cubicBezTo>
                  <a:cubicBezTo>
                    <a:pt x="31" y="116"/>
                    <a:pt x="31" y="116"/>
                    <a:pt x="31" y="115"/>
                  </a:cubicBezTo>
                  <a:cubicBezTo>
                    <a:pt x="30" y="115"/>
                    <a:pt x="30" y="115"/>
                    <a:pt x="30" y="115"/>
                  </a:cubicBezTo>
                  <a:cubicBezTo>
                    <a:pt x="30" y="115"/>
                    <a:pt x="29" y="115"/>
                    <a:pt x="28" y="115"/>
                  </a:cubicBezTo>
                  <a:cubicBezTo>
                    <a:pt x="24" y="115"/>
                    <a:pt x="20" y="119"/>
                    <a:pt x="20" y="124"/>
                  </a:cubicBezTo>
                  <a:cubicBezTo>
                    <a:pt x="20" y="128"/>
                    <a:pt x="24" y="132"/>
                    <a:pt x="28" y="132"/>
                  </a:cubicBezTo>
                  <a:cubicBezTo>
                    <a:pt x="29" y="132"/>
                    <a:pt x="30" y="132"/>
                    <a:pt x="30" y="132"/>
                  </a:cubicBezTo>
                  <a:cubicBezTo>
                    <a:pt x="30" y="132"/>
                    <a:pt x="30" y="132"/>
                    <a:pt x="31" y="132"/>
                  </a:cubicBezTo>
                  <a:cubicBezTo>
                    <a:pt x="31" y="132"/>
                    <a:pt x="31" y="132"/>
                    <a:pt x="32" y="132"/>
                  </a:cubicBezTo>
                  <a:cubicBezTo>
                    <a:pt x="32" y="132"/>
                    <a:pt x="32" y="132"/>
                    <a:pt x="32" y="131"/>
                  </a:cubicBezTo>
                  <a:cubicBezTo>
                    <a:pt x="32" y="131"/>
                    <a:pt x="33" y="131"/>
                    <a:pt x="33" y="131"/>
                  </a:cubicBezTo>
                  <a:cubicBezTo>
                    <a:pt x="33" y="131"/>
                    <a:pt x="33" y="131"/>
                    <a:pt x="34" y="131"/>
                  </a:cubicBezTo>
                  <a:cubicBezTo>
                    <a:pt x="34" y="131"/>
                    <a:pt x="34" y="130"/>
                    <a:pt x="34" y="130"/>
                  </a:cubicBezTo>
                  <a:cubicBezTo>
                    <a:pt x="35" y="129"/>
                    <a:pt x="36" y="128"/>
                    <a:pt x="37" y="126"/>
                  </a:cubicBezTo>
                  <a:cubicBezTo>
                    <a:pt x="45" y="126"/>
                    <a:pt x="45" y="126"/>
                    <a:pt x="45" y="126"/>
                  </a:cubicBezTo>
                  <a:cubicBezTo>
                    <a:pt x="36" y="160"/>
                    <a:pt x="36" y="160"/>
                    <a:pt x="36" y="160"/>
                  </a:cubicBezTo>
                  <a:cubicBezTo>
                    <a:pt x="35" y="163"/>
                    <a:pt x="36" y="167"/>
                    <a:pt x="37" y="170"/>
                  </a:cubicBezTo>
                  <a:cubicBezTo>
                    <a:pt x="39" y="172"/>
                    <a:pt x="40" y="174"/>
                    <a:pt x="43" y="175"/>
                  </a:cubicBezTo>
                  <a:cubicBezTo>
                    <a:pt x="43" y="175"/>
                    <a:pt x="43" y="175"/>
                    <a:pt x="43" y="175"/>
                  </a:cubicBezTo>
                  <a:cubicBezTo>
                    <a:pt x="35" y="198"/>
                    <a:pt x="35" y="198"/>
                    <a:pt x="35" y="198"/>
                  </a:cubicBezTo>
                  <a:cubicBezTo>
                    <a:pt x="35" y="199"/>
                    <a:pt x="35" y="200"/>
                    <a:pt x="36" y="201"/>
                  </a:cubicBezTo>
                  <a:cubicBezTo>
                    <a:pt x="22" y="200"/>
                    <a:pt x="22" y="200"/>
                    <a:pt x="22" y="200"/>
                  </a:cubicBezTo>
                  <a:cubicBezTo>
                    <a:pt x="22" y="197"/>
                    <a:pt x="22" y="197"/>
                    <a:pt x="22" y="197"/>
                  </a:cubicBezTo>
                  <a:cubicBezTo>
                    <a:pt x="22" y="197"/>
                    <a:pt x="21" y="196"/>
                    <a:pt x="21" y="196"/>
                  </a:cubicBezTo>
                  <a:cubicBezTo>
                    <a:pt x="20" y="195"/>
                    <a:pt x="20" y="195"/>
                    <a:pt x="19" y="195"/>
                  </a:cubicBezTo>
                  <a:cubicBezTo>
                    <a:pt x="3" y="195"/>
                    <a:pt x="3" y="195"/>
                    <a:pt x="3" y="195"/>
                  </a:cubicBezTo>
                  <a:cubicBezTo>
                    <a:pt x="2" y="195"/>
                    <a:pt x="1" y="195"/>
                    <a:pt x="1" y="196"/>
                  </a:cubicBezTo>
                  <a:cubicBezTo>
                    <a:pt x="0" y="196"/>
                    <a:pt x="0" y="197"/>
                    <a:pt x="0" y="197"/>
                  </a:cubicBezTo>
                  <a:cubicBezTo>
                    <a:pt x="0" y="207"/>
                    <a:pt x="0" y="207"/>
                    <a:pt x="0" y="207"/>
                  </a:cubicBezTo>
                  <a:cubicBezTo>
                    <a:pt x="0" y="207"/>
                    <a:pt x="0" y="208"/>
                    <a:pt x="1" y="209"/>
                  </a:cubicBezTo>
                  <a:cubicBezTo>
                    <a:pt x="1" y="209"/>
                    <a:pt x="2" y="209"/>
                    <a:pt x="3" y="209"/>
                  </a:cubicBezTo>
                  <a:cubicBezTo>
                    <a:pt x="19" y="209"/>
                    <a:pt x="19" y="209"/>
                    <a:pt x="19" y="209"/>
                  </a:cubicBezTo>
                  <a:cubicBezTo>
                    <a:pt x="20" y="209"/>
                    <a:pt x="20" y="209"/>
                    <a:pt x="21" y="209"/>
                  </a:cubicBezTo>
                  <a:cubicBezTo>
                    <a:pt x="21" y="208"/>
                    <a:pt x="22" y="207"/>
                    <a:pt x="22" y="207"/>
                  </a:cubicBezTo>
                  <a:cubicBezTo>
                    <a:pt x="22" y="205"/>
                    <a:pt x="22" y="205"/>
                    <a:pt x="22" y="205"/>
                  </a:cubicBezTo>
                  <a:cubicBezTo>
                    <a:pt x="37" y="206"/>
                    <a:pt x="37" y="206"/>
                    <a:pt x="37" y="206"/>
                  </a:cubicBezTo>
                  <a:cubicBezTo>
                    <a:pt x="68" y="208"/>
                    <a:pt x="68" y="208"/>
                    <a:pt x="68" y="208"/>
                  </a:cubicBezTo>
                  <a:cubicBezTo>
                    <a:pt x="68" y="215"/>
                    <a:pt x="68" y="215"/>
                    <a:pt x="68" y="215"/>
                  </a:cubicBezTo>
                  <a:cubicBezTo>
                    <a:pt x="68" y="216"/>
                    <a:pt x="68" y="216"/>
                    <a:pt x="69" y="217"/>
                  </a:cubicBezTo>
                  <a:cubicBezTo>
                    <a:pt x="69" y="217"/>
                    <a:pt x="70" y="218"/>
                    <a:pt x="71" y="218"/>
                  </a:cubicBezTo>
                  <a:cubicBezTo>
                    <a:pt x="103" y="218"/>
                    <a:pt x="103" y="218"/>
                    <a:pt x="103" y="218"/>
                  </a:cubicBezTo>
                  <a:cubicBezTo>
                    <a:pt x="104" y="218"/>
                    <a:pt x="104" y="217"/>
                    <a:pt x="105" y="217"/>
                  </a:cubicBezTo>
                  <a:cubicBezTo>
                    <a:pt x="105" y="216"/>
                    <a:pt x="106" y="216"/>
                    <a:pt x="106" y="215"/>
                  </a:cubicBezTo>
                  <a:cubicBezTo>
                    <a:pt x="106" y="208"/>
                    <a:pt x="106" y="208"/>
                    <a:pt x="106" y="208"/>
                  </a:cubicBezTo>
                  <a:cubicBezTo>
                    <a:pt x="133" y="206"/>
                    <a:pt x="133" y="206"/>
                    <a:pt x="133" y="206"/>
                  </a:cubicBezTo>
                  <a:cubicBezTo>
                    <a:pt x="152" y="205"/>
                    <a:pt x="152" y="205"/>
                    <a:pt x="152" y="205"/>
                  </a:cubicBezTo>
                  <a:cubicBezTo>
                    <a:pt x="152" y="207"/>
                    <a:pt x="152" y="207"/>
                    <a:pt x="152" y="207"/>
                  </a:cubicBezTo>
                  <a:cubicBezTo>
                    <a:pt x="152" y="207"/>
                    <a:pt x="152" y="208"/>
                    <a:pt x="153" y="209"/>
                  </a:cubicBezTo>
                  <a:cubicBezTo>
                    <a:pt x="153" y="209"/>
                    <a:pt x="154" y="209"/>
                    <a:pt x="154" y="209"/>
                  </a:cubicBezTo>
                  <a:cubicBezTo>
                    <a:pt x="171" y="209"/>
                    <a:pt x="171" y="209"/>
                    <a:pt x="171" y="209"/>
                  </a:cubicBezTo>
                  <a:cubicBezTo>
                    <a:pt x="172" y="209"/>
                    <a:pt x="172" y="209"/>
                    <a:pt x="173" y="209"/>
                  </a:cubicBezTo>
                  <a:cubicBezTo>
                    <a:pt x="173" y="208"/>
                    <a:pt x="173" y="207"/>
                    <a:pt x="173" y="207"/>
                  </a:cubicBezTo>
                  <a:cubicBezTo>
                    <a:pt x="173" y="197"/>
                    <a:pt x="173" y="197"/>
                    <a:pt x="173" y="197"/>
                  </a:cubicBezTo>
                  <a:cubicBezTo>
                    <a:pt x="173" y="197"/>
                    <a:pt x="173" y="196"/>
                    <a:pt x="173" y="196"/>
                  </a:cubicBezTo>
                  <a:close/>
                  <a:moveTo>
                    <a:pt x="142" y="120"/>
                  </a:moveTo>
                  <a:cubicBezTo>
                    <a:pt x="144" y="120"/>
                    <a:pt x="146" y="122"/>
                    <a:pt x="146" y="124"/>
                  </a:cubicBezTo>
                  <a:cubicBezTo>
                    <a:pt x="146" y="126"/>
                    <a:pt x="144" y="127"/>
                    <a:pt x="142" y="127"/>
                  </a:cubicBezTo>
                  <a:cubicBezTo>
                    <a:pt x="140" y="127"/>
                    <a:pt x="139" y="126"/>
                    <a:pt x="139" y="124"/>
                  </a:cubicBezTo>
                  <a:cubicBezTo>
                    <a:pt x="139" y="122"/>
                    <a:pt x="140" y="120"/>
                    <a:pt x="142" y="120"/>
                  </a:cubicBezTo>
                  <a:close/>
                  <a:moveTo>
                    <a:pt x="32" y="125"/>
                  </a:moveTo>
                  <a:cubicBezTo>
                    <a:pt x="31" y="126"/>
                    <a:pt x="31" y="126"/>
                    <a:pt x="31" y="127"/>
                  </a:cubicBezTo>
                  <a:cubicBezTo>
                    <a:pt x="30" y="127"/>
                    <a:pt x="30" y="127"/>
                    <a:pt x="30" y="127"/>
                  </a:cubicBezTo>
                  <a:cubicBezTo>
                    <a:pt x="30" y="127"/>
                    <a:pt x="30" y="127"/>
                    <a:pt x="30" y="127"/>
                  </a:cubicBezTo>
                  <a:cubicBezTo>
                    <a:pt x="29" y="127"/>
                    <a:pt x="29" y="127"/>
                    <a:pt x="28" y="127"/>
                  </a:cubicBezTo>
                  <a:cubicBezTo>
                    <a:pt x="26" y="127"/>
                    <a:pt x="25" y="126"/>
                    <a:pt x="25" y="124"/>
                  </a:cubicBezTo>
                  <a:cubicBezTo>
                    <a:pt x="25" y="122"/>
                    <a:pt x="26" y="120"/>
                    <a:pt x="28" y="120"/>
                  </a:cubicBezTo>
                  <a:cubicBezTo>
                    <a:pt x="29" y="120"/>
                    <a:pt x="29" y="120"/>
                    <a:pt x="30" y="120"/>
                  </a:cubicBezTo>
                  <a:cubicBezTo>
                    <a:pt x="30" y="120"/>
                    <a:pt x="30" y="120"/>
                    <a:pt x="30" y="121"/>
                  </a:cubicBezTo>
                  <a:cubicBezTo>
                    <a:pt x="30" y="121"/>
                    <a:pt x="30" y="121"/>
                    <a:pt x="31" y="121"/>
                  </a:cubicBezTo>
                  <a:cubicBezTo>
                    <a:pt x="31" y="121"/>
                    <a:pt x="31" y="122"/>
                    <a:pt x="32" y="122"/>
                  </a:cubicBezTo>
                  <a:cubicBezTo>
                    <a:pt x="32" y="122"/>
                    <a:pt x="32" y="122"/>
                    <a:pt x="32" y="122"/>
                  </a:cubicBezTo>
                  <a:cubicBezTo>
                    <a:pt x="31" y="123"/>
                    <a:pt x="31" y="123"/>
                    <a:pt x="31" y="124"/>
                  </a:cubicBezTo>
                  <a:cubicBezTo>
                    <a:pt x="31" y="124"/>
                    <a:pt x="31" y="125"/>
                    <a:pt x="32" y="125"/>
                  </a:cubicBezTo>
                  <a:cubicBezTo>
                    <a:pt x="32" y="125"/>
                    <a:pt x="32" y="125"/>
                    <a:pt x="32" y="125"/>
                  </a:cubicBezTo>
                  <a:close/>
                  <a:moveTo>
                    <a:pt x="17" y="204"/>
                  </a:moveTo>
                  <a:cubicBezTo>
                    <a:pt x="5" y="204"/>
                    <a:pt x="5" y="204"/>
                    <a:pt x="5" y="204"/>
                  </a:cubicBezTo>
                  <a:cubicBezTo>
                    <a:pt x="5" y="200"/>
                    <a:pt x="5" y="200"/>
                    <a:pt x="5" y="200"/>
                  </a:cubicBezTo>
                  <a:cubicBezTo>
                    <a:pt x="17" y="200"/>
                    <a:pt x="17" y="200"/>
                    <a:pt x="17" y="200"/>
                  </a:cubicBezTo>
                  <a:lnTo>
                    <a:pt x="17" y="204"/>
                  </a:lnTo>
                  <a:close/>
                  <a:moveTo>
                    <a:pt x="127" y="161"/>
                  </a:moveTo>
                  <a:cubicBezTo>
                    <a:pt x="127" y="162"/>
                    <a:pt x="128" y="162"/>
                    <a:pt x="128" y="163"/>
                  </a:cubicBezTo>
                  <a:cubicBezTo>
                    <a:pt x="128" y="164"/>
                    <a:pt x="127" y="166"/>
                    <a:pt x="127" y="167"/>
                  </a:cubicBezTo>
                  <a:cubicBezTo>
                    <a:pt x="126" y="168"/>
                    <a:pt x="124" y="170"/>
                    <a:pt x="122" y="170"/>
                  </a:cubicBezTo>
                  <a:cubicBezTo>
                    <a:pt x="122" y="170"/>
                    <a:pt x="121" y="170"/>
                    <a:pt x="120" y="170"/>
                  </a:cubicBezTo>
                  <a:cubicBezTo>
                    <a:pt x="119" y="170"/>
                    <a:pt x="118" y="170"/>
                    <a:pt x="117" y="169"/>
                  </a:cubicBezTo>
                  <a:cubicBezTo>
                    <a:pt x="115" y="168"/>
                    <a:pt x="114" y="167"/>
                    <a:pt x="113" y="165"/>
                  </a:cubicBezTo>
                  <a:cubicBezTo>
                    <a:pt x="113" y="165"/>
                    <a:pt x="113" y="165"/>
                    <a:pt x="113" y="165"/>
                  </a:cubicBezTo>
                  <a:cubicBezTo>
                    <a:pt x="90" y="79"/>
                    <a:pt x="90" y="79"/>
                    <a:pt x="90" y="79"/>
                  </a:cubicBezTo>
                  <a:cubicBezTo>
                    <a:pt x="91" y="78"/>
                    <a:pt x="92" y="78"/>
                    <a:pt x="93" y="78"/>
                  </a:cubicBezTo>
                  <a:cubicBezTo>
                    <a:pt x="94" y="78"/>
                    <a:pt x="94" y="77"/>
                    <a:pt x="95" y="77"/>
                  </a:cubicBezTo>
                  <a:cubicBezTo>
                    <a:pt x="96" y="77"/>
                    <a:pt x="98" y="76"/>
                    <a:pt x="99" y="75"/>
                  </a:cubicBezTo>
                  <a:cubicBezTo>
                    <a:pt x="100" y="75"/>
                    <a:pt x="101" y="74"/>
                    <a:pt x="101" y="74"/>
                  </a:cubicBezTo>
                  <a:cubicBezTo>
                    <a:pt x="102" y="73"/>
                    <a:pt x="102" y="73"/>
                    <a:pt x="103" y="72"/>
                  </a:cubicBezTo>
                  <a:cubicBezTo>
                    <a:pt x="103" y="72"/>
                    <a:pt x="103" y="72"/>
                    <a:pt x="103" y="72"/>
                  </a:cubicBezTo>
                  <a:lnTo>
                    <a:pt x="127" y="161"/>
                  </a:lnTo>
                  <a:close/>
                  <a:moveTo>
                    <a:pt x="90" y="116"/>
                  </a:moveTo>
                  <a:cubicBezTo>
                    <a:pt x="90" y="115"/>
                    <a:pt x="89" y="115"/>
                    <a:pt x="89" y="115"/>
                  </a:cubicBezTo>
                  <a:cubicBezTo>
                    <a:pt x="81" y="115"/>
                    <a:pt x="81" y="115"/>
                    <a:pt x="81" y="115"/>
                  </a:cubicBezTo>
                  <a:cubicBezTo>
                    <a:pt x="80" y="115"/>
                    <a:pt x="80" y="115"/>
                    <a:pt x="79" y="116"/>
                  </a:cubicBezTo>
                  <a:cubicBezTo>
                    <a:pt x="79" y="116"/>
                    <a:pt x="78" y="117"/>
                    <a:pt x="78" y="117"/>
                  </a:cubicBezTo>
                  <a:cubicBezTo>
                    <a:pt x="78" y="121"/>
                    <a:pt x="78" y="121"/>
                    <a:pt x="78" y="121"/>
                  </a:cubicBezTo>
                  <a:cubicBezTo>
                    <a:pt x="74" y="121"/>
                    <a:pt x="74" y="121"/>
                    <a:pt x="74" y="121"/>
                  </a:cubicBezTo>
                  <a:cubicBezTo>
                    <a:pt x="85" y="82"/>
                    <a:pt x="85" y="82"/>
                    <a:pt x="85" y="82"/>
                  </a:cubicBezTo>
                  <a:cubicBezTo>
                    <a:pt x="95" y="121"/>
                    <a:pt x="95" y="121"/>
                    <a:pt x="95" y="121"/>
                  </a:cubicBezTo>
                  <a:cubicBezTo>
                    <a:pt x="91" y="121"/>
                    <a:pt x="91" y="121"/>
                    <a:pt x="91" y="121"/>
                  </a:cubicBezTo>
                  <a:cubicBezTo>
                    <a:pt x="91" y="117"/>
                    <a:pt x="91" y="117"/>
                    <a:pt x="91" y="117"/>
                  </a:cubicBezTo>
                  <a:cubicBezTo>
                    <a:pt x="91" y="117"/>
                    <a:pt x="91" y="116"/>
                    <a:pt x="90" y="116"/>
                  </a:cubicBezTo>
                  <a:close/>
                  <a:moveTo>
                    <a:pt x="86" y="120"/>
                  </a:moveTo>
                  <a:cubicBezTo>
                    <a:pt x="86" y="128"/>
                    <a:pt x="86" y="128"/>
                    <a:pt x="86" y="128"/>
                  </a:cubicBezTo>
                  <a:cubicBezTo>
                    <a:pt x="83" y="128"/>
                    <a:pt x="83" y="128"/>
                    <a:pt x="83" y="128"/>
                  </a:cubicBezTo>
                  <a:cubicBezTo>
                    <a:pt x="83" y="120"/>
                    <a:pt x="83" y="120"/>
                    <a:pt x="83" y="120"/>
                  </a:cubicBezTo>
                  <a:lnTo>
                    <a:pt x="86" y="120"/>
                  </a:lnTo>
                  <a:close/>
                  <a:moveTo>
                    <a:pt x="81" y="10"/>
                  </a:moveTo>
                  <a:cubicBezTo>
                    <a:pt x="81" y="9"/>
                    <a:pt x="82" y="8"/>
                    <a:pt x="82" y="7"/>
                  </a:cubicBezTo>
                  <a:cubicBezTo>
                    <a:pt x="83" y="6"/>
                    <a:pt x="84" y="6"/>
                    <a:pt x="85" y="6"/>
                  </a:cubicBezTo>
                  <a:cubicBezTo>
                    <a:pt x="86" y="6"/>
                    <a:pt x="87" y="6"/>
                    <a:pt x="87" y="7"/>
                  </a:cubicBezTo>
                  <a:cubicBezTo>
                    <a:pt x="88" y="8"/>
                    <a:pt x="88" y="9"/>
                    <a:pt x="88" y="10"/>
                  </a:cubicBezTo>
                  <a:cubicBezTo>
                    <a:pt x="88" y="24"/>
                    <a:pt x="88" y="24"/>
                    <a:pt x="88" y="24"/>
                  </a:cubicBezTo>
                  <a:cubicBezTo>
                    <a:pt x="88" y="24"/>
                    <a:pt x="88" y="24"/>
                    <a:pt x="88" y="24"/>
                  </a:cubicBezTo>
                  <a:cubicBezTo>
                    <a:pt x="87" y="24"/>
                    <a:pt x="87" y="24"/>
                    <a:pt x="87" y="24"/>
                  </a:cubicBezTo>
                  <a:cubicBezTo>
                    <a:pt x="86" y="24"/>
                    <a:pt x="85" y="24"/>
                    <a:pt x="85" y="24"/>
                  </a:cubicBezTo>
                  <a:cubicBezTo>
                    <a:pt x="84" y="24"/>
                    <a:pt x="84" y="24"/>
                    <a:pt x="83" y="24"/>
                  </a:cubicBezTo>
                  <a:cubicBezTo>
                    <a:pt x="83" y="24"/>
                    <a:pt x="82" y="24"/>
                    <a:pt x="82" y="24"/>
                  </a:cubicBezTo>
                  <a:cubicBezTo>
                    <a:pt x="82" y="24"/>
                    <a:pt x="81" y="24"/>
                    <a:pt x="81" y="24"/>
                  </a:cubicBezTo>
                  <a:lnTo>
                    <a:pt x="81" y="10"/>
                  </a:lnTo>
                  <a:close/>
                  <a:moveTo>
                    <a:pt x="71" y="38"/>
                  </a:moveTo>
                  <a:cubicBezTo>
                    <a:pt x="73" y="36"/>
                    <a:pt x="76" y="35"/>
                    <a:pt x="78" y="34"/>
                  </a:cubicBezTo>
                  <a:cubicBezTo>
                    <a:pt x="78" y="34"/>
                    <a:pt x="78" y="34"/>
                    <a:pt x="78" y="34"/>
                  </a:cubicBezTo>
                  <a:cubicBezTo>
                    <a:pt x="79" y="33"/>
                    <a:pt x="79" y="33"/>
                    <a:pt x="80" y="33"/>
                  </a:cubicBezTo>
                  <a:cubicBezTo>
                    <a:pt x="80" y="33"/>
                    <a:pt x="80" y="33"/>
                    <a:pt x="80" y="33"/>
                  </a:cubicBezTo>
                  <a:cubicBezTo>
                    <a:pt x="80" y="33"/>
                    <a:pt x="80" y="33"/>
                    <a:pt x="80" y="33"/>
                  </a:cubicBezTo>
                  <a:cubicBezTo>
                    <a:pt x="80" y="33"/>
                    <a:pt x="80" y="33"/>
                    <a:pt x="80" y="33"/>
                  </a:cubicBezTo>
                  <a:cubicBezTo>
                    <a:pt x="80" y="33"/>
                    <a:pt x="81" y="33"/>
                    <a:pt x="81" y="33"/>
                  </a:cubicBezTo>
                  <a:cubicBezTo>
                    <a:pt x="81" y="33"/>
                    <a:pt x="81" y="33"/>
                    <a:pt x="81" y="33"/>
                  </a:cubicBezTo>
                  <a:cubicBezTo>
                    <a:pt x="81" y="33"/>
                    <a:pt x="81" y="33"/>
                    <a:pt x="82" y="33"/>
                  </a:cubicBezTo>
                  <a:cubicBezTo>
                    <a:pt x="82" y="33"/>
                    <a:pt x="82" y="33"/>
                    <a:pt x="83" y="33"/>
                  </a:cubicBezTo>
                  <a:cubicBezTo>
                    <a:pt x="83" y="33"/>
                    <a:pt x="83" y="33"/>
                    <a:pt x="83" y="33"/>
                  </a:cubicBezTo>
                  <a:cubicBezTo>
                    <a:pt x="83" y="33"/>
                    <a:pt x="83" y="33"/>
                    <a:pt x="83" y="33"/>
                  </a:cubicBezTo>
                  <a:cubicBezTo>
                    <a:pt x="84" y="33"/>
                    <a:pt x="84" y="32"/>
                    <a:pt x="85" y="32"/>
                  </a:cubicBezTo>
                  <a:cubicBezTo>
                    <a:pt x="85" y="32"/>
                    <a:pt x="86" y="33"/>
                    <a:pt x="86" y="33"/>
                  </a:cubicBezTo>
                  <a:cubicBezTo>
                    <a:pt x="87" y="33"/>
                    <a:pt x="87" y="33"/>
                    <a:pt x="88" y="33"/>
                  </a:cubicBezTo>
                  <a:cubicBezTo>
                    <a:pt x="88" y="33"/>
                    <a:pt x="88" y="33"/>
                    <a:pt x="88" y="33"/>
                  </a:cubicBezTo>
                  <a:cubicBezTo>
                    <a:pt x="88" y="33"/>
                    <a:pt x="88" y="33"/>
                    <a:pt x="88" y="33"/>
                  </a:cubicBezTo>
                  <a:cubicBezTo>
                    <a:pt x="88" y="33"/>
                    <a:pt x="88" y="33"/>
                    <a:pt x="88" y="33"/>
                  </a:cubicBezTo>
                  <a:cubicBezTo>
                    <a:pt x="88" y="33"/>
                    <a:pt x="88" y="33"/>
                    <a:pt x="88" y="33"/>
                  </a:cubicBezTo>
                  <a:cubicBezTo>
                    <a:pt x="88" y="33"/>
                    <a:pt x="88" y="33"/>
                    <a:pt x="88" y="33"/>
                  </a:cubicBezTo>
                  <a:cubicBezTo>
                    <a:pt x="89" y="33"/>
                    <a:pt x="90" y="33"/>
                    <a:pt x="91" y="34"/>
                  </a:cubicBezTo>
                  <a:cubicBezTo>
                    <a:pt x="91" y="34"/>
                    <a:pt x="91" y="34"/>
                    <a:pt x="91" y="34"/>
                  </a:cubicBezTo>
                  <a:cubicBezTo>
                    <a:pt x="94" y="35"/>
                    <a:pt x="96" y="36"/>
                    <a:pt x="98" y="38"/>
                  </a:cubicBezTo>
                  <a:cubicBezTo>
                    <a:pt x="102" y="41"/>
                    <a:pt x="104" y="46"/>
                    <a:pt x="104" y="51"/>
                  </a:cubicBezTo>
                  <a:cubicBezTo>
                    <a:pt x="104" y="55"/>
                    <a:pt x="103" y="59"/>
                    <a:pt x="101" y="62"/>
                  </a:cubicBezTo>
                  <a:cubicBezTo>
                    <a:pt x="100" y="63"/>
                    <a:pt x="99" y="64"/>
                    <a:pt x="98" y="65"/>
                  </a:cubicBezTo>
                  <a:cubicBezTo>
                    <a:pt x="98" y="65"/>
                    <a:pt x="97" y="66"/>
                    <a:pt x="97" y="66"/>
                  </a:cubicBezTo>
                  <a:cubicBezTo>
                    <a:pt x="97" y="66"/>
                    <a:pt x="96" y="67"/>
                    <a:pt x="96" y="67"/>
                  </a:cubicBezTo>
                  <a:cubicBezTo>
                    <a:pt x="96" y="67"/>
                    <a:pt x="96" y="67"/>
                    <a:pt x="96" y="67"/>
                  </a:cubicBezTo>
                  <a:cubicBezTo>
                    <a:pt x="96" y="67"/>
                    <a:pt x="96" y="67"/>
                    <a:pt x="95" y="67"/>
                  </a:cubicBezTo>
                  <a:cubicBezTo>
                    <a:pt x="95" y="68"/>
                    <a:pt x="94" y="68"/>
                    <a:pt x="94" y="68"/>
                  </a:cubicBezTo>
                  <a:cubicBezTo>
                    <a:pt x="94" y="68"/>
                    <a:pt x="94" y="68"/>
                    <a:pt x="94" y="68"/>
                  </a:cubicBezTo>
                  <a:cubicBezTo>
                    <a:pt x="94" y="68"/>
                    <a:pt x="94" y="68"/>
                    <a:pt x="94" y="68"/>
                  </a:cubicBezTo>
                  <a:cubicBezTo>
                    <a:pt x="94" y="68"/>
                    <a:pt x="94" y="68"/>
                    <a:pt x="94" y="68"/>
                  </a:cubicBezTo>
                  <a:cubicBezTo>
                    <a:pt x="93" y="68"/>
                    <a:pt x="93" y="69"/>
                    <a:pt x="92" y="69"/>
                  </a:cubicBezTo>
                  <a:cubicBezTo>
                    <a:pt x="92" y="69"/>
                    <a:pt x="92" y="69"/>
                    <a:pt x="91" y="69"/>
                  </a:cubicBezTo>
                  <a:cubicBezTo>
                    <a:pt x="91" y="69"/>
                    <a:pt x="91" y="69"/>
                    <a:pt x="91" y="69"/>
                  </a:cubicBezTo>
                  <a:cubicBezTo>
                    <a:pt x="91" y="69"/>
                    <a:pt x="91" y="69"/>
                    <a:pt x="91" y="69"/>
                  </a:cubicBezTo>
                  <a:cubicBezTo>
                    <a:pt x="91" y="70"/>
                    <a:pt x="91" y="70"/>
                    <a:pt x="90" y="70"/>
                  </a:cubicBezTo>
                  <a:cubicBezTo>
                    <a:pt x="90" y="70"/>
                    <a:pt x="90" y="70"/>
                    <a:pt x="90" y="70"/>
                  </a:cubicBezTo>
                  <a:cubicBezTo>
                    <a:pt x="89" y="70"/>
                    <a:pt x="89" y="70"/>
                    <a:pt x="89" y="70"/>
                  </a:cubicBezTo>
                  <a:cubicBezTo>
                    <a:pt x="88" y="70"/>
                    <a:pt x="88" y="70"/>
                    <a:pt x="87" y="70"/>
                  </a:cubicBezTo>
                  <a:cubicBezTo>
                    <a:pt x="87" y="70"/>
                    <a:pt x="87" y="70"/>
                    <a:pt x="86" y="70"/>
                  </a:cubicBezTo>
                  <a:cubicBezTo>
                    <a:pt x="86" y="70"/>
                    <a:pt x="85" y="70"/>
                    <a:pt x="85" y="70"/>
                  </a:cubicBezTo>
                  <a:cubicBezTo>
                    <a:pt x="84" y="70"/>
                    <a:pt x="84" y="70"/>
                    <a:pt x="83" y="70"/>
                  </a:cubicBezTo>
                  <a:cubicBezTo>
                    <a:pt x="83" y="70"/>
                    <a:pt x="82" y="70"/>
                    <a:pt x="82" y="70"/>
                  </a:cubicBezTo>
                  <a:cubicBezTo>
                    <a:pt x="81" y="70"/>
                    <a:pt x="80" y="70"/>
                    <a:pt x="79" y="69"/>
                  </a:cubicBezTo>
                  <a:cubicBezTo>
                    <a:pt x="79" y="69"/>
                    <a:pt x="78" y="69"/>
                    <a:pt x="78" y="69"/>
                  </a:cubicBezTo>
                  <a:cubicBezTo>
                    <a:pt x="78" y="69"/>
                    <a:pt x="78" y="69"/>
                    <a:pt x="77" y="69"/>
                  </a:cubicBezTo>
                  <a:cubicBezTo>
                    <a:pt x="77" y="69"/>
                    <a:pt x="76" y="68"/>
                    <a:pt x="76" y="68"/>
                  </a:cubicBezTo>
                  <a:cubicBezTo>
                    <a:pt x="75" y="68"/>
                    <a:pt x="75" y="68"/>
                    <a:pt x="74" y="67"/>
                  </a:cubicBezTo>
                  <a:cubicBezTo>
                    <a:pt x="74" y="67"/>
                    <a:pt x="74" y="67"/>
                    <a:pt x="74" y="67"/>
                  </a:cubicBezTo>
                  <a:cubicBezTo>
                    <a:pt x="74" y="67"/>
                    <a:pt x="74" y="67"/>
                    <a:pt x="74" y="67"/>
                  </a:cubicBezTo>
                  <a:cubicBezTo>
                    <a:pt x="74" y="67"/>
                    <a:pt x="73" y="67"/>
                    <a:pt x="73" y="66"/>
                  </a:cubicBezTo>
                  <a:cubicBezTo>
                    <a:pt x="73" y="66"/>
                    <a:pt x="73" y="66"/>
                    <a:pt x="73" y="66"/>
                  </a:cubicBezTo>
                  <a:cubicBezTo>
                    <a:pt x="73" y="66"/>
                    <a:pt x="73" y="66"/>
                    <a:pt x="72" y="66"/>
                  </a:cubicBezTo>
                  <a:cubicBezTo>
                    <a:pt x="72" y="66"/>
                    <a:pt x="72" y="65"/>
                    <a:pt x="72" y="65"/>
                  </a:cubicBezTo>
                  <a:cubicBezTo>
                    <a:pt x="71" y="65"/>
                    <a:pt x="71" y="65"/>
                    <a:pt x="71" y="65"/>
                  </a:cubicBezTo>
                  <a:cubicBezTo>
                    <a:pt x="72" y="65"/>
                    <a:pt x="71" y="65"/>
                    <a:pt x="71" y="65"/>
                  </a:cubicBezTo>
                  <a:cubicBezTo>
                    <a:pt x="71" y="65"/>
                    <a:pt x="71" y="65"/>
                    <a:pt x="71" y="65"/>
                  </a:cubicBezTo>
                  <a:cubicBezTo>
                    <a:pt x="71" y="65"/>
                    <a:pt x="71" y="65"/>
                    <a:pt x="71" y="65"/>
                  </a:cubicBezTo>
                  <a:cubicBezTo>
                    <a:pt x="71" y="65"/>
                    <a:pt x="71" y="65"/>
                    <a:pt x="71" y="65"/>
                  </a:cubicBezTo>
                  <a:cubicBezTo>
                    <a:pt x="71" y="65"/>
                    <a:pt x="71" y="65"/>
                    <a:pt x="71" y="64"/>
                  </a:cubicBezTo>
                  <a:cubicBezTo>
                    <a:pt x="71" y="64"/>
                    <a:pt x="71" y="64"/>
                    <a:pt x="71" y="64"/>
                  </a:cubicBezTo>
                  <a:cubicBezTo>
                    <a:pt x="71" y="64"/>
                    <a:pt x="71" y="64"/>
                    <a:pt x="71" y="64"/>
                  </a:cubicBezTo>
                  <a:cubicBezTo>
                    <a:pt x="71" y="64"/>
                    <a:pt x="71" y="64"/>
                    <a:pt x="71" y="64"/>
                  </a:cubicBezTo>
                  <a:cubicBezTo>
                    <a:pt x="70" y="64"/>
                    <a:pt x="70" y="63"/>
                    <a:pt x="69" y="63"/>
                  </a:cubicBezTo>
                  <a:cubicBezTo>
                    <a:pt x="69" y="62"/>
                    <a:pt x="69" y="62"/>
                    <a:pt x="69" y="62"/>
                  </a:cubicBezTo>
                  <a:cubicBezTo>
                    <a:pt x="69" y="62"/>
                    <a:pt x="69" y="62"/>
                    <a:pt x="69" y="62"/>
                  </a:cubicBezTo>
                  <a:cubicBezTo>
                    <a:pt x="69" y="62"/>
                    <a:pt x="69" y="62"/>
                    <a:pt x="69" y="62"/>
                  </a:cubicBezTo>
                  <a:cubicBezTo>
                    <a:pt x="69" y="62"/>
                    <a:pt x="69" y="61"/>
                    <a:pt x="68" y="61"/>
                  </a:cubicBezTo>
                  <a:cubicBezTo>
                    <a:pt x="68" y="61"/>
                    <a:pt x="68" y="61"/>
                    <a:pt x="68" y="61"/>
                  </a:cubicBezTo>
                  <a:cubicBezTo>
                    <a:pt x="68" y="61"/>
                    <a:pt x="68" y="61"/>
                    <a:pt x="68" y="61"/>
                  </a:cubicBezTo>
                  <a:cubicBezTo>
                    <a:pt x="68" y="60"/>
                    <a:pt x="68" y="60"/>
                    <a:pt x="68" y="60"/>
                  </a:cubicBezTo>
                  <a:cubicBezTo>
                    <a:pt x="68" y="60"/>
                    <a:pt x="68" y="60"/>
                    <a:pt x="68" y="60"/>
                  </a:cubicBezTo>
                  <a:cubicBezTo>
                    <a:pt x="67" y="58"/>
                    <a:pt x="66" y="55"/>
                    <a:pt x="66" y="51"/>
                  </a:cubicBezTo>
                  <a:cubicBezTo>
                    <a:pt x="66" y="46"/>
                    <a:pt x="68" y="41"/>
                    <a:pt x="71" y="38"/>
                  </a:cubicBezTo>
                  <a:close/>
                  <a:moveTo>
                    <a:pt x="42" y="163"/>
                  </a:moveTo>
                  <a:cubicBezTo>
                    <a:pt x="42" y="162"/>
                    <a:pt x="42" y="162"/>
                    <a:pt x="42" y="161"/>
                  </a:cubicBezTo>
                  <a:cubicBezTo>
                    <a:pt x="66" y="72"/>
                    <a:pt x="66" y="72"/>
                    <a:pt x="66" y="72"/>
                  </a:cubicBezTo>
                  <a:cubicBezTo>
                    <a:pt x="66" y="72"/>
                    <a:pt x="66" y="72"/>
                    <a:pt x="66" y="72"/>
                  </a:cubicBezTo>
                  <a:cubicBezTo>
                    <a:pt x="66" y="72"/>
                    <a:pt x="66" y="72"/>
                    <a:pt x="66" y="72"/>
                  </a:cubicBezTo>
                  <a:cubicBezTo>
                    <a:pt x="66" y="72"/>
                    <a:pt x="66" y="72"/>
                    <a:pt x="66" y="72"/>
                  </a:cubicBezTo>
                  <a:cubicBezTo>
                    <a:pt x="67" y="73"/>
                    <a:pt x="68" y="73"/>
                    <a:pt x="68" y="74"/>
                  </a:cubicBezTo>
                  <a:cubicBezTo>
                    <a:pt x="68" y="74"/>
                    <a:pt x="68" y="74"/>
                    <a:pt x="68" y="74"/>
                  </a:cubicBezTo>
                  <a:cubicBezTo>
                    <a:pt x="70" y="75"/>
                    <a:pt x="71" y="76"/>
                    <a:pt x="73" y="76"/>
                  </a:cubicBezTo>
                  <a:cubicBezTo>
                    <a:pt x="73" y="77"/>
                    <a:pt x="74" y="77"/>
                    <a:pt x="75" y="77"/>
                  </a:cubicBezTo>
                  <a:cubicBezTo>
                    <a:pt x="75" y="77"/>
                    <a:pt x="76" y="78"/>
                    <a:pt x="76" y="78"/>
                  </a:cubicBezTo>
                  <a:cubicBezTo>
                    <a:pt x="76" y="78"/>
                    <a:pt x="77" y="78"/>
                    <a:pt x="77" y="78"/>
                  </a:cubicBezTo>
                  <a:cubicBezTo>
                    <a:pt x="78" y="78"/>
                    <a:pt x="78" y="79"/>
                    <a:pt x="79" y="79"/>
                  </a:cubicBezTo>
                  <a:cubicBezTo>
                    <a:pt x="79" y="79"/>
                    <a:pt x="79" y="79"/>
                    <a:pt x="79" y="79"/>
                  </a:cubicBezTo>
                  <a:cubicBezTo>
                    <a:pt x="56" y="165"/>
                    <a:pt x="56" y="165"/>
                    <a:pt x="56" y="165"/>
                  </a:cubicBezTo>
                  <a:cubicBezTo>
                    <a:pt x="56" y="167"/>
                    <a:pt x="54" y="168"/>
                    <a:pt x="53" y="169"/>
                  </a:cubicBezTo>
                  <a:cubicBezTo>
                    <a:pt x="54" y="172"/>
                    <a:pt x="54" y="172"/>
                    <a:pt x="54" y="172"/>
                  </a:cubicBezTo>
                  <a:cubicBezTo>
                    <a:pt x="53" y="169"/>
                    <a:pt x="53" y="169"/>
                    <a:pt x="53" y="169"/>
                  </a:cubicBezTo>
                  <a:cubicBezTo>
                    <a:pt x="52" y="170"/>
                    <a:pt x="50" y="170"/>
                    <a:pt x="49" y="170"/>
                  </a:cubicBezTo>
                  <a:cubicBezTo>
                    <a:pt x="48" y="170"/>
                    <a:pt x="48" y="170"/>
                    <a:pt x="47" y="170"/>
                  </a:cubicBezTo>
                  <a:cubicBezTo>
                    <a:pt x="45" y="170"/>
                    <a:pt x="44" y="168"/>
                    <a:pt x="43" y="167"/>
                  </a:cubicBezTo>
                  <a:cubicBezTo>
                    <a:pt x="42" y="166"/>
                    <a:pt x="42" y="164"/>
                    <a:pt x="42" y="163"/>
                  </a:cubicBezTo>
                  <a:close/>
                  <a:moveTo>
                    <a:pt x="101" y="213"/>
                  </a:moveTo>
                  <a:cubicBezTo>
                    <a:pt x="73" y="213"/>
                    <a:pt x="73" y="213"/>
                    <a:pt x="73" y="213"/>
                  </a:cubicBezTo>
                  <a:cubicBezTo>
                    <a:pt x="73" y="199"/>
                    <a:pt x="73" y="199"/>
                    <a:pt x="73" y="199"/>
                  </a:cubicBezTo>
                  <a:cubicBezTo>
                    <a:pt x="101" y="199"/>
                    <a:pt x="101" y="199"/>
                    <a:pt x="101" y="199"/>
                  </a:cubicBezTo>
                  <a:lnTo>
                    <a:pt x="101" y="213"/>
                  </a:lnTo>
                  <a:close/>
                  <a:moveTo>
                    <a:pt x="106" y="203"/>
                  </a:moveTo>
                  <a:cubicBezTo>
                    <a:pt x="106" y="197"/>
                    <a:pt x="106" y="197"/>
                    <a:pt x="106" y="197"/>
                  </a:cubicBezTo>
                  <a:cubicBezTo>
                    <a:pt x="106" y="196"/>
                    <a:pt x="105" y="195"/>
                    <a:pt x="105" y="195"/>
                  </a:cubicBezTo>
                  <a:cubicBezTo>
                    <a:pt x="104" y="194"/>
                    <a:pt x="104" y="194"/>
                    <a:pt x="103" y="194"/>
                  </a:cubicBezTo>
                  <a:cubicBezTo>
                    <a:pt x="71" y="194"/>
                    <a:pt x="71" y="194"/>
                    <a:pt x="71" y="194"/>
                  </a:cubicBezTo>
                  <a:cubicBezTo>
                    <a:pt x="70" y="194"/>
                    <a:pt x="69" y="194"/>
                    <a:pt x="69" y="195"/>
                  </a:cubicBezTo>
                  <a:cubicBezTo>
                    <a:pt x="68" y="195"/>
                    <a:pt x="68" y="196"/>
                    <a:pt x="68" y="197"/>
                  </a:cubicBezTo>
                  <a:cubicBezTo>
                    <a:pt x="68" y="203"/>
                    <a:pt x="68" y="203"/>
                    <a:pt x="68" y="203"/>
                  </a:cubicBezTo>
                  <a:cubicBezTo>
                    <a:pt x="39" y="201"/>
                    <a:pt x="39" y="201"/>
                    <a:pt x="39" y="201"/>
                  </a:cubicBezTo>
                  <a:cubicBezTo>
                    <a:pt x="39" y="201"/>
                    <a:pt x="40" y="200"/>
                    <a:pt x="40" y="200"/>
                  </a:cubicBezTo>
                  <a:cubicBezTo>
                    <a:pt x="47" y="177"/>
                    <a:pt x="47" y="177"/>
                    <a:pt x="47" y="177"/>
                  </a:cubicBezTo>
                  <a:cubicBezTo>
                    <a:pt x="47" y="176"/>
                    <a:pt x="47" y="176"/>
                    <a:pt x="47" y="176"/>
                  </a:cubicBezTo>
                  <a:cubicBezTo>
                    <a:pt x="50" y="177"/>
                    <a:pt x="53" y="176"/>
                    <a:pt x="56" y="175"/>
                  </a:cubicBezTo>
                  <a:cubicBezTo>
                    <a:pt x="59" y="173"/>
                    <a:pt x="61" y="170"/>
                    <a:pt x="62" y="167"/>
                  </a:cubicBezTo>
                  <a:cubicBezTo>
                    <a:pt x="73" y="126"/>
                    <a:pt x="73" y="126"/>
                    <a:pt x="73" y="126"/>
                  </a:cubicBezTo>
                  <a:cubicBezTo>
                    <a:pt x="78" y="126"/>
                    <a:pt x="78" y="126"/>
                    <a:pt x="78" y="126"/>
                  </a:cubicBezTo>
                  <a:cubicBezTo>
                    <a:pt x="78" y="130"/>
                    <a:pt x="78" y="130"/>
                    <a:pt x="78" y="130"/>
                  </a:cubicBezTo>
                  <a:cubicBezTo>
                    <a:pt x="78" y="131"/>
                    <a:pt x="79" y="131"/>
                    <a:pt x="79" y="132"/>
                  </a:cubicBezTo>
                  <a:cubicBezTo>
                    <a:pt x="80" y="132"/>
                    <a:pt x="80" y="133"/>
                    <a:pt x="81" y="133"/>
                  </a:cubicBezTo>
                  <a:cubicBezTo>
                    <a:pt x="89" y="133"/>
                    <a:pt x="89" y="133"/>
                    <a:pt x="89" y="133"/>
                  </a:cubicBezTo>
                  <a:cubicBezTo>
                    <a:pt x="89" y="133"/>
                    <a:pt x="90" y="132"/>
                    <a:pt x="90" y="132"/>
                  </a:cubicBezTo>
                  <a:cubicBezTo>
                    <a:pt x="91" y="131"/>
                    <a:pt x="91" y="131"/>
                    <a:pt x="91" y="130"/>
                  </a:cubicBezTo>
                  <a:cubicBezTo>
                    <a:pt x="91" y="126"/>
                    <a:pt x="91" y="126"/>
                    <a:pt x="91" y="126"/>
                  </a:cubicBezTo>
                  <a:cubicBezTo>
                    <a:pt x="96" y="126"/>
                    <a:pt x="96" y="126"/>
                    <a:pt x="96" y="126"/>
                  </a:cubicBezTo>
                  <a:cubicBezTo>
                    <a:pt x="107" y="167"/>
                    <a:pt x="107" y="167"/>
                    <a:pt x="107" y="167"/>
                  </a:cubicBezTo>
                  <a:cubicBezTo>
                    <a:pt x="108" y="170"/>
                    <a:pt x="111" y="173"/>
                    <a:pt x="114" y="175"/>
                  </a:cubicBezTo>
                  <a:cubicBezTo>
                    <a:pt x="116" y="176"/>
                    <a:pt x="119" y="177"/>
                    <a:pt x="122" y="176"/>
                  </a:cubicBezTo>
                  <a:cubicBezTo>
                    <a:pt x="122" y="177"/>
                    <a:pt x="122" y="177"/>
                    <a:pt x="122" y="177"/>
                  </a:cubicBezTo>
                  <a:cubicBezTo>
                    <a:pt x="130" y="200"/>
                    <a:pt x="130" y="200"/>
                    <a:pt x="130" y="200"/>
                  </a:cubicBezTo>
                  <a:cubicBezTo>
                    <a:pt x="130" y="201"/>
                    <a:pt x="131" y="201"/>
                    <a:pt x="131" y="201"/>
                  </a:cubicBezTo>
                  <a:lnTo>
                    <a:pt x="106" y="203"/>
                  </a:lnTo>
                  <a:close/>
                  <a:moveTo>
                    <a:pt x="168" y="204"/>
                  </a:moveTo>
                  <a:cubicBezTo>
                    <a:pt x="157" y="204"/>
                    <a:pt x="157" y="204"/>
                    <a:pt x="157" y="204"/>
                  </a:cubicBezTo>
                  <a:cubicBezTo>
                    <a:pt x="157" y="200"/>
                    <a:pt x="157" y="200"/>
                    <a:pt x="157" y="200"/>
                  </a:cubicBezTo>
                  <a:cubicBezTo>
                    <a:pt x="168" y="200"/>
                    <a:pt x="168" y="200"/>
                    <a:pt x="168" y="200"/>
                  </a:cubicBezTo>
                  <a:lnTo>
                    <a:pt x="168" y="204"/>
                  </a:lnTo>
                  <a:close/>
                  <a:moveTo>
                    <a:pt x="74" y="62"/>
                  </a:moveTo>
                  <a:cubicBezTo>
                    <a:pt x="77" y="65"/>
                    <a:pt x="81" y="67"/>
                    <a:pt x="85" y="67"/>
                  </a:cubicBezTo>
                  <a:cubicBezTo>
                    <a:pt x="85" y="67"/>
                    <a:pt x="85" y="67"/>
                    <a:pt x="85" y="67"/>
                  </a:cubicBezTo>
                  <a:cubicBezTo>
                    <a:pt x="89" y="67"/>
                    <a:pt x="93" y="65"/>
                    <a:pt x="95" y="62"/>
                  </a:cubicBezTo>
                  <a:cubicBezTo>
                    <a:pt x="96" y="62"/>
                    <a:pt x="96" y="62"/>
                    <a:pt x="96" y="62"/>
                  </a:cubicBezTo>
                  <a:cubicBezTo>
                    <a:pt x="98" y="59"/>
                    <a:pt x="100" y="56"/>
                    <a:pt x="100" y="51"/>
                  </a:cubicBezTo>
                  <a:cubicBezTo>
                    <a:pt x="100" y="47"/>
                    <a:pt x="98" y="43"/>
                    <a:pt x="96" y="41"/>
                  </a:cubicBezTo>
                  <a:cubicBezTo>
                    <a:pt x="93" y="38"/>
                    <a:pt x="89" y="36"/>
                    <a:pt x="85" y="36"/>
                  </a:cubicBezTo>
                  <a:cubicBezTo>
                    <a:pt x="81" y="36"/>
                    <a:pt x="77" y="38"/>
                    <a:pt x="74" y="41"/>
                  </a:cubicBezTo>
                  <a:cubicBezTo>
                    <a:pt x="71" y="43"/>
                    <a:pt x="70" y="47"/>
                    <a:pt x="70" y="51"/>
                  </a:cubicBezTo>
                  <a:cubicBezTo>
                    <a:pt x="70" y="56"/>
                    <a:pt x="71" y="59"/>
                    <a:pt x="74" y="62"/>
                  </a:cubicBezTo>
                  <a:close/>
                  <a:moveTo>
                    <a:pt x="80" y="47"/>
                  </a:moveTo>
                  <a:cubicBezTo>
                    <a:pt x="81" y="46"/>
                    <a:pt x="83" y="45"/>
                    <a:pt x="85" y="45"/>
                  </a:cubicBezTo>
                  <a:cubicBezTo>
                    <a:pt x="87" y="45"/>
                    <a:pt x="88" y="46"/>
                    <a:pt x="89" y="47"/>
                  </a:cubicBezTo>
                  <a:cubicBezTo>
                    <a:pt x="91" y="48"/>
                    <a:pt x="91" y="50"/>
                    <a:pt x="91" y="51"/>
                  </a:cubicBezTo>
                  <a:cubicBezTo>
                    <a:pt x="91" y="53"/>
                    <a:pt x="91" y="55"/>
                    <a:pt x="89" y="56"/>
                  </a:cubicBezTo>
                  <a:cubicBezTo>
                    <a:pt x="89" y="56"/>
                    <a:pt x="89" y="56"/>
                    <a:pt x="89" y="56"/>
                  </a:cubicBezTo>
                  <a:cubicBezTo>
                    <a:pt x="88" y="57"/>
                    <a:pt x="86" y="58"/>
                    <a:pt x="85" y="58"/>
                  </a:cubicBezTo>
                  <a:cubicBezTo>
                    <a:pt x="83" y="58"/>
                    <a:pt x="81" y="57"/>
                    <a:pt x="80" y="56"/>
                  </a:cubicBezTo>
                  <a:cubicBezTo>
                    <a:pt x="79" y="55"/>
                    <a:pt x="78" y="53"/>
                    <a:pt x="78" y="51"/>
                  </a:cubicBezTo>
                  <a:cubicBezTo>
                    <a:pt x="78" y="50"/>
                    <a:pt x="79" y="48"/>
                    <a:pt x="80" y="47"/>
                  </a:cubicBezTo>
                  <a:close/>
                </a:path>
              </a:pathLst>
            </a:custGeom>
            <a:solidFill>
              <a:schemeClr val="accent2"/>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000000"/>
                </a:solidFill>
                <a:effectLst/>
                <a:uLnTx/>
                <a:uFillTx/>
                <a:latin typeface="Montserrat"/>
                <a:ea typeface="思源黑体 CN Normal"/>
              </a:endParaRPr>
            </a:p>
          </p:txBody>
        </p:sp>
        <p:sp>
          <p:nvSpPr>
            <p:cNvPr id="44" name="小李PPT28"/>
            <p:cNvSpPr txBox="1"/>
            <p:nvPr/>
          </p:nvSpPr>
          <p:spPr>
            <a:xfrm>
              <a:off x="12993" y="4096"/>
              <a:ext cx="1155" cy="822"/>
            </a:xfrm>
            <a:prstGeom prst="rect">
              <a:avLst/>
            </a:prstGeom>
            <a:noFill/>
          </p:spPr>
          <p:txBody>
            <a:bodyPr wrap="square" rtlCol="0">
              <a:spAutoFit/>
            </a:bodyPr>
            <a:lstStyle/>
            <a:p>
              <a:pPr algn="r"/>
              <a:r>
                <a:rPr lang="en-US" altLang="zh-CN" sz="2800" dirty="0">
                  <a:solidFill>
                    <a:schemeClr val="accent2"/>
                  </a:solidFill>
                  <a:latin typeface="Montserrat"/>
                  <a:ea typeface="思源黑体 CN Normal"/>
                </a:rPr>
                <a:t>03</a:t>
              </a:r>
              <a:endParaRPr lang="zh-CN" altLang="en-US" sz="2800" dirty="0">
                <a:solidFill>
                  <a:schemeClr val="accent2"/>
                </a:solidFill>
                <a:latin typeface="Montserrat"/>
                <a:ea typeface="思源黑体 CN Normal"/>
              </a:endParaRPr>
            </a:p>
          </p:txBody>
        </p:sp>
        <p:sp>
          <p:nvSpPr>
            <p:cNvPr id="46" name="小李PPT29"/>
            <p:cNvSpPr txBox="1"/>
            <p:nvPr/>
          </p:nvSpPr>
          <p:spPr>
            <a:xfrm>
              <a:off x="12992" y="8636"/>
              <a:ext cx="1126" cy="822"/>
            </a:xfrm>
            <a:prstGeom prst="rect">
              <a:avLst/>
            </a:prstGeom>
            <a:noFill/>
          </p:spPr>
          <p:txBody>
            <a:bodyPr wrap="square" rtlCol="0">
              <a:spAutoFit/>
            </a:bodyPr>
            <a:lstStyle/>
            <a:p>
              <a:pPr algn="r"/>
              <a:r>
                <a:rPr lang="en-US" altLang="zh-CN" sz="2800" dirty="0">
                  <a:solidFill>
                    <a:schemeClr val="accent2"/>
                  </a:solidFill>
                  <a:latin typeface="Montserrat"/>
                  <a:ea typeface="思源黑体 CN Normal"/>
                </a:rPr>
                <a:t>06</a:t>
              </a:r>
              <a:endParaRPr lang="zh-CN" altLang="en-US" sz="2800" dirty="0">
                <a:solidFill>
                  <a:schemeClr val="accent2"/>
                </a:solidFill>
                <a:latin typeface="Montserrat"/>
                <a:ea typeface="思源黑体 CN Normal"/>
              </a:endParaRPr>
            </a:p>
          </p:txBody>
        </p:sp>
        <p:sp>
          <p:nvSpPr>
            <p:cNvPr id="48" name="小李PPT31"/>
            <p:cNvSpPr>
              <a:spLocks noChangeArrowheads="1"/>
            </p:cNvSpPr>
            <p:nvPr/>
          </p:nvSpPr>
          <p:spPr bwMode="auto">
            <a:xfrm>
              <a:off x="10330" y="5856"/>
              <a:ext cx="3731" cy="3658"/>
            </a:xfrm>
            <a:prstGeom prst="snip2DiagRect">
              <a:avLst/>
            </a:prstGeom>
            <a:noFill/>
            <a:ln w="3175">
              <a:solidFill>
                <a:schemeClr val="accent2">
                  <a:alpha val="41000"/>
                </a:schemeClr>
              </a:solidFill>
            </a:ln>
            <a:effectLst>
              <a:outerShdw blurRad="190500" dist="114300" dir="5400000" algn="ctr" rotWithShape="0">
                <a:srgbClr val="3B8BF1">
                  <a:alpha val="12000"/>
                </a:srgbClr>
              </a:outerShdw>
            </a:effectLst>
          </p:spPr>
          <p:txBody>
            <a:bodyPr vert="horz" wrap="square" lIns="91440" tIns="45720" rIns="91440" bIns="45720" numCol="1" anchor="t" anchorCtr="0" compatLnSpc="1"/>
            <a:lstStyle/>
            <a:p>
              <a:endParaRPr lang="en-US" kern="0">
                <a:solidFill>
                  <a:srgbClr val="000000"/>
                </a:solidFill>
                <a:latin typeface="Montserrat"/>
                <a:ea typeface="思源黑体 CN Normal"/>
              </a:endParaRPr>
            </a:p>
          </p:txBody>
        </p:sp>
        <p:sp>
          <p:nvSpPr>
            <p:cNvPr id="50" name="小李PPT32"/>
            <p:cNvSpPr>
              <a:spLocks noChangeArrowheads="1"/>
            </p:cNvSpPr>
            <p:nvPr/>
          </p:nvSpPr>
          <p:spPr bwMode="auto">
            <a:xfrm>
              <a:off x="10311" y="1336"/>
              <a:ext cx="3731" cy="3658"/>
            </a:xfrm>
            <a:prstGeom prst="snip2DiagRect">
              <a:avLst/>
            </a:prstGeom>
            <a:noFill/>
            <a:ln w="3175">
              <a:solidFill>
                <a:schemeClr val="accent2">
                  <a:alpha val="41000"/>
                </a:schemeClr>
              </a:solidFill>
            </a:ln>
            <a:effectLst>
              <a:outerShdw blurRad="190500" dist="114300" dir="5400000" algn="ctr" rotWithShape="0">
                <a:srgbClr val="3B8BF1">
                  <a:alpha val="12000"/>
                </a:srgbClr>
              </a:outerShdw>
            </a:effectLst>
          </p:spPr>
          <p:txBody>
            <a:bodyPr vert="horz" wrap="square" lIns="91440" tIns="45720" rIns="91440" bIns="45720" numCol="1" anchor="t" anchorCtr="0" compatLnSpc="1"/>
            <a:lstStyle/>
            <a:p>
              <a:endParaRPr lang="en-US" kern="0">
                <a:solidFill>
                  <a:srgbClr val="000000"/>
                </a:solidFill>
                <a:latin typeface="Montserrat"/>
                <a:ea typeface="思源黑体 CN Normal"/>
              </a:endParaRPr>
            </a:p>
          </p:txBody>
        </p:sp>
        <p:cxnSp>
          <p:nvCxnSpPr>
            <p:cNvPr id="51" name="小李PPT34"/>
            <p:cNvCxnSpPr/>
            <p:nvPr/>
          </p:nvCxnSpPr>
          <p:spPr>
            <a:xfrm>
              <a:off x="11228" y="4096"/>
              <a:ext cx="279" cy="0"/>
            </a:xfrm>
            <a:prstGeom prst="line">
              <a:avLst/>
            </a:prstGeom>
            <a:noFill/>
            <a:ln w="6350" cap="flat" cmpd="sng" algn="ctr">
              <a:solidFill>
                <a:schemeClr val="accent2"/>
              </a:solidFill>
              <a:prstDash val="solid"/>
              <a:miter lim="800000"/>
            </a:ln>
            <a:effectLst/>
          </p:spPr>
        </p:cxnSp>
        <p:cxnSp>
          <p:nvCxnSpPr>
            <p:cNvPr id="52" name="小李PPT35"/>
            <p:cNvCxnSpPr/>
            <p:nvPr/>
          </p:nvCxnSpPr>
          <p:spPr>
            <a:xfrm>
              <a:off x="11228" y="8482"/>
              <a:ext cx="279" cy="0"/>
            </a:xfrm>
            <a:prstGeom prst="line">
              <a:avLst/>
            </a:prstGeom>
            <a:noFill/>
            <a:ln w="6350" cap="flat" cmpd="sng" algn="ctr">
              <a:solidFill>
                <a:schemeClr val="accent2"/>
              </a:solidFill>
              <a:prstDash val="solid"/>
              <a:miter lim="800000"/>
            </a:ln>
            <a:effectLst/>
          </p:spPr>
        </p:cxn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小李PPT1"/>
          <p:cNvSpPr/>
          <p:nvPr>
            <p:custDataLst>
              <p:tags r:id="rId1"/>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2"/>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3"/>
            </p:custDataLst>
          </p:nvPr>
        </p:nvSpPr>
        <p:spPr>
          <a:xfrm>
            <a:off x="4000500" y="-914400"/>
            <a:ext cx="635000" cy="635000"/>
          </a:xfrm>
          <a:prstGeom prst="rect">
            <a:avLst/>
          </a:prstGeom>
          <a:solidFill>
            <a:schemeClr val="dk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4"/>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5"/>
            </p:custDataLst>
          </p:nvPr>
        </p:nvSpPr>
        <p:spPr>
          <a:xfrm>
            <a:off x="5778500" y="-914400"/>
            <a:ext cx="635000" cy="6350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6"/>
            </p:custDataLst>
          </p:nvPr>
        </p:nvSpPr>
        <p:spPr>
          <a:xfrm>
            <a:off x="6540500" y="-914400"/>
            <a:ext cx="635000" cy="635000"/>
          </a:xfrm>
          <a:prstGeom prst="rect">
            <a:avLst/>
          </a:prstGeom>
          <a:solidFill>
            <a:schemeClr val="accen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7"/>
            </p:custDataLst>
          </p:nvPr>
        </p:nvSpPr>
        <p:spPr>
          <a:xfrm>
            <a:off x="7302500" y="-914400"/>
            <a:ext cx="635000" cy="635000"/>
          </a:xfrm>
          <a:prstGeom prst="rect">
            <a:avLst/>
          </a:prstGeom>
          <a:solidFill>
            <a:schemeClr val="accent3"/>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8"/>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9"/>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0"/>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grpSp>
        <p:nvGrpSpPr>
          <p:cNvPr id="2" name="小李PPT11"/>
          <p:cNvGrpSpPr/>
          <p:nvPr/>
        </p:nvGrpSpPr>
        <p:grpSpPr>
          <a:xfrm>
            <a:off x="279357" y="304810"/>
            <a:ext cx="11671385" cy="4737081"/>
            <a:chOff x="279357" y="304810"/>
            <a:chExt cx="11671385" cy="4737081"/>
          </a:xfrm>
          <a:solidFill>
            <a:srgbClr val="1D4223">
              <a:alpha val="2000"/>
            </a:srgbClr>
          </a:solidFill>
        </p:grpSpPr>
        <p:grpSp>
          <p:nvGrpSpPr>
            <p:cNvPr id="3" name="组合 2"/>
            <p:cNvGrpSpPr/>
            <p:nvPr/>
          </p:nvGrpSpPr>
          <p:grpSpPr>
            <a:xfrm>
              <a:off x="279357" y="304810"/>
              <a:ext cx="11671385" cy="609581"/>
              <a:chOff x="279357" y="304810"/>
              <a:chExt cx="11671385" cy="609581"/>
            </a:xfrm>
            <a:grpFill/>
          </p:grpSpPr>
          <p:sp>
            <p:nvSpPr>
              <p:cNvPr id="301" name="小李PPT11-1"/>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2" name="小李PPT11-2"/>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3" name="小李PPT11-3"/>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4" name="小李PPT11-4"/>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5" name="小李PPT11-5"/>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6" name="小李PPT11-6"/>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7" name="小李PPT11-7"/>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8" name="小李PPT11-8"/>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9" name="小李PPT11-9"/>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0" name="小李PPT11-10"/>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1" name="小李PPT11-11"/>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2" name="小李PPT11-12"/>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3" name="小李PPT11-13"/>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4" name="小李PPT11-14"/>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4" name="组合 3"/>
            <p:cNvGrpSpPr/>
            <p:nvPr/>
          </p:nvGrpSpPr>
          <p:grpSpPr>
            <a:xfrm>
              <a:off x="279357" y="1130310"/>
              <a:ext cx="11671385" cy="609581"/>
              <a:chOff x="279357" y="304810"/>
              <a:chExt cx="11671385" cy="609581"/>
            </a:xfrm>
            <a:grpFill/>
          </p:grpSpPr>
          <p:sp>
            <p:nvSpPr>
              <p:cNvPr id="287" name="小李PPT11-15"/>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8" name="小李PPT11-16"/>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9" name="小李PPT11-17"/>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0" name="小李PPT11-18"/>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1" name="小李PPT11-19"/>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2" name="小李PPT11-20"/>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3" name="小李PPT11-21"/>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4" name="小李PPT11-22"/>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5" name="小李PPT11-23"/>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6" name="小李PPT11-24"/>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7" name="小李PPT11-25"/>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8" name="小李PPT11-26"/>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9" name="小李PPT11-27"/>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0" name="小李PPT11-28"/>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6" name="组合 5"/>
            <p:cNvGrpSpPr/>
            <p:nvPr/>
          </p:nvGrpSpPr>
          <p:grpSpPr>
            <a:xfrm>
              <a:off x="279357" y="1955810"/>
              <a:ext cx="11671385" cy="609581"/>
              <a:chOff x="279357" y="304810"/>
              <a:chExt cx="11671385" cy="609581"/>
            </a:xfrm>
            <a:grpFill/>
          </p:grpSpPr>
          <p:sp>
            <p:nvSpPr>
              <p:cNvPr id="263" name="小李PPT11-29"/>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4" name="小李PPT11-30"/>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5" name="小李PPT11-31"/>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6" name="小李PPT11-32"/>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7" name="小李PPT11-33"/>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8" name="小李PPT11-34"/>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9" name="小李PPT11-35"/>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0" name="小李PPT11-36"/>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1" name="小李PPT11-37"/>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2" name="小李PPT11-38"/>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3" name="小李PPT11-39"/>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4" name="小李PPT11-40"/>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5" name="小李PPT11-41"/>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6" name="小李PPT11-42"/>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7" name="组合 6"/>
            <p:cNvGrpSpPr/>
            <p:nvPr/>
          </p:nvGrpSpPr>
          <p:grpSpPr>
            <a:xfrm>
              <a:off x="279357" y="2781310"/>
              <a:ext cx="11671385" cy="609581"/>
              <a:chOff x="279357" y="304810"/>
              <a:chExt cx="11671385" cy="609581"/>
            </a:xfrm>
            <a:grpFill/>
          </p:grpSpPr>
          <p:sp>
            <p:nvSpPr>
              <p:cNvPr id="57" name="小李PPT11-43"/>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8" name="小李PPT11-44"/>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9" name="小李PPT11-45"/>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0" name="小李PPT11-46"/>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1" name="小李PPT11-47"/>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2" name="小李PPT11-48"/>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3" name="小李PPT11-49"/>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6" name="小李PPT11-50"/>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7" name="小李PPT11-51"/>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8" name="小李PPT11-52"/>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9" name="小李PPT11-53"/>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0" name="小李PPT11-54"/>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1" name="小李PPT11-55"/>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2" name="小李PPT11-56"/>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10" name="组合 9"/>
            <p:cNvGrpSpPr/>
            <p:nvPr/>
          </p:nvGrpSpPr>
          <p:grpSpPr>
            <a:xfrm>
              <a:off x="279357" y="3606810"/>
              <a:ext cx="11671385" cy="609581"/>
              <a:chOff x="279357" y="304810"/>
              <a:chExt cx="11671385" cy="609581"/>
            </a:xfrm>
            <a:grpFill/>
          </p:grpSpPr>
          <p:sp>
            <p:nvSpPr>
              <p:cNvPr id="43" name="小李PPT11-57"/>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4" name="小李PPT11-58"/>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5" name="小李PPT11-59"/>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6" name="小李PPT11-60"/>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7" name="小李PPT11-61"/>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8" name="小李PPT11-62"/>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9" name="小李PPT11-63"/>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0" name="小李PPT11-64"/>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1" name="小李PPT11-65"/>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2" name="小李PPT11-66"/>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3" name="小李PPT11-67"/>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4" name="小李PPT11-68"/>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5" name="小李PPT11-69"/>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6" name="小李PPT11-70"/>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11" name="组合 10"/>
            <p:cNvGrpSpPr/>
            <p:nvPr/>
          </p:nvGrpSpPr>
          <p:grpSpPr>
            <a:xfrm>
              <a:off x="279357" y="4432310"/>
              <a:ext cx="11671385" cy="609581"/>
              <a:chOff x="279357" y="304810"/>
              <a:chExt cx="11671385" cy="609581"/>
            </a:xfrm>
            <a:grpFill/>
          </p:grpSpPr>
          <p:sp>
            <p:nvSpPr>
              <p:cNvPr id="14" name="小李PPT11-71"/>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19" name="小李PPT11-72"/>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0" name="小李PPT11-73"/>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1" name="小李PPT11-74"/>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4" name="小李PPT11-75"/>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4" name="小李PPT11-76"/>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5" name="小李PPT11-77"/>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6" name="小李PPT11-78"/>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7" name="小李PPT11-79"/>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8" name="小李PPT11-80"/>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9" name="小李PPT11-81"/>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0" name="小李PPT11-82"/>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1" name="小李PPT11-83"/>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2" name="小李PPT11-84"/>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sp>
        <p:nvSpPr>
          <p:cNvPr id="315" name="小李PPT12"/>
          <p:cNvSpPr/>
          <p:nvPr/>
        </p:nvSpPr>
        <p:spPr>
          <a:xfrm>
            <a:off x="0" y="4711700"/>
            <a:ext cx="12192000" cy="21463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FFFFFF"/>
              </a:solidFill>
              <a:latin typeface="Montserrat"/>
              <a:ea typeface="思源黑体 CN Normal"/>
            </a:endParaRPr>
          </a:p>
        </p:txBody>
      </p:sp>
      <p:sp>
        <p:nvSpPr>
          <p:cNvPr id="316" name="小李PPT13"/>
          <p:cNvSpPr txBox="1"/>
          <p:nvPr/>
        </p:nvSpPr>
        <p:spPr>
          <a:xfrm>
            <a:off x="4546600" y="-1476792"/>
            <a:ext cx="6642100" cy="9247505"/>
          </a:xfrm>
          <a:prstGeom prst="rect">
            <a:avLst/>
          </a:prstGeom>
          <a:noFill/>
        </p:spPr>
        <p:txBody>
          <a:bodyPr wrap="square" rtlCol="0">
            <a:spAutoFit/>
          </a:bodyPr>
          <a:lstStyle/>
          <a:p>
            <a:pPr algn="r">
              <a:defRPr/>
            </a:pPr>
            <a:r>
              <a:rPr lang="en-US" altLang="zh-CN" sz="59500" b="1" dirty="0">
                <a:ln>
                  <a:solidFill>
                    <a:schemeClr val="accent2">
                      <a:alpha val="50000"/>
                    </a:schemeClr>
                  </a:solidFill>
                  <a:prstDash val="dash"/>
                </a:ln>
                <a:solidFill>
                  <a:schemeClr val="bg1"/>
                </a:solidFill>
                <a:effectLst>
                  <a:outerShdw blurRad="101600" dist="38100" dir="5400000" algn="t" rotWithShape="0">
                    <a:srgbClr val="1D4223">
                      <a:alpha val="40000"/>
                    </a:srgbClr>
                  </a:outerShdw>
                </a:effectLst>
                <a:latin typeface="Bahnschrift SemiBold" panose="020B0502040204020203"/>
                <a:ea typeface="微软雅黑 Light" panose="020B0502040204020203" charset="-122"/>
              </a:rPr>
              <a:t>1</a:t>
            </a:r>
            <a:endParaRPr lang="en-US" altLang="zh-CN" sz="59500" b="1" dirty="0">
              <a:ln>
                <a:solidFill>
                  <a:schemeClr val="accent2">
                    <a:alpha val="50000"/>
                  </a:schemeClr>
                </a:solidFill>
                <a:prstDash val="dash"/>
              </a:ln>
              <a:solidFill>
                <a:schemeClr val="bg1"/>
              </a:solidFill>
              <a:effectLst>
                <a:outerShdw blurRad="101600" dist="38100" dir="5400000" algn="t" rotWithShape="0">
                  <a:srgbClr val="1D4223">
                    <a:alpha val="40000"/>
                  </a:srgbClr>
                </a:outerShdw>
              </a:effectLst>
              <a:latin typeface="Bahnschrift SemiBold" panose="020B0502040204020203"/>
              <a:ea typeface="微软雅黑 Light" panose="020B0502040204020203" charset="-122"/>
            </a:endParaRPr>
          </a:p>
        </p:txBody>
      </p:sp>
      <p:sp>
        <p:nvSpPr>
          <p:cNvPr id="317" name="小李PPT14"/>
          <p:cNvSpPr txBox="1"/>
          <p:nvPr/>
        </p:nvSpPr>
        <p:spPr>
          <a:xfrm>
            <a:off x="1066800" y="4953000"/>
            <a:ext cx="5791200" cy="1569660"/>
          </a:xfrm>
          <a:prstGeom prst="rect">
            <a:avLst/>
          </a:prstGeom>
          <a:noFill/>
        </p:spPr>
        <p:txBody>
          <a:bodyPr wrap="square" rtlCol="0">
            <a:spAutoFit/>
          </a:bodyPr>
          <a:lstStyle/>
          <a:p>
            <a:pPr>
              <a:defRPr/>
            </a:pPr>
            <a:r>
              <a:rPr lang="en-US" altLang="zh-CN" sz="9600" b="1" dirty="0">
                <a:gradFill>
                  <a:gsLst>
                    <a:gs pos="0">
                      <a:prstClr val="white">
                        <a:alpha val="43000"/>
                      </a:prstClr>
                    </a:gs>
                    <a:gs pos="98000">
                      <a:prstClr val="white">
                        <a:alpha val="21000"/>
                      </a:prstClr>
                    </a:gs>
                  </a:gsLst>
                  <a:lin ang="0" scaled="0"/>
                </a:gradFill>
                <a:latin typeface="Bahnschrift SemiBold" panose="020B0502040204020203"/>
                <a:ea typeface="微软雅黑 Light" panose="020B0502040204020203" charset="-122"/>
              </a:rPr>
              <a:t>CHAPTER</a:t>
            </a:r>
            <a:endParaRPr lang="zh-CN" altLang="en-US" sz="9600" b="1" dirty="0">
              <a:gradFill>
                <a:gsLst>
                  <a:gs pos="0">
                    <a:prstClr val="white">
                      <a:alpha val="43000"/>
                    </a:prstClr>
                  </a:gs>
                  <a:gs pos="98000">
                    <a:prstClr val="white">
                      <a:alpha val="21000"/>
                    </a:prstClr>
                  </a:gs>
                </a:gsLst>
                <a:lin ang="0" scaled="0"/>
              </a:gradFill>
              <a:latin typeface="Bahnschrift SemiBold" panose="020B0502040204020203"/>
              <a:ea typeface="微软雅黑 Light" panose="020B0502040204020203" charset="-122"/>
            </a:endParaRPr>
          </a:p>
        </p:txBody>
      </p:sp>
      <p:sp>
        <p:nvSpPr>
          <p:cNvPr id="318" name="小李PPT15"/>
          <p:cNvSpPr/>
          <p:nvPr/>
        </p:nvSpPr>
        <p:spPr>
          <a:xfrm>
            <a:off x="1409700" y="1422400"/>
            <a:ext cx="1498600" cy="546100"/>
          </a:xfrm>
          <a:prstGeom prst="round2DiagRect">
            <a:avLst/>
          </a:prstGeom>
          <a:solidFill>
            <a:schemeClr val="accent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第一</a:t>
            </a:r>
            <a:r>
              <a:rPr kumimoji="0" lang="zh-CN" altLang="en-US" sz="2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节</a:t>
            </a:r>
            <a:endParaRPr kumimoji="0" lang="zh-CN" altLang="en-US" sz="2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23" name="小李PPT20"/>
          <p:cNvSpPr txBox="1"/>
          <p:nvPr/>
        </p:nvSpPr>
        <p:spPr>
          <a:xfrm>
            <a:off x="1371600" y="2005965"/>
            <a:ext cx="5803265" cy="768350"/>
          </a:xfrm>
          <a:prstGeom prst="rect">
            <a:avLst/>
          </a:prstGeom>
          <a:noFill/>
        </p:spPr>
        <p:txBody>
          <a:bodyPr wrap="square" rtlCol="0">
            <a:spAutoFit/>
          </a:bodyPr>
          <a:lstStyle/>
          <a:p>
            <a:pPr defTabSz="913765">
              <a:defRPr/>
            </a:pPr>
            <a:r>
              <a:rPr lang="zh-CN" altLang="en-US" sz="4400" b="1" dirty="0">
                <a:solidFill>
                  <a:schemeClr val="accent1"/>
                </a:solidFill>
                <a:latin typeface="Arial Black" panose="020B0A04020102020204"/>
                <a:ea typeface="微软雅黑" panose="020B0503020204020204" charset="-122"/>
              </a:rPr>
              <a:t>项目概述与必要性</a:t>
            </a:r>
            <a:r>
              <a:rPr lang="zh-CN" altLang="en-US" sz="4400" b="1" dirty="0">
                <a:solidFill>
                  <a:schemeClr val="accent1"/>
                </a:solidFill>
                <a:latin typeface="Arial Black" panose="020B0A04020102020204"/>
                <a:ea typeface="微软雅黑" panose="020B0503020204020204" charset="-122"/>
              </a:rPr>
              <a:t>分析</a:t>
            </a:r>
            <a:endParaRPr lang="zh-CN" altLang="en-US" sz="4400" b="1" dirty="0">
              <a:solidFill>
                <a:schemeClr val="accent1"/>
              </a:solidFill>
              <a:latin typeface="Arial Black" panose="020B0A04020102020204"/>
              <a:ea typeface="微软雅黑" panose="020B0503020204020204" charset="-122"/>
            </a:endParaRPr>
          </a:p>
        </p:txBody>
      </p:sp>
      <p:cxnSp>
        <p:nvCxnSpPr>
          <p:cNvPr id="324" name="小李PPT21"/>
          <p:cNvCxnSpPr/>
          <p:nvPr/>
        </p:nvCxnSpPr>
        <p:spPr>
          <a:xfrm>
            <a:off x="1409700" y="2882900"/>
            <a:ext cx="4825957" cy="0"/>
          </a:xfrm>
          <a:prstGeom prst="line">
            <a:avLst/>
          </a:prstGeom>
          <a:noFill/>
          <a:ln w="19050" cap="flat" cmpd="sng" algn="ctr">
            <a:solidFill>
              <a:schemeClr val="accent6"/>
            </a:solidFill>
            <a:prstDash val="solid"/>
          </a:ln>
          <a:effectLst/>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榴莲PPT2"/>
          <p:cNvSpPr/>
          <p:nvPr/>
        </p:nvSpPr>
        <p:spPr>
          <a:xfrm>
            <a:off x="559279" y="1292772"/>
            <a:ext cx="5362161" cy="5192249"/>
          </a:xfrm>
          <a:prstGeom prst="roundRect">
            <a:avLst>
              <a:gd name="adj" fmla="val 2097"/>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HarmonyOS Sans SC" panose="00000400000000000000" pitchFamily="2" charset="-122"/>
              <a:ea typeface="阿里巴巴普惠体 R"/>
              <a:cs typeface="+mn-cs"/>
            </a:endParaRPr>
          </a:p>
        </p:txBody>
      </p:sp>
      <p:sp>
        <p:nvSpPr>
          <p:cNvPr id="4" name="榴莲PPT3"/>
          <p:cNvSpPr/>
          <p:nvPr/>
        </p:nvSpPr>
        <p:spPr>
          <a:xfrm>
            <a:off x="6289184" y="1292772"/>
            <a:ext cx="5362161" cy="5192249"/>
          </a:xfrm>
          <a:prstGeom prst="roundRect">
            <a:avLst>
              <a:gd name="adj" fmla="val 2097"/>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HarmonyOS Sans SC" panose="00000400000000000000" pitchFamily="2" charset="-122"/>
              <a:ea typeface="阿里巴巴普惠体 R"/>
              <a:cs typeface="+mn-cs"/>
            </a:endParaRPr>
          </a:p>
        </p:txBody>
      </p:sp>
      <p:sp>
        <p:nvSpPr>
          <p:cNvPr id="7" name="榴莲PPT4"/>
          <p:cNvSpPr/>
          <p:nvPr/>
        </p:nvSpPr>
        <p:spPr>
          <a:xfrm>
            <a:off x="6453189" y="2149521"/>
            <a:ext cx="5054393" cy="4161853"/>
          </a:xfrm>
          <a:prstGeom prst="roundRect">
            <a:avLst>
              <a:gd name="adj" fmla="val 2900"/>
            </a:avLst>
          </a:prstGeom>
          <a:gradFill>
            <a:gsLst>
              <a:gs pos="100000">
                <a:srgbClr val="0087C9">
                  <a:lumMod val="5000"/>
                  <a:lumOff val="95000"/>
                </a:srgbClr>
              </a:gs>
              <a:gs pos="0">
                <a:srgbClr val="01528A">
                  <a:lumMod val="0"/>
                  <a:lumOff val="100000"/>
                </a:srgbClr>
              </a:gs>
            </a:gsLst>
            <a:lin ang="2700000" scaled="0"/>
          </a:gradFill>
          <a:ln>
            <a:noFill/>
          </a:ln>
          <a:effectLst>
            <a:outerShdw blurRad="355600" dist="406400" dir="5400000" sx="91000" sy="91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HarmonyOS Sans SC" panose="00000400000000000000" pitchFamily="2" charset="-122"/>
              <a:ea typeface="阿里巴巴普惠体 R"/>
              <a:cs typeface="+mn-cs"/>
            </a:endParaRPr>
          </a:p>
        </p:txBody>
      </p:sp>
      <p:sp>
        <p:nvSpPr>
          <p:cNvPr id="72" name="榴莲PPT5"/>
          <p:cNvSpPr/>
          <p:nvPr/>
        </p:nvSpPr>
        <p:spPr>
          <a:xfrm>
            <a:off x="723284" y="2149522"/>
            <a:ext cx="5054393" cy="4161853"/>
          </a:xfrm>
          <a:prstGeom prst="roundRect">
            <a:avLst>
              <a:gd name="adj" fmla="val 2900"/>
            </a:avLst>
          </a:prstGeom>
          <a:gradFill>
            <a:gsLst>
              <a:gs pos="100000">
                <a:srgbClr val="0087C9">
                  <a:lumMod val="5000"/>
                  <a:lumOff val="95000"/>
                </a:srgbClr>
              </a:gs>
              <a:gs pos="0">
                <a:srgbClr val="01528A">
                  <a:lumMod val="0"/>
                  <a:lumOff val="100000"/>
                </a:srgbClr>
              </a:gs>
            </a:gsLst>
            <a:lin ang="2700000" scaled="0"/>
          </a:gradFill>
          <a:ln>
            <a:noFill/>
          </a:ln>
          <a:effectLst>
            <a:outerShdw blurRad="355600" dist="406400" dir="5400000" sx="91000" sy="91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HarmonyOS Sans SC" panose="00000400000000000000" pitchFamily="2" charset="-122"/>
              <a:ea typeface="阿里巴巴普惠体 R"/>
              <a:cs typeface="+mn-cs"/>
            </a:endParaRPr>
          </a:p>
        </p:txBody>
      </p:sp>
      <p:sp>
        <p:nvSpPr>
          <p:cNvPr id="73" name="榴莲PPT6"/>
          <p:cNvSpPr txBox="1"/>
          <p:nvPr/>
        </p:nvSpPr>
        <p:spPr>
          <a:xfrm>
            <a:off x="723265" y="1455420"/>
            <a:ext cx="2908300"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HarmonyOS Sans SC" panose="00000400000000000000" pitchFamily="2" charset="-122"/>
                <a:ea typeface="HarmonyOS Sans SC" panose="00000400000000000000" pitchFamily="2" charset="-122"/>
                <a:cs typeface="+mn-cs"/>
              </a:rPr>
              <a:t>项目</a:t>
            </a:r>
            <a:r>
              <a:rPr kumimoji="0" lang="zh-CN" altLang="en-US" sz="3600" b="1" i="0" u="none" strike="noStrike" kern="1200" cap="none" spc="0" normalizeH="0" baseline="0" noProof="0" dirty="0">
                <a:ln>
                  <a:noFill/>
                </a:ln>
                <a:solidFill>
                  <a:srgbClr val="FFFFFF"/>
                </a:solidFill>
                <a:effectLst/>
                <a:uLnTx/>
                <a:uFillTx/>
                <a:latin typeface="HarmonyOS Sans SC" panose="00000400000000000000" pitchFamily="2" charset="-122"/>
                <a:ea typeface="HarmonyOS Sans SC" panose="00000400000000000000" pitchFamily="2" charset="-122"/>
                <a:cs typeface="+mn-cs"/>
              </a:rPr>
              <a:t>背景</a:t>
            </a:r>
            <a:endParaRPr kumimoji="0" lang="zh-CN" altLang="en-US" sz="3600" b="1" i="0" u="none" strike="noStrike" kern="1200" cap="none" spc="0" normalizeH="0" baseline="0" noProof="0" dirty="0">
              <a:ln>
                <a:noFill/>
              </a:ln>
              <a:solidFill>
                <a:srgbClr val="FFFFFF"/>
              </a:solidFill>
              <a:effectLst/>
              <a:uLnTx/>
              <a:uFillTx/>
              <a:latin typeface="HarmonyOS Sans SC" panose="00000400000000000000" pitchFamily="2" charset="-122"/>
              <a:ea typeface="HarmonyOS Sans SC" panose="00000400000000000000" pitchFamily="2" charset="-122"/>
              <a:cs typeface="+mn-cs"/>
            </a:endParaRPr>
          </a:p>
        </p:txBody>
      </p:sp>
      <p:cxnSp>
        <p:nvCxnSpPr>
          <p:cNvPr id="134" name="榴莲PPT8"/>
          <p:cNvCxnSpPr/>
          <p:nvPr/>
        </p:nvCxnSpPr>
        <p:spPr>
          <a:xfrm>
            <a:off x="2736608" y="1753320"/>
            <a:ext cx="0" cy="146609"/>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139" name="榴莲PPT9"/>
          <p:cNvSpPr txBox="1"/>
          <p:nvPr/>
        </p:nvSpPr>
        <p:spPr>
          <a:xfrm>
            <a:off x="6351270" y="1455420"/>
            <a:ext cx="2701290" cy="6451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HarmonyOS Sans SC" panose="00000400000000000000" pitchFamily="2" charset="-122"/>
                <a:ea typeface="HarmonyOS Sans SC" panose="00000400000000000000" pitchFamily="2" charset="-122"/>
                <a:cs typeface="+mn-cs"/>
              </a:rPr>
              <a:t>项目</a:t>
            </a:r>
            <a:r>
              <a:rPr kumimoji="0" lang="zh-CN" altLang="en-US" sz="3600" b="1" i="0" u="none" strike="noStrike" kern="1200" cap="none" spc="0" normalizeH="0" baseline="0" noProof="0" dirty="0">
                <a:ln>
                  <a:noFill/>
                </a:ln>
                <a:solidFill>
                  <a:srgbClr val="FFFFFF"/>
                </a:solidFill>
                <a:effectLst/>
                <a:uLnTx/>
                <a:uFillTx/>
                <a:latin typeface="HarmonyOS Sans SC" panose="00000400000000000000" pitchFamily="2" charset="-122"/>
                <a:ea typeface="HarmonyOS Sans SC" panose="00000400000000000000" pitchFamily="2" charset="-122"/>
                <a:cs typeface="+mn-cs"/>
              </a:rPr>
              <a:t>情况</a:t>
            </a:r>
            <a:endParaRPr kumimoji="0" lang="zh-CN" altLang="en-US" sz="3600" b="1" i="0" u="none" strike="noStrike" kern="1200" cap="none" spc="0" normalizeH="0" baseline="0" noProof="0" dirty="0">
              <a:ln>
                <a:noFill/>
              </a:ln>
              <a:solidFill>
                <a:srgbClr val="FFFFFF"/>
              </a:solidFill>
              <a:effectLst/>
              <a:uLnTx/>
              <a:uFillTx/>
              <a:latin typeface="HarmonyOS Sans SC" panose="00000400000000000000" pitchFamily="2" charset="-122"/>
              <a:ea typeface="HarmonyOS Sans SC" panose="00000400000000000000" pitchFamily="2" charset="-122"/>
              <a:cs typeface="+mn-cs"/>
            </a:endParaRPr>
          </a:p>
        </p:txBody>
      </p:sp>
      <p:cxnSp>
        <p:nvCxnSpPr>
          <p:cNvPr id="141" name="榴莲PPT11"/>
          <p:cNvCxnSpPr/>
          <p:nvPr/>
        </p:nvCxnSpPr>
        <p:spPr>
          <a:xfrm>
            <a:off x="8768391" y="1822771"/>
            <a:ext cx="0" cy="146609"/>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nvGrpSpPr>
          <p:cNvPr id="190" name="榴莲PPT12"/>
          <p:cNvGrpSpPr/>
          <p:nvPr/>
        </p:nvGrpSpPr>
        <p:grpSpPr>
          <a:xfrm>
            <a:off x="892272" y="2296220"/>
            <a:ext cx="4606290" cy="2694563"/>
            <a:chOff x="892272" y="2313966"/>
            <a:chExt cx="4606290" cy="2694563"/>
          </a:xfrm>
        </p:grpSpPr>
        <p:grpSp>
          <p:nvGrpSpPr>
            <p:cNvPr id="146" name="组合 145"/>
            <p:cNvGrpSpPr/>
            <p:nvPr/>
          </p:nvGrpSpPr>
          <p:grpSpPr>
            <a:xfrm>
              <a:off x="892272" y="2313966"/>
              <a:ext cx="4606290" cy="1964821"/>
              <a:chOff x="848958" y="2732616"/>
              <a:chExt cx="4606290" cy="1964821"/>
            </a:xfrm>
          </p:grpSpPr>
          <p:sp>
            <p:nvSpPr>
              <p:cNvPr id="50" name="榴莲PPT12-1"/>
              <p:cNvSpPr txBox="1"/>
              <p:nvPr/>
            </p:nvSpPr>
            <p:spPr>
              <a:xfrm>
                <a:off x="1321150" y="2732616"/>
                <a:ext cx="2071755" cy="3987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85000"/>
                        <a:lumOff val="15000"/>
                      </a:schemeClr>
                    </a:solidFill>
                    <a:effectLst/>
                    <a:uLnTx/>
                    <a:uFillTx/>
                    <a:latin typeface="+mn-ea"/>
                    <a:cs typeface="+mn-cs"/>
                  </a:rPr>
                  <a:t>需求</a:t>
                </a:r>
                <a:r>
                  <a:rPr kumimoji="0" lang="zh-CN" altLang="en-US" sz="2000" b="1" i="0" u="none" strike="noStrike" kern="1200" cap="none" spc="0" normalizeH="0" baseline="0" noProof="0" dirty="0">
                    <a:ln>
                      <a:noFill/>
                    </a:ln>
                    <a:solidFill>
                      <a:schemeClr val="tx1">
                        <a:lumMod val="85000"/>
                        <a:lumOff val="15000"/>
                      </a:schemeClr>
                    </a:solidFill>
                    <a:effectLst/>
                    <a:uLnTx/>
                    <a:uFillTx/>
                    <a:latin typeface="+mn-ea"/>
                    <a:cs typeface="+mn-cs"/>
                  </a:rPr>
                  <a:t>增长</a:t>
                </a:r>
                <a:endParaRPr kumimoji="0" lang="zh-CN" altLang="en-US" sz="2000" b="1" i="0" u="none" strike="noStrike" kern="1200" cap="none" spc="0" normalizeH="0" baseline="0" noProof="0" dirty="0">
                  <a:ln>
                    <a:noFill/>
                  </a:ln>
                  <a:solidFill>
                    <a:schemeClr val="tx1">
                      <a:lumMod val="85000"/>
                      <a:lumOff val="15000"/>
                    </a:schemeClr>
                  </a:solidFill>
                  <a:effectLst/>
                  <a:uLnTx/>
                  <a:uFillTx/>
                  <a:latin typeface="+mn-ea"/>
                  <a:cs typeface="+mn-cs"/>
                </a:endParaRPr>
              </a:p>
            </p:txBody>
          </p:sp>
          <p:grpSp>
            <p:nvGrpSpPr>
              <p:cNvPr id="130" name="组合 129"/>
              <p:cNvGrpSpPr/>
              <p:nvPr/>
            </p:nvGrpSpPr>
            <p:grpSpPr>
              <a:xfrm>
                <a:off x="905627" y="2742661"/>
                <a:ext cx="438629" cy="375390"/>
                <a:chOff x="1506519" y="3042547"/>
                <a:chExt cx="438629" cy="375390"/>
              </a:xfrm>
            </p:grpSpPr>
            <p:sp>
              <p:nvSpPr>
                <p:cNvPr id="49" name="榴莲PPT12-2"/>
                <p:cNvSpPr/>
                <p:nvPr/>
              </p:nvSpPr>
              <p:spPr>
                <a:xfrm>
                  <a:off x="1537838" y="3042547"/>
                  <a:ext cx="375991" cy="375390"/>
                </a:xfrm>
                <a:prstGeom prst="roundRect">
                  <a:avLst>
                    <a:gd name="adj" fmla="val 23108"/>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rgbClr val="FFFFFF"/>
                    </a:solidFill>
                    <a:effectLst/>
                    <a:uLnTx/>
                    <a:uFillTx/>
                    <a:latin typeface="+mn-ea"/>
                    <a:cs typeface="+mn-cs"/>
                  </a:endParaRPr>
                </a:p>
              </p:txBody>
            </p:sp>
            <p:sp>
              <p:nvSpPr>
                <p:cNvPr id="129" name="榴莲PPT12-3"/>
                <p:cNvSpPr txBox="1"/>
                <p:nvPr/>
              </p:nvSpPr>
              <p:spPr>
                <a:xfrm>
                  <a:off x="1506519" y="3060965"/>
                  <a:ext cx="438629"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HarmonyOS Sans SC" panose="00000400000000000000" pitchFamily="2" charset="-122"/>
                      <a:ea typeface="HarmonyOS Sans SC" panose="00000400000000000000" pitchFamily="2" charset="-122"/>
                      <a:cs typeface="+mn-cs"/>
                    </a:rPr>
                    <a:t>01</a:t>
                  </a:r>
                  <a:endParaRPr kumimoji="0" lang="zh-CN" altLang="en-US" sz="1600" b="0" i="0" u="none" strike="noStrike" kern="1200" cap="none" spc="0" normalizeH="0" baseline="0" noProof="0" dirty="0">
                    <a:ln>
                      <a:noFill/>
                    </a:ln>
                    <a:solidFill>
                      <a:srgbClr val="FFFFFF"/>
                    </a:solidFill>
                    <a:effectLst/>
                    <a:uLnTx/>
                    <a:uFillTx/>
                    <a:latin typeface="HarmonyOS Sans SC" panose="00000400000000000000" pitchFamily="2" charset="-122"/>
                    <a:ea typeface="HarmonyOS Sans SC" panose="00000400000000000000" pitchFamily="2" charset="-122"/>
                    <a:cs typeface="+mn-cs"/>
                  </a:endParaRPr>
                </a:p>
              </p:txBody>
            </p:sp>
          </p:grpSp>
          <p:sp>
            <p:nvSpPr>
              <p:cNvPr id="145" name="榴莲PPT12-4"/>
              <p:cNvSpPr txBox="1"/>
              <p:nvPr/>
            </p:nvSpPr>
            <p:spPr>
              <a:xfrm>
                <a:off x="848958" y="3136590"/>
                <a:ext cx="4606290" cy="1560847"/>
              </a:xfrm>
              <a:prstGeom prst="rect">
                <a:avLst/>
              </a:prstGeom>
              <a:noFill/>
            </p:spPr>
            <p:txBody>
              <a:bodyPr wrap="square">
                <a:noAutofit/>
              </a:bodyPr>
              <a:lstStyle/>
              <a:p>
                <a:pPr indent="457200">
                  <a:lnSpc>
                    <a:spcPct val="120000"/>
                  </a:lnSpc>
                </a:pPr>
                <a:r>
                  <a:rPr lang="zh-CN" altLang="en-US" sz="1200" b="1" dirty="0">
                    <a:solidFill>
                      <a:schemeClr val="tx1">
                        <a:lumMod val="85000"/>
                        <a:lumOff val="15000"/>
                      </a:schemeClr>
                    </a:solidFill>
                    <a:latin typeface="+mn-ea"/>
                  </a:rPr>
                  <a:t>在中国宏观经济持续增长、基础设施建设不断推进的背景下，塑料管道在许多领域的需求日益增长。塑料管道因具有重量轻、耐腐蚀、施工方便、成本低等优点，正逐步替代传统金属管材，市场前景十分广阔。目前，我国塑料管道生产企业主要集中在沿海和经济发达地区，而西部地区产业布局相对薄弱，存在较大发展潜力。</a:t>
                </a:r>
                <a:endParaRPr lang="zh-CN" altLang="en-US" sz="1200" b="1" dirty="0">
                  <a:solidFill>
                    <a:schemeClr val="tx1">
                      <a:lumMod val="85000"/>
                      <a:lumOff val="15000"/>
                    </a:schemeClr>
                  </a:solidFill>
                  <a:latin typeface="+mn-ea"/>
                </a:endParaRPr>
              </a:p>
            </p:txBody>
          </p:sp>
        </p:grpSp>
        <p:grpSp>
          <p:nvGrpSpPr>
            <p:cNvPr id="153" name="组合 152"/>
            <p:cNvGrpSpPr/>
            <p:nvPr/>
          </p:nvGrpSpPr>
          <p:grpSpPr>
            <a:xfrm>
              <a:off x="892272" y="4292256"/>
              <a:ext cx="4606164" cy="716273"/>
              <a:chOff x="848958" y="2732616"/>
              <a:chExt cx="4606164" cy="716273"/>
            </a:xfrm>
          </p:grpSpPr>
          <p:sp>
            <p:nvSpPr>
              <p:cNvPr id="154" name="榴莲PPT12-9"/>
              <p:cNvSpPr txBox="1"/>
              <p:nvPr/>
            </p:nvSpPr>
            <p:spPr>
              <a:xfrm>
                <a:off x="1321150" y="2732616"/>
                <a:ext cx="2495231" cy="3987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b="1" dirty="0">
                    <a:solidFill>
                      <a:schemeClr val="tx1">
                        <a:lumMod val="85000"/>
                        <a:lumOff val="15000"/>
                      </a:schemeClr>
                    </a:solidFill>
                    <a:latin typeface="+mn-ea"/>
                  </a:rPr>
                  <a:t>优势</a:t>
                </a:r>
                <a:r>
                  <a:rPr lang="zh-CN" altLang="en-US" sz="2000" b="1" dirty="0">
                    <a:solidFill>
                      <a:schemeClr val="tx1">
                        <a:lumMod val="85000"/>
                        <a:lumOff val="15000"/>
                      </a:schemeClr>
                    </a:solidFill>
                    <a:latin typeface="+mn-ea"/>
                  </a:rPr>
                  <a:t>显著</a:t>
                </a:r>
                <a:endParaRPr lang="zh-CN" altLang="en-US" sz="2000" b="1" dirty="0">
                  <a:solidFill>
                    <a:schemeClr val="tx1">
                      <a:lumMod val="85000"/>
                      <a:lumOff val="15000"/>
                    </a:schemeClr>
                  </a:solidFill>
                  <a:latin typeface="+mn-ea"/>
                </a:endParaRPr>
              </a:p>
            </p:txBody>
          </p:sp>
          <p:grpSp>
            <p:nvGrpSpPr>
              <p:cNvPr id="155" name="组合 154"/>
              <p:cNvGrpSpPr/>
              <p:nvPr/>
            </p:nvGrpSpPr>
            <p:grpSpPr>
              <a:xfrm>
                <a:off x="905627" y="2742661"/>
                <a:ext cx="438629" cy="375390"/>
                <a:chOff x="1506519" y="3042547"/>
                <a:chExt cx="438629" cy="375390"/>
              </a:xfrm>
            </p:grpSpPr>
            <p:sp>
              <p:nvSpPr>
                <p:cNvPr id="157" name="榴莲PPT12-10"/>
                <p:cNvSpPr/>
                <p:nvPr/>
              </p:nvSpPr>
              <p:spPr>
                <a:xfrm>
                  <a:off x="1537838" y="3042547"/>
                  <a:ext cx="375991" cy="375390"/>
                </a:xfrm>
                <a:prstGeom prst="roundRect">
                  <a:avLst>
                    <a:gd name="adj" fmla="val 23108"/>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rgbClr val="FFFFFF"/>
                    </a:solidFill>
                    <a:effectLst/>
                    <a:uLnTx/>
                    <a:uFillTx/>
                    <a:latin typeface="+mn-ea"/>
                    <a:cs typeface="+mn-cs"/>
                  </a:endParaRPr>
                </a:p>
              </p:txBody>
            </p:sp>
            <p:sp>
              <p:nvSpPr>
                <p:cNvPr id="158" name="榴莲PPT12-11"/>
                <p:cNvSpPr txBox="1"/>
                <p:nvPr/>
              </p:nvSpPr>
              <p:spPr>
                <a:xfrm>
                  <a:off x="1506519" y="3060965"/>
                  <a:ext cx="438629"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HarmonyOS Sans SC" panose="00000400000000000000" pitchFamily="2" charset="-122"/>
                      <a:ea typeface="HarmonyOS Sans SC" panose="00000400000000000000" pitchFamily="2" charset="-122"/>
                      <a:cs typeface="+mn-cs"/>
                    </a:rPr>
                    <a:t>02</a:t>
                  </a:r>
                  <a:endParaRPr kumimoji="0" lang="zh-CN" altLang="en-US" sz="1600" b="0" i="0" u="none" strike="noStrike" kern="1200" cap="none" spc="0" normalizeH="0" baseline="0" noProof="0" dirty="0">
                    <a:ln>
                      <a:noFill/>
                    </a:ln>
                    <a:solidFill>
                      <a:srgbClr val="FFFFFF"/>
                    </a:solidFill>
                    <a:effectLst/>
                    <a:uLnTx/>
                    <a:uFillTx/>
                    <a:latin typeface="HarmonyOS Sans SC" panose="00000400000000000000" pitchFamily="2" charset="-122"/>
                    <a:ea typeface="HarmonyOS Sans SC" panose="00000400000000000000" pitchFamily="2" charset="-122"/>
                    <a:cs typeface="+mn-cs"/>
                  </a:endParaRPr>
                </a:p>
              </p:txBody>
            </p:sp>
          </p:grpSp>
          <p:sp>
            <p:nvSpPr>
              <p:cNvPr id="156" name="榴莲PPT12-12"/>
              <p:cNvSpPr txBox="1"/>
              <p:nvPr/>
            </p:nvSpPr>
            <p:spPr>
              <a:xfrm>
                <a:off x="848958" y="3136469"/>
                <a:ext cx="4606164" cy="312420"/>
              </a:xfrm>
              <a:prstGeom prst="rect">
                <a:avLst/>
              </a:prstGeom>
              <a:noFill/>
            </p:spPr>
            <p:txBody>
              <a:bodyPr wrap="square">
                <a:spAutoFit/>
              </a:bodyPr>
              <a:lstStyle/>
              <a:p>
                <a:pPr indent="457200">
                  <a:lnSpc>
                    <a:spcPct val="120000"/>
                  </a:lnSpc>
                </a:pPr>
                <a:endParaRPr lang="zh-CN" altLang="en-US" sz="1200" dirty="0">
                  <a:solidFill>
                    <a:schemeClr val="tx1">
                      <a:lumMod val="85000"/>
                      <a:lumOff val="15000"/>
                    </a:schemeClr>
                  </a:solidFill>
                  <a:effectLst/>
                  <a:latin typeface="+mn-ea"/>
                </a:endParaRPr>
              </a:p>
            </p:txBody>
          </p:sp>
        </p:grpSp>
      </p:grpSp>
      <p:sp>
        <p:nvSpPr>
          <p:cNvPr id="166" name="榴莲PPT13"/>
          <p:cNvSpPr txBox="1"/>
          <p:nvPr/>
        </p:nvSpPr>
        <p:spPr>
          <a:xfrm>
            <a:off x="7077768" y="2296220"/>
            <a:ext cx="2495231" cy="3987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b="1" dirty="0">
                <a:solidFill>
                  <a:schemeClr val="tx1">
                    <a:lumMod val="85000"/>
                    <a:lumOff val="15000"/>
                  </a:schemeClr>
                </a:solidFill>
                <a:latin typeface="+mn-ea"/>
              </a:rPr>
              <a:t>项目</a:t>
            </a:r>
            <a:r>
              <a:rPr lang="zh-CN" altLang="en-US" sz="2000" b="1" dirty="0">
                <a:solidFill>
                  <a:schemeClr val="tx1">
                    <a:lumMod val="85000"/>
                    <a:lumOff val="15000"/>
                  </a:schemeClr>
                </a:solidFill>
                <a:latin typeface="+mn-ea"/>
              </a:rPr>
              <a:t>计划</a:t>
            </a:r>
            <a:endParaRPr lang="zh-CN" altLang="en-US" sz="2000" b="1" dirty="0">
              <a:solidFill>
                <a:schemeClr val="tx1">
                  <a:lumMod val="85000"/>
                  <a:lumOff val="15000"/>
                </a:schemeClr>
              </a:solidFill>
              <a:latin typeface="+mn-ea"/>
            </a:endParaRPr>
          </a:p>
        </p:txBody>
      </p:sp>
      <p:sp>
        <p:nvSpPr>
          <p:cNvPr id="169" name="榴莲PPT14"/>
          <p:cNvSpPr/>
          <p:nvPr/>
        </p:nvSpPr>
        <p:spPr>
          <a:xfrm>
            <a:off x="6693564" y="2306265"/>
            <a:ext cx="375991" cy="375390"/>
          </a:xfrm>
          <a:prstGeom prst="roundRect">
            <a:avLst>
              <a:gd name="adj" fmla="val 23108"/>
            </a:avLst>
          </a:prstGeom>
          <a:solidFill>
            <a:schemeClr val="accent3"/>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rgbClr val="FFFFFF"/>
              </a:solidFill>
              <a:effectLst/>
              <a:uLnTx/>
              <a:uFillTx/>
              <a:latin typeface="+mn-ea"/>
              <a:cs typeface="+mn-cs"/>
            </a:endParaRPr>
          </a:p>
        </p:txBody>
      </p:sp>
      <p:sp>
        <p:nvSpPr>
          <p:cNvPr id="170" name="榴莲PPT15"/>
          <p:cNvSpPr txBox="1"/>
          <p:nvPr/>
        </p:nvSpPr>
        <p:spPr>
          <a:xfrm>
            <a:off x="6662245" y="2324683"/>
            <a:ext cx="438629"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HarmonyOS Sans SC" panose="00000400000000000000" pitchFamily="2" charset="-122"/>
                <a:ea typeface="HarmonyOS Sans SC" panose="00000400000000000000" pitchFamily="2" charset="-122"/>
                <a:cs typeface="+mn-cs"/>
              </a:rPr>
              <a:t>01</a:t>
            </a:r>
            <a:endParaRPr kumimoji="0" lang="zh-CN" altLang="en-US" sz="1600" b="0" i="0" u="none" strike="noStrike" kern="1200" cap="none" spc="0" normalizeH="0" baseline="0" noProof="0" dirty="0">
              <a:ln>
                <a:noFill/>
              </a:ln>
              <a:solidFill>
                <a:srgbClr val="FFFFFF"/>
              </a:solidFill>
              <a:effectLst/>
              <a:uLnTx/>
              <a:uFillTx/>
              <a:latin typeface="HarmonyOS Sans SC" panose="00000400000000000000" pitchFamily="2" charset="-122"/>
              <a:ea typeface="HarmonyOS Sans SC" panose="00000400000000000000" pitchFamily="2" charset="-122"/>
              <a:cs typeface="+mn-cs"/>
            </a:endParaRPr>
          </a:p>
        </p:txBody>
      </p:sp>
      <p:sp>
        <p:nvSpPr>
          <p:cNvPr id="168" name="榴莲PPT16"/>
          <p:cNvSpPr txBox="1"/>
          <p:nvPr/>
        </p:nvSpPr>
        <p:spPr>
          <a:xfrm>
            <a:off x="6605576" y="2700073"/>
            <a:ext cx="4606164" cy="1565910"/>
          </a:xfrm>
          <a:prstGeom prst="rect">
            <a:avLst/>
          </a:prstGeom>
          <a:noFill/>
        </p:spPr>
        <p:txBody>
          <a:bodyPr wrap="square">
            <a:spAutoFit/>
          </a:bodyPr>
          <a:lstStyle/>
          <a:p>
            <a:pPr indent="457200">
              <a:lnSpc>
                <a:spcPct val="120000"/>
              </a:lnSpc>
            </a:pPr>
            <a:r>
              <a:rPr lang="zh-CN" altLang="en-US" sz="1600" b="1" dirty="0">
                <a:solidFill>
                  <a:schemeClr val="tx1">
                    <a:lumMod val="85000"/>
                    <a:lumOff val="15000"/>
                  </a:schemeClr>
                </a:solidFill>
                <a:effectLst/>
                <a:latin typeface="+mn-ea"/>
              </a:rPr>
              <a:t>A 公司与 B 公司计划共同投资，在宝鸡高新技术产业开发区建设PVC、PE 管材生产线项目。项目拟建年产 PVC、PE 管材总计 </a:t>
            </a:r>
            <a:r>
              <a:rPr lang="zh-CN" altLang="en-US" sz="1600" b="1" dirty="0">
                <a:solidFill>
                  <a:srgbClr val="FF0000"/>
                </a:solidFill>
                <a:effectLst/>
                <a:latin typeface="+mn-ea"/>
              </a:rPr>
              <a:t>3000</a:t>
            </a:r>
            <a:r>
              <a:rPr lang="zh-CN" altLang="en-US" sz="1600" b="1" dirty="0">
                <a:solidFill>
                  <a:schemeClr val="tx1">
                    <a:lumMod val="85000"/>
                    <a:lumOff val="15000"/>
                  </a:schemeClr>
                </a:solidFill>
                <a:effectLst/>
                <a:latin typeface="+mn-ea"/>
              </a:rPr>
              <a:t> 吨，其中 PVC 管材 </a:t>
            </a:r>
            <a:r>
              <a:rPr lang="zh-CN" altLang="en-US" sz="1600" b="1" dirty="0">
                <a:solidFill>
                  <a:srgbClr val="FF0000"/>
                </a:solidFill>
                <a:effectLst/>
                <a:latin typeface="+mn-ea"/>
              </a:rPr>
              <a:t>1750</a:t>
            </a:r>
            <a:r>
              <a:rPr lang="zh-CN" altLang="en-US" sz="1600" b="1" dirty="0">
                <a:solidFill>
                  <a:schemeClr val="tx1">
                    <a:lumMod val="85000"/>
                    <a:lumOff val="15000"/>
                  </a:schemeClr>
                </a:solidFill>
                <a:effectLst/>
                <a:latin typeface="+mn-ea"/>
              </a:rPr>
              <a:t> 吨，PE 管材</a:t>
            </a:r>
            <a:r>
              <a:rPr lang="zh-CN" altLang="en-US" sz="1600" b="1" dirty="0">
                <a:solidFill>
                  <a:srgbClr val="FF0000"/>
                </a:solidFill>
                <a:effectLst/>
                <a:latin typeface="+mn-ea"/>
              </a:rPr>
              <a:t>1250</a:t>
            </a:r>
            <a:r>
              <a:rPr lang="zh-CN" altLang="en-US" sz="1600" b="1" dirty="0">
                <a:solidFill>
                  <a:schemeClr val="tx1">
                    <a:lumMod val="85000"/>
                    <a:lumOff val="15000"/>
                  </a:schemeClr>
                </a:solidFill>
                <a:effectLst/>
                <a:latin typeface="+mn-ea"/>
              </a:rPr>
              <a:t> 吨。</a:t>
            </a:r>
            <a:endParaRPr lang="zh-CN" altLang="en-US" sz="1600" b="1" dirty="0">
              <a:solidFill>
                <a:schemeClr val="tx1">
                  <a:lumMod val="85000"/>
                  <a:lumOff val="15000"/>
                </a:schemeClr>
              </a:solidFill>
              <a:effectLst/>
              <a:latin typeface="+mn-ea"/>
            </a:endParaRPr>
          </a:p>
        </p:txBody>
      </p:sp>
      <p:sp>
        <p:nvSpPr>
          <p:cNvPr id="178" name="榴莲PPT21"/>
          <p:cNvSpPr txBox="1"/>
          <p:nvPr/>
        </p:nvSpPr>
        <p:spPr>
          <a:xfrm>
            <a:off x="7077710" y="4274820"/>
            <a:ext cx="3603625" cy="39878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b="1" dirty="0">
                <a:solidFill>
                  <a:schemeClr val="tx1">
                    <a:lumMod val="85000"/>
                    <a:lumOff val="15000"/>
                  </a:schemeClr>
                </a:solidFill>
                <a:latin typeface="+mn-ea"/>
              </a:rPr>
              <a:t>计算期</a:t>
            </a:r>
            <a:r>
              <a:rPr lang="zh-CN" altLang="en-US" sz="2000" b="1" dirty="0">
                <a:solidFill>
                  <a:schemeClr val="tx1">
                    <a:lumMod val="85000"/>
                    <a:lumOff val="15000"/>
                  </a:schemeClr>
                </a:solidFill>
                <a:latin typeface="+mn-ea"/>
              </a:rPr>
              <a:t>与计算期与产销计划</a:t>
            </a:r>
            <a:endParaRPr lang="zh-CN" altLang="en-US" sz="2000" b="1" dirty="0">
              <a:solidFill>
                <a:schemeClr val="tx1">
                  <a:lumMod val="85000"/>
                  <a:lumOff val="15000"/>
                </a:schemeClr>
              </a:solidFill>
              <a:latin typeface="+mn-ea"/>
            </a:endParaRPr>
          </a:p>
        </p:txBody>
      </p:sp>
      <p:sp>
        <p:nvSpPr>
          <p:cNvPr id="181" name="榴莲PPT22"/>
          <p:cNvSpPr/>
          <p:nvPr/>
        </p:nvSpPr>
        <p:spPr>
          <a:xfrm>
            <a:off x="6693564" y="4284555"/>
            <a:ext cx="375991" cy="375390"/>
          </a:xfrm>
          <a:prstGeom prst="roundRect">
            <a:avLst>
              <a:gd name="adj" fmla="val 23108"/>
            </a:avLst>
          </a:prstGeom>
          <a:solidFill>
            <a:schemeClr val="accent3"/>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rgbClr val="FFFFFF"/>
              </a:solidFill>
              <a:effectLst/>
              <a:uLnTx/>
              <a:uFillTx/>
              <a:latin typeface="+mn-ea"/>
              <a:cs typeface="+mn-cs"/>
            </a:endParaRPr>
          </a:p>
        </p:txBody>
      </p:sp>
      <p:sp>
        <p:nvSpPr>
          <p:cNvPr id="182" name="榴莲PPT23"/>
          <p:cNvSpPr txBox="1"/>
          <p:nvPr/>
        </p:nvSpPr>
        <p:spPr>
          <a:xfrm>
            <a:off x="6662245" y="4302973"/>
            <a:ext cx="438629" cy="3371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HarmonyOS Sans SC" panose="00000400000000000000" pitchFamily="2" charset="-122"/>
                <a:ea typeface="HarmonyOS Sans SC" panose="00000400000000000000" pitchFamily="2" charset="-122"/>
                <a:cs typeface="+mn-cs"/>
              </a:rPr>
              <a:t>02</a:t>
            </a:r>
            <a:endParaRPr kumimoji="0" lang="zh-CN" altLang="en-US" sz="1600" b="0" i="0" u="none" strike="noStrike" kern="1200" cap="none" spc="0" normalizeH="0" baseline="0" noProof="0" dirty="0">
              <a:ln>
                <a:noFill/>
              </a:ln>
              <a:solidFill>
                <a:srgbClr val="FFFFFF"/>
              </a:solidFill>
              <a:effectLst/>
              <a:uLnTx/>
              <a:uFillTx/>
              <a:latin typeface="HarmonyOS Sans SC" panose="00000400000000000000" pitchFamily="2" charset="-122"/>
              <a:ea typeface="HarmonyOS Sans SC" panose="00000400000000000000" pitchFamily="2" charset="-122"/>
              <a:cs typeface="+mn-cs"/>
            </a:endParaRPr>
          </a:p>
        </p:txBody>
      </p:sp>
      <p:sp>
        <p:nvSpPr>
          <p:cNvPr id="180" name="榴莲PPT24"/>
          <p:cNvSpPr txBox="1"/>
          <p:nvPr/>
        </p:nvSpPr>
        <p:spPr>
          <a:xfrm>
            <a:off x="6605576" y="4678363"/>
            <a:ext cx="4606164" cy="1271270"/>
          </a:xfrm>
          <a:prstGeom prst="rect">
            <a:avLst/>
          </a:prstGeom>
          <a:noFill/>
        </p:spPr>
        <p:txBody>
          <a:bodyPr wrap="square">
            <a:spAutoFit/>
          </a:bodyPr>
          <a:lstStyle/>
          <a:p>
            <a:pPr indent="457200">
              <a:lnSpc>
                <a:spcPct val="120000"/>
              </a:lnSpc>
            </a:pPr>
            <a:r>
              <a:rPr lang="zh-CN" altLang="en-US" sz="1600" b="1" dirty="0">
                <a:solidFill>
                  <a:schemeClr val="tx1">
                    <a:lumMod val="85000"/>
                    <a:lumOff val="15000"/>
                  </a:schemeClr>
                </a:solidFill>
                <a:effectLst/>
                <a:latin typeface="+mn-ea"/>
              </a:rPr>
              <a:t>本项目建设期为 1 年，运营期为 20 年，计算期共 21 年。</a:t>
            </a:r>
            <a:endParaRPr lang="zh-CN" altLang="en-US" sz="1600" b="1" dirty="0">
              <a:solidFill>
                <a:schemeClr val="tx1">
                  <a:lumMod val="85000"/>
                  <a:lumOff val="15000"/>
                </a:schemeClr>
              </a:solidFill>
              <a:effectLst/>
              <a:latin typeface="+mn-ea"/>
            </a:endParaRPr>
          </a:p>
          <a:p>
            <a:pPr indent="457200">
              <a:lnSpc>
                <a:spcPct val="120000"/>
              </a:lnSpc>
            </a:pPr>
            <a:r>
              <a:rPr lang="zh-CN" altLang="en-US" sz="1600" b="1" dirty="0">
                <a:solidFill>
                  <a:schemeClr val="tx1">
                    <a:lumMod val="85000"/>
                    <a:lumOff val="15000"/>
                  </a:schemeClr>
                </a:solidFill>
                <a:effectLst/>
                <a:latin typeface="+mn-ea"/>
              </a:rPr>
              <a:t>项目建成后，从投产第二年起达到 100% 设计负荷，年产销规模稳定在 3000 吨。</a:t>
            </a:r>
            <a:endParaRPr lang="zh-CN" altLang="en-US" sz="1600" b="1" dirty="0">
              <a:solidFill>
                <a:schemeClr val="tx1">
                  <a:lumMod val="85000"/>
                  <a:lumOff val="15000"/>
                </a:schemeClr>
              </a:solidFill>
              <a:effectLst/>
              <a:latin typeface="+mn-ea"/>
            </a:endParaRPr>
          </a:p>
        </p:txBody>
      </p:sp>
      <p:sp>
        <p:nvSpPr>
          <p:cNvPr id="5" name="小李PPT1"/>
          <p:cNvSpPr txBox="1"/>
          <p:nvPr>
            <p:custDataLst>
              <p:tags r:id="rId1"/>
            </p:custDataLst>
          </p:nvPr>
        </p:nvSpPr>
        <p:spPr>
          <a:xfrm>
            <a:off x="800100" y="265105"/>
            <a:ext cx="1808480" cy="583565"/>
          </a:xfrm>
          <a:prstGeom prst="rect">
            <a:avLst/>
          </a:prstGeom>
          <a:noFill/>
        </p:spPr>
        <p:txBody>
          <a:bodyPr wrap="none" rtlCol="0">
            <a:spAutoFit/>
          </a:bodyPr>
          <a:p>
            <a:pPr algn="l">
              <a:defRPr/>
            </a:pPr>
            <a:r>
              <a:rPr lang="zh-CN" altLang="en-US" sz="3200">
                <a:sym typeface="+mn-ea"/>
              </a:rPr>
              <a:t>项目概述</a:t>
            </a:r>
            <a:endParaRPr lang="zh-CN" altLang="en-US" sz="3200">
              <a:sym typeface="+mn-ea"/>
            </a:endParaRPr>
          </a:p>
        </p:txBody>
      </p:sp>
      <p:sp>
        <p:nvSpPr>
          <p:cNvPr id="9" name="小李PPT2"/>
          <p:cNvSpPr/>
          <p:nvPr>
            <p:custDataLst>
              <p:tags r:id="rId2"/>
            </p:custDataLst>
          </p:nvPr>
        </p:nvSpPr>
        <p:spPr>
          <a:xfrm>
            <a:off x="695325" y="337281"/>
            <a:ext cx="79375" cy="400051"/>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defRPr/>
            </a:pPr>
            <a:endParaRPr lang="zh-CN" altLang="en-US" sz="2400">
              <a:solidFill>
                <a:prstClr val="white"/>
              </a:solidFill>
              <a:latin typeface="OPPOSans R" panose="00020600040101010101" pitchFamily="18" charset="-122"/>
              <a:ea typeface="OPPOSans R" panose="00020600040101010101" pitchFamily="18" charset="-122"/>
            </a:endParaRPr>
          </a:p>
        </p:txBody>
      </p:sp>
      <p:grpSp>
        <p:nvGrpSpPr>
          <p:cNvPr id="14" name="组合 13"/>
          <p:cNvGrpSpPr/>
          <p:nvPr/>
        </p:nvGrpSpPr>
        <p:grpSpPr>
          <a:xfrm>
            <a:off x="559435" y="1292860"/>
            <a:ext cx="5361940" cy="5192395"/>
            <a:chOff x="881" y="2036"/>
            <a:chExt cx="8444" cy="8177"/>
          </a:xfrm>
        </p:grpSpPr>
        <p:sp>
          <p:nvSpPr>
            <p:cNvPr id="15" name="榴莲PPT2"/>
            <p:cNvSpPr/>
            <p:nvPr/>
          </p:nvSpPr>
          <p:spPr>
            <a:xfrm>
              <a:off x="881" y="2036"/>
              <a:ext cx="8444" cy="8177"/>
            </a:xfrm>
            <a:prstGeom prst="roundRect">
              <a:avLst>
                <a:gd name="adj" fmla="val 2097"/>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HarmonyOS Sans SC" panose="00000400000000000000" pitchFamily="2" charset="-122"/>
                <a:ea typeface="阿里巴巴普惠体 R"/>
                <a:cs typeface="+mn-cs"/>
              </a:endParaRPr>
            </a:p>
          </p:txBody>
        </p:sp>
        <p:sp>
          <p:nvSpPr>
            <p:cNvPr id="16" name="榴莲PPT5"/>
            <p:cNvSpPr/>
            <p:nvPr/>
          </p:nvSpPr>
          <p:spPr>
            <a:xfrm>
              <a:off x="1139" y="3385"/>
              <a:ext cx="7960" cy="6554"/>
            </a:xfrm>
            <a:prstGeom prst="roundRect">
              <a:avLst>
                <a:gd name="adj" fmla="val 2900"/>
              </a:avLst>
            </a:prstGeom>
            <a:gradFill>
              <a:gsLst>
                <a:gs pos="100000">
                  <a:srgbClr val="0087C9">
                    <a:lumMod val="5000"/>
                    <a:lumOff val="95000"/>
                  </a:srgbClr>
                </a:gs>
                <a:gs pos="0">
                  <a:srgbClr val="01528A">
                    <a:lumMod val="0"/>
                    <a:lumOff val="100000"/>
                  </a:srgbClr>
                </a:gs>
              </a:gsLst>
              <a:lin ang="2700000" scaled="0"/>
            </a:gradFill>
            <a:ln>
              <a:noFill/>
            </a:ln>
            <a:effectLst>
              <a:outerShdw blurRad="355600" dist="406400" dir="5400000" sx="91000" sy="91000" algn="t"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HarmonyOS Sans SC" panose="00000400000000000000" pitchFamily="2" charset="-122"/>
                <a:ea typeface="阿里巴巴普惠体 R"/>
                <a:cs typeface="+mn-cs"/>
              </a:endParaRPr>
            </a:p>
          </p:txBody>
        </p:sp>
        <p:sp>
          <p:nvSpPr>
            <p:cNvPr id="17" name="榴莲PPT6"/>
            <p:cNvSpPr txBox="1"/>
            <p:nvPr/>
          </p:nvSpPr>
          <p:spPr>
            <a:xfrm>
              <a:off x="1139" y="2292"/>
              <a:ext cx="3597" cy="1016"/>
            </a:xfrm>
            <a:prstGeom prst="rect">
              <a:avLst/>
            </a:prstGeom>
            <a:noFill/>
          </p:spPr>
          <p:txBody>
            <a:bodyPr wrap="square">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a:ln>
                    <a:noFill/>
                  </a:ln>
                  <a:solidFill>
                    <a:srgbClr val="FFFFFF"/>
                  </a:solidFill>
                  <a:effectLst/>
                  <a:uLnTx/>
                  <a:uFillTx/>
                  <a:latin typeface="HarmonyOS Sans SC" panose="00000400000000000000" pitchFamily="2" charset="-122"/>
                  <a:ea typeface="HarmonyOS Sans SC" panose="00000400000000000000" pitchFamily="2" charset="-122"/>
                  <a:cs typeface="+mn-cs"/>
                </a:rPr>
                <a:t>项目</a:t>
              </a:r>
              <a:r>
                <a:rPr kumimoji="0" lang="zh-CN" altLang="en-US" sz="3600" b="1" i="0" u="none" strike="noStrike" kern="1200" cap="none" spc="0" normalizeH="0" baseline="0" noProof="0" dirty="0">
                  <a:ln>
                    <a:noFill/>
                  </a:ln>
                  <a:solidFill>
                    <a:srgbClr val="FFFFFF"/>
                  </a:solidFill>
                  <a:effectLst/>
                  <a:uLnTx/>
                  <a:uFillTx/>
                  <a:latin typeface="HarmonyOS Sans SC" panose="00000400000000000000" pitchFamily="2" charset="-122"/>
                  <a:ea typeface="HarmonyOS Sans SC" panose="00000400000000000000" pitchFamily="2" charset="-122"/>
                  <a:cs typeface="+mn-cs"/>
                </a:rPr>
                <a:t>背景</a:t>
              </a:r>
              <a:endParaRPr kumimoji="0" lang="zh-CN" altLang="en-US" sz="3600" b="1" i="0" u="none" strike="noStrike" kern="1200" cap="none" spc="0" normalizeH="0" baseline="0" noProof="0" dirty="0">
                <a:ln>
                  <a:noFill/>
                </a:ln>
                <a:solidFill>
                  <a:srgbClr val="FFFFFF"/>
                </a:solidFill>
                <a:effectLst/>
                <a:uLnTx/>
                <a:uFillTx/>
                <a:latin typeface="HarmonyOS Sans SC" panose="00000400000000000000" pitchFamily="2" charset="-122"/>
                <a:ea typeface="HarmonyOS Sans SC" panose="00000400000000000000" pitchFamily="2" charset="-122"/>
                <a:cs typeface="+mn-cs"/>
              </a:endParaRPr>
            </a:p>
          </p:txBody>
        </p:sp>
        <p:cxnSp>
          <p:nvCxnSpPr>
            <p:cNvPr id="19" name="榴莲PPT8"/>
            <p:cNvCxnSpPr/>
            <p:nvPr/>
          </p:nvCxnSpPr>
          <p:spPr>
            <a:xfrm>
              <a:off x="4310" y="2761"/>
              <a:ext cx="0" cy="231"/>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grpSp>
          <p:nvGrpSpPr>
            <p:cNvPr id="20" name="榴莲PPT12"/>
            <p:cNvGrpSpPr/>
            <p:nvPr/>
          </p:nvGrpSpPr>
          <p:grpSpPr>
            <a:xfrm>
              <a:off x="1405" y="3616"/>
              <a:ext cx="7254" cy="4592"/>
              <a:chOff x="892272" y="2313966"/>
              <a:chExt cx="4606164" cy="2915508"/>
            </a:xfrm>
          </p:grpSpPr>
          <p:grpSp>
            <p:nvGrpSpPr>
              <p:cNvPr id="21" name="组合 20"/>
              <p:cNvGrpSpPr/>
              <p:nvPr/>
            </p:nvGrpSpPr>
            <p:grpSpPr>
              <a:xfrm>
                <a:off x="892272" y="2313966"/>
                <a:ext cx="4606164" cy="756871"/>
                <a:chOff x="848958" y="2732616"/>
                <a:chExt cx="4606164" cy="756871"/>
              </a:xfrm>
            </p:grpSpPr>
            <p:sp>
              <p:nvSpPr>
                <p:cNvPr id="22" name="榴莲PPT12-1"/>
                <p:cNvSpPr txBox="1"/>
                <p:nvPr/>
              </p:nvSpPr>
              <p:spPr>
                <a:xfrm>
                  <a:off x="1321150" y="2732616"/>
                  <a:ext cx="2071755" cy="398754"/>
                </a:xfrm>
                <a:prstGeom prst="rect">
                  <a:avLst/>
                </a:prstGeom>
                <a:noFill/>
              </p:spPr>
              <p:txBody>
                <a:bodyPr wrap="square">
                  <a:spAutoFit/>
                </a:bodyPr>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tx1">
                          <a:lumMod val="85000"/>
                          <a:lumOff val="15000"/>
                        </a:schemeClr>
                      </a:solidFill>
                      <a:effectLst/>
                      <a:uLnTx/>
                      <a:uFillTx/>
                      <a:latin typeface="+mn-ea"/>
                      <a:cs typeface="+mn-cs"/>
                    </a:rPr>
                    <a:t>需求</a:t>
                  </a:r>
                  <a:r>
                    <a:rPr kumimoji="0" lang="zh-CN" altLang="en-US" sz="2000" b="1" i="0" u="none" strike="noStrike" kern="1200" cap="none" spc="0" normalizeH="0" baseline="0" noProof="0" dirty="0">
                      <a:ln>
                        <a:noFill/>
                      </a:ln>
                      <a:solidFill>
                        <a:schemeClr val="tx1">
                          <a:lumMod val="85000"/>
                          <a:lumOff val="15000"/>
                        </a:schemeClr>
                      </a:solidFill>
                      <a:effectLst/>
                      <a:uLnTx/>
                      <a:uFillTx/>
                      <a:latin typeface="+mn-ea"/>
                      <a:cs typeface="+mn-cs"/>
                    </a:rPr>
                    <a:t>增长</a:t>
                  </a:r>
                  <a:endParaRPr kumimoji="0" lang="zh-CN" altLang="en-US" sz="2000" b="1" i="0" u="none" strike="noStrike" kern="1200" cap="none" spc="0" normalizeH="0" baseline="0" noProof="0" dirty="0">
                    <a:ln>
                      <a:noFill/>
                    </a:ln>
                    <a:solidFill>
                      <a:schemeClr val="tx1">
                        <a:lumMod val="85000"/>
                        <a:lumOff val="15000"/>
                      </a:schemeClr>
                    </a:solidFill>
                    <a:effectLst/>
                    <a:uLnTx/>
                    <a:uFillTx/>
                    <a:latin typeface="+mn-ea"/>
                    <a:cs typeface="+mn-cs"/>
                  </a:endParaRPr>
                </a:p>
              </p:txBody>
            </p:sp>
            <p:grpSp>
              <p:nvGrpSpPr>
                <p:cNvPr id="23" name="组合 22"/>
                <p:cNvGrpSpPr/>
                <p:nvPr/>
              </p:nvGrpSpPr>
              <p:grpSpPr>
                <a:xfrm>
                  <a:off x="905627" y="2742661"/>
                  <a:ext cx="438629" cy="375390"/>
                  <a:chOff x="1506519" y="3042547"/>
                  <a:chExt cx="438629" cy="375390"/>
                </a:xfrm>
              </p:grpSpPr>
              <p:sp>
                <p:nvSpPr>
                  <p:cNvPr id="24" name="榴莲PPT12-2"/>
                  <p:cNvSpPr/>
                  <p:nvPr/>
                </p:nvSpPr>
                <p:spPr>
                  <a:xfrm>
                    <a:off x="1537838" y="3042547"/>
                    <a:ext cx="375991" cy="375390"/>
                  </a:xfrm>
                  <a:prstGeom prst="roundRect">
                    <a:avLst>
                      <a:gd name="adj" fmla="val 23108"/>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rgbClr val="FFFFFF"/>
                      </a:solidFill>
                      <a:effectLst/>
                      <a:uLnTx/>
                      <a:uFillTx/>
                      <a:latin typeface="+mn-ea"/>
                      <a:cs typeface="+mn-cs"/>
                    </a:endParaRPr>
                  </a:p>
                </p:txBody>
              </p:sp>
              <p:sp>
                <p:nvSpPr>
                  <p:cNvPr id="25" name="榴莲PPT12-3"/>
                  <p:cNvSpPr txBox="1"/>
                  <p:nvPr/>
                </p:nvSpPr>
                <p:spPr>
                  <a:xfrm>
                    <a:off x="1506519" y="3060965"/>
                    <a:ext cx="438629" cy="338554"/>
                  </a:xfrm>
                  <a:prstGeom prst="rect">
                    <a:avLst/>
                  </a:prstGeom>
                  <a:noFill/>
                </p:spPr>
                <p:txBody>
                  <a:bodyPr wrap="square">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HarmonyOS Sans SC" panose="00000400000000000000" pitchFamily="2" charset="-122"/>
                        <a:ea typeface="HarmonyOS Sans SC" panose="00000400000000000000" pitchFamily="2" charset="-122"/>
                        <a:cs typeface="+mn-cs"/>
                      </a:rPr>
                      <a:t>01</a:t>
                    </a:r>
                    <a:endParaRPr kumimoji="0" lang="zh-CN" altLang="en-US" sz="1600" b="0" i="0" u="none" strike="noStrike" kern="1200" cap="none" spc="0" normalizeH="0" baseline="0" noProof="0" dirty="0">
                      <a:ln>
                        <a:noFill/>
                      </a:ln>
                      <a:solidFill>
                        <a:srgbClr val="FFFFFF"/>
                      </a:solidFill>
                      <a:effectLst/>
                      <a:uLnTx/>
                      <a:uFillTx/>
                      <a:latin typeface="HarmonyOS Sans SC" panose="00000400000000000000" pitchFamily="2" charset="-122"/>
                      <a:ea typeface="HarmonyOS Sans SC" panose="00000400000000000000" pitchFamily="2" charset="-122"/>
                      <a:cs typeface="+mn-cs"/>
                    </a:endParaRPr>
                  </a:p>
                </p:txBody>
              </p:sp>
            </p:grpSp>
            <p:sp>
              <p:nvSpPr>
                <p:cNvPr id="26" name="榴莲PPT12-4"/>
                <p:cNvSpPr txBox="1"/>
                <p:nvPr/>
              </p:nvSpPr>
              <p:spPr>
                <a:xfrm>
                  <a:off x="848958" y="3099622"/>
                  <a:ext cx="4606164" cy="389865"/>
                </a:xfrm>
                <a:prstGeom prst="rect">
                  <a:avLst/>
                </a:prstGeom>
                <a:noFill/>
              </p:spPr>
              <p:txBody>
                <a:bodyPr wrap="square">
                  <a:noAutofit/>
                </a:bodyPr>
                <a:p>
                  <a:pPr indent="457200">
                    <a:lnSpc>
                      <a:spcPct val="120000"/>
                    </a:lnSpc>
                  </a:pPr>
                  <a:r>
                    <a:rPr lang="zh-CN" altLang="en-US" sz="1200" b="1" dirty="0">
                      <a:solidFill>
                        <a:schemeClr val="tx1">
                          <a:lumMod val="85000"/>
                          <a:lumOff val="15000"/>
                        </a:schemeClr>
                      </a:solidFill>
                      <a:latin typeface="+mn-ea"/>
                    </a:rPr>
                    <a:t>在中国基础设施建设不断推进的背景下，塑料管道在建筑业、市政工程、农业灌溉及工业配套等领域的需求日益增长。</a:t>
                  </a:r>
                  <a:endParaRPr lang="zh-CN" altLang="en-US" sz="1200" b="1" dirty="0">
                    <a:solidFill>
                      <a:schemeClr val="tx1">
                        <a:lumMod val="85000"/>
                        <a:lumOff val="15000"/>
                      </a:schemeClr>
                    </a:solidFill>
                    <a:latin typeface="+mn-ea"/>
                  </a:endParaRPr>
                </a:p>
              </p:txBody>
            </p:sp>
          </p:grpSp>
          <p:grpSp>
            <p:nvGrpSpPr>
              <p:cNvPr id="27" name="组合 26"/>
              <p:cNvGrpSpPr/>
              <p:nvPr/>
            </p:nvGrpSpPr>
            <p:grpSpPr>
              <a:xfrm>
                <a:off x="892272" y="3303111"/>
                <a:ext cx="4606164" cy="937218"/>
                <a:chOff x="848958" y="2732616"/>
                <a:chExt cx="4606164" cy="937218"/>
              </a:xfrm>
            </p:grpSpPr>
            <p:sp>
              <p:nvSpPr>
                <p:cNvPr id="28" name="榴莲PPT12-5"/>
                <p:cNvSpPr txBox="1"/>
                <p:nvPr/>
              </p:nvSpPr>
              <p:spPr>
                <a:xfrm>
                  <a:off x="1321150" y="2732616"/>
                  <a:ext cx="2495231" cy="398754"/>
                </a:xfrm>
                <a:prstGeom prst="rect">
                  <a:avLst/>
                </a:prstGeom>
                <a:noFill/>
              </p:spPr>
              <p:txBody>
                <a:bodyPr wrap="square">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b="1" dirty="0">
                      <a:solidFill>
                        <a:schemeClr val="tx1">
                          <a:lumMod val="85000"/>
                          <a:lumOff val="15000"/>
                        </a:schemeClr>
                      </a:solidFill>
                      <a:latin typeface="+mn-ea"/>
                    </a:rPr>
                    <a:t>优势</a:t>
                  </a:r>
                  <a:r>
                    <a:rPr lang="zh-CN" altLang="en-US" sz="2000" b="1" dirty="0">
                      <a:solidFill>
                        <a:schemeClr val="tx1">
                          <a:lumMod val="85000"/>
                          <a:lumOff val="15000"/>
                        </a:schemeClr>
                      </a:solidFill>
                      <a:latin typeface="+mn-ea"/>
                    </a:rPr>
                    <a:t>显著</a:t>
                  </a:r>
                  <a:endParaRPr lang="zh-CN" altLang="en-US" sz="2000" b="1" dirty="0">
                    <a:solidFill>
                      <a:schemeClr val="tx1">
                        <a:lumMod val="85000"/>
                        <a:lumOff val="15000"/>
                      </a:schemeClr>
                    </a:solidFill>
                    <a:latin typeface="+mn-ea"/>
                  </a:endParaRPr>
                </a:p>
              </p:txBody>
            </p:sp>
            <p:grpSp>
              <p:nvGrpSpPr>
                <p:cNvPr id="29" name="组合 28"/>
                <p:cNvGrpSpPr/>
                <p:nvPr/>
              </p:nvGrpSpPr>
              <p:grpSpPr>
                <a:xfrm>
                  <a:off x="905627" y="2742661"/>
                  <a:ext cx="438629" cy="375390"/>
                  <a:chOff x="1506519" y="3042547"/>
                  <a:chExt cx="438629" cy="375390"/>
                </a:xfrm>
              </p:grpSpPr>
              <p:sp>
                <p:nvSpPr>
                  <p:cNvPr id="30" name="榴莲PPT12-6"/>
                  <p:cNvSpPr/>
                  <p:nvPr/>
                </p:nvSpPr>
                <p:spPr>
                  <a:xfrm>
                    <a:off x="1537838" y="3042547"/>
                    <a:ext cx="375991" cy="375390"/>
                  </a:xfrm>
                  <a:prstGeom prst="roundRect">
                    <a:avLst>
                      <a:gd name="adj" fmla="val 23108"/>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rgbClr val="FFFFFF"/>
                      </a:solidFill>
                      <a:effectLst/>
                      <a:uLnTx/>
                      <a:uFillTx/>
                      <a:latin typeface="+mn-ea"/>
                      <a:cs typeface="+mn-cs"/>
                    </a:endParaRPr>
                  </a:p>
                </p:txBody>
              </p:sp>
              <p:sp>
                <p:nvSpPr>
                  <p:cNvPr id="31" name="榴莲PPT12-7"/>
                  <p:cNvSpPr txBox="1"/>
                  <p:nvPr/>
                </p:nvSpPr>
                <p:spPr>
                  <a:xfrm>
                    <a:off x="1506519" y="3060965"/>
                    <a:ext cx="438629" cy="338554"/>
                  </a:xfrm>
                  <a:prstGeom prst="rect">
                    <a:avLst/>
                  </a:prstGeom>
                  <a:noFill/>
                </p:spPr>
                <p:txBody>
                  <a:bodyPr wrap="square">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HarmonyOS Sans SC" panose="00000400000000000000" pitchFamily="2" charset="-122"/>
                        <a:ea typeface="HarmonyOS Sans SC" panose="00000400000000000000" pitchFamily="2" charset="-122"/>
                        <a:cs typeface="+mn-cs"/>
                      </a:rPr>
                      <a:t>02</a:t>
                    </a:r>
                    <a:endParaRPr kumimoji="0" lang="zh-CN" altLang="en-US" sz="1600" b="0" i="0" u="none" strike="noStrike" kern="1200" cap="none" spc="0" normalizeH="0" baseline="0" noProof="0" dirty="0">
                      <a:ln>
                        <a:noFill/>
                      </a:ln>
                      <a:solidFill>
                        <a:srgbClr val="FFFFFF"/>
                      </a:solidFill>
                      <a:effectLst/>
                      <a:uLnTx/>
                      <a:uFillTx/>
                      <a:latin typeface="HarmonyOS Sans SC" panose="00000400000000000000" pitchFamily="2" charset="-122"/>
                      <a:ea typeface="HarmonyOS Sans SC" panose="00000400000000000000" pitchFamily="2" charset="-122"/>
                      <a:cs typeface="+mn-cs"/>
                    </a:endParaRPr>
                  </a:p>
                </p:txBody>
              </p:sp>
            </p:grpSp>
            <p:sp>
              <p:nvSpPr>
                <p:cNvPr id="32" name="榴莲PPT12-8"/>
                <p:cNvSpPr txBox="1"/>
                <p:nvPr/>
              </p:nvSpPr>
              <p:spPr>
                <a:xfrm>
                  <a:off x="848958" y="3136469"/>
                  <a:ext cx="4606164" cy="533365"/>
                </a:xfrm>
                <a:prstGeom prst="rect">
                  <a:avLst/>
                </a:prstGeom>
                <a:noFill/>
              </p:spPr>
              <p:txBody>
                <a:bodyPr wrap="square">
                  <a:spAutoFit/>
                </a:bodyPr>
                <a:p>
                  <a:pPr indent="457200">
                    <a:lnSpc>
                      <a:spcPct val="120000"/>
                    </a:lnSpc>
                  </a:pPr>
                  <a:r>
                    <a:rPr lang="zh-CN" altLang="en-US" sz="1200" b="1" dirty="0">
                      <a:solidFill>
                        <a:schemeClr val="tx1">
                          <a:lumMod val="85000"/>
                          <a:lumOff val="15000"/>
                        </a:schemeClr>
                      </a:solidFill>
                      <a:effectLst/>
                      <a:latin typeface="+mn-ea"/>
                    </a:rPr>
                    <a:t>塑料管道因具有重量轻、耐腐蚀、施工方便、成本低等优点，正逐步替代传统金属管材，市场前景十分广阔。</a:t>
                  </a:r>
                  <a:endParaRPr lang="zh-CN" altLang="en-US" sz="1200" b="1" dirty="0">
                    <a:solidFill>
                      <a:schemeClr val="tx1">
                        <a:lumMod val="85000"/>
                        <a:lumOff val="15000"/>
                      </a:schemeClr>
                    </a:solidFill>
                    <a:effectLst/>
                    <a:latin typeface="+mn-ea"/>
                  </a:endParaRPr>
                </a:p>
              </p:txBody>
            </p:sp>
          </p:grpSp>
          <p:grpSp>
            <p:nvGrpSpPr>
              <p:cNvPr id="33" name="组合 32"/>
              <p:cNvGrpSpPr/>
              <p:nvPr/>
            </p:nvGrpSpPr>
            <p:grpSpPr>
              <a:xfrm>
                <a:off x="892272" y="4292256"/>
                <a:ext cx="4606164" cy="937218"/>
                <a:chOff x="848958" y="2732616"/>
                <a:chExt cx="4606164" cy="937218"/>
              </a:xfrm>
            </p:grpSpPr>
            <p:sp>
              <p:nvSpPr>
                <p:cNvPr id="34" name="榴莲PPT12-9"/>
                <p:cNvSpPr txBox="1"/>
                <p:nvPr/>
              </p:nvSpPr>
              <p:spPr>
                <a:xfrm>
                  <a:off x="1321150" y="2732616"/>
                  <a:ext cx="2495231" cy="398754"/>
                </a:xfrm>
                <a:prstGeom prst="rect">
                  <a:avLst/>
                </a:prstGeom>
                <a:noFill/>
              </p:spPr>
              <p:txBody>
                <a:bodyPr wrap="square">
                  <a:spAutoFit/>
                </a:bodyPr>
                <a:p>
                  <a:pPr marL="0" marR="0" lvl="0" indent="0" algn="l" defTabSz="914400" rtl="0" eaLnBrk="1" fontAlgn="auto" latinLnBrk="0" hangingPunct="1">
                    <a:lnSpc>
                      <a:spcPct val="100000"/>
                    </a:lnSpc>
                    <a:spcBef>
                      <a:spcPts val="0"/>
                    </a:spcBef>
                    <a:spcAft>
                      <a:spcPts val="0"/>
                    </a:spcAft>
                    <a:buClrTx/>
                    <a:buSzTx/>
                    <a:buFontTx/>
                    <a:buNone/>
                    <a:defRPr/>
                  </a:pPr>
                  <a:r>
                    <a:rPr lang="zh-CN" altLang="en-US" sz="2000" b="1" dirty="0">
                      <a:solidFill>
                        <a:schemeClr val="tx1">
                          <a:lumMod val="85000"/>
                          <a:lumOff val="15000"/>
                        </a:schemeClr>
                      </a:solidFill>
                      <a:latin typeface="+mn-ea"/>
                    </a:rPr>
                    <a:t>潜力</a:t>
                  </a:r>
                  <a:r>
                    <a:rPr lang="zh-CN" altLang="en-US" sz="2000" b="1" dirty="0">
                      <a:solidFill>
                        <a:schemeClr val="tx1">
                          <a:lumMod val="85000"/>
                          <a:lumOff val="15000"/>
                        </a:schemeClr>
                      </a:solidFill>
                      <a:latin typeface="+mn-ea"/>
                    </a:rPr>
                    <a:t>巨大</a:t>
                  </a:r>
                  <a:endParaRPr lang="zh-CN" altLang="en-US" sz="2000" b="1" dirty="0">
                    <a:solidFill>
                      <a:schemeClr val="tx1">
                        <a:lumMod val="85000"/>
                        <a:lumOff val="15000"/>
                      </a:schemeClr>
                    </a:solidFill>
                    <a:latin typeface="+mn-ea"/>
                  </a:endParaRPr>
                </a:p>
              </p:txBody>
            </p:sp>
            <p:grpSp>
              <p:nvGrpSpPr>
                <p:cNvPr id="35" name="组合 34"/>
                <p:cNvGrpSpPr/>
                <p:nvPr/>
              </p:nvGrpSpPr>
              <p:grpSpPr>
                <a:xfrm>
                  <a:off x="905627" y="2742661"/>
                  <a:ext cx="438629" cy="375390"/>
                  <a:chOff x="1506519" y="3042547"/>
                  <a:chExt cx="438629" cy="375390"/>
                </a:xfrm>
              </p:grpSpPr>
              <p:sp>
                <p:nvSpPr>
                  <p:cNvPr id="36" name="榴莲PPT12-10"/>
                  <p:cNvSpPr/>
                  <p:nvPr/>
                </p:nvSpPr>
                <p:spPr>
                  <a:xfrm>
                    <a:off x="1537838" y="3042547"/>
                    <a:ext cx="375991" cy="375390"/>
                  </a:xfrm>
                  <a:prstGeom prst="roundRect">
                    <a:avLst>
                      <a:gd name="adj" fmla="val 23108"/>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50" b="0" i="0" u="none" strike="noStrike" kern="1200" cap="none" spc="0" normalizeH="0" baseline="0" noProof="0" dirty="0">
                      <a:ln>
                        <a:noFill/>
                      </a:ln>
                      <a:solidFill>
                        <a:srgbClr val="FFFFFF"/>
                      </a:solidFill>
                      <a:effectLst/>
                      <a:uLnTx/>
                      <a:uFillTx/>
                      <a:latin typeface="+mn-ea"/>
                      <a:cs typeface="+mn-cs"/>
                    </a:endParaRPr>
                  </a:p>
                </p:txBody>
              </p:sp>
              <p:sp>
                <p:nvSpPr>
                  <p:cNvPr id="37" name="榴莲PPT12-11"/>
                  <p:cNvSpPr txBox="1"/>
                  <p:nvPr/>
                </p:nvSpPr>
                <p:spPr>
                  <a:xfrm>
                    <a:off x="1506519" y="3060965"/>
                    <a:ext cx="438629" cy="338554"/>
                  </a:xfrm>
                  <a:prstGeom prst="rect">
                    <a:avLst/>
                  </a:prstGeom>
                  <a:noFill/>
                </p:spPr>
                <p:txBody>
                  <a:bodyPr wrap="square">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FFFFFF"/>
                        </a:solidFill>
                        <a:effectLst/>
                        <a:uLnTx/>
                        <a:uFillTx/>
                        <a:latin typeface="HarmonyOS Sans SC" panose="00000400000000000000" pitchFamily="2" charset="-122"/>
                        <a:ea typeface="HarmonyOS Sans SC" panose="00000400000000000000" pitchFamily="2" charset="-122"/>
                        <a:cs typeface="+mn-cs"/>
                      </a:rPr>
                      <a:t>03</a:t>
                    </a:r>
                    <a:endParaRPr kumimoji="0" lang="zh-CN" altLang="en-US" sz="1600" b="0" i="0" u="none" strike="noStrike" kern="1200" cap="none" spc="0" normalizeH="0" baseline="0" noProof="0" dirty="0">
                      <a:ln>
                        <a:noFill/>
                      </a:ln>
                      <a:solidFill>
                        <a:srgbClr val="FFFFFF"/>
                      </a:solidFill>
                      <a:effectLst/>
                      <a:uLnTx/>
                      <a:uFillTx/>
                      <a:latin typeface="HarmonyOS Sans SC" panose="00000400000000000000" pitchFamily="2" charset="-122"/>
                      <a:ea typeface="HarmonyOS Sans SC" panose="00000400000000000000" pitchFamily="2" charset="-122"/>
                      <a:cs typeface="+mn-cs"/>
                    </a:endParaRPr>
                  </a:p>
                </p:txBody>
              </p:sp>
            </p:grpSp>
            <p:sp>
              <p:nvSpPr>
                <p:cNvPr id="38" name="榴莲PPT12-12"/>
                <p:cNvSpPr txBox="1"/>
                <p:nvPr/>
              </p:nvSpPr>
              <p:spPr>
                <a:xfrm>
                  <a:off x="848958" y="3136469"/>
                  <a:ext cx="4606164" cy="533365"/>
                </a:xfrm>
                <a:prstGeom prst="rect">
                  <a:avLst/>
                </a:prstGeom>
                <a:noFill/>
              </p:spPr>
              <p:txBody>
                <a:bodyPr wrap="square">
                  <a:spAutoFit/>
                </a:bodyPr>
                <a:p>
                  <a:pPr indent="457200">
                    <a:lnSpc>
                      <a:spcPct val="120000"/>
                    </a:lnSpc>
                  </a:pPr>
                  <a:r>
                    <a:rPr lang="zh-CN" altLang="en-US" sz="1200" b="1" dirty="0">
                      <a:solidFill>
                        <a:schemeClr val="tx1">
                          <a:lumMod val="85000"/>
                          <a:lumOff val="15000"/>
                        </a:schemeClr>
                      </a:solidFill>
                      <a:effectLst/>
                      <a:latin typeface="+mn-ea"/>
                    </a:rPr>
                    <a:t>目前，我国塑料管道生产企业主要集中在沿海和经济发达地区，而西部地区产业布局相对薄弱，存在较大发展潜力。</a:t>
                  </a:r>
                  <a:endParaRPr lang="zh-CN" altLang="en-US" sz="1200" b="1" dirty="0">
                    <a:solidFill>
                      <a:schemeClr val="tx1">
                        <a:lumMod val="85000"/>
                        <a:lumOff val="15000"/>
                      </a:schemeClr>
                    </a:solidFill>
                    <a:effectLst/>
                    <a:latin typeface="+mn-ea"/>
                  </a:endParaRPr>
                </a:p>
              </p:txBody>
            </p:sp>
          </p:gr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小李PPT1"/>
          <p:cNvSpPr txBox="1"/>
          <p:nvPr/>
        </p:nvSpPr>
        <p:spPr>
          <a:xfrm>
            <a:off x="800099" y="265105"/>
            <a:ext cx="22148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prstClr val="black"/>
                </a:solidFill>
                <a:latin typeface="+mj-ea"/>
                <a:ea typeface="+mj-ea"/>
              </a:rPr>
              <a:t>必要性</a:t>
            </a:r>
            <a:r>
              <a:rPr lang="zh-CN" altLang="en-US" sz="3200" dirty="0">
                <a:solidFill>
                  <a:prstClr val="black"/>
                </a:solidFill>
                <a:latin typeface="+mj-ea"/>
                <a:ea typeface="+mj-ea"/>
              </a:rPr>
              <a:t>分析</a:t>
            </a:r>
            <a:endParaRPr lang="zh-CN" altLang="en-US" sz="3200" dirty="0">
              <a:solidFill>
                <a:prstClr val="black"/>
              </a:solidFill>
              <a:latin typeface="+mj-ea"/>
              <a:ea typeface="+mj-ea"/>
            </a:endParaRPr>
          </a:p>
        </p:txBody>
      </p:sp>
      <p:sp>
        <p:nvSpPr>
          <p:cNvPr id="9" name="小李PPT2"/>
          <p:cNvSpPr/>
          <p:nvPr/>
        </p:nvSpPr>
        <p:spPr>
          <a:xfrm>
            <a:off x="695325" y="337281"/>
            <a:ext cx="79375" cy="40005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274" name="小李PPT3"/>
          <p:cNvSpPr/>
          <p:nvPr>
            <p:custDataLst>
              <p:tags r:id="rId1"/>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5" name="小李PPT4"/>
          <p:cNvSpPr/>
          <p:nvPr>
            <p:custDataLst>
              <p:tags r:id="rId2"/>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 name="小李PPT5"/>
          <p:cNvSpPr/>
          <p:nvPr>
            <p:custDataLst>
              <p:tags r:id="rId3"/>
            </p:custDataLst>
          </p:nvPr>
        </p:nvSpPr>
        <p:spPr>
          <a:xfrm>
            <a:off x="4000500" y="-914400"/>
            <a:ext cx="635000" cy="635000"/>
          </a:xfrm>
          <a:prstGeom prst="rect">
            <a:avLst/>
          </a:prstGeom>
          <a:solidFill>
            <a:schemeClr val="dk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7" name="小李PPT6"/>
          <p:cNvSpPr/>
          <p:nvPr>
            <p:custDataLst>
              <p:tags r:id="rId4"/>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8" name="小李PPT7"/>
          <p:cNvSpPr/>
          <p:nvPr>
            <p:custDataLst>
              <p:tags r:id="rId5"/>
            </p:custDataLst>
          </p:nvPr>
        </p:nvSpPr>
        <p:spPr>
          <a:xfrm>
            <a:off x="5778500" y="-914400"/>
            <a:ext cx="635000" cy="6350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1</a:t>
            </a:r>
            <a:endParaRPr lang="zh-CN" altLang="en-US" sz="2000">
              <a:solidFill>
                <a:srgbClr val="F2F2F2"/>
              </a:solidFill>
            </a:endParaRPr>
          </a:p>
        </p:txBody>
      </p:sp>
      <p:sp>
        <p:nvSpPr>
          <p:cNvPr id="279" name="小李PPT8"/>
          <p:cNvSpPr/>
          <p:nvPr>
            <p:custDataLst>
              <p:tags r:id="rId6"/>
            </p:custDataLst>
          </p:nvPr>
        </p:nvSpPr>
        <p:spPr>
          <a:xfrm>
            <a:off x="6540500" y="-914400"/>
            <a:ext cx="635000" cy="635000"/>
          </a:xfrm>
          <a:prstGeom prst="rect">
            <a:avLst/>
          </a:prstGeom>
          <a:solidFill>
            <a:schemeClr val="accen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2</a:t>
            </a:r>
            <a:endParaRPr lang="zh-CN" altLang="en-US" sz="2000">
              <a:solidFill>
                <a:srgbClr val="F2F2F2"/>
              </a:solidFill>
            </a:endParaRPr>
          </a:p>
        </p:txBody>
      </p:sp>
      <p:sp>
        <p:nvSpPr>
          <p:cNvPr id="280" name="小李PPT9"/>
          <p:cNvSpPr/>
          <p:nvPr>
            <p:custDataLst>
              <p:tags r:id="rId7"/>
            </p:custDataLst>
          </p:nvPr>
        </p:nvSpPr>
        <p:spPr>
          <a:xfrm>
            <a:off x="7302500" y="-914400"/>
            <a:ext cx="635000" cy="635000"/>
          </a:xfrm>
          <a:prstGeom prst="rect">
            <a:avLst/>
          </a:prstGeom>
          <a:solidFill>
            <a:schemeClr val="accent3"/>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3</a:t>
            </a:r>
            <a:endParaRPr lang="zh-CN" altLang="en-US" sz="2000">
              <a:solidFill>
                <a:srgbClr val="F2F2F2"/>
              </a:solidFill>
            </a:endParaRPr>
          </a:p>
        </p:txBody>
      </p:sp>
      <p:sp>
        <p:nvSpPr>
          <p:cNvPr id="281" name="小李PPT10"/>
          <p:cNvSpPr/>
          <p:nvPr>
            <p:custDataLst>
              <p:tags r:id="rId8"/>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4</a:t>
            </a:r>
            <a:endParaRPr lang="zh-CN" altLang="en-US" sz="2000">
              <a:solidFill>
                <a:srgbClr val="F2F2F2"/>
              </a:solidFill>
            </a:endParaRPr>
          </a:p>
        </p:txBody>
      </p:sp>
      <p:sp>
        <p:nvSpPr>
          <p:cNvPr id="282" name="小李PPT11"/>
          <p:cNvSpPr/>
          <p:nvPr>
            <p:custDataLst>
              <p:tags r:id="rId9"/>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5</a:t>
            </a:r>
            <a:endParaRPr lang="zh-CN" altLang="en-US" sz="2000">
              <a:solidFill>
                <a:srgbClr val="F2F2F2"/>
              </a:solidFill>
            </a:endParaRPr>
          </a:p>
        </p:txBody>
      </p:sp>
      <p:sp>
        <p:nvSpPr>
          <p:cNvPr id="283" name="小李PPT12"/>
          <p:cNvSpPr/>
          <p:nvPr>
            <p:custDataLst>
              <p:tags r:id="rId10"/>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6</a:t>
            </a:r>
            <a:endParaRPr lang="zh-CN" altLang="en-US" sz="2000">
              <a:solidFill>
                <a:srgbClr val="F2F2F2"/>
              </a:solidFill>
            </a:endParaRPr>
          </a:p>
        </p:txBody>
      </p:sp>
      <p:grpSp>
        <p:nvGrpSpPr>
          <p:cNvPr id="5" name="组合 4"/>
          <p:cNvGrpSpPr/>
          <p:nvPr/>
        </p:nvGrpSpPr>
        <p:grpSpPr>
          <a:xfrm>
            <a:off x="6361292" y="5396230"/>
            <a:ext cx="5830577" cy="940547"/>
            <a:chOff x="7462" y="8498"/>
            <a:chExt cx="11738" cy="1481"/>
          </a:xfrm>
        </p:grpSpPr>
        <p:sp>
          <p:nvSpPr>
            <p:cNvPr id="591" name="Freeform 2"/>
            <p:cNvSpPr>
              <a:spLocks noChangeArrowheads="1"/>
            </p:cNvSpPr>
            <p:nvPr/>
          </p:nvSpPr>
          <p:spPr bwMode="auto">
            <a:xfrm rot="16200000" flipH="1">
              <a:off x="12590" y="3369"/>
              <a:ext cx="1481" cy="11738"/>
            </a:xfrm>
            <a:prstGeom prst="round2SameRect">
              <a:avLst>
                <a:gd name="adj1" fmla="val 50000"/>
                <a:gd name="adj2" fmla="val 0"/>
              </a:avLst>
            </a:prstGeom>
            <a:solidFill>
              <a:schemeClr val="accent2"/>
            </a:solidFill>
            <a:ln>
              <a:noFill/>
            </a:ln>
            <a:effectLst/>
          </p:spPr>
          <p:txBody>
            <a:bodyPr wrap="none" lIns="85954" tIns="42977" rIns="85954" bIns="42977" anchor="ctr"/>
            <a:lstStyle/>
            <a:p>
              <a:endParaRPr lang="en-US" sz="3070" dirty="0">
                <a:latin typeface="Montserrat" panose="00000500000000000000" pitchFamily="2" charset="0"/>
              </a:endParaRPr>
            </a:p>
          </p:txBody>
        </p:sp>
        <p:sp>
          <p:nvSpPr>
            <p:cNvPr id="592" name="Freeform 20"/>
            <p:cNvSpPr>
              <a:spLocks noChangeArrowheads="1"/>
            </p:cNvSpPr>
            <p:nvPr/>
          </p:nvSpPr>
          <p:spPr bwMode="auto">
            <a:xfrm>
              <a:off x="7792" y="8706"/>
              <a:ext cx="926" cy="926"/>
            </a:xfrm>
            <a:custGeom>
              <a:avLst/>
              <a:gdLst>
                <a:gd name="T0" fmla="*/ 0 w 2817"/>
                <a:gd name="T1" fmla="*/ 1408 h 2817"/>
                <a:gd name="T2" fmla="*/ 0 w 2817"/>
                <a:gd name="T3" fmla="*/ 1408 h 2817"/>
                <a:gd name="T4" fmla="*/ 1408 w 2817"/>
                <a:gd name="T5" fmla="*/ 0 h 2817"/>
                <a:gd name="T6" fmla="*/ 1408 w 2817"/>
                <a:gd name="T7" fmla="*/ 0 h 2817"/>
                <a:gd name="T8" fmla="*/ 2816 w 2817"/>
                <a:gd name="T9" fmla="*/ 1408 h 2817"/>
                <a:gd name="T10" fmla="*/ 2816 w 2817"/>
                <a:gd name="T11" fmla="*/ 1408 h 2817"/>
                <a:gd name="T12" fmla="*/ 1408 w 2817"/>
                <a:gd name="T13" fmla="*/ 2816 h 2817"/>
                <a:gd name="T14" fmla="*/ 1408 w 2817"/>
                <a:gd name="T15" fmla="*/ 2816 h 2817"/>
                <a:gd name="T16" fmla="*/ 0 w 2817"/>
                <a:gd name="T17" fmla="*/ 1408 h 28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17" h="2817">
                  <a:moveTo>
                    <a:pt x="0" y="1408"/>
                  </a:moveTo>
                  <a:lnTo>
                    <a:pt x="0" y="1408"/>
                  </a:lnTo>
                  <a:cubicBezTo>
                    <a:pt x="0" y="630"/>
                    <a:pt x="630" y="0"/>
                    <a:pt x="1408" y="0"/>
                  </a:cubicBezTo>
                  <a:lnTo>
                    <a:pt x="1408" y="0"/>
                  </a:lnTo>
                  <a:cubicBezTo>
                    <a:pt x="2186" y="0"/>
                    <a:pt x="2816" y="630"/>
                    <a:pt x="2816" y="1408"/>
                  </a:cubicBezTo>
                  <a:lnTo>
                    <a:pt x="2816" y="1408"/>
                  </a:lnTo>
                  <a:cubicBezTo>
                    <a:pt x="2816" y="2186"/>
                    <a:pt x="2186" y="2816"/>
                    <a:pt x="1408" y="2816"/>
                  </a:cubicBezTo>
                  <a:lnTo>
                    <a:pt x="1408" y="2816"/>
                  </a:lnTo>
                  <a:cubicBezTo>
                    <a:pt x="630" y="2816"/>
                    <a:pt x="0" y="2186"/>
                    <a:pt x="0" y="1408"/>
                  </a:cubicBezTo>
                </a:path>
              </a:pathLst>
            </a:custGeom>
            <a:solidFill>
              <a:schemeClr val="bg1"/>
            </a:solidFill>
            <a:ln>
              <a:noFill/>
            </a:ln>
            <a:effectLst/>
          </p:spPr>
          <p:txBody>
            <a:bodyPr wrap="none" lIns="85954" tIns="42977" rIns="85954" bIns="42977" anchor="ctr"/>
            <a:lstStyle/>
            <a:p>
              <a:endParaRPr lang="en-US" sz="3070" dirty="0">
                <a:latin typeface="Montserrat" panose="00000500000000000000" pitchFamily="2" charset="0"/>
              </a:endParaRPr>
            </a:p>
          </p:txBody>
        </p:sp>
        <p:sp>
          <p:nvSpPr>
            <p:cNvPr id="593" name="Freeform: Shape 23"/>
            <p:cNvSpPr>
              <a:spLocks noChangeArrowheads="1"/>
            </p:cNvSpPr>
            <p:nvPr/>
          </p:nvSpPr>
          <p:spPr bwMode="auto">
            <a:xfrm>
              <a:off x="8010" y="8925"/>
              <a:ext cx="487" cy="488"/>
            </a:xfrm>
            <a:custGeom>
              <a:avLst/>
              <a:gdLst>
                <a:gd name="connsiteX0" fmla="*/ 0 w 1309660"/>
                <a:gd name="connsiteY0" fmla="*/ 436847 h 1313555"/>
                <a:gd name="connsiteX1" fmla="*/ 202794 w 1309660"/>
                <a:gd name="connsiteY1" fmla="*/ 640527 h 1313555"/>
                <a:gd name="connsiteX2" fmla="*/ 390534 w 1309660"/>
                <a:gd name="connsiteY2" fmla="*/ 452787 h 1313555"/>
                <a:gd name="connsiteX3" fmla="*/ 554363 w 1309660"/>
                <a:gd name="connsiteY3" fmla="*/ 758307 h 1313555"/>
                <a:gd name="connsiteX4" fmla="*/ 860768 w 1309660"/>
                <a:gd name="connsiteY4" fmla="*/ 923907 h 1313555"/>
                <a:gd name="connsiteX5" fmla="*/ 673029 w 1309660"/>
                <a:gd name="connsiteY5" fmla="*/ 1110761 h 1313555"/>
                <a:gd name="connsiteX6" fmla="*/ 876708 w 1309660"/>
                <a:gd name="connsiteY6" fmla="*/ 1313555 h 1313555"/>
                <a:gd name="connsiteX7" fmla="*/ 45164 w 1309660"/>
                <a:gd name="connsiteY7" fmla="*/ 1268392 h 1313555"/>
                <a:gd name="connsiteX8" fmla="*/ 621740 w 1309660"/>
                <a:gd name="connsiteY8" fmla="*/ 218423 h 1313555"/>
                <a:gd name="connsiteX9" fmla="*/ 785312 w 1309660"/>
                <a:gd name="connsiteY9" fmla="*/ 524346 h 1313555"/>
                <a:gd name="connsiteX10" fmla="*/ 1091235 w 1309660"/>
                <a:gd name="connsiteY10" fmla="*/ 687918 h 1313555"/>
                <a:gd name="connsiteX11" fmla="*/ 945347 w 1309660"/>
                <a:gd name="connsiteY11" fmla="*/ 833806 h 1313555"/>
                <a:gd name="connsiteX12" fmla="*/ 640308 w 1309660"/>
                <a:gd name="connsiteY12" fmla="*/ 670234 h 1313555"/>
                <a:gd name="connsiteX13" fmla="*/ 475852 w 1309660"/>
                <a:gd name="connsiteY13" fmla="*/ 364311 h 1313555"/>
                <a:gd name="connsiteX14" fmla="*/ 840838 w 1309660"/>
                <a:gd name="connsiteY14" fmla="*/ 0 h 1313555"/>
                <a:gd name="connsiteX15" fmla="*/ 1004175 w 1309660"/>
                <a:gd name="connsiteY15" fmla="*/ 305485 h 1313555"/>
                <a:gd name="connsiteX16" fmla="*/ 1309660 w 1309660"/>
                <a:gd name="connsiteY16" fmla="*/ 468822 h 1313555"/>
                <a:gd name="connsiteX17" fmla="*/ 1163981 w 1309660"/>
                <a:gd name="connsiteY17" fmla="*/ 615384 h 1313555"/>
                <a:gd name="connsiteX18" fmla="*/ 858496 w 1309660"/>
                <a:gd name="connsiteY18" fmla="*/ 451164 h 1313555"/>
                <a:gd name="connsiteX19" fmla="*/ 694276 w 1309660"/>
                <a:gd name="connsiteY19" fmla="*/ 145679 h 1313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09660" h="1313555">
                  <a:moveTo>
                    <a:pt x="0" y="436847"/>
                  </a:moveTo>
                  <a:lnTo>
                    <a:pt x="202794" y="640527"/>
                  </a:lnTo>
                  <a:lnTo>
                    <a:pt x="390534" y="452787"/>
                  </a:lnTo>
                  <a:lnTo>
                    <a:pt x="554363" y="758307"/>
                  </a:lnTo>
                  <a:lnTo>
                    <a:pt x="860768" y="923907"/>
                  </a:lnTo>
                  <a:lnTo>
                    <a:pt x="673029" y="1110761"/>
                  </a:lnTo>
                  <a:lnTo>
                    <a:pt x="876708" y="1313555"/>
                  </a:lnTo>
                  <a:lnTo>
                    <a:pt x="45164" y="1268392"/>
                  </a:lnTo>
                  <a:close/>
                  <a:moveTo>
                    <a:pt x="621740" y="218423"/>
                  </a:moveTo>
                  <a:lnTo>
                    <a:pt x="785312" y="524346"/>
                  </a:lnTo>
                  <a:lnTo>
                    <a:pt x="1091235" y="687918"/>
                  </a:lnTo>
                  <a:lnTo>
                    <a:pt x="945347" y="833806"/>
                  </a:lnTo>
                  <a:lnTo>
                    <a:pt x="640308" y="670234"/>
                  </a:lnTo>
                  <a:lnTo>
                    <a:pt x="475852" y="364311"/>
                  </a:lnTo>
                  <a:close/>
                  <a:moveTo>
                    <a:pt x="840838" y="0"/>
                  </a:moveTo>
                  <a:lnTo>
                    <a:pt x="1004175" y="305485"/>
                  </a:lnTo>
                  <a:lnTo>
                    <a:pt x="1309660" y="468822"/>
                  </a:lnTo>
                  <a:lnTo>
                    <a:pt x="1163981" y="615384"/>
                  </a:lnTo>
                  <a:lnTo>
                    <a:pt x="858496" y="451164"/>
                  </a:lnTo>
                  <a:lnTo>
                    <a:pt x="694276" y="145679"/>
                  </a:lnTo>
                  <a:close/>
                </a:path>
              </a:pathLst>
            </a:custGeom>
            <a:solidFill>
              <a:schemeClr val="accent2"/>
            </a:solidFill>
            <a:ln>
              <a:noFill/>
            </a:ln>
            <a:effectLst/>
          </p:spPr>
          <p:txBody>
            <a:bodyPr wrap="square" lIns="85954" tIns="42977" rIns="85954" bIns="42977" anchor="ctr">
              <a:noAutofit/>
            </a:bodyPr>
            <a:lstStyle/>
            <a:p>
              <a:endParaRPr lang="en-US" sz="3070" dirty="0">
                <a:latin typeface="Montserrat" panose="00000500000000000000" pitchFamily="2" charset="0"/>
              </a:endParaRPr>
            </a:p>
          </p:txBody>
        </p:sp>
        <p:sp>
          <p:nvSpPr>
            <p:cNvPr id="594" name="Freeform: Shape 26"/>
            <p:cNvSpPr>
              <a:spLocks noChangeArrowheads="1"/>
            </p:cNvSpPr>
            <p:nvPr/>
          </p:nvSpPr>
          <p:spPr bwMode="auto">
            <a:xfrm>
              <a:off x="8930" y="8782"/>
              <a:ext cx="1555" cy="878"/>
            </a:xfrm>
            <a:custGeom>
              <a:avLst/>
              <a:gdLst>
                <a:gd name="connsiteX0" fmla="*/ 2920503 w 4184335"/>
                <a:gd name="connsiteY0" fmla="*/ 1454337 h 2364031"/>
                <a:gd name="connsiteX1" fmla="*/ 3221847 w 4184335"/>
                <a:gd name="connsiteY1" fmla="*/ 1538394 h 2364031"/>
                <a:gd name="connsiteX2" fmla="*/ 3096883 w 4184335"/>
                <a:gd name="connsiteY2" fmla="*/ 1723062 h 2364031"/>
                <a:gd name="connsiteX3" fmla="*/ 3129675 w 4184335"/>
                <a:gd name="connsiteY3" fmla="*/ 1779611 h 2364031"/>
                <a:gd name="connsiteX4" fmla="*/ 2796437 w 4184335"/>
                <a:gd name="connsiteY4" fmla="*/ 2362772 h 2364031"/>
                <a:gd name="connsiteX5" fmla="*/ 2376343 w 4184335"/>
                <a:gd name="connsiteY5" fmla="*/ 2362772 h 2364031"/>
                <a:gd name="connsiteX6" fmla="*/ 2433065 w 4184335"/>
                <a:gd name="connsiteY6" fmla="*/ 2253209 h 2364031"/>
                <a:gd name="connsiteX7" fmla="*/ 2491559 w 4184335"/>
                <a:gd name="connsiteY7" fmla="*/ 2222283 h 2364031"/>
                <a:gd name="connsiteX8" fmla="*/ 2588163 w 4184335"/>
                <a:gd name="connsiteY8" fmla="*/ 1959861 h 2364031"/>
                <a:gd name="connsiteX9" fmla="*/ 2600571 w 4184335"/>
                <a:gd name="connsiteY9" fmla="*/ 1486263 h 2364031"/>
                <a:gd name="connsiteX10" fmla="*/ 2920503 w 4184335"/>
                <a:gd name="connsiteY10" fmla="*/ 1454337 h 2364031"/>
                <a:gd name="connsiteX11" fmla="*/ 949197 w 4184335"/>
                <a:gd name="connsiteY11" fmla="*/ 1111622 h 2364031"/>
                <a:gd name="connsiteX12" fmla="*/ 1517365 w 4184335"/>
                <a:gd name="connsiteY12" fmla="*/ 1414690 h 2364031"/>
                <a:gd name="connsiteX13" fmla="*/ 1272603 w 4184335"/>
                <a:gd name="connsiteY13" fmla="*/ 1774308 h 2364031"/>
                <a:gd name="connsiteX14" fmla="*/ 1259349 w 4184335"/>
                <a:gd name="connsiteY14" fmla="*/ 1819371 h 2364031"/>
                <a:gd name="connsiteX15" fmla="*/ 1273485 w 4184335"/>
                <a:gd name="connsiteY15" fmla="*/ 1859132 h 2364031"/>
                <a:gd name="connsiteX16" fmla="*/ 1288507 w 4184335"/>
                <a:gd name="connsiteY16" fmla="*/ 1879454 h 2364031"/>
                <a:gd name="connsiteX17" fmla="*/ 798981 w 4184335"/>
                <a:gd name="connsiteY17" fmla="*/ 2362773 h 2364031"/>
                <a:gd name="connsiteX18" fmla="*/ 359822 w 4184335"/>
                <a:gd name="connsiteY18" fmla="*/ 2362773 h 2364031"/>
                <a:gd name="connsiteX19" fmla="*/ 384563 w 4184335"/>
                <a:gd name="connsiteY19" fmla="*/ 2308875 h 2364031"/>
                <a:gd name="connsiteX20" fmla="*/ 488831 w 4184335"/>
                <a:gd name="connsiteY20" fmla="*/ 2220517 h 2364031"/>
                <a:gd name="connsiteX21" fmla="*/ 660253 w 4184335"/>
                <a:gd name="connsiteY21" fmla="*/ 1985484 h 2364031"/>
                <a:gd name="connsiteX22" fmla="*/ 949197 w 4184335"/>
                <a:gd name="connsiteY22" fmla="*/ 1111622 h 2364031"/>
                <a:gd name="connsiteX23" fmla="*/ 60126 w 4184335"/>
                <a:gd name="connsiteY23" fmla="*/ 0 h 2364031"/>
                <a:gd name="connsiteX24" fmla="*/ 452713 w 4184335"/>
                <a:gd name="connsiteY24" fmla="*/ 84082 h 2364031"/>
                <a:gd name="connsiteX25" fmla="*/ 820541 w 4184335"/>
                <a:gd name="connsiteY25" fmla="*/ 50449 h 2364031"/>
                <a:gd name="connsiteX26" fmla="*/ 813469 w 4184335"/>
                <a:gd name="connsiteY26" fmla="*/ 150462 h 2364031"/>
                <a:gd name="connsiteX27" fmla="*/ 1759567 w 4184335"/>
                <a:gd name="connsiteY27" fmla="*/ 260210 h 2364031"/>
                <a:gd name="connsiteX28" fmla="*/ 2008029 w 4184335"/>
                <a:gd name="connsiteY28" fmla="*/ 180554 h 2364031"/>
                <a:gd name="connsiteX29" fmla="*/ 2024829 w 4184335"/>
                <a:gd name="connsiteY29" fmla="*/ 221267 h 2364031"/>
                <a:gd name="connsiteX30" fmla="*/ 2377627 w 4184335"/>
                <a:gd name="connsiteY30" fmla="*/ 84967 h 2364031"/>
                <a:gd name="connsiteX31" fmla="*/ 2428027 w 4184335"/>
                <a:gd name="connsiteY31" fmla="*/ 133645 h 2364031"/>
                <a:gd name="connsiteX32" fmla="*/ 2864823 w 4184335"/>
                <a:gd name="connsiteY32" fmla="*/ 41598 h 2364031"/>
                <a:gd name="connsiteX33" fmla="*/ 2905497 w 4184335"/>
                <a:gd name="connsiteY33" fmla="*/ 132760 h 2364031"/>
                <a:gd name="connsiteX34" fmla="*/ 3824185 w 4184335"/>
                <a:gd name="connsiteY34" fmla="*/ 841700 h 2364031"/>
                <a:gd name="connsiteX35" fmla="*/ 3974501 w 4184335"/>
                <a:gd name="connsiteY35" fmla="*/ 1495766 h 2364031"/>
                <a:gd name="connsiteX36" fmla="*/ 4075299 w 4184335"/>
                <a:gd name="connsiteY36" fmla="*/ 1532938 h 2364031"/>
                <a:gd name="connsiteX37" fmla="*/ 4179637 w 4184335"/>
                <a:gd name="connsiteY37" fmla="*/ 2141866 h 2364031"/>
                <a:gd name="connsiteX38" fmla="*/ 4153109 w 4184335"/>
                <a:gd name="connsiteY38" fmla="*/ 2269316 h 2364031"/>
                <a:gd name="connsiteX39" fmla="*/ 4087679 w 4184335"/>
                <a:gd name="connsiteY39" fmla="*/ 2364018 h 2364031"/>
                <a:gd name="connsiteX40" fmla="*/ 3747259 w 4184335"/>
                <a:gd name="connsiteY40" fmla="*/ 2364018 h 2364031"/>
                <a:gd name="connsiteX41" fmla="*/ 3788817 w 4184335"/>
                <a:gd name="connsiteY41" fmla="*/ 2279051 h 2364031"/>
                <a:gd name="connsiteX42" fmla="*/ 3817997 w 4184335"/>
                <a:gd name="connsiteY42" fmla="*/ 2141866 h 2364031"/>
                <a:gd name="connsiteX43" fmla="*/ 3223811 w 4184335"/>
                <a:gd name="connsiteY43" fmla="*/ 1410799 h 2364031"/>
                <a:gd name="connsiteX44" fmla="*/ 2389121 w 4184335"/>
                <a:gd name="connsiteY44" fmla="*/ 1443547 h 2364031"/>
                <a:gd name="connsiteX45" fmla="*/ 2111481 w 4184335"/>
                <a:gd name="connsiteY45" fmla="*/ 894804 h 2364031"/>
                <a:gd name="connsiteX46" fmla="*/ 2260027 w 4184335"/>
                <a:gd name="connsiteY46" fmla="*/ 1478064 h 2364031"/>
                <a:gd name="connsiteX47" fmla="*/ 2186639 w 4184335"/>
                <a:gd name="connsiteY47" fmla="*/ 1694906 h 2364031"/>
                <a:gd name="connsiteX48" fmla="*/ 2237037 w 4184335"/>
                <a:gd name="connsiteY48" fmla="*/ 1752436 h 2364031"/>
                <a:gd name="connsiteX49" fmla="*/ 2130933 w 4184335"/>
                <a:gd name="connsiteY49" fmla="*/ 2364018 h 2364031"/>
                <a:gd name="connsiteX50" fmla="*/ 1652579 w 4184335"/>
                <a:gd name="connsiteY50" fmla="*/ 2364018 h 2364031"/>
                <a:gd name="connsiteX51" fmla="*/ 1753377 w 4184335"/>
                <a:gd name="connsiteY51" fmla="*/ 2038312 h 2364031"/>
                <a:gd name="connsiteX52" fmla="*/ 1727737 w 4184335"/>
                <a:gd name="connsiteY52" fmla="*/ 1453282 h 2364031"/>
                <a:gd name="connsiteX53" fmla="*/ 1504917 w 4184335"/>
                <a:gd name="connsiteY53" fmla="*/ 1263878 h 2364031"/>
                <a:gd name="connsiteX54" fmla="*/ 764837 w 4184335"/>
                <a:gd name="connsiteY54" fmla="*/ 1018714 h 2364031"/>
                <a:gd name="connsiteX55" fmla="*/ 28294 w 4184335"/>
                <a:gd name="connsiteY55" fmla="*/ 516880 h 2364031"/>
                <a:gd name="connsiteX56" fmla="*/ 30063 w 4184335"/>
                <a:gd name="connsiteY56" fmla="*/ 458465 h 2364031"/>
                <a:gd name="connsiteX57" fmla="*/ 6189 w 4184335"/>
                <a:gd name="connsiteY57" fmla="*/ 447845 h 2364031"/>
                <a:gd name="connsiteX58" fmla="*/ 0 w 4184335"/>
                <a:gd name="connsiteY58" fmla="*/ 399166 h 2364031"/>
                <a:gd name="connsiteX59" fmla="*/ 258188 w 4184335"/>
                <a:gd name="connsiteY59" fmla="*/ 463776 h 2364031"/>
                <a:gd name="connsiteX60" fmla="*/ 39789 w 4184335"/>
                <a:gd name="connsiteY60" fmla="*/ 216842 h 2364031"/>
                <a:gd name="connsiteX61" fmla="*/ 60126 w 4184335"/>
                <a:gd name="connsiteY61" fmla="*/ 0 h 236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184335" h="2364031">
                  <a:moveTo>
                    <a:pt x="2920503" y="1454337"/>
                  </a:moveTo>
                  <a:cubicBezTo>
                    <a:pt x="3022727" y="1458996"/>
                    <a:pt x="3132445" y="1480740"/>
                    <a:pt x="3221847" y="1538394"/>
                  </a:cubicBezTo>
                  <a:cubicBezTo>
                    <a:pt x="3221847" y="1538394"/>
                    <a:pt x="3109291" y="1693020"/>
                    <a:pt x="3096883" y="1723062"/>
                  </a:cubicBezTo>
                  <a:cubicBezTo>
                    <a:pt x="3084475" y="1753987"/>
                    <a:pt x="3129675" y="1779611"/>
                    <a:pt x="3129675" y="1779611"/>
                  </a:cubicBezTo>
                  <a:cubicBezTo>
                    <a:pt x="3129675" y="1779611"/>
                    <a:pt x="2897471" y="2031430"/>
                    <a:pt x="2796437" y="2362772"/>
                  </a:cubicBezTo>
                  <a:lnTo>
                    <a:pt x="2376343" y="2362772"/>
                  </a:lnTo>
                  <a:cubicBezTo>
                    <a:pt x="2376343" y="2362772"/>
                    <a:pt x="2386979" y="2286785"/>
                    <a:pt x="2433065" y="2253209"/>
                  </a:cubicBezTo>
                  <a:cubicBezTo>
                    <a:pt x="2449903" y="2241722"/>
                    <a:pt x="2488013" y="2231119"/>
                    <a:pt x="2491559" y="2222283"/>
                  </a:cubicBezTo>
                  <a:cubicBezTo>
                    <a:pt x="2499535" y="2209030"/>
                    <a:pt x="2562461" y="2080027"/>
                    <a:pt x="2588163" y="1959861"/>
                  </a:cubicBezTo>
                  <a:cubicBezTo>
                    <a:pt x="2628931" y="1768124"/>
                    <a:pt x="2600571" y="1486263"/>
                    <a:pt x="2600571" y="1486263"/>
                  </a:cubicBezTo>
                  <a:cubicBezTo>
                    <a:pt x="2600571" y="1486263"/>
                    <a:pt x="2750129" y="1446571"/>
                    <a:pt x="2920503" y="1454337"/>
                  </a:cubicBezTo>
                  <a:close/>
                  <a:moveTo>
                    <a:pt x="949197" y="1111622"/>
                  </a:moveTo>
                  <a:cubicBezTo>
                    <a:pt x="949197" y="1111622"/>
                    <a:pt x="1261115" y="1151383"/>
                    <a:pt x="1517365" y="1414690"/>
                  </a:cubicBezTo>
                  <a:lnTo>
                    <a:pt x="1272603" y="1774308"/>
                  </a:lnTo>
                  <a:cubicBezTo>
                    <a:pt x="1262883" y="1787562"/>
                    <a:pt x="1258465" y="1803466"/>
                    <a:pt x="1259349" y="1819371"/>
                  </a:cubicBezTo>
                  <a:cubicBezTo>
                    <a:pt x="1260231" y="1832624"/>
                    <a:pt x="1264649" y="1847645"/>
                    <a:pt x="1273485" y="1859132"/>
                  </a:cubicBezTo>
                  <a:lnTo>
                    <a:pt x="1288507" y="1879454"/>
                  </a:lnTo>
                  <a:cubicBezTo>
                    <a:pt x="972171" y="2064123"/>
                    <a:pt x="798981" y="2362773"/>
                    <a:pt x="798981" y="2362773"/>
                  </a:cubicBezTo>
                  <a:lnTo>
                    <a:pt x="359822" y="2362773"/>
                  </a:lnTo>
                  <a:cubicBezTo>
                    <a:pt x="359822" y="2362773"/>
                    <a:pt x="376611" y="2321245"/>
                    <a:pt x="384563" y="2308875"/>
                  </a:cubicBezTo>
                  <a:cubicBezTo>
                    <a:pt x="429628" y="2230236"/>
                    <a:pt x="488831" y="2220517"/>
                    <a:pt x="488831" y="2220517"/>
                  </a:cubicBezTo>
                  <a:cubicBezTo>
                    <a:pt x="488831" y="2220517"/>
                    <a:pt x="593098" y="2095048"/>
                    <a:pt x="660253" y="1985484"/>
                  </a:cubicBezTo>
                  <a:cubicBezTo>
                    <a:pt x="929757" y="1542810"/>
                    <a:pt x="949197" y="1111622"/>
                    <a:pt x="949197" y="1111622"/>
                  </a:cubicBezTo>
                  <a:close/>
                  <a:moveTo>
                    <a:pt x="60126" y="0"/>
                  </a:moveTo>
                  <a:cubicBezTo>
                    <a:pt x="60126" y="0"/>
                    <a:pt x="159157" y="100898"/>
                    <a:pt x="452713" y="84082"/>
                  </a:cubicBezTo>
                  <a:cubicBezTo>
                    <a:pt x="766605" y="64610"/>
                    <a:pt x="820541" y="50449"/>
                    <a:pt x="820541" y="50449"/>
                  </a:cubicBezTo>
                  <a:lnTo>
                    <a:pt x="813469" y="150462"/>
                  </a:lnTo>
                  <a:cubicBezTo>
                    <a:pt x="813469" y="150462"/>
                    <a:pt x="1125593" y="338096"/>
                    <a:pt x="1759567" y="260210"/>
                  </a:cubicBezTo>
                  <a:cubicBezTo>
                    <a:pt x="1855061" y="247819"/>
                    <a:pt x="2008029" y="180554"/>
                    <a:pt x="2008029" y="180554"/>
                  </a:cubicBezTo>
                  <a:cubicBezTo>
                    <a:pt x="2008029" y="180554"/>
                    <a:pt x="1998303" y="227463"/>
                    <a:pt x="2024829" y="221267"/>
                  </a:cubicBezTo>
                  <a:cubicBezTo>
                    <a:pt x="2190175" y="183209"/>
                    <a:pt x="2377627" y="84967"/>
                    <a:pt x="2377627" y="84967"/>
                  </a:cubicBezTo>
                  <a:cubicBezTo>
                    <a:pt x="2377627" y="84967"/>
                    <a:pt x="2360827" y="143381"/>
                    <a:pt x="2428027" y="133645"/>
                  </a:cubicBezTo>
                  <a:cubicBezTo>
                    <a:pt x="2524405" y="118599"/>
                    <a:pt x="2864823" y="41598"/>
                    <a:pt x="2864823" y="41598"/>
                  </a:cubicBezTo>
                  <a:cubicBezTo>
                    <a:pt x="2864823" y="41598"/>
                    <a:pt x="2838297" y="123025"/>
                    <a:pt x="2905497" y="132760"/>
                  </a:cubicBezTo>
                  <a:cubicBezTo>
                    <a:pt x="3379431" y="200025"/>
                    <a:pt x="3642923" y="502719"/>
                    <a:pt x="3824185" y="841700"/>
                  </a:cubicBezTo>
                  <a:cubicBezTo>
                    <a:pt x="3932059" y="1042611"/>
                    <a:pt x="3937363" y="1293970"/>
                    <a:pt x="3974501" y="1495766"/>
                  </a:cubicBezTo>
                  <a:cubicBezTo>
                    <a:pt x="3986879" y="1557720"/>
                    <a:pt x="4075299" y="1531168"/>
                    <a:pt x="4075299" y="1532938"/>
                  </a:cubicBezTo>
                  <a:cubicBezTo>
                    <a:pt x="4075299" y="1738274"/>
                    <a:pt x="4179637" y="2141866"/>
                    <a:pt x="4179637" y="2141866"/>
                  </a:cubicBezTo>
                  <a:cubicBezTo>
                    <a:pt x="4179637" y="2141866"/>
                    <a:pt x="4200857" y="2198510"/>
                    <a:pt x="4153109" y="2269316"/>
                  </a:cubicBezTo>
                  <a:cubicBezTo>
                    <a:pt x="4106247" y="2340121"/>
                    <a:pt x="4087679" y="2364018"/>
                    <a:pt x="4087679" y="2364018"/>
                  </a:cubicBezTo>
                  <a:lnTo>
                    <a:pt x="3747259" y="2364018"/>
                  </a:lnTo>
                  <a:cubicBezTo>
                    <a:pt x="3765829" y="2302063"/>
                    <a:pt x="3788817" y="2279051"/>
                    <a:pt x="3788817" y="2279051"/>
                  </a:cubicBezTo>
                  <a:cubicBezTo>
                    <a:pt x="3822417" y="2232142"/>
                    <a:pt x="3817997" y="2141866"/>
                    <a:pt x="3817997" y="2141866"/>
                  </a:cubicBezTo>
                  <a:cubicBezTo>
                    <a:pt x="3688903" y="1805540"/>
                    <a:pt x="3582797" y="1546214"/>
                    <a:pt x="3223811" y="1410799"/>
                  </a:cubicBezTo>
                  <a:cubicBezTo>
                    <a:pt x="2855097" y="1271843"/>
                    <a:pt x="2389121" y="1443547"/>
                    <a:pt x="2389121" y="1443547"/>
                  </a:cubicBezTo>
                  <a:cubicBezTo>
                    <a:pt x="2407689" y="1006323"/>
                    <a:pt x="2111481" y="894804"/>
                    <a:pt x="2111481" y="894804"/>
                  </a:cubicBezTo>
                  <a:cubicBezTo>
                    <a:pt x="2315733" y="1139083"/>
                    <a:pt x="2260027" y="1478064"/>
                    <a:pt x="2260027" y="1478064"/>
                  </a:cubicBezTo>
                  <a:cubicBezTo>
                    <a:pt x="2229965" y="1534709"/>
                    <a:pt x="2198133" y="1624986"/>
                    <a:pt x="2186639" y="1694906"/>
                  </a:cubicBezTo>
                  <a:cubicBezTo>
                    <a:pt x="2180449" y="1736504"/>
                    <a:pt x="2237037" y="1752436"/>
                    <a:pt x="2237037" y="1752436"/>
                  </a:cubicBezTo>
                  <a:cubicBezTo>
                    <a:pt x="2153923" y="1985208"/>
                    <a:pt x="2093797" y="2366673"/>
                    <a:pt x="2130933" y="2364018"/>
                  </a:cubicBezTo>
                  <a:lnTo>
                    <a:pt x="1652579" y="2364018"/>
                  </a:lnTo>
                  <a:cubicBezTo>
                    <a:pt x="1692367" y="2187889"/>
                    <a:pt x="1784325" y="2285247"/>
                    <a:pt x="1753377" y="2038312"/>
                  </a:cubicBezTo>
                  <a:cubicBezTo>
                    <a:pt x="1702093" y="1640032"/>
                    <a:pt x="1727737" y="1453282"/>
                    <a:pt x="1727737" y="1453282"/>
                  </a:cubicBezTo>
                  <a:cubicBezTo>
                    <a:pt x="1727737" y="1453282"/>
                    <a:pt x="1574769" y="1314327"/>
                    <a:pt x="1504917" y="1263878"/>
                  </a:cubicBezTo>
                  <a:cubicBezTo>
                    <a:pt x="1091993" y="962954"/>
                    <a:pt x="764837" y="1018714"/>
                    <a:pt x="764837" y="1018714"/>
                  </a:cubicBezTo>
                  <a:cubicBezTo>
                    <a:pt x="579154" y="678848"/>
                    <a:pt x="28294" y="516880"/>
                    <a:pt x="28294" y="516880"/>
                  </a:cubicBezTo>
                  <a:lnTo>
                    <a:pt x="30063" y="458465"/>
                  </a:lnTo>
                  <a:lnTo>
                    <a:pt x="6189" y="447845"/>
                  </a:lnTo>
                  <a:lnTo>
                    <a:pt x="0" y="399166"/>
                  </a:lnTo>
                  <a:cubicBezTo>
                    <a:pt x="175072" y="395626"/>
                    <a:pt x="258188" y="463776"/>
                    <a:pt x="258188" y="463776"/>
                  </a:cubicBezTo>
                  <a:cubicBezTo>
                    <a:pt x="248461" y="299153"/>
                    <a:pt x="129094" y="314199"/>
                    <a:pt x="39789" y="216842"/>
                  </a:cubicBezTo>
                  <a:cubicBezTo>
                    <a:pt x="-38021" y="130990"/>
                    <a:pt x="60126" y="0"/>
                    <a:pt x="60126" y="0"/>
                  </a:cubicBezTo>
                  <a:close/>
                </a:path>
              </a:pathLst>
            </a:custGeom>
            <a:solidFill>
              <a:schemeClr val="bg1"/>
            </a:solidFill>
            <a:ln>
              <a:noFill/>
            </a:ln>
            <a:effectLst/>
          </p:spPr>
          <p:txBody>
            <a:bodyPr wrap="square" lIns="85954" tIns="42977" rIns="85954" bIns="42977" anchor="ctr">
              <a:noAutofit/>
            </a:bodyPr>
            <a:lstStyle/>
            <a:p>
              <a:endParaRPr lang="en-US" sz="3070" dirty="0">
                <a:latin typeface="Montserrat" panose="00000500000000000000" pitchFamily="2" charset="0"/>
              </a:endParaRPr>
            </a:p>
          </p:txBody>
        </p:sp>
        <p:sp>
          <p:nvSpPr>
            <p:cNvPr id="595" name="TextBox 30"/>
            <p:cNvSpPr txBox="1"/>
            <p:nvPr/>
          </p:nvSpPr>
          <p:spPr>
            <a:xfrm>
              <a:off x="10854" y="8661"/>
              <a:ext cx="8297" cy="1006"/>
            </a:xfrm>
            <a:prstGeom prst="rect">
              <a:avLst/>
            </a:prstGeom>
            <a:noFill/>
            <a:effectLst/>
          </p:spPr>
          <p:txBody>
            <a:bodyPr wrap="square" lIns="85954" tIns="42977" rIns="85954" bIns="42977" rtlCol="0" anchor="ctr">
              <a:spAutoFit/>
            </a:bodyPr>
            <a:lstStyle/>
            <a:p>
              <a:pPr algn="ctr"/>
              <a:r>
                <a:rPr lang="zh-CN" altLang="en-US" sz="3600" spc="-15" dirty="0">
                  <a:solidFill>
                    <a:schemeClr val="bg1"/>
                  </a:solidFill>
                  <a:latin typeface="HarmonyOS Sans SC Black" panose="00000A00000000000000" pitchFamily="2" charset="-122"/>
                  <a:ea typeface="HarmonyOS Sans SC Black" panose="00000A00000000000000" pitchFamily="2" charset="-122"/>
                  <a:cs typeface="Poppins" pitchFamily="2" charset="77"/>
                </a:rPr>
                <a:t>区域建设意义</a:t>
              </a:r>
              <a:endParaRPr lang="zh-CN" altLang="en-US" sz="3600" spc="-15" dirty="0">
                <a:solidFill>
                  <a:schemeClr val="bg1"/>
                </a:solidFill>
                <a:latin typeface="HarmonyOS Sans SC Black" panose="00000A00000000000000" pitchFamily="2" charset="-122"/>
                <a:ea typeface="HarmonyOS Sans SC Black" panose="00000A00000000000000" pitchFamily="2" charset="-122"/>
                <a:cs typeface="Poppins" pitchFamily="2" charset="77"/>
              </a:endParaRPr>
            </a:p>
          </p:txBody>
        </p:sp>
      </p:grpSp>
      <p:grpSp>
        <p:nvGrpSpPr>
          <p:cNvPr id="3" name="组合 2"/>
          <p:cNvGrpSpPr/>
          <p:nvPr/>
        </p:nvGrpSpPr>
        <p:grpSpPr>
          <a:xfrm>
            <a:off x="688975" y="1093470"/>
            <a:ext cx="10930255" cy="4077335"/>
            <a:chOff x="1085" y="2752"/>
            <a:chExt cx="12894" cy="5390"/>
          </a:xfrm>
        </p:grpSpPr>
        <p:sp>
          <p:nvSpPr>
            <p:cNvPr id="2" name="对话气泡: 圆角矩形 1"/>
            <p:cNvSpPr/>
            <p:nvPr/>
          </p:nvSpPr>
          <p:spPr>
            <a:xfrm flipH="1">
              <a:off x="9861" y="2752"/>
              <a:ext cx="4118" cy="5312"/>
            </a:xfrm>
            <a:prstGeom prst="wedgeRoundRectCallout">
              <a:avLst>
                <a:gd name="adj1" fmla="val 57916"/>
                <a:gd name="adj2" fmla="val -1279"/>
                <a:gd name="adj3" fmla="val 16667"/>
              </a:avLst>
            </a:prstGeom>
            <a:solidFill>
              <a:schemeClr val="bg1"/>
            </a:solidFill>
            <a:ln w="28575">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lIns="85954" tIns="42977" rIns="85954" bIns="42977" rtlCol="0" anchor="ctr"/>
            <a:lstStyle/>
            <a:p>
              <a:pPr algn="ctr"/>
              <a:endParaRPr lang="zh-CN" altLang="en-US" sz="845"/>
            </a:p>
          </p:txBody>
        </p:sp>
        <p:sp>
          <p:nvSpPr>
            <p:cNvPr id="4" name="对话气泡: 圆角矩形 3"/>
            <p:cNvSpPr/>
            <p:nvPr/>
          </p:nvSpPr>
          <p:spPr>
            <a:xfrm>
              <a:off x="1085" y="2752"/>
              <a:ext cx="4118" cy="5312"/>
            </a:xfrm>
            <a:prstGeom prst="wedgeRoundRectCallout">
              <a:avLst>
                <a:gd name="adj1" fmla="val 57916"/>
                <a:gd name="adj2" fmla="val -1279"/>
                <a:gd name="adj3" fmla="val 16667"/>
              </a:avLst>
            </a:prstGeom>
            <a:solidFill>
              <a:schemeClr val="bg1"/>
            </a:solidFill>
            <a:ln w="28575">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lIns="85954" tIns="42977" rIns="85954" bIns="42977" rtlCol="0" anchor="ctr"/>
            <a:lstStyle/>
            <a:p>
              <a:pPr algn="ctr"/>
              <a:endParaRPr lang="zh-CN" altLang="en-US" sz="845"/>
            </a:p>
          </p:txBody>
        </p:sp>
        <p:sp>
          <p:nvSpPr>
            <p:cNvPr id="10" name="Freeform 2"/>
            <p:cNvSpPr>
              <a:spLocks noChangeArrowheads="1"/>
            </p:cNvSpPr>
            <p:nvPr/>
          </p:nvSpPr>
          <p:spPr bwMode="auto">
            <a:xfrm>
              <a:off x="7776" y="2909"/>
              <a:ext cx="1643" cy="5233"/>
            </a:xfrm>
            <a:custGeom>
              <a:avLst/>
              <a:gdLst>
                <a:gd name="T0" fmla="*/ 1632 w 3267"/>
                <a:gd name="T1" fmla="*/ 10404 h 10405"/>
                <a:gd name="T2" fmla="*/ 3266 w 3267"/>
                <a:gd name="T3" fmla="*/ 8325 h 10405"/>
                <a:gd name="T4" fmla="*/ 2651 w 3267"/>
                <a:gd name="T5" fmla="*/ 8325 h 10405"/>
                <a:gd name="T6" fmla="*/ 2651 w 3267"/>
                <a:gd name="T7" fmla="*/ 0 h 10405"/>
                <a:gd name="T8" fmla="*/ 614 w 3267"/>
                <a:gd name="T9" fmla="*/ 0 h 10405"/>
                <a:gd name="T10" fmla="*/ 614 w 3267"/>
                <a:gd name="T11" fmla="*/ 8325 h 10405"/>
                <a:gd name="T12" fmla="*/ 0 w 3267"/>
                <a:gd name="T13" fmla="*/ 8325 h 10405"/>
                <a:gd name="T14" fmla="*/ 1632 w 3267"/>
                <a:gd name="T15" fmla="*/ 10404 h 104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67" h="10405">
                  <a:moveTo>
                    <a:pt x="1632" y="10404"/>
                  </a:moveTo>
                  <a:lnTo>
                    <a:pt x="3266" y="8325"/>
                  </a:lnTo>
                  <a:lnTo>
                    <a:pt x="2651" y="8325"/>
                  </a:lnTo>
                  <a:lnTo>
                    <a:pt x="2651" y="0"/>
                  </a:lnTo>
                  <a:lnTo>
                    <a:pt x="614" y="0"/>
                  </a:lnTo>
                  <a:lnTo>
                    <a:pt x="614" y="8325"/>
                  </a:lnTo>
                  <a:lnTo>
                    <a:pt x="0" y="8325"/>
                  </a:lnTo>
                  <a:lnTo>
                    <a:pt x="1632" y="10404"/>
                  </a:lnTo>
                </a:path>
              </a:pathLst>
            </a:custGeom>
            <a:solidFill>
              <a:schemeClr val="accent2">
                <a:alpha val="10000"/>
              </a:schemeClr>
            </a:solidFill>
            <a:ln>
              <a:noFill/>
            </a:ln>
            <a:effectLst/>
          </p:spPr>
          <p:txBody>
            <a:bodyPr wrap="none" lIns="85954" tIns="42977" rIns="85954" bIns="42977" anchor="ctr"/>
            <a:lstStyle/>
            <a:p>
              <a:endParaRPr lang="en-US" sz="3070" dirty="0">
                <a:latin typeface="Montserrat" panose="00000500000000000000" pitchFamily="2" charset="0"/>
              </a:endParaRPr>
            </a:p>
          </p:txBody>
        </p:sp>
        <p:sp>
          <p:nvSpPr>
            <p:cNvPr id="27" name="Freeform 3"/>
            <p:cNvSpPr>
              <a:spLocks noChangeArrowheads="1"/>
            </p:cNvSpPr>
            <p:nvPr/>
          </p:nvSpPr>
          <p:spPr bwMode="auto">
            <a:xfrm>
              <a:off x="5605" y="2909"/>
              <a:ext cx="1643" cy="5233"/>
            </a:xfrm>
            <a:custGeom>
              <a:avLst/>
              <a:gdLst>
                <a:gd name="T0" fmla="*/ 1634 w 3267"/>
                <a:gd name="T1" fmla="*/ 0 h 10408"/>
                <a:gd name="T2" fmla="*/ 0 w 3267"/>
                <a:gd name="T3" fmla="*/ 2080 h 10408"/>
                <a:gd name="T4" fmla="*/ 614 w 3267"/>
                <a:gd name="T5" fmla="*/ 2080 h 10408"/>
                <a:gd name="T6" fmla="*/ 614 w 3267"/>
                <a:gd name="T7" fmla="*/ 10407 h 10408"/>
                <a:gd name="T8" fmla="*/ 2652 w 3267"/>
                <a:gd name="T9" fmla="*/ 10407 h 10408"/>
                <a:gd name="T10" fmla="*/ 2652 w 3267"/>
                <a:gd name="T11" fmla="*/ 2080 h 10408"/>
                <a:gd name="T12" fmla="*/ 3266 w 3267"/>
                <a:gd name="T13" fmla="*/ 2080 h 10408"/>
                <a:gd name="T14" fmla="*/ 1634 w 3267"/>
                <a:gd name="T15" fmla="*/ 0 h 104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67" h="10408">
                  <a:moveTo>
                    <a:pt x="1634" y="0"/>
                  </a:moveTo>
                  <a:lnTo>
                    <a:pt x="0" y="2080"/>
                  </a:lnTo>
                  <a:lnTo>
                    <a:pt x="614" y="2080"/>
                  </a:lnTo>
                  <a:lnTo>
                    <a:pt x="614" y="10407"/>
                  </a:lnTo>
                  <a:lnTo>
                    <a:pt x="2652" y="10407"/>
                  </a:lnTo>
                  <a:lnTo>
                    <a:pt x="2652" y="2080"/>
                  </a:lnTo>
                  <a:lnTo>
                    <a:pt x="3266" y="2080"/>
                  </a:lnTo>
                  <a:lnTo>
                    <a:pt x="1634" y="0"/>
                  </a:lnTo>
                </a:path>
              </a:pathLst>
            </a:custGeom>
            <a:solidFill>
              <a:schemeClr val="accent1">
                <a:alpha val="10000"/>
              </a:schemeClr>
            </a:solidFill>
            <a:ln>
              <a:noFill/>
            </a:ln>
            <a:effectLst/>
          </p:spPr>
          <p:txBody>
            <a:bodyPr wrap="none" lIns="85954" tIns="42977" rIns="85954" bIns="42977" anchor="ctr"/>
            <a:lstStyle/>
            <a:p>
              <a:endParaRPr lang="en-US" sz="3070" dirty="0">
                <a:latin typeface="Montserrat" panose="00000500000000000000" pitchFamily="2" charset="0"/>
              </a:endParaRPr>
            </a:p>
          </p:txBody>
        </p:sp>
        <p:sp>
          <p:nvSpPr>
            <p:cNvPr id="28" name="Freeform 4"/>
            <p:cNvSpPr>
              <a:spLocks noChangeArrowheads="1"/>
            </p:cNvSpPr>
            <p:nvPr/>
          </p:nvSpPr>
          <p:spPr bwMode="auto">
            <a:xfrm>
              <a:off x="5567" y="4279"/>
              <a:ext cx="1721" cy="2180"/>
            </a:xfrm>
            <a:custGeom>
              <a:avLst/>
              <a:gdLst>
                <a:gd name="T0" fmla="*/ 2866 w 3424"/>
                <a:gd name="T1" fmla="*/ 1575 h 4333"/>
                <a:gd name="T2" fmla="*/ 3187 w 3424"/>
                <a:gd name="T3" fmla="*/ 1182 h 4333"/>
                <a:gd name="T4" fmla="*/ 3196 w 3424"/>
                <a:gd name="T5" fmla="*/ 361 h 4333"/>
                <a:gd name="T6" fmla="*/ 2898 w 3424"/>
                <a:gd name="T7" fmla="*/ 1089 h 4333"/>
                <a:gd name="T8" fmla="*/ 2552 w 3424"/>
                <a:gd name="T9" fmla="*/ 1261 h 4333"/>
                <a:gd name="T10" fmla="*/ 2342 w 3424"/>
                <a:gd name="T11" fmla="*/ 1052 h 4333"/>
                <a:gd name="T12" fmla="*/ 1961 w 3424"/>
                <a:gd name="T13" fmla="*/ 1126 h 4333"/>
                <a:gd name="T14" fmla="*/ 1576 w 3424"/>
                <a:gd name="T15" fmla="*/ 678 h 4333"/>
                <a:gd name="T16" fmla="*/ 1576 w 3424"/>
                <a:gd name="T17" fmla="*/ 0 h 4333"/>
                <a:gd name="T18" fmla="*/ 1266 w 3424"/>
                <a:gd name="T19" fmla="*/ 768 h 4333"/>
                <a:gd name="T20" fmla="*/ 1602 w 3424"/>
                <a:gd name="T21" fmla="*/ 1368 h 4333"/>
                <a:gd name="T22" fmla="*/ 440 w 3424"/>
                <a:gd name="T23" fmla="*/ 1769 h 4333"/>
                <a:gd name="T24" fmla="*/ 0 w 3424"/>
                <a:gd name="T25" fmla="*/ 2292 h 4333"/>
                <a:gd name="T26" fmla="*/ 0 w 3424"/>
                <a:gd name="T27" fmla="*/ 3283 h 4333"/>
                <a:gd name="T28" fmla="*/ 1364 w 3424"/>
                <a:gd name="T29" fmla="*/ 4332 h 4333"/>
                <a:gd name="T30" fmla="*/ 1968 w 3424"/>
                <a:gd name="T31" fmla="*/ 3490 h 4333"/>
                <a:gd name="T32" fmla="*/ 1968 w 3424"/>
                <a:gd name="T33" fmla="*/ 2924 h 4333"/>
                <a:gd name="T34" fmla="*/ 2141 w 3424"/>
                <a:gd name="T35" fmla="*/ 2595 h 4333"/>
                <a:gd name="T36" fmla="*/ 2610 w 3424"/>
                <a:gd name="T37" fmla="*/ 2564 h 4333"/>
                <a:gd name="T38" fmla="*/ 2857 w 3424"/>
                <a:gd name="T39" fmla="*/ 2310 h 4333"/>
                <a:gd name="T40" fmla="*/ 3059 w 3424"/>
                <a:gd name="T41" fmla="*/ 2385 h 4333"/>
                <a:gd name="T42" fmla="*/ 3131 w 3424"/>
                <a:gd name="T43" fmla="*/ 2333 h 4333"/>
                <a:gd name="T44" fmla="*/ 3190 w 3424"/>
                <a:gd name="T45" fmla="*/ 2352 h 4333"/>
                <a:gd name="T46" fmla="*/ 3423 w 3424"/>
                <a:gd name="T47" fmla="*/ 2131 h 4333"/>
                <a:gd name="T48" fmla="*/ 2866 w 3424"/>
                <a:gd name="T49" fmla="*/ 1575 h 4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424" h="4333">
                  <a:moveTo>
                    <a:pt x="2866" y="1575"/>
                  </a:moveTo>
                  <a:lnTo>
                    <a:pt x="3187" y="1182"/>
                  </a:lnTo>
                  <a:lnTo>
                    <a:pt x="3196" y="361"/>
                  </a:lnTo>
                  <a:lnTo>
                    <a:pt x="2898" y="1089"/>
                  </a:lnTo>
                  <a:lnTo>
                    <a:pt x="2552" y="1261"/>
                  </a:lnTo>
                  <a:lnTo>
                    <a:pt x="2342" y="1052"/>
                  </a:lnTo>
                  <a:lnTo>
                    <a:pt x="1961" y="1126"/>
                  </a:lnTo>
                  <a:lnTo>
                    <a:pt x="1576" y="678"/>
                  </a:lnTo>
                  <a:lnTo>
                    <a:pt x="1576" y="0"/>
                  </a:lnTo>
                  <a:lnTo>
                    <a:pt x="1266" y="768"/>
                  </a:lnTo>
                  <a:lnTo>
                    <a:pt x="1602" y="1368"/>
                  </a:lnTo>
                  <a:lnTo>
                    <a:pt x="440" y="1769"/>
                  </a:lnTo>
                  <a:lnTo>
                    <a:pt x="0" y="2292"/>
                  </a:lnTo>
                  <a:lnTo>
                    <a:pt x="0" y="3283"/>
                  </a:lnTo>
                  <a:lnTo>
                    <a:pt x="1364" y="4332"/>
                  </a:lnTo>
                  <a:lnTo>
                    <a:pt x="1968" y="3490"/>
                  </a:lnTo>
                  <a:lnTo>
                    <a:pt x="1968" y="2924"/>
                  </a:lnTo>
                  <a:lnTo>
                    <a:pt x="2141" y="2595"/>
                  </a:lnTo>
                  <a:lnTo>
                    <a:pt x="2610" y="2564"/>
                  </a:lnTo>
                  <a:lnTo>
                    <a:pt x="2857" y="2310"/>
                  </a:lnTo>
                  <a:lnTo>
                    <a:pt x="3059" y="2385"/>
                  </a:lnTo>
                  <a:lnTo>
                    <a:pt x="3131" y="2333"/>
                  </a:lnTo>
                  <a:lnTo>
                    <a:pt x="3190" y="2352"/>
                  </a:lnTo>
                  <a:lnTo>
                    <a:pt x="3423" y="2131"/>
                  </a:lnTo>
                  <a:lnTo>
                    <a:pt x="2866" y="1575"/>
                  </a:lnTo>
                </a:path>
              </a:pathLst>
            </a:custGeom>
            <a:solidFill>
              <a:schemeClr val="accent1"/>
            </a:solidFill>
            <a:ln>
              <a:noFill/>
            </a:ln>
            <a:effectLst/>
          </p:spPr>
          <p:txBody>
            <a:bodyPr wrap="none" lIns="85954" tIns="42977" rIns="85954" bIns="42977" anchor="ctr"/>
            <a:lstStyle/>
            <a:p>
              <a:endParaRPr lang="en-US" sz="3070" dirty="0">
                <a:latin typeface="Montserrat" panose="00000500000000000000" pitchFamily="2" charset="0"/>
              </a:endParaRPr>
            </a:p>
          </p:txBody>
        </p:sp>
        <p:sp>
          <p:nvSpPr>
            <p:cNvPr id="29" name="Freeform 5"/>
            <p:cNvSpPr>
              <a:spLocks noChangeArrowheads="1"/>
            </p:cNvSpPr>
            <p:nvPr/>
          </p:nvSpPr>
          <p:spPr bwMode="auto">
            <a:xfrm>
              <a:off x="7878" y="4539"/>
              <a:ext cx="1441" cy="1920"/>
            </a:xfrm>
            <a:custGeom>
              <a:avLst/>
              <a:gdLst>
                <a:gd name="T0" fmla="*/ 2476 w 2865"/>
                <a:gd name="T1" fmla="*/ 934 h 3817"/>
                <a:gd name="T2" fmla="*/ 2433 w 2865"/>
                <a:gd name="T3" fmla="*/ 673 h 3817"/>
                <a:gd name="T4" fmla="*/ 2594 w 2865"/>
                <a:gd name="T5" fmla="*/ 649 h 3817"/>
                <a:gd name="T6" fmla="*/ 2752 w 2865"/>
                <a:gd name="T7" fmla="*/ 426 h 3817"/>
                <a:gd name="T8" fmla="*/ 2656 w 2865"/>
                <a:gd name="T9" fmla="*/ 206 h 3817"/>
                <a:gd name="T10" fmla="*/ 2433 w 2865"/>
                <a:gd name="T11" fmla="*/ 155 h 3817"/>
                <a:gd name="T12" fmla="*/ 2181 w 2865"/>
                <a:gd name="T13" fmla="*/ 265 h 3817"/>
                <a:gd name="T14" fmla="*/ 1785 w 2865"/>
                <a:gd name="T15" fmla="*/ 32 h 3817"/>
                <a:gd name="T16" fmla="*/ 1218 w 2865"/>
                <a:gd name="T17" fmla="*/ 0 h 3817"/>
                <a:gd name="T18" fmla="*/ 761 w 2865"/>
                <a:gd name="T19" fmla="*/ 172 h 3817"/>
                <a:gd name="T20" fmla="*/ 697 w 2865"/>
                <a:gd name="T21" fmla="*/ 362 h 3817"/>
                <a:gd name="T22" fmla="*/ 0 w 2865"/>
                <a:gd name="T23" fmla="*/ 571 h 3817"/>
                <a:gd name="T24" fmla="*/ 25 w 2865"/>
                <a:gd name="T25" fmla="*/ 883 h 3817"/>
                <a:gd name="T26" fmla="*/ 215 w 2865"/>
                <a:gd name="T27" fmla="*/ 1143 h 3817"/>
                <a:gd name="T28" fmla="*/ 815 w 2865"/>
                <a:gd name="T29" fmla="*/ 1188 h 3817"/>
                <a:gd name="T30" fmla="*/ 876 w 2865"/>
                <a:gd name="T31" fmla="*/ 1448 h 3817"/>
                <a:gd name="T32" fmla="*/ 790 w 2865"/>
                <a:gd name="T33" fmla="*/ 2083 h 3817"/>
                <a:gd name="T34" fmla="*/ 275 w 2865"/>
                <a:gd name="T35" fmla="*/ 2763 h 3817"/>
                <a:gd name="T36" fmla="*/ 1608 w 2865"/>
                <a:gd name="T37" fmla="*/ 3816 h 3817"/>
                <a:gd name="T38" fmla="*/ 2864 w 2865"/>
                <a:gd name="T39" fmla="*/ 2884 h 3817"/>
                <a:gd name="T40" fmla="*/ 2864 w 2865"/>
                <a:gd name="T41" fmla="*/ 1782 h 3817"/>
                <a:gd name="T42" fmla="*/ 2476 w 2865"/>
                <a:gd name="T43" fmla="*/ 934 h 38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65" h="3817">
                  <a:moveTo>
                    <a:pt x="2476" y="934"/>
                  </a:moveTo>
                  <a:lnTo>
                    <a:pt x="2433" y="673"/>
                  </a:lnTo>
                  <a:lnTo>
                    <a:pt x="2594" y="649"/>
                  </a:lnTo>
                  <a:lnTo>
                    <a:pt x="2752" y="426"/>
                  </a:lnTo>
                  <a:lnTo>
                    <a:pt x="2656" y="206"/>
                  </a:lnTo>
                  <a:lnTo>
                    <a:pt x="2433" y="155"/>
                  </a:lnTo>
                  <a:lnTo>
                    <a:pt x="2181" y="265"/>
                  </a:lnTo>
                  <a:lnTo>
                    <a:pt x="1785" y="32"/>
                  </a:lnTo>
                  <a:lnTo>
                    <a:pt x="1218" y="0"/>
                  </a:lnTo>
                  <a:lnTo>
                    <a:pt x="761" y="172"/>
                  </a:lnTo>
                  <a:lnTo>
                    <a:pt x="697" y="362"/>
                  </a:lnTo>
                  <a:lnTo>
                    <a:pt x="0" y="571"/>
                  </a:lnTo>
                  <a:lnTo>
                    <a:pt x="25" y="883"/>
                  </a:lnTo>
                  <a:lnTo>
                    <a:pt x="215" y="1143"/>
                  </a:lnTo>
                  <a:lnTo>
                    <a:pt x="815" y="1188"/>
                  </a:lnTo>
                  <a:lnTo>
                    <a:pt x="876" y="1448"/>
                  </a:lnTo>
                  <a:lnTo>
                    <a:pt x="790" y="2083"/>
                  </a:lnTo>
                  <a:lnTo>
                    <a:pt x="275" y="2763"/>
                  </a:lnTo>
                  <a:lnTo>
                    <a:pt x="1608" y="3816"/>
                  </a:lnTo>
                  <a:lnTo>
                    <a:pt x="2864" y="2884"/>
                  </a:lnTo>
                  <a:lnTo>
                    <a:pt x="2864" y="1782"/>
                  </a:lnTo>
                  <a:lnTo>
                    <a:pt x="2476" y="934"/>
                  </a:lnTo>
                </a:path>
              </a:pathLst>
            </a:custGeom>
            <a:solidFill>
              <a:schemeClr val="accent2"/>
            </a:solidFill>
            <a:ln>
              <a:noFill/>
            </a:ln>
            <a:effectLst/>
          </p:spPr>
          <p:txBody>
            <a:bodyPr wrap="none" lIns="85954" tIns="42977" rIns="85954" bIns="42977" anchor="ctr"/>
            <a:lstStyle/>
            <a:p>
              <a:endParaRPr lang="en-US" sz="3070" dirty="0">
                <a:latin typeface="Montserrat" panose="00000500000000000000" pitchFamily="2" charset="0"/>
              </a:endParaRPr>
            </a:p>
          </p:txBody>
        </p:sp>
        <p:sp>
          <p:nvSpPr>
            <p:cNvPr id="43" name="TextBox 5"/>
            <p:cNvSpPr txBox="1"/>
            <p:nvPr/>
          </p:nvSpPr>
          <p:spPr>
            <a:xfrm>
              <a:off x="1487" y="3018"/>
              <a:ext cx="3500" cy="600"/>
            </a:xfrm>
            <a:prstGeom prst="rect">
              <a:avLst/>
            </a:prstGeom>
            <a:noFill/>
            <a:effectLst/>
          </p:spPr>
          <p:txBody>
            <a:bodyPr wrap="square" lIns="85954" tIns="42977" rIns="85954" bIns="42977" rtlCol="0" anchor="b">
              <a:spAutoFit/>
            </a:bodyPr>
            <a:lstStyle/>
            <a:p>
              <a:r>
                <a:rPr lang="zh-CN" altLang="en-US" sz="2400" spc="-15" dirty="0">
                  <a:solidFill>
                    <a:schemeClr val="accent1"/>
                  </a:solidFill>
                  <a:latin typeface="HarmonyOS Sans SC Black" panose="00000A00000000000000" pitchFamily="2" charset="-122"/>
                  <a:ea typeface="HarmonyOS Sans SC Black" panose="00000A00000000000000" pitchFamily="2" charset="-122"/>
                  <a:cs typeface="Poppins" pitchFamily="2" charset="77"/>
                </a:rPr>
                <a:t>一、行业发展趋势</a:t>
              </a:r>
              <a:endParaRPr lang="zh-CN" altLang="en-US" sz="2400" spc="-15" dirty="0">
                <a:solidFill>
                  <a:schemeClr val="accent1"/>
                </a:solidFill>
                <a:latin typeface="HarmonyOS Sans SC Black" panose="00000A00000000000000" pitchFamily="2" charset="-122"/>
                <a:ea typeface="HarmonyOS Sans SC Black" panose="00000A00000000000000" pitchFamily="2" charset="-122"/>
                <a:cs typeface="Poppins" pitchFamily="2" charset="77"/>
              </a:endParaRPr>
            </a:p>
          </p:txBody>
        </p:sp>
        <p:sp>
          <p:nvSpPr>
            <p:cNvPr id="62" name="TextBox 6"/>
            <p:cNvSpPr txBox="1"/>
            <p:nvPr/>
          </p:nvSpPr>
          <p:spPr>
            <a:xfrm>
              <a:off x="1335" y="3770"/>
              <a:ext cx="3669" cy="3469"/>
            </a:xfrm>
            <a:prstGeom prst="rect">
              <a:avLst/>
            </a:prstGeom>
            <a:noFill/>
            <a:effectLst/>
          </p:spPr>
          <p:txBody>
            <a:bodyPr wrap="square" lIns="85954" tIns="42977" rIns="85954" bIns="42977" rtlCol="0">
              <a:spAutoFit/>
            </a:bodyPr>
            <a:lstStyle/>
            <a:p>
              <a:pPr indent="457200">
                <a:lnSpc>
                  <a:spcPts val="1800"/>
                </a:lnSpc>
              </a:pPr>
              <a:r>
                <a:rPr lang="zh-CN" altLang="en-US" spc="-15" dirty="0">
                  <a:latin typeface="宋体" panose="02010600030101010101" pitchFamily="2" charset="-122"/>
                  <a:ea typeface="宋体" panose="02010600030101010101" pitchFamily="2" charset="-122"/>
                  <a:cs typeface="Poppins" pitchFamily="2" charset="77"/>
                </a:rPr>
                <a:t>随着国家城镇化建设进程的不断加快和基础设施投资力度的持续扩大，塑料管道行业进入了稳定增长阶段。</a:t>
              </a:r>
              <a:endParaRPr lang="zh-CN" altLang="en-US" spc="-15" dirty="0">
                <a:latin typeface="宋体" panose="02010600030101010101" pitchFamily="2" charset="-122"/>
                <a:ea typeface="宋体" panose="02010600030101010101" pitchFamily="2" charset="-122"/>
                <a:cs typeface="Poppins" pitchFamily="2" charset="77"/>
              </a:endParaRPr>
            </a:p>
            <a:p>
              <a:pPr indent="457200">
                <a:lnSpc>
                  <a:spcPts val="1800"/>
                </a:lnSpc>
              </a:pPr>
              <a:r>
                <a:rPr lang="zh-CN" altLang="en-US" spc="-15" dirty="0">
                  <a:latin typeface="宋体" panose="02010600030101010101" pitchFamily="2" charset="-122"/>
                  <a:ea typeface="宋体" panose="02010600030101010101" pitchFamily="2" charset="-122"/>
                  <a:cs typeface="Poppins" pitchFamily="2" charset="77"/>
                </a:rPr>
                <a:t>塑料管材凭借其重量轻、耐腐蚀、密封性能好、施工便捷等优点，已广泛应用于建筑给排水、市政供水、农业灌溉、电缆护套以及燃气输送等领域，市场需求保持高位。</a:t>
              </a:r>
              <a:endParaRPr lang="zh-CN" altLang="en-US" spc="-15" dirty="0">
                <a:latin typeface="宋体" panose="02010600030101010101" pitchFamily="2" charset="-122"/>
                <a:ea typeface="宋体" panose="02010600030101010101" pitchFamily="2" charset="-122"/>
                <a:cs typeface="Poppins" pitchFamily="2" charset="77"/>
              </a:endParaRPr>
            </a:p>
          </p:txBody>
        </p:sp>
        <p:cxnSp>
          <p:nvCxnSpPr>
            <p:cNvPr id="579" name="直接连接符 578"/>
            <p:cNvCxnSpPr/>
            <p:nvPr/>
          </p:nvCxnSpPr>
          <p:spPr>
            <a:xfrm>
              <a:off x="1589" y="3669"/>
              <a:ext cx="3144" cy="0"/>
            </a:xfrm>
            <a:prstGeom prst="line">
              <a:avLst/>
            </a:prstGeom>
            <a:ln w="23876"/>
            <a:effectLst/>
          </p:spPr>
          <p:style>
            <a:lnRef idx="1">
              <a:schemeClr val="accent1"/>
            </a:lnRef>
            <a:fillRef idx="0">
              <a:schemeClr val="accent1"/>
            </a:fillRef>
            <a:effectRef idx="0">
              <a:schemeClr val="accent1"/>
            </a:effectRef>
            <a:fontRef idx="minor">
              <a:schemeClr val="tx1"/>
            </a:fontRef>
          </p:style>
        </p:cxnSp>
        <p:sp>
          <p:nvSpPr>
            <p:cNvPr id="598" name="TextBox 5"/>
            <p:cNvSpPr txBox="1"/>
            <p:nvPr/>
          </p:nvSpPr>
          <p:spPr>
            <a:xfrm>
              <a:off x="10258" y="3018"/>
              <a:ext cx="3500" cy="600"/>
            </a:xfrm>
            <a:prstGeom prst="rect">
              <a:avLst/>
            </a:prstGeom>
            <a:noFill/>
            <a:effectLst/>
          </p:spPr>
          <p:txBody>
            <a:bodyPr wrap="square" lIns="85954" tIns="42977" rIns="85954" bIns="42977" rtlCol="0" anchor="b">
              <a:spAutoFit/>
            </a:bodyPr>
            <a:lstStyle/>
            <a:p>
              <a:r>
                <a:rPr lang="zh-CN" altLang="en-US" sz="2400" spc="-15" dirty="0">
                  <a:solidFill>
                    <a:schemeClr val="accent1"/>
                  </a:solidFill>
                  <a:latin typeface="HarmonyOS Sans SC Black" panose="00000A00000000000000" pitchFamily="2" charset="-122"/>
                  <a:ea typeface="HarmonyOS Sans SC Black" panose="00000A00000000000000" pitchFamily="2" charset="-122"/>
                  <a:cs typeface="Poppins" pitchFamily="2" charset="77"/>
                </a:rPr>
                <a:t>二、区域建设意义</a:t>
              </a:r>
              <a:endParaRPr lang="zh-CN" altLang="en-US" sz="2400" spc="-15" dirty="0">
                <a:solidFill>
                  <a:schemeClr val="accent1"/>
                </a:solidFill>
                <a:latin typeface="HarmonyOS Sans SC Black" panose="00000A00000000000000" pitchFamily="2" charset="-122"/>
                <a:ea typeface="HarmonyOS Sans SC Black" panose="00000A00000000000000" pitchFamily="2" charset="-122"/>
                <a:cs typeface="Poppins" pitchFamily="2" charset="77"/>
              </a:endParaRPr>
            </a:p>
          </p:txBody>
        </p:sp>
        <p:sp>
          <p:nvSpPr>
            <p:cNvPr id="599" name="TextBox 6"/>
            <p:cNvSpPr txBox="1"/>
            <p:nvPr/>
          </p:nvSpPr>
          <p:spPr>
            <a:xfrm>
              <a:off x="10275" y="3770"/>
              <a:ext cx="3500" cy="3774"/>
            </a:xfrm>
            <a:prstGeom prst="rect">
              <a:avLst/>
            </a:prstGeom>
            <a:noFill/>
            <a:effectLst/>
          </p:spPr>
          <p:txBody>
            <a:bodyPr wrap="square" lIns="85954" tIns="42977" rIns="85954" bIns="42977" rtlCol="0">
              <a:spAutoFit/>
            </a:bodyPr>
            <a:lstStyle/>
            <a:p>
              <a:pPr indent="457200">
                <a:lnSpc>
                  <a:spcPts val="1800"/>
                </a:lnSpc>
              </a:pPr>
              <a:r>
                <a:rPr lang="zh-CN" altLang="en-US" sz="1800" spc="-15" dirty="0">
                  <a:latin typeface="宋体" panose="02010600030101010101" pitchFamily="2" charset="-122"/>
                  <a:ea typeface="宋体" panose="02010600030101010101" pitchFamily="2" charset="-122"/>
                  <a:cs typeface="Poppins" pitchFamily="2" charset="77"/>
                </a:rPr>
                <a:t>本项目选址于宝鸡高新技术产业开发区，区位交通便利，配套设施完善，具有良好的产业集聚效应和政策支持环境。项目的建设不仅有助于提升区域内塑料管材产业的整体水平，弥补西部地区高性能管材生产能力不足的现状，同时还将带动相关原材料、包装、运输及施工等配套产业的发展，形成上下游协同效应。</a:t>
              </a:r>
              <a:endParaRPr lang="zh-CN" altLang="en-US" sz="1800" spc="-15" dirty="0">
                <a:latin typeface="宋体" panose="02010600030101010101" pitchFamily="2" charset="-122"/>
                <a:ea typeface="宋体" panose="02010600030101010101" pitchFamily="2" charset="-122"/>
                <a:cs typeface="Poppins" pitchFamily="2" charset="77"/>
              </a:endParaRPr>
            </a:p>
          </p:txBody>
        </p:sp>
        <p:cxnSp>
          <p:nvCxnSpPr>
            <p:cNvPr id="607" name="直接连接符 606"/>
            <p:cNvCxnSpPr/>
            <p:nvPr/>
          </p:nvCxnSpPr>
          <p:spPr>
            <a:xfrm>
              <a:off x="10360" y="3669"/>
              <a:ext cx="3144" cy="0"/>
            </a:xfrm>
            <a:prstGeom prst="line">
              <a:avLst/>
            </a:prstGeom>
            <a:ln w="23876"/>
            <a:effectLst/>
          </p:spPr>
          <p:style>
            <a:lnRef idx="1">
              <a:schemeClr val="accent1"/>
            </a:lnRef>
            <a:fillRef idx="0">
              <a:schemeClr val="accent1"/>
            </a:fillRef>
            <a:effectRef idx="0">
              <a:schemeClr val="accent1"/>
            </a:effectRef>
            <a:fontRef idx="minor">
              <a:schemeClr val="tx1"/>
            </a:fontRef>
          </p:style>
        </p:cxnSp>
      </p:grpSp>
      <p:grpSp>
        <p:nvGrpSpPr>
          <p:cNvPr id="7" name="组合 6"/>
          <p:cNvGrpSpPr/>
          <p:nvPr/>
        </p:nvGrpSpPr>
        <p:grpSpPr>
          <a:xfrm>
            <a:off x="0" y="5371465"/>
            <a:ext cx="6176175" cy="930279"/>
            <a:chOff x="0" y="8459"/>
            <a:chExt cx="7487" cy="1465"/>
          </a:xfrm>
        </p:grpSpPr>
        <p:sp>
          <p:nvSpPr>
            <p:cNvPr id="588" name="Freeform 2"/>
            <p:cNvSpPr>
              <a:spLocks noChangeArrowheads="1"/>
            </p:cNvSpPr>
            <p:nvPr/>
          </p:nvSpPr>
          <p:spPr bwMode="auto">
            <a:xfrm rot="5400000">
              <a:off x="3011" y="5448"/>
              <a:ext cx="1465" cy="7487"/>
            </a:xfrm>
            <a:prstGeom prst="round2SameRect">
              <a:avLst>
                <a:gd name="adj1" fmla="val 50000"/>
                <a:gd name="adj2" fmla="val 0"/>
              </a:avLst>
            </a:prstGeom>
            <a:solidFill>
              <a:schemeClr val="accent1"/>
            </a:solidFill>
            <a:ln>
              <a:noFill/>
            </a:ln>
            <a:effectLst/>
          </p:spPr>
          <p:txBody>
            <a:bodyPr wrap="none" lIns="85954" tIns="42977" rIns="85954" bIns="42977" anchor="ctr"/>
            <a:lstStyle/>
            <a:p>
              <a:endParaRPr lang="en-US" sz="3070" dirty="0">
                <a:latin typeface="Montserrat" panose="00000500000000000000" pitchFamily="2" charset="0"/>
              </a:endParaRPr>
            </a:p>
          </p:txBody>
        </p:sp>
        <p:sp>
          <p:nvSpPr>
            <p:cNvPr id="589" name="Freeform: Shape 15"/>
            <p:cNvSpPr>
              <a:spLocks noChangeArrowheads="1"/>
            </p:cNvSpPr>
            <p:nvPr/>
          </p:nvSpPr>
          <p:spPr bwMode="auto">
            <a:xfrm>
              <a:off x="4362" y="8678"/>
              <a:ext cx="1819" cy="971"/>
            </a:xfrm>
            <a:custGeom>
              <a:avLst/>
              <a:gdLst>
                <a:gd name="connsiteX0" fmla="*/ 2880941 w 4951302"/>
                <a:gd name="connsiteY0" fmla="*/ 1466322 h 2643365"/>
                <a:gd name="connsiteX1" fmla="*/ 2993497 w 4951302"/>
                <a:gd name="connsiteY1" fmla="*/ 1546620 h 2643365"/>
                <a:gd name="connsiteX2" fmla="*/ 3109598 w 4951302"/>
                <a:gd name="connsiteY2" fmla="*/ 1561620 h 2643365"/>
                <a:gd name="connsiteX3" fmla="*/ 3005018 w 4951302"/>
                <a:gd name="connsiteY3" fmla="*/ 1762805 h 2643365"/>
                <a:gd name="connsiteX4" fmla="*/ 2315500 w 4951302"/>
                <a:gd name="connsiteY4" fmla="*/ 2003698 h 2643365"/>
                <a:gd name="connsiteX5" fmla="*/ 2450213 w 4951302"/>
                <a:gd name="connsiteY5" fmla="*/ 1737216 h 2643365"/>
                <a:gd name="connsiteX6" fmla="*/ 2507821 w 4951302"/>
                <a:gd name="connsiteY6" fmla="*/ 1746040 h 2643365"/>
                <a:gd name="connsiteX7" fmla="*/ 2535295 w 4951302"/>
                <a:gd name="connsiteY7" fmla="*/ 1769864 h 2643365"/>
                <a:gd name="connsiteX8" fmla="*/ 2714322 w 4951302"/>
                <a:gd name="connsiteY8" fmla="*/ 1667507 h 2643365"/>
                <a:gd name="connsiteX9" fmla="*/ 2884486 w 4951302"/>
                <a:gd name="connsiteY9" fmla="*/ 1573091 h 2643365"/>
                <a:gd name="connsiteX10" fmla="*/ 1029031 w 4951302"/>
                <a:gd name="connsiteY10" fmla="*/ 1029474 h 2643365"/>
                <a:gd name="connsiteX11" fmla="*/ 1509904 w 4951302"/>
                <a:gd name="connsiteY11" fmla="*/ 1579982 h 2643365"/>
                <a:gd name="connsiteX12" fmla="*/ 1521416 w 4951302"/>
                <a:gd name="connsiteY12" fmla="*/ 1691321 h 2643365"/>
                <a:gd name="connsiteX13" fmla="*/ 1028145 w 4951302"/>
                <a:gd name="connsiteY13" fmla="*/ 1926369 h 2643365"/>
                <a:gd name="connsiteX14" fmla="*/ 874939 w 4951302"/>
                <a:gd name="connsiteY14" fmla="*/ 2280709 h 2643365"/>
                <a:gd name="connsiteX15" fmla="*/ 838630 w 4951302"/>
                <a:gd name="connsiteY15" fmla="*/ 2492782 h 2643365"/>
                <a:gd name="connsiteX16" fmla="*/ 940472 w 4951302"/>
                <a:gd name="connsiteY16" fmla="*/ 2639467 h 2643365"/>
                <a:gd name="connsiteX17" fmla="*/ 677453 w 4951302"/>
                <a:gd name="connsiteY17" fmla="*/ 2639467 h 2643365"/>
                <a:gd name="connsiteX18" fmla="*/ 630517 w 4951302"/>
                <a:gd name="connsiteY18" fmla="*/ 2521942 h 2643365"/>
                <a:gd name="connsiteX19" fmla="*/ 687195 w 4951302"/>
                <a:gd name="connsiteY19" fmla="*/ 2453902 h 2643365"/>
                <a:gd name="connsiteX20" fmla="*/ 726160 w 4951302"/>
                <a:gd name="connsiteY20" fmla="*/ 1748757 h 2643365"/>
                <a:gd name="connsiteX21" fmla="*/ 975010 w 4951302"/>
                <a:gd name="connsiteY21" fmla="*/ 1530498 h 2643365"/>
                <a:gd name="connsiteX22" fmla="*/ 1029031 w 4951302"/>
                <a:gd name="connsiteY22" fmla="*/ 1029474 h 2643365"/>
                <a:gd name="connsiteX23" fmla="*/ 350627 w 4951302"/>
                <a:gd name="connsiteY23" fmla="*/ 249390 h 2643365"/>
                <a:gd name="connsiteX24" fmla="*/ 277155 w 4951302"/>
                <a:gd name="connsiteY24" fmla="*/ 453523 h 2643365"/>
                <a:gd name="connsiteX25" fmla="*/ 187749 w 4951302"/>
                <a:gd name="connsiteY25" fmla="*/ 525985 h 2643365"/>
                <a:gd name="connsiteX26" fmla="*/ 141719 w 4951302"/>
                <a:gd name="connsiteY26" fmla="*/ 532171 h 2643365"/>
                <a:gd name="connsiteX27" fmla="*/ 802080 w 4951302"/>
                <a:gd name="connsiteY27" fmla="*/ 875043 h 2643365"/>
                <a:gd name="connsiteX28" fmla="*/ 818899 w 4951302"/>
                <a:gd name="connsiteY28" fmla="*/ 873276 h 2643365"/>
                <a:gd name="connsiteX29" fmla="*/ 1011873 w 4951302"/>
                <a:gd name="connsiteY29" fmla="*/ 1005830 h 2643365"/>
                <a:gd name="connsiteX30" fmla="*/ 854307 w 4951302"/>
                <a:gd name="connsiteY30" fmla="*/ 982854 h 2643365"/>
                <a:gd name="connsiteX31" fmla="*/ 735690 w 4951302"/>
                <a:gd name="connsiteY31" fmla="*/ 987272 h 2643365"/>
                <a:gd name="connsiteX32" fmla="*/ 29298 w 4951302"/>
                <a:gd name="connsiteY32" fmla="*/ 883880 h 2643365"/>
                <a:gd name="connsiteX33" fmla="*/ 130211 w 4951302"/>
                <a:gd name="connsiteY33" fmla="*/ 519800 h 2643365"/>
                <a:gd name="connsiteX34" fmla="*/ 124900 w 4951302"/>
                <a:gd name="connsiteY34" fmla="*/ 478266 h 2643365"/>
                <a:gd name="connsiteX35" fmla="*/ 171816 w 4951302"/>
                <a:gd name="connsiteY35" fmla="*/ 372223 h 2643365"/>
                <a:gd name="connsiteX36" fmla="*/ 3061742 w 4951302"/>
                <a:gd name="connsiteY36" fmla="*/ 352 h 2643365"/>
                <a:gd name="connsiteX37" fmla="*/ 3926928 w 4951302"/>
                <a:gd name="connsiteY37" fmla="*/ 120439 h 2643365"/>
                <a:gd name="connsiteX38" fmla="*/ 4508999 w 4951302"/>
                <a:gd name="connsiteY38" fmla="*/ 504498 h 2643365"/>
                <a:gd name="connsiteX39" fmla="*/ 4471845 w 4951302"/>
                <a:gd name="connsiteY39" fmla="*/ 581487 h 2643365"/>
                <a:gd name="connsiteX40" fmla="*/ 4485999 w 4951302"/>
                <a:gd name="connsiteY40" fmla="*/ 592991 h 2643365"/>
                <a:gd name="connsiteX41" fmla="*/ 4658497 w 4951302"/>
                <a:gd name="connsiteY41" fmla="*/ 669979 h 2643365"/>
                <a:gd name="connsiteX42" fmla="*/ 4951302 w 4951302"/>
                <a:gd name="connsiteY42" fmla="*/ 661130 h 2643365"/>
                <a:gd name="connsiteX43" fmla="*/ 4689458 w 4951302"/>
                <a:gd name="connsiteY43" fmla="*/ 749623 h 2643365"/>
                <a:gd name="connsiteX44" fmla="*/ 4452384 w 4951302"/>
                <a:gd name="connsiteY44" fmla="*/ 707146 h 2643365"/>
                <a:gd name="connsiteX45" fmla="*/ 4424961 w 4951302"/>
                <a:gd name="connsiteY45" fmla="*/ 687678 h 2643365"/>
                <a:gd name="connsiteX46" fmla="*/ 4330308 w 4951302"/>
                <a:gd name="connsiteY46" fmla="*/ 1124831 h 2643365"/>
                <a:gd name="connsiteX47" fmla="*/ 4352423 w 4951302"/>
                <a:gd name="connsiteY47" fmla="*/ 1184121 h 2643365"/>
                <a:gd name="connsiteX48" fmla="*/ 4173733 w 4951302"/>
                <a:gd name="connsiteY48" fmla="*/ 1315091 h 2643365"/>
                <a:gd name="connsiteX49" fmla="*/ 4138349 w 4951302"/>
                <a:gd name="connsiteY49" fmla="*/ 1250491 h 2643365"/>
                <a:gd name="connsiteX50" fmla="*/ 4054311 w 4951302"/>
                <a:gd name="connsiteY50" fmla="*/ 1145185 h 2643365"/>
                <a:gd name="connsiteX51" fmla="*/ 3949928 w 4951302"/>
                <a:gd name="connsiteY51" fmla="*/ 1042533 h 2643365"/>
                <a:gd name="connsiteX52" fmla="*/ 3880929 w 4951302"/>
                <a:gd name="connsiteY52" fmla="*/ 903600 h 2643365"/>
                <a:gd name="connsiteX53" fmla="*/ 3657123 w 4951302"/>
                <a:gd name="connsiteY53" fmla="*/ 1148724 h 2643365"/>
                <a:gd name="connsiteX54" fmla="*/ 3557163 w 4951302"/>
                <a:gd name="connsiteY54" fmla="*/ 1106248 h 2643365"/>
                <a:gd name="connsiteX55" fmla="*/ 3646508 w 4951302"/>
                <a:gd name="connsiteY55" fmla="*/ 1272614 h 2643365"/>
                <a:gd name="connsiteX56" fmla="*/ 3836698 w 4951302"/>
                <a:gd name="connsiteY56" fmla="*/ 1604462 h 2643365"/>
                <a:gd name="connsiteX57" fmla="*/ 3645624 w 4951302"/>
                <a:gd name="connsiteY57" fmla="*/ 1750474 h 2643365"/>
                <a:gd name="connsiteX58" fmla="*/ 3136975 w 4951302"/>
                <a:gd name="connsiteY58" fmla="*/ 2146037 h 2643365"/>
                <a:gd name="connsiteX59" fmla="*/ 3141398 w 4951302"/>
                <a:gd name="connsiteY59" fmla="*/ 1820384 h 2643365"/>
                <a:gd name="connsiteX60" fmla="*/ 3176783 w 4951302"/>
                <a:gd name="connsiteY60" fmla="*/ 1796491 h 2643365"/>
                <a:gd name="connsiteX61" fmla="*/ 3357242 w 4951302"/>
                <a:gd name="connsiteY61" fmla="*/ 1738970 h 2643365"/>
                <a:gd name="connsiteX62" fmla="*/ 3619970 w 4951302"/>
                <a:gd name="connsiteY62" fmla="*/ 1572604 h 2643365"/>
                <a:gd name="connsiteX63" fmla="*/ 3467818 w 4951302"/>
                <a:gd name="connsiteY63" fmla="*/ 1489421 h 2643365"/>
                <a:gd name="connsiteX64" fmla="*/ 3006938 w 4951302"/>
                <a:gd name="connsiteY64" fmla="*/ 1067311 h 2643365"/>
                <a:gd name="connsiteX65" fmla="*/ 3281166 w 4951302"/>
                <a:gd name="connsiteY65" fmla="*/ 1477032 h 2643365"/>
                <a:gd name="connsiteX66" fmla="*/ 2770749 w 4951302"/>
                <a:gd name="connsiteY66" fmla="*/ 1350488 h 2643365"/>
                <a:gd name="connsiteX67" fmla="*/ 2275369 w 4951302"/>
                <a:gd name="connsiteY67" fmla="*/ 1419512 h 2643365"/>
                <a:gd name="connsiteX68" fmla="*/ 2117910 w 4951302"/>
                <a:gd name="connsiteY68" fmla="*/ 1038994 h 2643365"/>
                <a:gd name="connsiteX69" fmla="*/ 2160371 w 4951302"/>
                <a:gd name="connsiteY69" fmla="*/ 1530128 h 2643365"/>
                <a:gd name="connsiteX70" fmla="*/ 1834836 w 4951302"/>
                <a:gd name="connsiteY70" fmla="*/ 1953123 h 2643365"/>
                <a:gd name="connsiteX71" fmla="*/ 2337292 w 4951302"/>
                <a:gd name="connsiteY71" fmla="*/ 2643365 h 2643365"/>
                <a:gd name="connsiteX72" fmla="*/ 2044487 w 4951302"/>
                <a:gd name="connsiteY72" fmla="*/ 2643365 h 2643365"/>
                <a:gd name="connsiteX73" fmla="*/ 1973719 w 4951302"/>
                <a:gd name="connsiteY73" fmla="*/ 2580535 h 2643365"/>
                <a:gd name="connsiteX74" fmla="*/ 2002911 w 4951302"/>
                <a:gd name="connsiteY74" fmla="*/ 2543369 h 2643365"/>
                <a:gd name="connsiteX75" fmla="*/ 1471263 w 4951302"/>
                <a:gd name="connsiteY75" fmla="*/ 2007103 h 2643365"/>
                <a:gd name="connsiteX76" fmla="*/ 1570339 w 4951302"/>
                <a:gd name="connsiteY76" fmla="*/ 1528358 h 2643365"/>
                <a:gd name="connsiteX77" fmla="*/ 1231535 w 4951302"/>
                <a:gd name="connsiteY77" fmla="*/ 1065541 h 2643365"/>
                <a:gd name="connsiteX78" fmla="*/ 891846 w 4951302"/>
                <a:gd name="connsiteY78" fmla="*/ 837230 h 2643365"/>
                <a:gd name="connsiteX79" fmla="*/ 2105525 w 4951302"/>
                <a:gd name="connsiteY79" fmla="*/ 509808 h 2643365"/>
                <a:gd name="connsiteX80" fmla="*/ 2656634 w 4951302"/>
                <a:gd name="connsiteY80" fmla="*/ 7169 h 2643365"/>
                <a:gd name="connsiteX81" fmla="*/ 3061742 w 4951302"/>
                <a:gd name="connsiteY81" fmla="*/ 352 h 264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4951302" h="2643365">
                  <a:moveTo>
                    <a:pt x="2880941" y="1466322"/>
                  </a:moveTo>
                  <a:cubicBezTo>
                    <a:pt x="2880941" y="1466322"/>
                    <a:pt x="2933230" y="1525442"/>
                    <a:pt x="2993497" y="1546620"/>
                  </a:cubicBezTo>
                  <a:cubicBezTo>
                    <a:pt x="3043128" y="1564268"/>
                    <a:pt x="3109598" y="1561620"/>
                    <a:pt x="3109598" y="1561620"/>
                  </a:cubicBezTo>
                  <a:cubicBezTo>
                    <a:pt x="3049332" y="1720451"/>
                    <a:pt x="3141504" y="1731039"/>
                    <a:pt x="3005018" y="1762805"/>
                  </a:cubicBezTo>
                  <a:cubicBezTo>
                    <a:pt x="2799404" y="1808690"/>
                    <a:pt x="2315500" y="2003698"/>
                    <a:pt x="2315500" y="2003698"/>
                  </a:cubicBezTo>
                  <a:lnTo>
                    <a:pt x="2450213" y="1737216"/>
                  </a:lnTo>
                  <a:lnTo>
                    <a:pt x="2507821" y="1746040"/>
                  </a:lnTo>
                  <a:cubicBezTo>
                    <a:pt x="2523774" y="1750452"/>
                    <a:pt x="2525546" y="1771629"/>
                    <a:pt x="2535295" y="1769864"/>
                  </a:cubicBezTo>
                  <a:cubicBezTo>
                    <a:pt x="2574291" y="1762805"/>
                    <a:pt x="2660259" y="1712509"/>
                    <a:pt x="2714322" y="1667507"/>
                  </a:cubicBezTo>
                  <a:cubicBezTo>
                    <a:pt x="2795859" y="1596916"/>
                    <a:pt x="2884486" y="1573091"/>
                    <a:pt x="2884486" y="1573091"/>
                  </a:cubicBezTo>
                  <a:close/>
                  <a:moveTo>
                    <a:pt x="1029031" y="1029474"/>
                  </a:moveTo>
                  <a:cubicBezTo>
                    <a:pt x="1344299" y="1204435"/>
                    <a:pt x="1475366" y="1449203"/>
                    <a:pt x="1509904" y="1579982"/>
                  </a:cubicBezTo>
                  <a:cubicBezTo>
                    <a:pt x="1526730" y="1648906"/>
                    <a:pt x="1521416" y="1691321"/>
                    <a:pt x="1521416" y="1691321"/>
                  </a:cubicBezTo>
                  <a:lnTo>
                    <a:pt x="1028145" y="1926369"/>
                  </a:lnTo>
                  <a:cubicBezTo>
                    <a:pt x="1028145" y="1926369"/>
                    <a:pt x="944014" y="2023569"/>
                    <a:pt x="874939" y="2280709"/>
                  </a:cubicBezTo>
                  <a:cubicBezTo>
                    <a:pt x="855456" y="2355818"/>
                    <a:pt x="845714" y="2436229"/>
                    <a:pt x="838630" y="2492782"/>
                  </a:cubicBezTo>
                  <a:cubicBezTo>
                    <a:pt x="835087" y="2514873"/>
                    <a:pt x="940472" y="2639467"/>
                    <a:pt x="940472" y="2639467"/>
                  </a:cubicBezTo>
                  <a:lnTo>
                    <a:pt x="677453" y="2639467"/>
                  </a:lnTo>
                  <a:lnTo>
                    <a:pt x="630517" y="2521942"/>
                  </a:lnTo>
                  <a:cubicBezTo>
                    <a:pt x="657970" y="2503386"/>
                    <a:pt x="679224" y="2488364"/>
                    <a:pt x="687195" y="2453902"/>
                  </a:cubicBezTo>
                  <a:cubicBezTo>
                    <a:pt x="803206" y="1971435"/>
                    <a:pt x="726160" y="1748757"/>
                    <a:pt x="726160" y="1748757"/>
                  </a:cubicBezTo>
                  <a:cubicBezTo>
                    <a:pt x="829774" y="1727550"/>
                    <a:pt x="932502" y="1652441"/>
                    <a:pt x="975010" y="1530498"/>
                  </a:cubicBezTo>
                  <a:cubicBezTo>
                    <a:pt x="1048514" y="1315774"/>
                    <a:pt x="1029031" y="1029474"/>
                    <a:pt x="1029031" y="1029474"/>
                  </a:cubicBezTo>
                  <a:close/>
                  <a:moveTo>
                    <a:pt x="350627" y="249390"/>
                  </a:moveTo>
                  <a:lnTo>
                    <a:pt x="277155" y="453523"/>
                  </a:lnTo>
                  <a:cubicBezTo>
                    <a:pt x="263877" y="493289"/>
                    <a:pt x="229354" y="520683"/>
                    <a:pt x="187749" y="525985"/>
                  </a:cubicBezTo>
                  <a:lnTo>
                    <a:pt x="141719" y="532171"/>
                  </a:lnTo>
                  <a:cubicBezTo>
                    <a:pt x="-110564" y="960761"/>
                    <a:pt x="489604" y="920995"/>
                    <a:pt x="802080" y="875043"/>
                  </a:cubicBezTo>
                  <a:cubicBezTo>
                    <a:pt x="808276" y="874160"/>
                    <a:pt x="818899" y="873276"/>
                    <a:pt x="818899" y="873276"/>
                  </a:cubicBezTo>
                  <a:lnTo>
                    <a:pt x="1011873" y="1005830"/>
                  </a:lnTo>
                  <a:cubicBezTo>
                    <a:pt x="960531" y="992574"/>
                    <a:pt x="907419" y="984621"/>
                    <a:pt x="854307" y="982854"/>
                  </a:cubicBezTo>
                  <a:cubicBezTo>
                    <a:pt x="814473" y="981086"/>
                    <a:pt x="774639" y="982854"/>
                    <a:pt x="735690" y="987272"/>
                  </a:cubicBezTo>
                  <a:cubicBezTo>
                    <a:pt x="521471" y="1012899"/>
                    <a:pt x="112507" y="1040294"/>
                    <a:pt x="29298" y="883880"/>
                  </a:cubicBezTo>
                  <a:cubicBezTo>
                    <a:pt x="-54796" y="726583"/>
                    <a:pt x="62051" y="584309"/>
                    <a:pt x="130211" y="519800"/>
                  </a:cubicBezTo>
                  <a:lnTo>
                    <a:pt x="124900" y="478266"/>
                  </a:lnTo>
                  <a:cubicBezTo>
                    <a:pt x="118704" y="435849"/>
                    <a:pt x="137293" y="396083"/>
                    <a:pt x="171816" y="372223"/>
                  </a:cubicBezTo>
                  <a:close/>
                  <a:moveTo>
                    <a:pt x="3061742" y="352"/>
                  </a:moveTo>
                  <a:cubicBezTo>
                    <a:pt x="3434977" y="4293"/>
                    <a:pt x="3715287" y="41460"/>
                    <a:pt x="3926928" y="120439"/>
                  </a:cubicBezTo>
                  <a:cubicBezTo>
                    <a:pt x="4207348" y="223976"/>
                    <a:pt x="4487768" y="445208"/>
                    <a:pt x="4508999" y="504498"/>
                  </a:cubicBezTo>
                  <a:cubicBezTo>
                    <a:pt x="4511653" y="513347"/>
                    <a:pt x="4493960" y="536355"/>
                    <a:pt x="4471845" y="581487"/>
                  </a:cubicBezTo>
                  <a:lnTo>
                    <a:pt x="4485999" y="592991"/>
                  </a:lnTo>
                  <a:cubicBezTo>
                    <a:pt x="4552344" y="642547"/>
                    <a:pt x="4577113" y="669094"/>
                    <a:pt x="4658497" y="669979"/>
                  </a:cubicBezTo>
                  <a:cubicBezTo>
                    <a:pt x="4731919" y="670864"/>
                    <a:pt x="4951302" y="661130"/>
                    <a:pt x="4951302" y="661130"/>
                  </a:cubicBezTo>
                  <a:cubicBezTo>
                    <a:pt x="4951302" y="661130"/>
                    <a:pt x="4755804" y="730154"/>
                    <a:pt x="4689458" y="749623"/>
                  </a:cubicBezTo>
                  <a:cubicBezTo>
                    <a:pt x="4609844" y="773516"/>
                    <a:pt x="4521383" y="754047"/>
                    <a:pt x="4452384" y="707146"/>
                  </a:cubicBezTo>
                  <a:lnTo>
                    <a:pt x="4424961" y="687678"/>
                  </a:lnTo>
                  <a:cubicBezTo>
                    <a:pt x="4331193" y="933687"/>
                    <a:pt x="4330308" y="1124831"/>
                    <a:pt x="4330308" y="1124831"/>
                  </a:cubicBezTo>
                  <a:lnTo>
                    <a:pt x="4352423" y="1184121"/>
                  </a:lnTo>
                  <a:cubicBezTo>
                    <a:pt x="4308193" y="1225713"/>
                    <a:pt x="4192310" y="1310666"/>
                    <a:pt x="4173733" y="1315091"/>
                  </a:cubicBezTo>
                  <a:cubicBezTo>
                    <a:pt x="4156041" y="1317745"/>
                    <a:pt x="4138349" y="1250491"/>
                    <a:pt x="4138349" y="1250491"/>
                  </a:cubicBezTo>
                  <a:cubicBezTo>
                    <a:pt x="4064927" y="1227483"/>
                    <a:pt x="4071119" y="1209784"/>
                    <a:pt x="4054311" y="1145185"/>
                  </a:cubicBezTo>
                  <a:cubicBezTo>
                    <a:pt x="4042812" y="1102708"/>
                    <a:pt x="4009196" y="1095629"/>
                    <a:pt x="3949928" y="1042533"/>
                  </a:cubicBezTo>
                  <a:cubicBezTo>
                    <a:pt x="3872083" y="971739"/>
                    <a:pt x="3900390" y="892981"/>
                    <a:pt x="3880929" y="903600"/>
                  </a:cubicBezTo>
                  <a:cubicBezTo>
                    <a:pt x="3791583" y="956695"/>
                    <a:pt x="3657123" y="1148724"/>
                    <a:pt x="3657123" y="1148724"/>
                  </a:cubicBezTo>
                  <a:cubicBezTo>
                    <a:pt x="3657123" y="1148724"/>
                    <a:pt x="3635893" y="1162883"/>
                    <a:pt x="3557163" y="1106248"/>
                  </a:cubicBezTo>
                  <a:cubicBezTo>
                    <a:pt x="3543894" y="1096514"/>
                    <a:pt x="3588124" y="1200935"/>
                    <a:pt x="3646508" y="1272614"/>
                  </a:cubicBezTo>
                  <a:cubicBezTo>
                    <a:pt x="3799545" y="1458449"/>
                    <a:pt x="3836698" y="1551366"/>
                    <a:pt x="3836698" y="1604462"/>
                  </a:cubicBezTo>
                  <a:cubicBezTo>
                    <a:pt x="3836698" y="1639859"/>
                    <a:pt x="3763276" y="1701803"/>
                    <a:pt x="3645624" y="1750474"/>
                  </a:cubicBezTo>
                  <a:cubicBezTo>
                    <a:pt x="3359011" y="1869940"/>
                    <a:pt x="3136975" y="2146037"/>
                    <a:pt x="3136975" y="2146037"/>
                  </a:cubicBezTo>
                  <a:lnTo>
                    <a:pt x="3141398" y="1820384"/>
                  </a:lnTo>
                  <a:lnTo>
                    <a:pt x="3176783" y="1796491"/>
                  </a:lnTo>
                  <a:cubicBezTo>
                    <a:pt x="3176783" y="1796491"/>
                    <a:pt x="3274089" y="1850471"/>
                    <a:pt x="3357242" y="1738970"/>
                  </a:cubicBezTo>
                  <a:cubicBezTo>
                    <a:pt x="3440395" y="1626585"/>
                    <a:pt x="3619970" y="1572604"/>
                    <a:pt x="3619970" y="1572604"/>
                  </a:cubicBezTo>
                  <a:lnTo>
                    <a:pt x="3467818" y="1489421"/>
                  </a:lnTo>
                  <a:cubicBezTo>
                    <a:pt x="3083899" y="1305356"/>
                    <a:pt x="3006938" y="1067311"/>
                    <a:pt x="3006938" y="1067311"/>
                  </a:cubicBezTo>
                  <a:cubicBezTo>
                    <a:pt x="2991900" y="1338984"/>
                    <a:pt x="3281166" y="1477032"/>
                    <a:pt x="3281166" y="1477032"/>
                  </a:cubicBezTo>
                  <a:cubicBezTo>
                    <a:pt x="3019323" y="1561100"/>
                    <a:pt x="2919362" y="1382345"/>
                    <a:pt x="2770749" y="1350488"/>
                  </a:cubicBezTo>
                  <a:cubicBezTo>
                    <a:pt x="2419560" y="1276154"/>
                    <a:pt x="2275369" y="1419512"/>
                    <a:pt x="2275369" y="1419512"/>
                  </a:cubicBezTo>
                  <a:cubicBezTo>
                    <a:pt x="2270062" y="1138990"/>
                    <a:pt x="2117910" y="1038994"/>
                    <a:pt x="2117910" y="1038994"/>
                  </a:cubicBezTo>
                  <a:cubicBezTo>
                    <a:pt x="2117910" y="1038994"/>
                    <a:pt x="2227601" y="1227483"/>
                    <a:pt x="2160371" y="1530128"/>
                  </a:cubicBezTo>
                  <a:cubicBezTo>
                    <a:pt x="2160371" y="1530128"/>
                    <a:pt x="1917989" y="1646938"/>
                    <a:pt x="1834836" y="1953123"/>
                  </a:cubicBezTo>
                  <a:cubicBezTo>
                    <a:pt x="1834836" y="1953123"/>
                    <a:pt x="1908258" y="2340720"/>
                    <a:pt x="2337292" y="2643365"/>
                  </a:cubicBezTo>
                  <a:lnTo>
                    <a:pt x="2044487" y="2643365"/>
                  </a:lnTo>
                  <a:lnTo>
                    <a:pt x="1973719" y="2580535"/>
                  </a:lnTo>
                  <a:lnTo>
                    <a:pt x="2002911" y="2543369"/>
                  </a:lnTo>
                  <a:cubicBezTo>
                    <a:pt x="2002911" y="2543369"/>
                    <a:pt x="1695068" y="2144267"/>
                    <a:pt x="1471263" y="2007103"/>
                  </a:cubicBezTo>
                  <a:cubicBezTo>
                    <a:pt x="1471263" y="2007103"/>
                    <a:pt x="1677376" y="1823038"/>
                    <a:pt x="1570339" y="1528358"/>
                  </a:cubicBezTo>
                  <a:cubicBezTo>
                    <a:pt x="1496032" y="1325710"/>
                    <a:pt x="1381918" y="1193856"/>
                    <a:pt x="1231535" y="1065541"/>
                  </a:cubicBezTo>
                  <a:cubicBezTo>
                    <a:pt x="1053729" y="912449"/>
                    <a:pt x="891846" y="837230"/>
                    <a:pt x="891846" y="837230"/>
                  </a:cubicBezTo>
                  <a:cubicBezTo>
                    <a:pt x="891846" y="837230"/>
                    <a:pt x="1483647" y="668209"/>
                    <a:pt x="2105525" y="509808"/>
                  </a:cubicBezTo>
                  <a:cubicBezTo>
                    <a:pt x="2726518" y="351406"/>
                    <a:pt x="2656634" y="7169"/>
                    <a:pt x="2656634" y="7169"/>
                  </a:cubicBezTo>
                  <a:cubicBezTo>
                    <a:pt x="2802594" y="1417"/>
                    <a:pt x="2937331" y="-961"/>
                    <a:pt x="3061742" y="352"/>
                  </a:cubicBezTo>
                  <a:close/>
                </a:path>
              </a:pathLst>
            </a:custGeom>
            <a:solidFill>
              <a:schemeClr val="bg1"/>
            </a:solidFill>
            <a:ln>
              <a:noFill/>
            </a:ln>
            <a:effectLst/>
          </p:spPr>
          <p:txBody>
            <a:bodyPr wrap="square" lIns="85954" tIns="42977" rIns="85954" bIns="42977" anchor="ctr">
              <a:noAutofit/>
            </a:bodyPr>
            <a:lstStyle/>
            <a:p>
              <a:endParaRPr lang="en-US" sz="3070" dirty="0">
                <a:latin typeface="Montserrat" panose="00000500000000000000" pitchFamily="2" charset="0"/>
              </a:endParaRPr>
            </a:p>
          </p:txBody>
        </p:sp>
        <p:sp>
          <p:nvSpPr>
            <p:cNvPr id="590" name="Freeform 7"/>
            <p:cNvSpPr>
              <a:spLocks noChangeArrowheads="1"/>
            </p:cNvSpPr>
            <p:nvPr/>
          </p:nvSpPr>
          <p:spPr bwMode="auto">
            <a:xfrm>
              <a:off x="6252" y="8707"/>
              <a:ext cx="916" cy="914"/>
            </a:xfrm>
            <a:custGeom>
              <a:avLst/>
              <a:gdLst>
                <a:gd name="T0" fmla="*/ 2816 w 2817"/>
                <a:gd name="T1" fmla="*/ 1407 h 2815"/>
                <a:gd name="T2" fmla="*/ 2816 w 2817"/>
                <a:gd name="T3" fmla="*/ 1407 h 2815"/>
                <a:gd name="T4" fmla="*/ 1408 w 2817"/>
                <a:gd name="T5" fmla="*/ 2814 h 2815"/>
                <a:gd name="T6" fmla="*/ 1408 w 2817"/>
                <a:gd name="T7" fmla="*/ 2814 h 2815"/>
                <a:gd name="T8" fmla="*/ 0 w 2817"/>
                <a:gd name="T9" fmla="*/ 1407 h 2815"/>
                <a:gd name="T10" fmla="*/ 0 w 2817"/>
                <a:gd name="T11" fmla="*/ 1407 h 2815"/>
                <a:gd name="T12" fmla="*/ 1408 w 2817"/>
                <a:gd name="T13" fmla="*/ 0 h 2815"/>
                <a:gd name="T14" fmla="*/ 1408 w 2817"/>
                <a:gd name="T15" fmla="*/ 0 h 2815"/>
                <a:gd name="T16" fmla="*/ 2816 w 2817"/>
                <a:gd name="T17" fmla="*/ 1407 h 2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17" h="2815">
                  <a:moveTo>
                    <a:pt x="2816" y="1407"/>
                  </a:moveTo>
                  <a:lnTo>
                    <a:pt x="2816" y="1407"/>
                  </a:lnTo>
                  <a:cubicBezTo>
                    <a:pt x="2816" y="2185"/>
                    <a:pt x="2186" y="2814"/>
                    <a:pt x="1408" y="2814"/>
                  </a:cubicBezTo>
                  <a:lnTo>
                    <a:pt x="1408" y="2814"/>
                  </a:lnTo>
                  <a:cubicBezTo>
                    <a:pt x="630" y="2814"/>
                    <a:pt x="0" y="2185"/>
                    <a:pt x="0" y="1407"/>
                  </a:cubicBezTo>
                  <a:lnTo>
                    <a:pt x="0" y="1407"/>
                  </a:lnTo>
                  <a:cubicBezTo>
                    <a:pt x="0" y="629"/>
                    <a:pt x="630" y="0"/>
                    <a:pt x="1408" y="0"/>
                  </a:cubicBezTo>
                  <a:lnTo>
                    <a:pt x="1408" y="0"/>
                  </a:lnTo>
                  <a:cubicBezTo>
                    <a:pt x="2186" y="0"/>
                    <a:pt x="2816" y="629"/>
                    <a:pt x="2816" y="1407"/>
                  </a:cubicBezTo>
                </a:path>
              </a:pathLst>
            </a:custGeom>
            <a:solidFill>
              <a:schemeClr val="bg1"/>
            </a:solidFill>
            <a:ln>
              <a:noFill/>
            </a:ln>
            <a:effectLst/>
          </p:spPr>
          <p:txBody>
            <a:bodyPr wrap="none" lIns="85954" tIns="42977" rIns="85954" bIns="42977" anchor="ctr"/>
            <a:lstStyle/>
            <a:p>
              <a:endParaRPr lang="en-US" sz="3070" dirty="0">
                <a:latin typeface="Montserrat" panose="00000500000000000000" pitchFamily="2" charset="0"/>
              </a:endParaRPr>
            </a:p>
          </p:txBody>
        </p:sp>
        <p:sp>
          <p:nvSpPr>
            <p:cNvPr id="608" name="Freeform: Shape 23"/>
            <p:cNvSpPr>
              <a:spLocks noChangeArrowheads="1"/>
            </p:cNvSpPr>
            <p:nvPr/>
          </p:nvSpPr>
          <p:spPr bwMode="auto">
            <a:xfrm rot="10800000">
              <a:off x="6465" y="8930"/>
              <a:ext cx="487" cy="488"/>
            </a:xfrm>
            <a:custGeom>
              <a:avLst/>
              <a:gdLst>
                <a:gd name="connsiteX0" fmla="*/ 0 w 1309660"/>
                <a:gd name="connsiteY0" fmla="*/ 436847 h 1313555"/>
                <a:gd name="connsiteX1" fmla="*/ 202794 w 1309660"/>
                <a:gd name="connsiteY1" fmla="*/ 640527 h 1313555"/>
                <a:gd name="connsiteX2" fmla="*/ 390534 w 1309660"/>
                <a:gd name="connsiteY2" fmla="*/ 452787 h 1313555"/>
                <a:gd name="connsiteX3" fmla="*/ 554363 w 1309660"/>
                <a:gd name="connsiteY3" fmla="*/ 758307 h 1313555"/>
                <a:gd name="connsiteX4" fmla="*/ 860768 w 1309660"/>
                <a:gd name="connsiteY4" fmla="*/ 923907 h 1313555"/>
                <a:gd name="connsiteX5" fmla="*/ 673029 w 1309660"/>
                <a:gd name="connsiteY5" fmla="*/ 1110761 h 1313555"/>
                <a:gd name="connsiteX6" fmla="*/ 876708 w 1309660"/>
                <a:gd name="connsiteY6" fmla="*/ 1313555 h 1313555"/>
                <a:gd name="connsiteX7" fmla="*/ 45164 w 1309660"/>
                <a:gd name="connsiteY7" fmla="*/ 1268392 h 1313555"/>
                <a:gd name="connsiteX8" fmla="*/ 621740 w 1309660"/>
                <a:gd name="connsiteY8" fmla="*/ 218423 h 1313555"/>
                <a:gd name="connsiteX9" fmla="*/ 785312 w 1309660"/>
                <a:gd name="connsiteY9" fmla="*/ 524346 h 1313555"/>
                <a:gd name="connsiteX10" fmla="*/ 1091235 w 1309660"/>
                <a:gd name="connsiteY10" fmla="*/ 687918 h 1313555"/>
                <a:gd name="connsiteX11" fmla="*/ 945347 w 1309660"/>
                <a:gd name="connsiteY11" fmla="*/ 833806 h 1313555"/>
                <a:gd name="connsiteX12" fmla="*/ 640308 w 1309660"/>
                <a:gd name="connsiteY12" fmla="*/ 670234 h 1313555"/>
                <a:gd name="connsiteX13" fmla="*/ 475852 w 1309660"/>
                <a:gd name="connsiteY13" fmla="*/ 364311 h 1313555"/>
                <a:gd name="connsiteX14" fmla="*/ 840838 w 1309660"/>
                <a:gd name="connsiteY14" fmla="*/ 0 h 1313555"/>
                <a:gd name="connsiteX15" fmla="*/ 1004175 w 1309660"/>
                <a:gd name="connsiteY15" fmla="*/ 305485 h 1313555"/>
                <a:gd name="connsiteX16" fmla="*/ 1309660 w 1309660"/>
                <a:gd name="connsiteY16" fmla="*/ 468822 h 1313555"/>
                <a:gd name="connsiteX17" fmla="*/ 1163981 w 1309660"/>
                <a:gd name="connsiteY17" fmla="*/ 615384 h 1313555"/>
                <a:gd name="connsiteX18" fmla="*/ 858496 w 1309660"/>
                <a:gd name="connsiteY18" fmla="*/ 451164 h 1313555"/>
                <a:gd name="connsiteX19" fmla="*/ 694276 w 1309660"/>
                <a:gd name="connsiteY19" fmla="*/ 145679 h 1313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09660" h="1313555">
                  <a:moveTo>
                    <a:pt x="0" y="436847"/>
                  </a:moveTo>
                  <a:lnTo>
                    <a:pt x="202794" y="640527"/>
                  </a:lnTo>
                  <a:lnTo>
                    <a:pt x="390534" y="452787"/>
                  </a:lnTo>
                  <a:lnTo>
                    <a:pt x="554363" y="758307"/>
                  </a:lnTo>
                  <a:lnTo>
                    <a:pt x="860768" y="923907"/>
                  </a:lnTo>
                  <a:lnTo>
                    <a:pt x="673029" y="1110761"/>
                  </a:lnTo>
                  <a:lnTo>
                    <a:pt x="876708" y="1313555"/>
                  </a:lnTo>
                  <a:lnTo>
                    <a:pt x="45164" y="1268392"/>
                  </a:lnTo>
                  <a:close/>
                  <a:moveTo>
                    <a:pt x="621740" y="218423"/>
                  </a:moveTo>
                  <a:lnTo>
                    <a:pt x="785312" y="524346"/>
                  </a:lnTo>
                  <a:lnTo>
                    <a:pt x="1091235" y="687918"/>
                  </a:lnTo>
                  <a:lnTo>
                    <a:pt x="945347" y="833806"/>
                  </a:lnTo>
                  <a:lnTo>
                    <a:pt x="640308" y="670234"/>
                  </a:lnTo>
                  <a:lnTo>
                    <a:pt x="475852" y="364311"/>
                  </a:lnTo>
                  <a:close/>
                  <a:moveTo>
                    <a:pt x="840838" y="0"/>
                  </a:moveTo>
                  <a:lnTo>
                    <a:pt x="1004175" y="305485"/>
                  </a:lnTo>
                  <a:lnTo>
                    <a:pt x="1309660" y="468822"/>
                  </a:lnTo>
                  <a:lnTo>
                    <a:pt x="1163981" y="615384"/>
                  </a:lnTo>
                  <a:lnTo>
                    <a:pt x="858496" y="451164"/>
                  </a:lnTo>
                  <a:lnTo>
                    <a:pt x="694276" y="145679"/>
                  </a:lnTo>
                  <a:close/>
                </a:path>
              </a:pathLst>
            </a:custGeom>
            <a:solidFill>
              <a:schemeClr val="accent1"/>
            </a:solidFill>
            <a:ln>
              <a:noFill/>
            </a:ln>
            <a:effectLst/>
          </p:spPr>
          <p:txBody>
            <a:bodyPr wrap="square" lIns="85954" tIns="42977" rIns="85954" bIns="42977" anchor="ctr">
              <a:noAutofit/>
            </a:bodyPr>
            <a:lstStyle/>
            <a:p>
              <a:endParaRPr lang="en-US" sz="3070" dirty="0">
                <a:latin typeface="Montserrat" panose="00000500000000000000" pitchFamily="2" charset="0"/>
              </a:endParaRPr>
            </a:p>
          </p:txBody>
        </p:sp>
        <p:sp>
          <p:nvSpPr>
            <p:cNvPr id="609" name="TextBox 30"/>
            <p:cNvSpPr txBox="1"/>
            <p:nvPr/>
          </p:nvSpPr>
          <p:spPr>
            <a:xfrm>
              <a:off x="666" y="8647"/>
              <a:ext cx="3597" cy="1006"/>
            </a:xfrm>
            <a:prstGeom prst="rect">
              <a:avLst/>
            </a:prstGeom>
            <a:noFill/>
            <a:effectLst/>
          </p:spPr>
          <p:txBody>
            <a:bodyPr wrap="square" lIns="85954" tIns="42977" rIns="85954" bIns="42977" rtlCol="0" anchor="ctr">
              <a:spAutoFit/>
            </a:bodyPr>
            <a:lstStyle/>
            <a:p>
              <a:pPr algn="r"/>
              <a:r>
                <a:rPr lang="zh-CN" altLang="en-US" sz="3600" spc="-15" dirty="0">
                  <a:solidFill>
                    <a:schemeClr val="bg1"/>
                  </a:solidFill>
                  <a:latin typeface="HarmonyOS Sans SC Black" panose="00000A00000000000000" pitchFamily="2" charset="-122"/>
                  <a:ea typeface="HarmonyOS Sans SC Black" panose="00000A00000000000000" pitchFamily="2" charset="-122"/>
                  <a:cs typeface="Poppins" pitchFamily="2" charset="77"/>
                </a:rPr>
                <a:t>行业发展趋势</a:t>
              </a:r>
              <a:endParaRPr lang="zh-CN" altLang="en-US" sz="3600" spc="-15" dirty="0">
                <a:solidFill>
                  <a:schemeClr val="bg1"/>
                </a:solidFill>
                <a:latin typeface="HarmonyOS Sans SC Black" panose="00000A00000000000000" pitchFamily="2" charset="-122"/>
                <a:ea typeface="HarmonyOS Sans SC Black" panose="00000A00000000000000" pitchFamily="2" charset="-122"/>
                <a:cs typeface="Poppins" pitchFamily="2" charset="77"/>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小李PPT1"/>
          <p:cNvSpPr/>
          <p:nvPr>
            <p:custDataLst>
              <p:tags r:id="rId1"/>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2"/>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3"/>
            </p:custDataLst>
          </p:nvPr>
        </p:nvSpPr>
        <p:spPr>
          <a:xfrm>
            <a:off x="4000500" y="-914400"/>
            <a:ext cx="635000" cy="635000"/>
          </a:xfrm>
          <a:prstGeom prst="rect">
            <a:avLst/>
          </a:prstGeom>
          <a:solidFill>
            <a:schemeClr val="dk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4"/>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5"/>
            </p:custDataLst>
          </p:nvPr>
        </p:nvSpPr>
        <p:spPr>
          <a:xfrm>
            <a:off x="5778500" y="-914400"/>
            <a:ext cx="635000" cy="6350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6"/>
            </p:custDataLst>
          </p:nvPr>
        </p:nvSpPr>
        <p:spPr>
          <a:xfrm>
            <a:off x="6540500" y="-914400"/>
            <a:ext cx="635000" cy="635000"/>
          </a:xfrm>
          <a:prstGeom prst="rect">
            <a:avLst/>
          </a:prstGeom>
          <a:solidFill>
            <a:schemeClr val="accen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7"/>
            </p:custDataLst>
          </p:nvPr>
        </p:nvSpPr>
        <p:spPr>
          <a:xfrm>
            <a:off x="7302500" y="-914400"/>
            <a:ext cx="635000" cy="635000"/>
          </a:xfrm>
          <a:prstGeom prst="rect">
            <a:avLst/>
          </a:prstGeom>
          <a:solidFill>
            <a:schemeClr val="accent3"/>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8"/>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9"/>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0"/>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grpSp>
        <p:nvGrpSpPr>
          <p:cNvPr id="2" name="小李PPT11"/>
          <p:cNvGrpSpPr/>
          <p:nvPr/>
        </p:nvGrpSpPr>
        <p:grpSpPr>
          <a:xfrm>
            <a:off x="279357" y="304810"/>
            <a:ext cx="11671385" cy="4737081"/>
            <a:chOff x="279357" y="304810"/>
            <a:chExt cx="11671385" cy="4737081"/>
          </a:xfrm>
          <a:solidFill>
            <a:srgbClr val="1D4223">
              <a:alpha val="2000"/>
            </a:srgbClr>
          </a:solidFill>
        </p:grpSpPr>
        <p:grpSp>
          <p:nvGrpSpPr>
            <p:cNvPr id="3" name="组合 2"/>
            <p:cNvGrpSpPr/>
            <p:nvPr/>
          </p:nvGrpSpPr>
          <p:grpSpPr>
            <a:xfrm>
              <a:off x="279357" y="304810"/>
              <a:ext cx="11671385" cy="609581"/>
              <a:chOff x="279357" y="304810"/>
              <a:chExt cx="11671385" cy="609581"/>
            </a:xfrm>
            <a:grpFill/>
          </p:grpSpPr>
          <p:sp>
            <p:nvSpPr>
              <p:cNvPr id="301" name="小李PPT11-1"/>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2" name="小李PPT11-2"/>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3" name="小李PPT11-3"/>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4" name="小李PPT11-4"/>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5" name="小李PPT11-5"/>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6" name="小李PPT11-6"/>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7" name="小李PPT11-7"/>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8" name="小李PPT11-8"/>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9" name="小李PPT11-9"/>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0" name="小李PPT11-10"/>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1" name="小李PPT11-11"/>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2" name="小李PPT11-12"/>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3" name="小李PPT11-13"/>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4" name="小李PPT11-14"/>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4" name="组合 3"/>
            <p:cNvGrpSpPr/>
            <p:nvPr/>
          </p:nvGrpSpPr>
          <p:grpSpPr>
            <a:xfrm>
              <a:off x="279357" y="1130310"/>
              <a:ext cx="11671385" cy="609581"/>
              <a:chOff x="279357" y="304810"/>
              <a:chExt cx="11671385" cy="609581"/>
            </a:xfrm>
            <a:grpFill/>
          </p:grpSpPr>
          <p:sp>
            <p:nvSpPr>
              <p:cNvPr id="287" name="小李PPT11-15"/>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8" name="小李PPT11-16"/>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9" name="小李PPT11-17"/>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0" name="小李PPT11-18"/>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1" name="小李PPT11-19"/>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2" name="小李PPT11-20"/>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3" name="小李PPT11-21"/>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4" name="小李PPT11-22"/>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5" name="小李PPT11-23"/>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6" name="小李PPT11-24"/>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7" name="小李PPT11-25"/>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8" name="小李PPT11-26"/>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9" name="小李PPT11-27"/>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0" name="小李PPT11-28"/>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6" name="组合 5"/>
            <p:cNvGrpSpPr/>
            <p:nvPr/>
          </p:nvGrpSpPr>
          <p:grpSpPr>
            <a:xfrm>
              <a:off x="279357" y="1955810"/>
              <a:ext cx="11671385" cy="609581"/>
              <a:chOff x="279357" y="304810"/>
              <a:chExt cx="11671385" cy="609581"/>
            </a:xfrm>
            <a:grpFill/>
          </p:grpSpPr>
          <p:sp>
            <p:nvSpPr>
              <p:cNvPr id="263" name="小李PPT11-29"/>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4" name="小李PPT11-30"/>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5" name="小李PPT11-31"/>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6" name="小李PPT11-32"/>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7" name="小李PPT11-33"/>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8" name="小李PPT11-34"/>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9" name="小李PPT11-35"/>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0" name="小李PPT11-36"/>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1" name="小李PPT11-37"/>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2" name="小李PPT11-38"/>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3" name="小李PPT11-39"/>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4" name="小李PPT11-40"/>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5" name="小李PPT11-41"/>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6" name="小李PPT11-42"/>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7" name="组合 6"/>
            <p:cNvGrpSpPr/>
            <p:nvPr/>
          </p:nvGrpSpPr>
          <p:grpSpPr>
            <a:xfrm>
              <a:off x="279357" y="2781310"/>
              <a:ext cx="11671385" cy="609581"/>
              <a:chOff x="279357" y="304810"/>
              <a:chExt cx="11671385" cy="609581"/>
            </a:xfrm>
            <a:grpFill/>
          </p:grpSpPr>
          <p:sp>
            <p:nvSpPr>
              <p:cNvPr id="57" name="小李PPT11-43"/>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8" name="小李PPT11-44"/>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9" name="小李PPT11-45"/>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0" name="小李PPT11-46"/>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1" name="小李PPT11-47"/>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2" name="小李PPT11-48"/>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3" name="小李PPT11-49"/>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6" name="小李PPT11-50"/>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7" name="小李PPT11-51"/>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8" name="小李PPT11-52"/>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9" name="小李PPT11-53"/>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0" name="小李PPT11-54"/>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1" name="小李PPT11-55"/>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2" name="小李PPT11-56"/>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10" name="组合 9"/>
            <p:cNvGrpSpPr/>
            <p:nvPr/>
          </p:nvGrpSpPr>
          <p:grpSpPr>
            <a:xfrm>
              <a:off x="279357" y="3606810"/>
              <a:ext cx="11671385" cy="609581"/>
              <a:chOff x="279357" y="304810"/>
              <a:chExt cx="11671385" cy="609581"/>
            </a:xfrm>
            <a:grpFill/>
          </p:grpSpPr>
          <p:sp>
            <p:nvSpPr>
              <p:cNvPr id="43" name="小李PPT11-57"/>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4" name="小李PPT11-58"/>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5" name="小李PPT11-59"/>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6" name="小李PPT11-60"/>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7" name="小李PPT11-61"/>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8" name="小李PPT11-62"/>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9" name="小李PPT11-63"/>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0" name="小李PPT11-64"/>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1" name="小李PPT11-65"/>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2" name="小李PPT11-66"/>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3" name="小李PPT11-67"/>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4" name="小李PPT11-68"/>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5" name="小李PPT11-69"/>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6" name="小李PPT11-70"/>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11" name="组合 10"/>
            <p:cNvGrpSpPr/>
            <p:nvPr/>
          </p:nvGrpSpPr>
          <p:grpSpPr>
            <a:xfrm>
              <a:off x="279357" y="4432310"/>
              <a:ext cx="11671385" cy="609581"/>
              <a:chOff x="279357" y="304810"/>
              <a:chExt cx="11671385" cy="609581"/>
            </a:xfrm>
            <a:grpFill/>
          </p:grpSpPr>
          <p:sp>
            <p:nvSpPr>
              <p:cNvPr id="14" name="小李PPT11-71"/>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19" name="小李PPT11-72"/>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0" name="小李PPT11-73"/>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1" name="小李PPT11-74"/>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4" name="小李PPT11-75"/>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4" name="小李PPT11-76"/>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5" name="小李PPT11-77"/>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6" name="小李PPT11-78"/>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7" name="小李PPT11-79"/>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8" name="小李PPT11-80"/>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9" name="小李PPT11-81"/>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0" name="小李PPT11-82"/>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1" name="小李PPT11-83"/>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2" name="小李PPT11-84"/>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sp>
        <p:nvSpPr>
          <p:cNvPr id="315" name="小李PPT12"/>
          <p:cNvSpPr/>
          <p:nvPr/>
        </p:nvSpPr>
        <p:spPr>
          <a:xfrm>
            <a:off x="0" y="4711700"/>
            <a:ext cx="12192000" cy="21463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FFFFFF"/>
              </a:solidFill>
              <a:latin typeface="Montserrat"/>
              <a:ea typeface="思源黑体 CN Normal"/>
            </a:endParaRPr>
          </a:p>
        </p:txBody>
      </p:sp>
      <p:sp>
        <p:nvSpPr>
          <p:cNvPr id="316" name="小李PPT13"/>
          <p:cNvSpPr txBox="1"/>
          <p:nvPr/>
        </p:nvSpPr>
        <p:spPr>
          <a:xfrm>
            <a:off x="0" y="-1477010"/>
            <a:ext cx="11188700" cy="9247505"/>
          </a:xfrm>
          <a:prstGeom prst="rect">
            <a:avLst/>
          </a:prstGeom>
          <a:noFill/>
        </p:spPr>
        <p:txBody>
          <a:bodyPr wrap="square" rtlCol="0">
            <a:spAutoFit/>
          </a:bodyPr>
          <a:lstStyle/>
          <a:p>
            <a:pPr algn="l">
              <a:defRPr/>
            </a:pPr>
            <a:r>
              <a:rPr lang="en-US" altLang="zh-CN" sz="59500" b="1" dirty="0">
                <a:ln>
                  <a:solidFill>
                    <a:schemeClr val="accent2">
                      <a:alpha val="50000"/>
                    </a:schemeClr>
                  </a:solidFill>
                  <a:prstDash val="dash"/>
                </a:ln>
                <a:solidFill>
                  <a:schemeClr val="bg1"/>
                </a:solidFill>
                <a:effectLst>
                  <a:outerShdw blurRad="101600" dist="38100" dir="5400000" algn="t" rotWithShape="0">
                    <a:srgbClr val="1D4223">
                      <a:alpha val="40000"/>
                    </a:srgbClr>
                  </a:outerShdw>
                </a:effectLst>
                <a:latin typeface="Bahnschrift SemiBold" panose="020B0502040204020203"/>
                <a:ea typeface="微软雅黑 Light" panose="020B0502040204020203" charset="-122"/>
              </a:rPr>
              <a:t>2</a:t>
            </a:r>
            <a:endParaRPr lang="zh-CN" altLang="en-US" sz="59500" b="1" dirty="0">
              <a:ln>
                <a:solidFill>
                  <a:schemeClr val="accent2">
                    <a:alpha val="50000"/>
                  </a:schemeClr>
                </a:solidFill>
                <a:prstDash val="dash"/>
              </a:ln>
              <a:solidFill>
                <a:schemeClr val="bg1"/>
              </a:solidFill>
              <a:effectLst>
                <a:outerShdw blurRad="101600" dist="38100" dir="5400000" algn="t" rotWithShape="0">
                  <a:srgbClr val="1D4223">
                    <a:alpha val="40000"/>
                  </a:srgbClr>
                </a:outerShdw>
              </a:effectLst>
              <a:latin typeface="Bahnschrift SemiBold" panose="020B0502040204020203"/>
              <a:ea typeface="微软雅黑 Light" panose="020B0502040204020203" charset="-122"/>
            </a:endParaRPr>
          </a:p>
        </p:txBody>
      </p:sp>
      <p:sp>
        <p:nvSpPr>
          <p:cNvPr id="317" name="小李PPT14"/>
          <p:cNvSpPr txBox="1"/>
          <p:nvPr/>
        </p:nvSpPr>
        <p:spPr>
          <a:xfrm>
            <a:off x="1066800" y="4953000"/>
            <a:ext cx="5791200" cy="1569660"/>
          </a:xfrm>
          <a:prstGeom prst="rect">
            <a:avLst/>
          </a:prstGeom>
          <a:noFill/>
        </p:spPr>
        <p:txBody>
          <a:bodyPr wrap="square" rtlCol="0">
            <a:spAutoFit/>
          </a:bodyPr>
          <a:lstStyle/>
          <a:p>
            <a:pPr>
              <a:defRPr/>
            </a:pPr>
            <a:r>
              <a:rPr lang="en-US" altLang="zh-CN" sz="9600" b="1" dirty="0">
                <a:gradFill>
                  <a:gsLst>
                    <a:gs pos="0">
                      <a:prstClr val="white">
                        <a:alpha val="43000"/>
                      </a:prstClr>
                    </a:gs>
                    <a:gs pos="98000">
                      <a:prstClr val="white">
                        <a:alpha val="21000"/>
                      </a:prstClr>
                    </a:gs>
                  </a:gsLst>
                  <a:lin ang="0" scaled="0"/>
                </a:gradFill>
                <a:latin typeface="Bahnschrift SemiBold" panose="020B0502040204020203"/>
                <a:ea typeface="微软雅黑 Light" panose="020B0502040204020203" charset="-122"/>
              </a:rPr>
              <a:t>CHAPTER</a:t>
            </a:r>
            <a:endParaRPr lang="zh-CN" altLang="en-US" sz="9600" b="1" dirty="0">
              <a:gradFill>
                <a:gsLst>
                  <a:gs pos="0">
                    <a:prstClr val="white">
                      <a:alpha val="43000"/>
                    </a:prstClr>
                  </a:gs>
                  <a:gs pos="98000">
                    <a:prstClr val="white">
                      <a:alpha val="21000"/>
                    </a:prstClr>
                  </a:gs>
                </a:gsLst>
                <a:lin ang="0" scaled="0"/>
              </a:gradFill>
              <a:latin typeface="Bahnschrift SemiBold" panose="020B0502040204020203"/>
              <a:ea typeface="微软雅黑 Light" panose="020B0502040204020203" charset="-122"/>
            </a:endParaRPr>
          </a:p>
        </p:txBody>
      </p:sp>
      <p:sp>
        <p:nvSpPr>
          <p:cNvPr id="318" name="小李PPT15"/>
          <p:cNvSpPr/>
          <p:nvPr/>
        </p:nvSpPr>
        <p:spPr>
          <a:xfrm>
            <a:off x="5143500" y="1337945"/>
            <a:ext cx="1498600" cy="546100"/>
          </a:xfrm>
          <a:prstGeom prst="round2DiagRect">
            <a:avLst/>
          </a:prstGeom>
          <a:solidFill>
            <a:schemeClr val="accent2"/>
          </a:solidFill>
          <a:ln w="25400" cap="flat" cmpd="sng" algn="ctr">
            <a:noFill/>
            <a:prstDash val="solid"/>
          </a:ln>
          <a:effectLst/>
        </p:spPr>
        <p:txBody>
          <a:bodyPr rtlCol="0" anchor="ct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第二</a:t>
            </a:r>
            <a:r>
              <a:rPr kumimoji="0" lang="zh-CN" altLang="en-US" sz="2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节</a:t>
            </a:r>
            <a:endParaRPr kumimoji="0" lang="zh-CN" altLang="en-US" sz="2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19" name="小李PPT16"/>
          <p:cNvSpPr txBox="1"/>
          <p:nvPr/>
        </p:nvSpPr>
        <p:spPr>
          <a:xfrm>
            <a:off x="5346700" y="3536315"/>
            <a:ext cx="3417570" cy="306705"/>
          </a:xfrm>
          <a:prstGeom prst="rect">
            <a:avLst/>
          </a:prstGeom>
          <a:noFill/>
        </p:spPr>
        <p:txBody>
          <a:bodyPr wrap="square" rtlCol="0">
            <a:spAutoFit/>
          </a:bodyPr>
          <a:lstStyle/>
          <a:p>
            <a:pPr algn="l" defTabSz="913765">
              <a:defRPr/>
            </a:pPr>
            <a:r>
              <a:rPr lang="zh-CN" altLang="en-US" sz="1400" dirty="0">
                <a:solidFill>
                  <a:prstClr val="black">
                    <a:lumMod val="75000"/>
                    <a:lumOff val="25000"/>
                  </a:prstClr>
                </a:solidFill>
                <a:latin typeface="微软雅黑 Light" panose="020B0502040204020203" charset="-122"/>
                <a:ea typeface="微软雅黑 Light" panose="020B0502040204020203" charset="-122"/>
              </a:rPr>
              <a:t>（三）项目</a:t>
            </a:r>
            <a:r>
              <a:rPr lang="zh-CN" altLang="en-US" sz="1400" dirty="0">
                <a:solidFill>
                  <a:prstClr val="black">
                    <a:lumMod val="75000"/>
                    <a:lumOff val="25000"/>
                  </a:prstClr>
                </a:solidFill>
                <a:latin typeface="微软雅黑 Light" panose="020B0502040204020203" charset="-122"/>
                <a:ea typeface="微软雅黑 Light" panose="020B0502040204020203" charset="-122"/>
              </a:rPr>
              <a:t>总投资</a:t>
            </a:r>
            <a:endParaRPr lang="zh-CN" altLang="en-US" sz="1400" dirty="0">
              <a:solidFill>
                <a:prstClr val="black">
                  <a:lumMod val="75000"/>
                  <a:lumOff val="25000"/>
                </a:prstClr>
              </a:solidFill>
              <a:latin typeface="微软雅黑 Light" panose="020B0502040204020203" charset="-122"/>
              <a:ea typeface="微软雅黑 Light" panose="020B0502040204020203" charset="-122"/>
            </a:endParaRPr>
          </a:p>
        </p:txBody>
      </p:sp>
      <p:sp>
        <p:nvSpPr>
          <p:cNvPr id="321" name="小李PPT18"/>
          <p:cNvSpPr txBox="1"/>
          <p:nvPr/>
        </p:nvSpPr>
        <p:spPr>
          <a:xfrm>
            <a:off x="5346700" y="3117215"/>
            <a:ext cx="3417570" cy="306705"/>
          </a:xfrm>
          <a:prstGeom prst="rect">
            <a:avLst/>
          </a:prstGeom>
          <a:noFill/>
        </p:spPr>
        <p:txBody>
          <a:bodyPr wrap="square" rtlCol="0">
            <a:spAutoFit/>
          </a:bodyPr>
          <a:lstStyle/>
          <a:p>
            <a:pPr algn="l" defTabSz="913765">
              <a:defRPr/>
            </a:pPr>
            <a:r>
              <a:rPr lang="zh-CN" altLang="en-US" sz="1400" dirty="0">
                <a:solidFill>
                  <a:prstClr val="black">
                    <a:lumMod val="75000"/>
                    <a:lumOff val="25000"/>
                  </a:prstClr>
                </a:solidFill>
                <a:latin typeface="微软雅黑 Light" panose="020B0502040204020203" charset="-122"/>
                <a:ea typeface="微软雅黑 Light" panose="020B0502040204020203" charset="-122"/>
              </a:rPr>
              <a:t>（</a:t>
            </a:r>
            <a:r>
              <a:rPr lang="zh-CN" altLang="en-US" sz="1400" dirty="0">
                <a:solidFill>
                  <a:prstClr val="black">
                    <a:lumMod val="75000"/>
                    <a:lumOff val="25000"/>
                  </a:prstClr>
                </a:solidFill>
                <a:latin typeface="微软雅黑 Light" panose="020B0502040204020203" charset="-122"/>
                <a:ea typeface="微软雅黑 Light" panose="020B0502040204020203" charset="-122"/>
              </a:rPr>
              <a:t>一）建设投资估算</a:t>
            </a:r>
            <a:endParaRPr lang="zh-CN" altLang="en-US" sz="1400" dirty="0">
              <a:solidFill>
                <a:prstClr val="black">
                  <a:lumMod val="75000"/>
                  <a:lumOff val="25000"/>
                </a:prstClr>
              </a:solidFill>
              <a:latin typeface="微软雅黑 Light" panose="020B0502040204020203" charset="-122"/>
              <a:ea typeface="微软雅黑 Light" panose="020B0502040204020203" charset="-122"/>
            </a:endParaRPr>
          </a:p>
        </p:txBody>
      </p:sp>
      <p:sp>
        <p:nvSpPr>
          <p:cNvPr id="322" name="小李PPT19"/>
          <p:cNvSpPr txBox="1"/>
          <p:nvPr/>
        </p:nvSpPr>
        <p:spPr>
          <a:xfrm>
            <a:off x="7581265" y="3117215"/>
            <a:ext cx="3562350" cy="306705"/>
          </a:xfrm>
          <a:prstGeom prst="rect">
            <a:avLst/>
          </a:prstGeom>
          <a:noFill/>
        </p:spPr>
        <p:txBody>
          <a:bodyPr wrap="square" rtlCol="0">
            <a:spAutoFit/>
          </a:bodyPr>
          <a:lstStyle/>
          <a:p>
            <a:pPr algn="l" defTabSz="913765">
              <a:defRPr/>
            </a:pPr>
            <a:r>
              <a:rPr lang="zh-CN" altLang="en-US" sz="1400" dirty="0">
                <a:solidFill>
                  <a:prstClr val="black">
                    <a:lumMod val="75000"/>
                    <a:lumOff val="25000"/>
                  </a:prstClr>
                </a:solidFill>
                <a:latin typeface="微软雅黑 Light" panose="020B0502040204020203" charset="-122"/>
                <a:ea typeface="微软雅黑 Light" panose="020B0502040204020203" charset="-122"/>
              </a:rPr>
              <a:t>（二）流动资金</a:t>
            </a:r>
            <a:r>
              <a:rPr lang="zh-CN" altLang="en-US" sz="1400" dirty="0">
                <a:solidFill>
                  <a:prstClr val="black">
                    <a:lumMod val="75000"/>
                    <a:lumOff val="25000"/>
                  </a:prstClr>
                </a:solidFill>
                <a:latin typeface="微软雅黑 Light" panose="020B0502040204020203" charset="-122"/>
                <a:ea typeface="微软雅黑 Light" panose="020B0502040204020203" charset="-122"/>
              </a:rPr>
              <a:t>估算</a:t>
            </a:r>
            <a:endParaRPr lang="zh-CN" altLang="en-US" sz="1400" dirty="0">
              <a:solidFill>
                <a:prstClr val="black">
                  <a:lumMod val="75000"/>
                  <a:lumOff val="25000"/>
                </a:prstClr>
              </a:solidFill>
              <a:latin typeface="微软雅黑 Light" panose="020B0502040204020203" charset="-122"/>
              <a:ea typeface="微软雅黑 Light" panose="020B0502040204020203" charset="-122"/>
            </a:endParaRPr>
          </a:p>
        </p:txBody>
      </p:sp>
      <p:sp>
        <p:nvSpPr>
          <p:cNvPr id="323" name="小李PPT20"/>
          <p:cNvSpPr txBox="1"/>
          <p:nvPr/>
        </p:nvSpPr>
        <p:spPr>
          <a:xfrm>
            <a:off x="5105400" y="1921510"/>
            <a:ext cx="5385435" cy="768350"/>
          </a:xfrm>
          <a:prstGeom prst="rect">
            <a:avLst/>
          </a:prstGeom>
          <a:noFill/>
        </p:spPr>
        <p:txBody>
          <a:bodyPr wrap="square" rtlCol="0">
            <a:spAutoFit/>
          </a:bodyPr>
          <a:lstStyle/>
          <a:p>
            <a:pPr algn="l" defTabSz="913765">
              <a:defRPr/>
            </a:pPr>
            <a:r>
              <a:rPr lang="zh-CN" altLang="en-US" sz="4400" b="1" dirty="0">
                <a:solidFill>
                  <a:schemeClr val="accent1"/>
                </a:solidFill>
                <a:latin typeface="Arial Black" panose="020B0A04020102020204"/>
                <a:ea typeface="微软雅黑" panose="020B0503020204020204" charset="-122"/>
              </a:rPr>
              <a:t>投资估算与资金筹措</a:t>
            </a:r>
            <a:endParaRPr lang="zh-CN" altLang="en-US" sz="4400" b="1" dirty="0">
              <a:solidFill>
                <a:schemeClr val="accent1"/>
              </a:solidFill>
              <a:latin typeface="Arial Black" panose="020B0A04020102020204"/>
              <a:ea typeface="微软雅黑" panose="020B0503020204020204" charset="-122"/>
            </a:endParaRPr>
          </a:p>
        </p:txBody>
      </p:sp>
      <p:cxnSp>
        <p:nvCxnSpPr>
          <p:cNvPr id="324" name="小李PPT21"/>
          <p:cNvCxnSpPr/>
          <p:nvPr/>
        </p:nvCxnSpPr>
        <p:spPr>
          <a:xfrm>
            <a:off x="5143500" y="2798445"/>
            <a:ext cx="4826000" cy="0"/>
          </a:xfrm>
          <a:prstGeom prst="line">
            <a:avLst/>
          </a:prstGeom>
          <a:noFill/>
          <a:ln w="19050" cap="flat" cmpd="sng" algn="ctr">
            <a:solidFill>
              <a:schemeClr val="accent6"/>
            </a:solidFill>
            <a:prstDash val="solid"/>
          </a:ln>
          <a:effectLst/>
        </p:spPr>
      </p:cxnSp>
      <p:sp>
        <p:nvSpPr>
          <p:cNvPr id="325" name="小李PPT22"/>
          <p:cNvSpPr/>
          <p:nvPr/>
        </p:nvSpPr>
        <p:spPr>
          <a:xfrm rot="5400000">
            <a:off x="5213350" y="3217545"/>
            <a:ext cx="118110" cy="101600"/>
          </a:xfrm>
          <a:prstGeom prst="triangle">
            <a:avLst/>
          </a:prstGeom>
          <a:solidFill>
            <a:schemeClr val="accent6"/>
          </a:solidFill>
          <a:ln w="25400" cap="flat" cmpd="sng" algn="ctr">
            <a:noFill/>
            <a:prstDash val="solid"/>
          </a:ln>
          <a:effectLst/>
        </p:spPr>
        <p:txBody>
          <a:bodyPr rtlCol="0" anchor="ctr"/>
          <a:lstStyle/>
          <a:p>
            <a:pPr marL="0" marR="0" lvl="0" indent="0" algn="l"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26" name="小李PPT23"/>
          <p:cNvSpPr/>
          <p:nvPr/>
        </p:nvSpPr>
        <p:spPr>
          <a:xfrm rot="5400000">
            <a:off x="5213350" y="3623945"/>
            <a:ext cx="118110" cy="101600"/>
          </a:xfrm>
          <a:prstGeom prst="triangle">
            <a:avLst/>
          </a:prstGeom>
          <a:solidFill>
            <a:schemeClr val="accent6"/>
          </a:solidFill>
          <a:ln w="25400" cap="flat" cmpd="sng" algn="ctr">
            <a:noFill/>
            <a:prstDash val="solid"/>
          </a:ln>
          <a:effectLst/>
        </p:spPr>
        <p:txBody>
          <a:bodyPr rtlCol="0" anchor="ctr"/>
          <a:lstStyle/>
          <a:p>
            <a:pPr marL="0" marR="0" lvl="0" indent="0" algn="l"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27" name="小李PPT24"/>
          <p:cNvSpPr/>
          <p:nvPr/>
        </p:nvSpPr>
        <p:spPr>
          <a:xfrm rot="5400000">
            <a:off x="7392035" y="3217545"/>
            <a:ext cx="118110" cy="101600"/>
          </a:xfrm>
          <a:prstGeom prst="triangle">
            <a:avLst/>
          </a:prstGeom>
          <a:solidFill>
            <a:schemeClr val="accent6"/>
          </a:solidFill>
          <a:ln w="25400" cap="flat" cmpd="sng" algn="ctr">
            <a:noFill/>
            <a:prstDash val="solid"/>
          </a:ln>
          <a:effectLst/>
        </p:spPr>
        <p:txBody>
          <a:bodyPr rtlCol="0" anchor="ctr"/>
          <a:lstStyle/>
          <a:p>
            <a:pPr marL="0" marR="0" lvl="0" indent="0" algn="l"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28" name="小李PPT25"/>
          <p:cNvSpPr/>
          <p:nvPr/>
        </p:nvSpPr>
        <p:spPr>
          <a:xfrm rot="5400000">
            <a:off x="7392035" y="3623945"/>
            <a:ext cx="118110" cy="101600"/>
          </a:xfrm>
          <a:prstGeom prst="triangle">
            <a:avLst/>
          </a:prstGeom>
          <a:solidFill>
            <a:schemeClr val="accent6"/>
          </a:solidFill>
          <a:ln w="25400" cap="flat" cmpd="sng" algn="ctr">
            <a:noFill/>
            <a:prstDash val="solid"/>
          </a:ln>
          <a:effectLst/>
        </p:spPr>
        <p:txBody>
          <a:bodyPr rtlCol="0" anchor="ctr"/>
          <a:lstStyle/>
          <a:p>
            <a:pPr marL="0" marR="0" lvl="0" indent="0" algn="l"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小李PPT1"/>
          <p:cNvSpPr/>
          <p:nvPr>
            <p:custDataLst>
              <p:tags r:id="rId2"/>
            </p:custDataLst>
          </p:nvPr>
        </p:nvSpPr>
        <p:spPr>
          <a:xfrm>
            <a:off x="8067040" y="946785"/>
            <a:ext cx="3520440" cy="3102610"/>
          </a:xfrm>
          <a:prstGeom prst="rect">
            <a:avLst/>
          </a:prstGeom>
          <a:solidFill>
            <a:srgbClr val="F3F5F6"/>
          </a:solidFill>
          <a:ln w="12700">
            <a:miter lim="400000"/>
          </a:ln>
        </p:spPr>
        <p:txBody>
          <a:bodyPr lIns="25400" tIns="25400" rIns="25400" bIns="25400" anchor="ctr"/>
          <a:lstStyle/>
          <a:p>
            <a:pPr defTabSz="412750"/>
            <a:endParaRPr lang="zh-CN" altLang="en-US" sz="1600" dirty="0">
              <a:solidFill>
                <a:srgbClr val="FFFFFF"/>
              </a:solidFill>
              <a:latin typeface="+mn-ea"/>
            </a:endParaRPr>
          </a:p>
        </p:txBody>
      </p:sp>
      <p:sp>
        <p:nvSpPr>
          <p:cNvPr id="6" name="小李PPT2"/>
          <p:cNvSpPr txBox="1"/>
          <p:nvPr/>
        </p:nvSpPr>
        <p:spPr>
          <a:xfrm>
            <a:off x="800099" y="265105"/>
            <a:ext cx="38404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prstClr val="black"/>
                </a:solidFill>
                <a:latin typeface="+mj-ea"/>
                <a:ea typeface="+mj-ea"/>
                <a:sym typeface="+mn-ea"/>
              </a:rPr>
              <a:t>（一）建设投资估算</a:t>
            </a:r>
            <a:endParaRPr kumimoji="0" lang="zh-CN" altLang="en-US" sz="3200" b="0" i="0" u="none" strike="noStrike" kern="1200" cap="none" spc="0" normalizeH="0" baseline="0" noProof="0" dirty="0">
              <a:ln>
                <a:noFill/>
              </a:ln>
              <a:solidFill>
                <a:prstClr val="black"/>
              </a:solidFill>
              <a:effectLst/>
              <a:uLnTx/>
              <a:uFillTx/>
              <a:latin typeface="+mj-ea"/>
              <a:ea typeface="+mj-ea"/>
              <a:cs typeface="+mn-cs"/>
            </a:endParaRPr>
          </a:p>
        </p:txBody>
      </p:sp>
      <p:sp>
        <p:nvSpPr>
          <p:cNvPr id="9" name="小李PPT3"/>
          <p:cNvSpPr/>
          <p:nvPr/>
        </p:nvSpPr>
        <p:spPr>
          <a:xfrm>
            <a:off x="695325" y="337281"/>
            <a:ext cx="79375" cy="40005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274" name="小李PPT4"/>
          <p:cNvSpPr/>
          <p:nvPr>
            <p:custDataLst>
              <p:tags r:id="rId3"/>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5" name="小李PPT5"/>
          <p:cNvSpPr/>
          <p:nvPr>
            <p:custDataLst>
              <p:tags r:id="rId4"/>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 name="小李PPT6"/>
          <p:cNvSpPr/>
          <p:nvPr>
            <p:custDataLst>
              <p:tags r:id="rId5"/>
            </p:custDataLst>
          </p:nvPr>
        </p:nvSpPr>
        <p:spPr>
          <a:xfrm>
            <a:off x="4000500" y="-914400"/>
            <a:ext cx="635000" cy="635000"/>
          </a:xfrm>
          <a:prstGeom prst="rect">
            <a:avLst/>
          </a:prstGeom>
          <a:solidFill>
            <a:schemeClr val="dk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7" name="小李PPT7"/>
          <p:cNvSpPr/>
          <p:nvPr>
            <p:custDataLst>
              <p:tags r:id="rId6"/>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8" name="小李PPT8"/>
          <p:cNvSpPr/>
          <p:nvPr>
            <p:custDataLst>
              <p:tags r:id="rId7"/>
            </p:custDataLst>
          </p:nvPr>
        </p:nvSpPr>
        <p:spPr>
          <a:xfrm>
            <a:off x="5778500" y="-914400"/>
            <a:ext cx="635000" cy="6350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1</a:t>
            </a:r>
            <a:endParaRPr lang="zh-CN" altLang="en-US" sz="2000">
              <a:solidFill>
                <a:srgbClr val="F2F2F2"/>
              </a:solidFill>
            </a:endParaRPr>
          </a:p>
        </p:txBody>
      </p:sp>
      <p:sp>
        <p:nvSpPr>
          <p:cNvPr id="279" name="小李PPT9"/>
          <p:cNvSpPr/>
          <p:nvPr>
            <p:custDataLst>
              <p:tags r:id="rId8"/>
            </p:custDataLst>
          </p:nvPr>
        </p:nvSpPr>
        <p:spPr>
          <a:xfrm>
            <a:off x="6540500" y="-914400"/>
            <a:ext cx="635000" cy="635000"/>
          </a:xfrm>
          <a:prstGeom prst="rect">
            <a:avLst/>
          </a:prstGeom>
          <a:solidFill>
            <a:schemeClr val="accen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2</a:t>
            </a:r>
            <a:endParaRPr lang="zh-CN" altLang="en-US" sz="2000">
              <a:solidFill>
                <a:srgbClr val="F2F2F2"/>
              </a:solidFill>
            </a:endParaRPr>
          </a:p>
        </p:txBody>
      </p:sp>
      <p:sp>
        <p:nvSpPr>
          <p:cNvPr id="280" name="小李PPT10"/>
          <p:cNvSpPr/>
          <p:nvPr>
            <p:custDataLst>
              <p:tags r:id="rId9"/>
            </p:custDataLst>
          </p:nvPr>
        </p:nvSpPr>
        <p:spPr>
          <a:xfrm>
            <a:off x="7302500" y="-914400"/>
            <a:ext cx="635000" cy="635000"/>
          </a:xfrm>
          <a:prstGeom prst="rect">
            <a:avLst/>
          </a:prstGeom>
          <a:solidFill>
            <a:schemeClr val="accent3"/>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3</a:t>
            </a:r>
            <a:endParaRPr lang="zh-CN" altLang="en-US" sz="2000">
              <a:solidFill>
                <a:srgbClr val="F2F2F2"/>
              </a:solidFill>
            </a:endParaRPr>
          </a:p>
        </p:txBody>
      </p:sp>
      <p:sp>
        <p:nvSpPr>
          <p:cNvPr id="281" name="小李PPT11"/>
          <p:cNvSpPr/>
          <p:nvPr>
            <p:custDataLst>
              <p:tags r:id="rId10"/>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4</a:t>
            </a:r>
            <a:endParaRPr lang="zh-CN" altLang="en-US" sz="2000">
              <a:solidFill>
                <a:srgbClr val="F2F2F2"/>
              </a:solidFill>
            </a:endParaRPr>
          </a:p>
        </p:txBody>
      </p:sp>
      <p:sp>
        <p:nvSpPr>
          <p:cNvPr id="282" name="小李PPT12"/>
          <p:cNvSpPr/>
          <p:nvPr>
            <p:custDataLst>
              <p:tags r:id="rId11"/>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5</a:t>
            </a:r>
            <a:endParaRPr lang="zh-CN" altLang="en-US" sz="2000">
              <a:solidFill>
                <a:srgbClr val="F2F2F2"/>
              </a:solidFill>
            </a:endParaRPr>
          </a:p>
        </p:txBody>
      </p:sp>
      <p:sp>
        <p:nvSpPr>
          <p:cNvPr id="283" name="小李PPT13"/>
          <p:cNvSpPr/>
          <p:nvPr>
            <p:custDataLst>
              <p:tags r:id="rId12"/>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6</a:t>
            </a:r>
            <a:endParaRPr lang="zh-CN" altLang="en-US" sz="2000">
              <a:solidFill>
                <a:srgbClr val="F2F2F2"/>
              </a:solidFill>
            </a:endParaRPr>
          </a:p>
        </p:txBody>
      </p:sp>
      <p:sp>
        <p:nvSpPr>
          <p:cNvPr id="2" name="小李PPT14"/>
          <p:cNvSpPr/>
          <p:nvPr/>
        </p:nvSpPr>
        <p:spPr>
          <a:xfrm>
            <a:off x="729615" y="946714"/>
            <a:ext cx="2296430" cy="1091123"/>
          </a:xfrm>
          <a:prstGeom prst="roundRect">
            <a:avLst>
              <a:gd name="adj" fmla="val 0"/>
            </a:avLst>
          </a:prstGeom>
          <a:solidFill>
            <a:schemeClr val="accent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solidFill>
                <a:srgbClr val="F2F2F2"/>
              </a:solidFill>
            </a:endParaRPr>
          </a:p>
        </p:txBody>
      </p:sp>
      <p:sp>
        <p:nvSpPr>
          <p:cNvPr id="3" name="小李PPT15"/>
          <p:cNvSpPr txBox="1"/>
          <p:nvPr/>
        </p:nvSpPr>
        <p:spPr>
          <a:xfrm>
            <a:off x="875030" y="1051560"/>
            <a:ext cx="2029460" cy="460375"/>
          </a:xfrm>
          <a:prstGeom prst="rect">
            <a:avLst/>
          </a:prstGeom>
          <a:noFill/>
        </p:spPr>
        <p:txBody>
          <a:bodyPr wrap="square" rtlCol="0">
            <a:spAutoFit/>
          </a:bodyPr>
          <a:lstStyle/>
          <a:p>
            <a:pPr>
              <a:defRPr/>
            </a:pPr>
            <a:r>
              <a:rPr lang="en-US" altLang="zh-CN" sz="2400" dirty="0">
                <a:solidFill>
                  <a:srgbClr val="FFFFFF"/>
                </a:solidFill>
                <a:latin typeface="+mj-lt"/>
                <a:ea typeface="Source Han Sans CN Bold" panose="020B0500000000000000" pitchFamily="34" charset="-128"/>
              </a:rPr>
              <a:t>1551.8</a:t>
            </a:r>
            <a:r>
              <a:rPr lang="zh-CN" altLang="en-US" sz="2400" dirty="0">
                <a:solidFill>
                  <a:srgbClr val="FFFFFF"/>
                </a:solidFill>
                <a:latin typeface="华文行楷" panose="02010800040101010101" charset="-122"/>
                <a:ea typeface="华文行楷" panose="02010800040101010101" charset="-122"/>
              </a:rPr>
              <a:t>万元</a:t>
            </a:r>
            <a:endParaRPr lang="zh-CN" altLang="en-US" sz="2400" dirty="0">
              <a:solidFill>
                <a:srgbClr val="FFFFFF"/>
              </a:solidFill>
              <a:latin typeface="华文行楷" panose="02010800040101010101" charset="-122"/>
              <a:ea typeface="华文行楷" panose="02010800040101010101" charset="-122"/>
            </a:endParaRPr>
          </a:p>
        </p:txBody>
      </p:sp>
      <p:sp>
        <p:nvSpPr>
          <p:cNvPr id="4" name="小李PPT16"/>
          <p:cNvSpPr txBox="1"/>
          <p:nvPr/>
        </p:nvSpPr>
        <p:spPr>
          <a:xfrm>
            <a:off x="857250" y="1558290"/>
            <a:ext cx="1849755" cy="460375"/>
          </a:xfrm>
          <a:prstGeom prst="rect">
            <a:avLst/>
          </a:prstGeom>
          <a:noFill/>
        </p:spPr>
        <p:txBody>
          <a:bodyPr wrap="square" rtlCol="0">
            <a:spAutoFit/>
          </a:bodyPr>
          <a:lstStyle/>
          <a:p>
            <a:pPr algn="ctr">
              <a:defRPr/>
            </a:pPr>
            <a:r>
              <a:rPr lang="zh-CN" altLang="en-US" sz="2400" dirty="0">
                <a:solidFill>
                  <a:srgbClr val="FFFFFF"/>
                </a:solidFill>
                <a:latin typeface="华文行楷" panose="02010800040101010101" charset="-122"/>
                <a:ea typeface="华文行楷" panose="02010800040101010101" charset="-122"/>
                <a:sym typeface="+mn-ea"/>
              </a:rPr>
              <a:t>固定资产</a:t>
            </a:r>
            <a:endParaRPr lang="zh-CN" altLang="en-US" sz="2400" dirty="0">
              <a:solidFill>
                <a:srgbClr val="FFFFFF"/>
              </a:solidFill>
              <a:latin typeface="华文行楷" panose="02010800040101010101" charset="-122"/>
              <a:ea typeface="华文行楷" panose="02010800040101010101" charset="-122"/>
              <a:sym typeface="+mn-ea"/>
            </a:endParaRPr>
          </a:p>
        </p:txBody>
      </p:sp>
      <p:sp>
        <p:nvSpPr>
          <p:cNvPr id="5" name="小李PPT17"/>
          <p:cNvSpPr/>
          <p:nvPr/>
        </p:nvSpPr>
        <p:spPr>
          <a:xfrm>
            <a:off x="3158038" y="946714"/>
            <a:ext cx="2296430" cy="1091123"/>
          </a:xfrm>
          <a:prstGeom prst="roundRect">
            <a:avLst>
              <a:gd name="adj" fmla="val 0"/>
            </a:avLst>
          </a:prstGeom>
          <a:solidFill>
            <a:schemeClr val="accent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40" kern="0" dirty="0">
              <a:solidFill>
                <a:schemeClr val="bg1"/>
              </a:solidFill>
              <a:latin typeface="+mn-ea"/>
            </a:endParaRPr>
          </a:p>
        </p:txBody>
      </p:sp>
      <p:sp>
        <p:nvSpPr>
          <p:cNvPr id="7" name="小李PPT18"/>
          <p:cNvSpPr txBox="1"/>
          <p:nvPr/>
        </p:nvSpPr>
        <p:spPr>
          <a:xfrm>
            <a:off x="3320415" y="1051560"/>
            <a:ext cx="1910715" cy="460375"/>
          </a:xfrm>
          <a:prstGeom prst="rect">
            <a:avLst/>
          </a:prstGeom>
          <a:noFill/>
        </p:spPr>
        <p:txBody>
          <a:bodyPr wrap="square" rtlCol="0">
            <a:spAutoFit/>
          </a:bodyPr>
          <a:lstStyle/>
          <a:p>
            <a:pPr algn="ctr">
              <a:defRPr/>
            </a:pPr>
            <a:r>
              <a:rPr lang="en-US" altLang="zh-CN" sz="2400" dirty="0">
                <a:solidFill>
                  <a:srgbClr val="FFFFFF"/>
                </a:solidFill>
                <a:latin typeface="+mj-lt"/>
                <a:ea typeface="Source Han Sans CN Bold" panose="020B0500000000000000" pitchFamily="34" charset="-128"/>
              </a:rPr>
              <a:t>242.4</a:t>
            </a:r>
            <a:r>
              <a:rPr lang="zh-CN" altLang="en-US" sz="2400" dirty="0">
                <a:solidFill>
                  <a:srgbClr val="FFFFFF"/>
                </a:solidFill>
                <a:latin typeface="华文行楷" panose="02010800040101010101" charset="-122"/>
                <a:ea typeface="华文行楷" panose="02010800040101010101" charset="-122"/>
              </a:rPr>
              <a:t>万元</a:t>
            </a:r>
            <a:endParaRPr lang="zh-CN" altLang="en-US" sz="2400" dirty="0">
              <a:solidFill>
                <a:srgbClr val="FFFFFF"/>
              </a:solidFill>
              <a:latin typeface="华文行楷" panose="02010800040101010101" charset="-122"/>
              <a:ea typeface="华文行楷" panose="02010800040101010101" charset="-122"/>
            </a:endParaRPr>
          </a:p>
        </p:txBody>
      </p:sp>
      <p:sp>
        <p:nvSpPr>
          <p:cNvPr id="8" name="小李PPT19"/>
          <p:cNvSpPr txBox="1"/>
          <p:nvPr/>
        </p:nvSpPr>
        <p:spPr>
          <a:xfrm>
            <a:off x="3303270" y="1558290"/>
            <a:ext cx="1826260" cy="460375"/>
          </a:xfrm>
          <a:prstGeom prst="rect">
            <a:avLst/>
          </a:prstGeom>
          <a:noFill/>
        </p:spPr>
        <p:txBody>
          <a:bodyPr wrap="square" rtlCol="0">
            <a:spAutoFit/>
          </a:bodyPr>
          <a:lstStyle/>
          <a:p>
            <a:pPr algn="ctr">
              <a:defRPr/>
            </a:pPr>
            <a:r>
              <a:rPr lang="zh-CN" altLang="en-US" sz="2400" dirty="0">
                <a:solidFill>
                  <a:srgbClr val="FFFFFF"/>
                </a:solidFill>
                <a:latin typeface="华文行楷" panose="02010800040101010101" charset="-122"/>
                <a:ea typeface="华文行楷" panose="02010800040101010101" charset="-122"/>
                <a:sym typeface="+mn-ea"/>
              </a:rPr>
              <a:t>无形资产</a:t>
            </a:r>
            <a:endParaRPr lang="zh-CN" altLang="en-US" sz="1600" dirty="0">
              <a:solidFill>
                <a:srgbClr val="FFFFFF"/>
              </a:solidFill>
              <a:latin typeface="+mn-ea"/>
              <a:sym typeface="+mn-ea"/>
            </a:endParaRPr>
          </a:p>
        </p:txBody>
      </p:sp>
      <p:sp>
        <p:nvSpPr>
          <p:cNvPr id="10" name="小李PPT20"/>
          <p:cNvSpPr/>
          <p:nvPr/>
        </p:nvSpPr>
        <p:spPr>
          <a:xfrm>
            <a:off x="5586460" y="946714"/>
            <a:ext cx="2296430" cy="1091123"/>
          </a:xfrm>
          <a:prstGeom prst="roundRect">
            <a:avLst>
              <a:gd name="adj" fmla="val 0"/>
            </a:avLst>
          </a:prstGeom>
          <a:solidFill>
            <a:schemeClr val="accent6"/>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540" kern="0" dirty="0">
              <a:solidFill>
                <a:schemeClr val="bg1"/>
              </a:solidFill>
              <a:latin typeface="+mn-ea"/>
            </a:endParaRPr>
          </a:p>
        </p:txBody>
      </p:sp>
      <p:sp>
        <p:nvSpPr>
          <p:cNvPr id="11" name="小李PPT21"/>
          <p:cNvSpPr txBox="1"/>
          <p:nvPr/>
        </p:nvSpPr>
        <p:spPr>
          <a:xfrm>
            <a:off x="5763260" y="1051560"/>
            <a:ext cx="1995170" cy="460375"/>
          </a:xfrm>
          <a:prstGeom prst="rect">
            <a:avLst/>
          </a:prstGeom>
          <a:noFill/>
        </p:spPr>
        <p:txBody>
          <a:bodyPr wrap="square" rtlCol="0">
            <a:spAutoFit/>
          </a:bodyPr>
          <a:lstStyle/>
          <a:p>
            <a:pPr algn="ctr">
              <a:defRPr/>
            </a:pPr>
            <a:r>
              <a:rPr lang="en-US" altLang="zh-CN" sz="2400" dirty="0">
                <a:solidFill>
                  <a:srgbClr val="FFFFFF"/>
                </a:solidFill>
                <a:latin typeface="+mj-lt"/>
                <a:ea typeface="Source Han Sans CN Bold" panose="020B0500000000000000" pitchFamily="34" charset="-128"/>
              </a:rPr>
              <a:t>105.8</a:t>
            </a:r>
            <a:r>
              <a:rPr lang="zh-CN" altLang="en-US" sz="2400" dirty="0">
                <a:solidFill>
                  <a:srgbClr val="FFFFFF"/>
                </a:solidFill>
                <a:latin typeface="华文行楷" panose="02010800040101010101" charset="-122"/>
                <a:ea typeface="华文行楷" panose="02010800040101010101" charset="-122"/>
              </a:rPr>
              <a:t>万元</a:t>
            </a:r>
            <a:endParaRPr lang="zh-CN" altLang="en-US" sz="2400" dirty="0">
              <a:solidFill>
                <a:srgbClr val="FFFFFF"/>
              </a:solidFill>
              <a:latin typeface="华文行楷" panose="02010800040101010101" charset="-122"/>
              <a:ea typeface="华文行楷" panose="02010800040101010101" charset="-122"/>
            </a:endParaRPr>
          </a:p>
        </p:txBody>
      </p:sp>
      <p:sp>
        <p:nvSpPr>
          <p:cNvPr id="12" name="小李PPT22"/>
          <p:cNvSpPr txBox="1"/>
          <p:nvPr/>
        </p:nvSpPr>
        <p:spPr>
          <a:xfrm>
            <a:off x="5745480" y="1558290"/>
            <a:ext cx="1809115" cy="460375"/>
          </a:xfrm>
          <a:prstGeom prst="rect">
            <a:avLst/>
          </a:prstGeom>
          <a:noFill/>
        </p:spPr>
        <p:txBody>
          <a:bodyPr wrap="square" rtlCol="0">
            <a:spAutoFit/>
          </a:bodyPr>
          <a:lstStyle/>
          <a:p>
            <a:pPr algn="ctr">
              <a:buClrTx/>
              <a:buSzTx/>
              <a:buFontTx/>
              <a:defRPr/>
            </a:pPr>
            <a:r>
              <a:rPr lang="zh-CN" altLang="en-US" sz="2400" dirty="0">
                <a:solidFill>
                  <a:srgbClr val="FFFFFF"/>
                </a:solidFill>
                <a:latin typeface="华文行楷" panose="02010800040101010101" charset="-122"/>
                <a:ea typeface="华文行楷" panose="02010800040101010101" charset="-122"/>
                <a:sym typeface="+mn-ea"/>
              </a:rPr>
              <a:t>预备费</a:t>
            </a:r>
            <a:endParaRPr lang="zh-CN" altLang="en-US" sz="2400" dirty="0">
              <a:solidFill>
                <a:srgbClr val="FFFFFF"/>
              </a:solidFill>
              <a:latin typeface="华文行楷" panose="02010800040101010101" charset="-122"/>
              <a:ea typeface="华文行楷" panose="02010800040101010101" charset="-122"/>
              <a:sym typeface="+mn-ea"/>
            </a:endParaRPr>
          </a:p>
        </p:txBody>
      </p:sp>
      <p:sp>
        <p:nvSpPr>
          <p:cNvPr id="40" name="小李PPT25"/>
          <p:cNvSpPr/>
          <p:nvPr/>
        </p:nvSpPr>
        <p:spPr>
          <a:xfrm>
            <a:off x="958185" y="2327865"/>
            <a:ext cx="1011586" cy="243840"/>
          </a:xfrm>
          <a:prstGeom prst="rect">
            <a:avLst/>
          </a:prstGeom>
          <a:noFill/>
        </p:spPr>
        <p:txBody>
          <a:bodyPr wrap="square" lIns="0" tIns="0" rIns="0" bIns="0" rtlCol="0" anchor="t"/>
          <a:lstStyle/>
          <a:p>
            <a:pPr defTabSz="731520">
              <a:lnSpc>
                <a:spcPts val="1920"/>
              </a:lnSpc>
              <a:spcAft>
                <a:spcPts val="1180"/>
              </a:spcAft>
              <a:defRPr/>
            </a:pPr>
            <a:endParaRPr lang="en-US" sz="1600" dirty="0">
              <a:solidFill>
                <a:prstClr val="black"/>
              </a:solidFill>
              <a:latin typeface="+mj-ea"/>
              <a:ea typeface="+mj-ea"/>
            </a:endParaRPr>
          </a:p>
        </p:txBody>
      </p:sp>
      <p:graphicFrame>
        <p:nvGraphicFramePr>
          <p:cNvPr id="52" name="小李PPT26"/>
          <p:cNvGraphicFramePr/>
          <p:nvPr/>
        </p:nvGraphicFramePr>
        <p:xfrm>
          <a:off x="7926454" y="1364617"/>
          <a:ext cx="3829926" cy="2820122"/>
        </p:xfrm>
        <a:graphic>
          <a:graphicData uri="http://schemas.openxmlformats.org/drawingml/2006/chart">
            <c:chart xmlns:c="http://schemas.openxmlformats.org/drawingml/2006/chart" xmlns:r="http://schemas.openxmlformats.org/officeDocument/2006/relationships" r:id="rId1"/>
          </a:graphicData>
        </a:graphic>
      </p:graphicFrame>
      <p:sp>
        <p:nvSpPr>
          <p:cNvPr id="55" name="小李PPT27"/>
          <p:cNvSpPr/>
          <p:nvPr/>
        </p:nvSpPr>
        <p:spPr>
          <a:xfrm>
            <a:off x="9010971" y="1203030"/>
            <a:ext cx="1632838" cy="243840"/>
          </a:xfrm>
          <a:prstGeom prst="rect">
            <a:avLst/>
          </a:prstGeom>
          <a:noFill/>
        </p:spPr>
        <p:txBody>
          <a:bodyPr wrap="square" lIns="0" tIns="0" rIns="0" bIns="0" rtlCol="0" anchor="t"/>
          <a:lstStyle/>
          <a:p>
            <a:pPr algn="ctr" defTabSz="731520">
              <a:lnSpc>
                <a:spcPts val="1920"/>
              </a:lnSpc>
              <a:spcAft>
                <a:spcPts val="1180"/>
              </a:spcAft>
              <a:defRPr/>
            </a:pPr>
            <a:r>
              <a:rPr lang="zh-CN" altLang="en-US" sz="1600" dirty="0">
                <a:ln/>
                <a:solidFill>
                  <a:schemeClr val="accent1"/>
                </a:solidFill>
                <a:effectLst>
                  <a:outerShdw blurRad="38100" dist="25400" dir="5400000" algn="ctr" rotWithShape="0">
                    <a:srgbClr val="6E747A">
                      <a:alpha val="43000"/>
                    </a:srgbClr>
                  </a:outerShdw>
                </a:effectLst>
                <a:latin typeface="+mj-ea"/>
                <a:ea typeface="+mj-ea"/>
              </a:rPr>
              <a:t>建设投资估算</a:t>
            </a:r>
            <a:endParaRPr lang="zh-CN" altLang="en-US" sz="1600" dirty="0">
              <a:ln/>
              <a:solidFill>
                <a:schemeClr val="accent1"/>
              </a:solidFill>
              <a:effectLst>
                <a:outerShdw blurRad="38100" dist="25400" dir="5400000" algn="ctr" rotWithShape="0">
                  <a:srgbClr val="6E747A">
                    <a:alpha val="43000"/>
                  </a:srgbClr>
                </a:outerShdw>
              </a:effectLst>
              <a:latin typeface="+mj-ea"/>
              <a:ea typeface="+mj-ea"/>
            </a:endParaRPr>
          </a:p>
        </p:txBody>
      </p:sp>
      <p:graphicFrame>
        <p:nvGraphicFramePr>
          <p:cNvPr id="13" name="表格 12"/>
          <p:cNvGraphicFramePr/>
          <p:nvPr>
            <p:custDataLst>
              <p:tags r:id="rId13"/>
            </p:custDataLst>
          </p:nvPr>
        </p:nvGraphicFramePr>
        <p:xfrm>
          <a:off x="524510" y="2105660"/>
          <a:ext cx="7358380" cy="4577715"/>
        </p:xfrm>
        <a:graphic>
          <a:graphicData uri="http://schemas.openxmlformats.org/drawingml/2006/table">
            <a:tbl>
              <a:tblPr/>
              <a:tblGrid>
                <a:gridCol w="2145030"/>
                <a:gridCol w="944880"/>
                <a:gridCol w="958850"/>
                <a:gridCol w="996315"/>
                <a:gridCol w="775970"/>
                <a:gridCol w="741680"/>
                <a:gridCol w="795655"/>
              </a:tblGrid>
              <a:tr h="352425">
                <a:tc gridSpan="7">
                  <a:txBody>
                    <a:bodyPr/>
                    <a:p>
                      <a:pPr marL="6350" indent="0" algn="ctr" fontAlgn="ctr"/>
                      <a:r>
                        <a:rPr lang="zh-CN" altLang="en-US" sz="1100" b="1" i="0">
                          <a:solidFill>
                            <a:srgbClr val="000000"/>
                          </a:solidFill>
                          <a:latin typeface="宋体" panose="02010600030101010101" pitchFamily="2" charset="-122"/>
                          <a:ea typeface="宋体" panose="02010600030101010101" pitchFamily="2" charset="-122"/>
                        </a:rPr>
                        <a:t>表</a:t>
                      </a:r>
                      <a:r>
                        <a:rPr lang="en-US" altLang="zh-CN" sz="1100" b="1" i="0">
                          <a:solidFill>
                            <a:srgbClr val="000000"/>
                          </a:solidFill>
                          <a:latin typeface="宋体" panose="02010600030101010101" pitchFamily="2" charset="-122"/>
                          <a:ea typeface="宋体" panose="02010600030101010101" pitchFamily="2" charset="-122"/>
                        </a:rPr>
                        <a:t>2-1 </a:t>
                      </a:r>
                      <a:r>
                        <a:rPr lang="zh-CN" altLang="en-US" sz="1100" b="1" i="0">
                          <a:solidFill>
                            <a:srgbClr val="000000"/>
                          </a:solidFill>
                          <a:latin typeface="宋体" panose="02010600030101010101" pitchFamily="2" charset="-122"/>
                          <a:ea typeface="宋体" panose="02010600030101010101" pitchFamily="2" charset="-122"/>
                        </a:rPr>
                        <a:t>建设投资估算  </a:t>
                      </a:r>
                      <a:r>
                        <a:rPr lang="zh-CN" altLang="en-US" sz="1100" b="1" i="0">
                          <a:solidFill>
                            <a:srgbClr val="000000"/>
                          </a:solidFill>
                          <a:latin typeface="宋体" panose="02010600030101010101" pitchFamily="2" charset="-122"/>
                          <a:ea typeface="宋体" panose="02010600030101010101" pitchFamily="2" charset="-122"/>
                        </a:rPr>
                        <a:t>单位： 万元</a:t>
                      </a:r>
                      <a:endParaRPr lang="zh-CN" altLang="en-US" sz="1100" b="1" i="0">
                        <a:solidFill>
                          <a:srgbClr val="000000"/>
                        </a:solidFill>
                        <a:latin typeface="宋体" panose="02010600030101010101" pitchFamily="2" charset="-122"/>
                        <a:ea typeface="宋体" panose="02010600030101010101" pitchFamily="2" charset="-122"/>
                      </a:endParaRPr>
                    </a:p>
                  </a:txBody>
                  <a:tcPr marL="6667" marR="6667" marT="6667"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2">
                        <a:lumMod val="20000"/>
                        <a:lumOff val="80000"/>
                      </a:schemeClr>
                    </a:solidFill>
                  </a:tcPr>
                </a:tc>
                <a:tc hMerge="1">
                  <a:tcPr>
                    <a:lnT w="12700" cap="flat" cmpd="sng">
                      <a:solidFill>
                        <a:srgbClr val="000000"/>
                      </a:solidFill>
                      <a:prstDash val="solid"/>
                      <a:headEnd type="none" w="med" len="med"/>
                      <a:tailEnd type="none" w="med" len="med"/>
                    </a:lnT>
                  </a:tcPr>
                </a:tc>
                <a:tc hMerge="1">
                  <a:tcPr>
                    <a:lnT w="12700" cap="flat" cmpd="sng">
                      <a:solidFill>
                        <a:srgbClr val="000000"/>
                      </a:solidFill>
                      <a:prstDash val="solid"/>
                      <a:headEnd type="none" w="med" len="med"/>
                      <a:tailEnd type="none" w="med" len="med"/>
                    </a:lnT>
                  </a:tcPr>
                </a:tc>
                <a:tc hMerge="1">
                  <a:tcPr>
                    <a:lnT w="12700" cap="flat" cmpd="sng">
                      <a:solidFill>
                        <a:srgbClr val="000000"/>
                      </a:solidFill>
                      <a:prstDash val="solid"/>
                      <a:headEnd type="none" w="med" len="med"/>
                      <a:tailEnd type="none" w="med" len="med"/>
                    </a:lnT>
                  </a:tcPr>
                </a:tc>
                <a:tc hMerge="1">
                  <a:tcPr>
                    <a:lnT w="12700" cap="flat" cmpd="sng">
                      <a:solidFill>
                        <a:srgbClr val="000000"/>
                      </a:solidFill>
                      <a:prstDash val="solid"/>
                      <a:headEnd type="none" w="med" len="med"/>
                      <a:tailEnd type="none" w="med" len="med"/>
                    </a:lnT>
                  </a:tcPr>
                </a:tc>
                <a:tc hMerge="1">
                  <a:tcPr>
                    <a:lnT w="12700" cap="flat" cmpd="sng">
                      <a:solidFill>
                        <a:srgbClr val="000000"/>
                      </a:solidFill>
                      <a:prstDash val="solid"/>
                      <a:headEnd type="none" w="med" len="med"/>
                      <a:tailEnd type="none" w="med" len="med"/>
                    </a:lnT>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tcPr>
                </a:tc>
              </a:tr>
              <a:tr h="224790">
                <a:tc>
                  <a:txBody>
                    <a:bodyPr/>
                    <a:p>
                      <a:pPr marL="6350" indent="0" algn="l" fontAlgn="ctr"/>
                      <a:r>
                        <a:rPr lang="zh-CN" altLang="en-US" sz="1000" b="1" i="0">
                          <a:solidFill>
                            <a:srgbClr val="000000"/>
                          </a:solidFill>
                          <a:latin typeface="微软雅黑" panose="020B0503020204020204" charset="-122"/>
                          <a:ea typeface="微软雅黑" panose="020B0503020204020204" charset="-122"/>
                        </a:rPr>
                        <a:t>序号</a:t>
                      </a:r>
                      <a:endParaRPr lang="zh-CN" altLang="en-US" sz="1000" b="1" i="0">
                        <a:solidFill>
                          <a:srgbClr val="000000"/>
                        </a:solidFill>
                        <a:latin typeface="微软雅黑" panose="020B0503020204020204" charset="-122"/>
                        <a:ea typeface="微软雅黑" panose="020B0503020204020204" charset="-122"/>
                      </a:endParaRPr>
                    </a:p>
                  </a:txBody>
                  <a:tcPr marL="6667" marR="6667" marT="6667" anchor="ctr" anchorCtr="0">
                    <a:lnL w="12700" cap="flat" cmpd="sng">
                      <a:solidFill>
                        <a:srgbClr val="000000"/>
                      </a:solidFill>
                      <a:prstDash val="solid"/>
                      <a:headEnd type="none" w="med" len="med"/>
                      <a:tailEnd type="none" w="med" len="med"/>
                    </a:lnL>
                    <a:lnR>
                      <a:noFill/>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l" fontAlgn="ctr"/>
                      <a:r>
                        <a:rPr lang="zh-CN" altLang="en-US" sz="1100" b="1" i="0">
                          <a:solidFill>
                            <a:srgbClr val="000000"/>
                          </a:solidFill>
                          <a:latin typeface="宋体" panose="02010600030101010101" pitchFamily="2" charset="-122"/>
                          <a:ea typeface="宋体" panose="02010600030101010101" pitchFamily="2" charset="-122"/>
                        </a:rPr>
                        <a:t>项目</a:t>
                      </a:r>
                      <a:endParaRPr lang="zh-CN" altLang="en-US" sz="1100" b="1"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zh-CN" altLang="en-US" sz="1100" b="1" i="0">
                          <a:solidFill>
                            <a:srgbClr val="000000"/>
                          </a:solidFill>
                          <a:latin typeface="宋体" panose="02010600030101010101" pitchFamily="2" charset="-122"/>
                          <a:ea typeface="宋体" panose="02010600030101010101" pitchFamily="2" charset="-122"/>
                        </a:rPr>
                        <a:t>建设工程</a:t>
                      </a:r>
                      <a:endParaRPr lang="zh-CN" altLang="en-US" sz="1100" b="1"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l" fontAlgn="ctr"/>
                      <a:r>
                        <a:rPr lang="zh-CN" altLang="en-US" sz="1100" b="1" i="0">
                          <a:solidFill>
                            <a:srgbClr val="000000"/>
                          </a:solidFill>
                          <a:latin typeface="宋体" panose="02010600030101010101" pitchFamily="2" charset="-122"/>
                          <a:ea typeface="宋体" panose="02010600030101010101" pitchFamily="2" charset="-122"/>
                        </a:rPr>
                        <a:t>设备购买</a:t>
                      </a:r>
                      <a:endParaRPr lang="zh-CN" altLang="en-US" sz="1100" b="1"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zh-CN" altLang="en-US" sz="1100" b="1" i="0">
                          <a:solidFill>
                            <a:srgbClr val="000000"/>
                          </a:solidFill>
                          <a:latin typeface="宋体" panose="02010600030101010101" pitchFamily="2" charset="-122"/>
                          <a:ea typeface="宋体" panose="02010600030101010101" pitchFamily="2" charset="-122"/>
                        </a:rPr>
                        <a:t>安装工程</a:t>
                      </a:r>
                      <a:endParaRPr lang="zh-CN" altLang="en-US" sz="1100" b="1"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zh-CN" altLang="en-US" sz="1100" b="1" i="0">
                          <a:solidFill>
                            <a:srgbClr val="000000"/>
                          </a:solidFill>
                          <a:latin typeface="宋体" panose="02010600030101010101" pitchFamily="2" charset="-122"/>
                          <a:ea typeface="宋体" panose="02010600030101010101" pitchFamily="2" charset="-122"/>
                        </a:rPr>
                        <a:t>其他</a:t>
                      </a:r>
                      <a:endParaRPr lang="zh-CN" altLang="en-US" sz="1100" b="1"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zh-CN" altLang="en-US" sz="1100" b="1" i="0">
                          <a:solidFill>
                            <a:srgbClr val="000000"/>
                          </a:solidFill>
                          <a:latin typeface="宋体" panose="02010600030101010101" pitchFamily="2" charset="-122"/>
                          <a:ea typeface="宋体" panose="02010600030101010101" pitchFamily="2" charset="-122"/>
                        </a:rPr>
                        <a:t>合计</a:t>
                      </a:r>
                      <a:endParaRPr lang="zh-CN" altLang="en-US" sz="1100" b="1"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25425">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1</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12700" cap="flat" cmpd="sng">
                      <a:solidFill>
                        <a:srgbClr val="000000"/>
                      </a:solidFill>
                      <a:prstDash val="solid"/>
                      <a:headEnd type="none" w="med" len="med"/>
                      <a:tailEnd type="none" w="med" len="med"/>
                    </a:lnL>
                    <a:lnR>
                      <a:noFill/>
                    </a:lnR>
                    <a:lnT w="6350" cap="flat" cmpd="sng">
                      <a:solidFill>
                        <a:srgbClr val="000000"/>
                      </a:solidFill>
                      <a:prstDash val="solid"/>
                      <a:headEnd type="none" w="med" len="med"/>
                      <a:tailEnd type="none" w="med" len="med"/>
                    </a:lnT>
                    <a:lnB>
                      <a:noFill/>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固定资产投资</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w="6350" cap="flat" cmpd="sng">
                      <a:solidFill>
                        <a:srgbClr val="000000"/>
                      </a:solidFill>
                      <a:prstDash val="solid"/>
                      <a:headEnd type="none" w="med" len="med"/>
                      <a:tailEnd type="none" w="med" len="med"/>
                    </a:lnT>
                    <a:lnB>
                      <a:noFill/>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544.0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w="6350" cap="flat" cmpd="sng">
                      <a:solidFill>
                        <a:srgbClr val="000000"/>
                      </a:solidFill>
                      <a:prstDash val="solid"/>
                      <a:headEnd type="none" w="med" len="med"/>
                      <a:tailEnd type="none" w="med" len="med"/>
                    </a:lnT>
                    <a:lnB>
                      <a:noFill/>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904.2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w="6350" cap="flat" cmpd="sng">
                      <a:solidFill>
                        <a:srgbClr val="000000"/>
                      </a:solidFill>
                      <a:prstDash val="solid"/>
                      <a:headEnd type="none" w="med" len="med"/>
                      <a:tailEnd type="none" w="med" len="med"/>
                    </a:lnT>
                    <a:lnB>
                      <a:noFill/>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103.6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w="6350" cap="flat" cmpd="sng">
                      <a:solidFill>
                        <a:srgbClr val="000000"/>
                      </a:solidFill>
                      <a:prstDash val="solid"/>
                      <a:headEnd type="none" w="med" len="med"/>
                      <a:tailEnd type="none" w="med" len="med"/>
                    </a:lnT>
                    <a:lnB>
                      <a:noFill/>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0.0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w="6350" cap="flat" cmpd="sng">
                      <a:solidFill>
                        <a:srgbClr val="000000"/>
                      </a:solidFill>
                      <a:prstDash val="solid"/>
                      <a:headEnd type="none" w="med" len="med"/>
                      <a:tailEnd type="none" w="med" len="med"/>
                    </a:lnT>
                    <a:lnB>
                      <a:noFill/>
                    </a:lnB>
                    <a:noFill/>
                  </a:tcPr>
                </a:tc>
                <a:tc>
                  <a:txBody>
                    <a:bodyPr/>
                    <a:p>
                      <a:pPr marL="6350" indent="0" algn="ctr" fontAlgn="ctr"/>
                      <a:r>
                        <a:rPr lang="en-US" altLang="zh-CN" sz="1100" b="0" i="0">
                          <a:solidFill>
                            <a:srgbClr val="FF0000"/>
                          </a:solidFill>
                          <a:latin typeface="宋体" panose="02010600030101010101" pitchFamily="2" charset="-122"/>
                          <a:ea typeface="宋体" panose="02010600030101010101" pitchFamily="2" charset="-122"/>
                        </a:rPr>
                        <a:t>1551.8 </a:t>
                      </a:r>
                      <a:endParaRPr lang="en-US" altLang="zh-CN"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a:noFill/>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a:noFill/>
                    </a:lnB>
                    <a:noFill/>
                  </a:tcPr>
                </a:tc>
              </a:tr>
              <a:tr h="224790">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1.1</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12700" cap="flat" cmpd="sng">
                      <a:solidFill>
                        <a:srgbClr val="000000"/>
                      </a:solidFill>
                      <a:prstDash val="solid"/>
                      <a:headEnd type="none" w="med" len="med"/>
                      <a:tailEnd type="none" w="med" len="med"/>
                    </a:lnL>
                    <a:lnR>
                      <a:noFill/>
                    </a:lnR>
                    <a:lnT>
                      <a:noFill/>
                    </a:lnT>
                    <a:lnB>
                      <a:noFill/>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主要工程</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544.0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904.2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103.6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0.0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r>
                        <a:rPr lang="en-US" altLang="zh-CN" sz="1100" b="0" i="0">
                          <a:solidFill>
                            <a:srgbClr val="FF0000"/>
                          </a:solidFill>
                          <a:latin typeface="宋体" panose="02010600030101010101" pitchFamily="2" charset="-122"/>
                          <a:ea typeface="宋体" panose="02010600030101010101" pitchFamily="2" charset="-122"/>
                        </a:rPr>
                        <a:t>1551.8 </a:t>
                      </a:r>
                      <a:endParaRPr lang="en-US" altLang="zh-CN"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a:noFill/>
                    </a:lnL>
                    <a:lnR w="12700" cap="flat" cmpd="sng">
                      <a:solidFill>
                        <a:srgbClr val="000000"/>
                      </a:solidFill>
                      <a:prstDash val="solid"/>
                      <a:headEnd type="none" w="med" len="med"/>
                      <a:tailEnd type="none" w="med" len="med"/>
                    </a:lnR>
                    <a:lnT>
                      <a:noFill/>
                    </a:lnT>
                    <a:lnB>
                      <a:noFill/>
                    </a:lnB>
                    <a:noFill/>
                  </a:tcPr>
                </a:tc>
              </a:tr>
              <a:tr h="225425">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1.1.1</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12700" cap="flat" cmpd="sng">
                      <a:solidFill>
                        <a:srgbClr val="000000"/>
                      </a:solidFill>
                      <a:prstDash val="solid"/>
                      <a:headEnd type="none" w="med" len="med"/>
                      <a:tailEnd type="none" w="med" len="med"/>
                    </a:lnL>
                    <a:lnR>
                      <a:noFill/>
                    </a:lnR>
                    <a:lnT>
                      <a:noFill/>
                    </a:lnT>
                    <a:lnB>
                      <a:noFill/>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主体工程</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544.0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904.2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103.6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0.0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r>
                        <a:rPr lang="en-US" altLang="zh-CN" sz="1100" b="0" i="0">
                          <a:solidFill>
                            <a:srgbClr val="FF0000"/>
                          </a:solidFill>
                          <a:latin typeface="宋体" panose="02010600030101010101" pitchFamily="2" charset="-122"/>
                          <a:ea typeface="宋体" panose="02010600030101010101" pitchFamily="2" charset="-122"/>
                        </a:rPr>
                        <a:t>1551.8 </a:t>
                      </a:r>
                      <a:endParaRPr lang="en-US" altLang="zh-CN"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a:noFill/>
                    </a:lnL>
                    <a:lnR w="12700" cap="flat" cmpd="sng">
                      <a:solidFill>
                        <a:srgbClr val="000000"/>
                      </a:solidFill>
                      <a:prstDash val="solid"/>
                      <a:headEnd type="none" w="med" len="med"/>
                      <a:tailEnd type="none" w="med" len="med"/>
                    </a:lnR>
                    <a:lnT>
                      <a:noFill/>
                    </a:lnT>
                    <a:lnB>
                      <a:noFill/>
                    </a:lnB>
                    <a:noFill/>
                  </a:tcPr>
                </a:tc>
              </a:tr>
              <a:tr h="225425">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2</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12700" cap="flat" cmpd="sng">
                      <a:solidFill>
                        <a:srgbClr val="000000"/>
                      </a:solidFill>
                      <a:prstDash val="solid"/>
                      <a:headEnd type="none" w="med" len="med"/>
                      <a:tailEnd type="none" w="med" len="med"/>
                    </a:lnL>
                    <a:lnR>
                      <a:noFill/>
                    </a:lnR>
                    <a:lnT>
                      <a:noFill/>
                    </a:lnT>
                    <a:lnB>
                      <a:noFill/>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无形资产</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242.4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r>
                        <a:rPr lang="en-US" altLang="zh-CN" sz="1100" b="0" i="0">
                          <a:solidFill>
                            <a:srgbClr val="FF0000"/>
                          </a:solidFill>
                          <a:latin typeface="宋体" panose="02010600030101010101" pitchFamily="2" charset="-122"/>
                          <a:ea typeface="宋体" panose="02010600030101010101" pitchFamily="2" charset="-122"/>
                        </a:rPr>
                        <a:t>242.4 </a:t>
                      </a:r>
                      <a:endParaRPr lang="en-US" altLang="zh-CN"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a:noFill/>
                    </a:lnL>
                    <a:lnR w="12700" cap="flat" cmpd="sng">
                      <a:solidFill>
                        <a:srgbClr val="000000"/>
                      </a:solidFill>
                      <a:prstDash val="solid"/>
                      <a:headEnd type="none" w="med" len="med"/>
                      <a:tailEnd type="none" w="med" len="med"/>
                    </a:lnR>
                    <a:lnT>
                      <a:noFill/>
                    </a:lnT>
                    <a:lnB>
                      <a:noFill/>
                    </a:lnB>
                    <a:noFill/>
                  </a:tcPr>
                </a:tc>
              </a:tr>
              <a:tr h="224790">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2.1</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12700" cap="flat" cmpd="sng">
                      <a:solidFill>
                        <a:srgbClr val="000000"/>
                      </a:solidFill>
                      <a:prstDash val="solid"/>
                      <a:headEnd type="none" w="med" len="med"/>
                      <a:tailEnd type="none" w="med" len="med"/>
                    </a:lnL>
                    <a:lnR>
                      <a:noFill/>
                    </a:lnR>
                    <a:lnT>
                      <a:noFill/>
                    </a:lnT>
                    <a:lnB>
                      <a:noFill/>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技术</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130.0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r>
                        <a:rPr lang="en-US" altLang="zh-CN" sz="1100" b="0" i="0">
                          <a:solidFill>
                            <a:srgbClr val="FF0000"/>
                          </a:solidFill>
                          <a:latin typeface="宋体" panose="02010600030101010101" pitchFamily="2" charset="-122"/>
                          <a:ea typeface="宋体" panose="02010600030101010101" pitchFamily="2" charset="-122"/>
                        </a:rPr>
                        <a:t>130.0 </a:t>
                      </a:r>
                      <a:endParaRPr lang="en-US" altLang="zh-CN"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a:noFill/>
                    </a:lnL>
                    <a:lnR w="12700" cap="flat" cmpd="sng">
                      <a:solidFill>
                        <a:srgbClr val="000000"/>
                      </a:solidFill>
                      <a:prstDash val="solid"/>
                      <a:headEnd type="none" w="med" len="med"/>
                      <a:tailEnd type="none" w="med" len="med"/>
                    </a:lnR>
                    <a:lnT>
                      <a:noFill/>
                    </a:lnT>
                    <a:lnB>
                      <a:noFill/>
                    </a:lnB>
                    <a:noFill/>
                  </a:tcPr>
                </a:tc>
              </a:tr>
              <a:tr h="225425">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2.2</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12700" cap="flat" cmpd="sng">
                      <a:solidFill>
                        <a:srgbClr val="000000"/>
                      </a:solidFill>
                      <a:prstDash val="solid"/>
                      <a:headEnd type="none" w="med" len="med"/>
                      <a:tailEnd type="none" w="med" len="med"/>
                    </a:lnL>
                    <a:lnR>
                      <a:noFill/>
                    </a:lnR>
                    <a:lnT>
                      <a:noFill/>
                    </a:lnT>
                    <a:lnB>
                      <a:noFill/>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场地使用权</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a:noFill/>
                    </a:lnL>
                    <a:lnR w="12700" cap="flat" cmpd="sng">
                      <a:solidFill>
                        <a:srgbClr val="000000"/>
                      </a:solidFill>
                      <a:prstDash val="solid"/>
                      <a:headEnd type="none" w="med" len="med"/>
                      <a:tailEnd type="none" w="med" len="med"/>
                    </a:lnR>
                    <a:lnT>
                      <a:noFill/>
                    </a:lnT>
                    <a:lnB>
                      <a:noFill/>
                    </a:lnB>
                    <a:noFill/>
                  </a:tcPr>
                </a:tc>
              </a:tr>
              <a:tr h="224790">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2.3</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12700" cap="flat" cmpd="sng">
                      <a:solidFill>
                        <a:srgbClr val="000000"/>
                      </a:solidFill>
                      <a:prstDash val="solid"/>
                      <a:headEnd type="none" w="med" len="med"/>
                      <a:tailEnd type="none" w="med" len="med"/>
                    </a:lnL>
                    <a:lnR>
                      <a:noFill/>
                    </a:lnR>
                    <a:lnT>
                      <a:noFill/>
                    </a:lnT>
                    <a:lnB>
                      <a:noFill/>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其他无形资产</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112.4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r>
                        <a:rPr lang="en-US" altLang="zh-CN" sz="1100" b="0" i="0">
                          <a:solidFill>
                            <a:srgbClr val="FF0000"/>
                          </a:solidFill>
                          <a:latin typeface="宋体" panose="02010600030101010101" pitchFamily="2" charset="-122"/>
                          <a:ea typeface="宋体" panose="02010600030101010101" pitchFamily="2" charset="-122"/>
                        </a:rPr>
                        <a:t>112.4 </a:t>
                      </a:r>
                      <a:endParaRPr lang="en-US" altLang="zh-CN"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a:noFill/>
                    </a:lnL>
                    <a:lnR w="12700" cap="flat" cmpd="sng">
                      <a:solidFill>
                        <a:srgbClr val="000000"/>
                      </a:solidFill>
                      <a:prstDash val="solid"/>
                      <a:headEnd type="none" w="med" len="med"/>
                      <a:tailEnd type="none" w="med" len="med"/>
                    </a:lnR>
                    <a:lnT>
                      <a:noFill/>
                    </a:lnT>
                    <a:lnB>
                      <a:noFill/>
                    </a:lnB>
                    <a:noFill/>
                  </a:tcPr>
                </a:tc>
              </a:tr>
              <a:tr h="225425">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3</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12700" cap="flat" cmpd="sng">
                      <a:solidFill>
                        <a:srgbClr val="000000"/>
                      </a:solidFill>
                      <a:prstDash val="solid"/>
                      <a:headEnd type="none" w="med" len="med"/>
                      <a:tailEnd type="none" w="med" len="med"/>
                    </a:lnL>
                    <a:lnR>
                      <a:noFill/>
                    </a:lnR>
                    <a:lnT>
                      <a:noFill/>
                    </a:lnT>
                    <a:lnB>
                      <a:noFill/>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递延资产</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a:noFill/>
                    </a:lnL>
                    <a:lnR w="12700" cap="flat" cmpd="sng">
                      <a:solidFill>
                        <a:srgbClr val="000000"/>
                      </a:solidFill>
                      <a:prstDash val="solid"/>
                      <a:headEnd type="none" w="med" len="med"/>
                      <a:tailEnd type="none" w="med" len="med"/>
                    </a:lnR>
                    <a:lnT>
                      <a:noFill/>
                    </a:lnT>
                    <a:lnB>
                      <a:noFill/>
                    </a:lnB>
                    <a:noFill/>
                  </a:tcPr>
                </a:tc>
              </a:tr>
              <a:tr h="226060">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3.1</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12700" cap="flat" cmpd="sng">
                      <a:solidFill>
                        <a:srgbClr val="000000"/>
                      </a:solidFill>
                      <a:prstDash val="solid"/>
                      <a:headEnd type="none" w="med" len="med"/>
                      <a:tailEnd type="none" w="med" len="med"/>
                    </a:lnL>
                    <a:lnR>
                      <a:noFill/>
                    </a:lnR>
                    <a:lnT>
                      <a:noFill/>
                    </a:lnT>
                    <a:lnB>
                      <a:noFill/>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咨询调查</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a:noFill/>
                    </a:lnL>
                    <a:lnR w="12700" cap="flat" cmpd="sng">
                      <a:solidFill>
                        <a:srgbClr val="000000"/>
                      </a:solidFill>
                      <a:prstDash val="solid"/>
                      <a:headEnd type="none" w="med" len="med"/>
                      <a:tailEnd type="none" w="med" len="med"/>
                    </a:lnR>
                    <a:lnT>
                      <a:noFill/>
                    </a:lnT>
                    <a:lnB>
                      <a:noFill/>
                    </a:lnB>
                    <a:noFill/>
                  </a:tcPr>
                </a:tc>
              </a:tr>
              <a:tr h="224790">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3.2</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12700" cap="flat" cmpd="sng">
                      <a:solidFill>
                        <a:srgbClr val="000000"/>
                      </a:solidFill>
                      <a:prstDash val="solid"/>
                      <a:headEnd type="none" w="med" len="med"/>
                      <a:tailEnd type="none" w="med" len="med"/>
                    </a:lnL>
                    <a:lnR>
                      <a:noFill/>
                    </a:lnR>
                    <a:lnT>
                      <a:noFill/>
                    </a:lnT>
                    <a:lnB>
                      <a:noFill/>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人员培训</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a:noFill/>
                    </a:lnL>
                    <a:lnR w="12700" cap="flat" cmpd="sng">
                      <a:solidFill>
                        <a:srgbClr val="000000"/>
                      </a:solidFill>
                      <a:prstDash val="solid"/>
                      <a:headEnd type="none" w="med" len="med"/>
                      <a:tailEnd type="none" w="med" len="med"/>
                    </a:lnR>
                    <a:lnT>
                      <a:noFill/>
                    </a:lnT>
                    <a:lnB>
                      <a:noFill/>
                    </a:lnB>
                    <a:noFill/>
                  </a:tcPr>
                </a:tc>
              </a:tr>
              <a:tr h="225425">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3.3</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12700" cap="flat" cmpd="sng">
                      <a:solidFill>
                        <a:srgbClr val="000000"/>
                      </a:solidFill>
                      <a:prstDash val="solid"/>
                      <a:headEnd type="none" w="med" len="med"/>
                      <a:tailEnd type="none" w="med" len="med"/>
                    </a:lnL>
                    <a:lnR>
                      <a:noFill/>
                    </a:lnR>
                    <a:lnT>
                      <a:noFill/>
                    </a:lnT>
                    <a:lnB>
                      <a:noFill/>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筹建费</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a:noFill/>
                    </a:lnL>
                    <a:lnR w="12700" cap="flat" cmpd="sng">
                      <a:solidFill>
                        <a:srgbClr val="000000"/>
                      </a:solidFill>
                      <a:prstDash val="solid"/>
                      <a:headEnd type="none" w="med" len="med"/>
                      <a:tailEnd type="none" w="med" len="med"/>
                    </a:lnR>
                    <a:lnT>
                      <a:noFill/>
                    </a:lnT>
                    <a:lnB>
                      <a:noFill/>
                    </a:lnB>
                    <a:noFill/>
                  </a:tcPr>
                </a:tc>
              </a:tr>
              <a:tr h="225425">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3.4</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12700" cap="flat" cmpd="sng">
                      <a:solidFill>
                        <a:srgbClr val="000000"/>
                      </a:solidFill>
                      <a:prstDash val="solid"/>
                      <a:headEnd type="none" w="med" len="med"/>
                      <a:tailEnd type="none" w="med" len="med"/>
                    </a:lnL>
                    <a:lnR>
                      <a:noFill/>
                    </a:lnR>
                    <a:lnT>
                      <a:noFill/>
                    </a:lnT>
                    <a:lnB>
                      <a:noFill/>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其他</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a:noFill/>
                    </a:lnL>
                    <a:lnR w="12700" cap="flat" cmpd="sng">
                      <a:solidFill>
                        <a:srgbClr val="000000"/>
                      </a:solidFill>
                      <a:prstDash val="solid"/>
                      <a:headEnd type="none" w="med" len="med"/>
                      <a:tailEnd type="none" w="med" len="med"/>
                    </a:lnR>
                    <a:lnT>
                      <a:noFill/>
                    </a:lnT>
                    <a:lnB>
                      <a:noFill/>
                    </a:lnB>
                    <a:noFill/>
                  </a:tcPr>
                </a:tc>
              </a:tr>
              <a:tr h="396875">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4</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12700" cap="flat" cmpd="sng">
                      <a:solidFill>
                        <a:srgbClr val="000000"/>
                      </a:solidFill>
                      <a:prstDash val="solid"/>
                      <a:headEnd type="none" w="med" len="med"/>
                      <a:tailEnd type="none" w="med" len="med"/>
                    </a:lnL>
                    <a:lnR>
                      <a:noFill/>
                    </a:lnR>
                    <a:lnT>
                      <a:noFill/>
                    </a:lnT>
                    <a:lnB>
                      <a:noFill/>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投资方向调节税</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a:noFill/>
                    </a:lnL>
                    <a:lnR w="12700" cap="flat" cmpd="sng">
                      <a:solidFill>
                        <a:srgbClr val="000000"/>
                      </a:solidFill>
                      <a:prstDash val="solid"/>
                      <a:headEnd type="none" w="med" len="med"/>
                      <a:tailEnd type="none" w="med" len="med"/>
                    </a:lnR>
                    <a:lnT>
                      <a:noFill/>
                    </a:lnT>
                    <a:lnB>
                      <a:noFill/>
                    </a:lnB>
                    <a:noFill/>
                  </a:tcPr>
                </a:tc>
              </a:tr>
              <a:tr h="224790">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5</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12700" cap="flat" cmpd="sng">
                      <a:solidFill>
                        <a:srgbClr val="000000"/>
                      </a:solidFill>
                      <a:prstDash val="solid"/>
                      <a:headEnd type="none" w="med" len="med"/>
                      <a:tailEnd type="none" w="med" len="med"/>
                    </a:lnL>
                    <a:lnR>
                      <a:noFill/>
                    </a:lnR>
                    <a:lnT>
                      <a:noFill/>
                    </a:lnT>
                    <a:lnB>
                      <a:noFill/>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预备费</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105.8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r>
                        <a:rPr lang="en-US" altLang="zh-CN" sz="1100" b="0" i="0">
                          <a:solidFill>
                            <a:srgbClr val="FF0000"/>
                          </a:solidFill>
                          <a:latin typeface="宋体" panose="02010600030101010101" pitchFamily="2" charset="-122"/>
                          <a:ea typeface="宋体" panose="02010600030101010101" pitchFamily="2" charset="-122"/>
                        </a:rPr>
                        <a:t>105.8 </a:t>
                      </a:r>
                      <a:endParaRPr lang="en-US" altLang="zh-CN"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a:noFill/>
                    </a:lnL>
                    <a:lnR w="12700" cap="flat" cmpd="sng">
                      <a:solidFill>
                        <a:srgbClr val="000000"/>
                      </a:solidFill>
                      <a:prstDash val="solid"/>
                      <a:headEnd type="none" w="med" len="med"/>
                      <a:tailEnd type="none" w="med" len="med"/>
                    </a:lnR>
                    <a:lnT>
                      <a:noFill/>
                    </a:lnT>
                    <a:lnB>
                      <a:noFill/>
                    </a:lnB>
                    <a:noFill/>
                  </a:tcPr>
                </a:tc>
              </a:tr>
              <a:tr h="225425">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5.1</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12700" cap="flat" cmpd="sng">
                      <a:solidFill>
                        <a:srgbClr val="000000"/>
                      </a:solidFill>
                      <a:prstDash val="solid"/>
                      <a:headEnd type="none" w="med" len="med"/>
                      <a:tailEnd type="none" w="med" len="med"/>
                    </a:lnL>
                    <a:lnR>
                      <a:noFill/>
                    </a:lnR>
                    <a:lnT>
                      <a:noFill/>
                    </a:lnT>
                    <a:lnB>
                      <a:noFill/>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基本预备费</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80.0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a:noFill/>
                    </a:lnB>
                    <a:noFill/>
                  </a:tcPr>
                </a:tc>
                <a:tc>
                  <a:txBody>
                    <a:bodyPr/>
                    <a:p>
                      <a:pPr marL="6350" indent="0" algn="ctr" fontAlgn="ctr"/>
                      <a:r>
                        <a:rPr lang="en-US" altLang="zh-CN" sz="1100" b="0" i="0">
                          <a:solidFill>
                            <a:srgbClr val="FF0000"/>
                          </a:solidFill>
                          <a:latin typeface="宋体" panose="02010600030101010101" pitchFamily="2" charset="-122"/>
                          <a:ea typeface="宋体" panose="02010600030101010101" pitchFamily="2" charset="-122"/>
                        </a:rPr>
                        <a:t>80.0 </a:t>
                      </a:r>
                      <a:endParaRPr lang="en-US" altLang="zh-CN"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a:noFill/>
                    </a:lnL>
                    <a:lnR w="12700" cap="flat" cmpd="sng">
                      <a:solidFill>
                        <a:srgbClr val="000000"/>
                      </a:solidFill>
                      <a:prstDash val="solid"/>
                      <a:headEnd type="none" w="med" len="med"/>
                      <a:tailEnd type="none" w="med" len="med"/>
                    </a:lnR>
                    <a:lnT>
                      <a:noFill/>
                    </a:lnT>
                    <a:lnB>
                      <a:noFill/>
                    </a:lnB>
                    <a:noFill/>
                  </a:tcPr>
                </a:tc>
              </a:tr>
              <a:tr h="224790">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5.2</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12700" cap="flat" cmpd="sng">
                      <a:solidFill>
                        <a:srgbClr val="000000"/>
                      </a:solidFill>
                      <a:prstDash val="solid"/>
                      <a:headEnd type="none" w="med" len="med"/>
                      <a:tailEnd type="none" w="med" len="med"/>
                    </a:lnL>
                    <a:lnR>
                      <a:noFill/>
                    </a:lnR>
                    <a:lnT>
                      <a:noFill/>
                    </a:lnT>
                    <a:lnB w="6350" cap="flat" cmpd="sng">
                      <a:solidFill>
                        <a:srgbClr val="000000"/>
                      </a:solidFill>
                      <a:prstDash val="solid"/>
                      <a:headEnd type="none" w="med" len="med"/>
                      <a:tailEnd type="none" w="med" len="med"/>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涨价预备费</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w="6350" cap="flat" cmpd="sng">
                      <a:solidFill>
                        <a:srgbClr val="000000"/>
                      </a:solidFill>
                      <a:prstDash val="solid"/>
                      <a:headEnd type="none" w="med" len="med"/>
                      <a:tailEnd type="none" w="med" len="med"/>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20.8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w="6350" cap="flat" cmpd="sng">
                      <a:solidFill>
                        <a:srgbClr val="000000"/>
                      </a:solidFill>
                      <a:prstDash val="solid"/>
                      <a:headEnd type="none" w="med" len="med"/>
                      <a:tailEnd type="none" w="med" len="med"/>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w="6350" cap="flat" cmpd="sng">
                      <a:solidFill>
                        <a:srgbClr val="000000"/>
                      </a:solidFill>
                      <a:prstDash val="solid"/>
                      <a:headEnd type="none" w="med" len="med"/>
                      <a:tailEnd type="none" w="med" len="med"/>
                    </a:lnB>
                    <a:noFill/>
                  </a:tcPr>
                </a:tc>
                <a:tc>
                  <a:txBody>
                    <a:bodyPr/>
                    <a:p>
                      <a:pPr marL="6350" indent="0" algn="ctr"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a:noFill/>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FF0000"/>
                          </a:solidFill>
                          <a:latin typeface="宋体" panose="02010600030101010101" pitchFamily="2" charset="-122"/>
                          <a:ea typeface="宋体" panose="02010600030101010101" pitchFamily="2" charset="-122"/>
                        </a:rPr>
                        <a:t>20.8 </a:t>
                      </a:r>
                      <a:endParaRPr lang="en-US" altLang="zh-CN"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a:noFill/>
                    </a:lnL>
                    <a:lnR w="12700" cap="flat" cmpd="sng">
                      <a:solidFill>
                        <a:srgbClr val="000000"/>
                      </a:solidFill>
                      <a:prstDash val="solid"/>
                      <a:headEnd type="none" w="med" len="med"/>
                      <a:tailEnd type="none" w="med" len="med"/>
                    </a:lnR>
                    <a:lnT>
                      <a:noFill/>
                    </a:lnT>
                    <a:lnB w="6350" cap="flat" cmpd="sng">
                      <a:solidFill>
                        <a:srgbClr val="000000"/>
                      </a:solidFill>
                      <a:prstDash val="solid"/>
                      <a:headEnd type="none" w="med" len="med"/>
                      <a:tailEnd type="none" w="med" len="med"/>
                    </a:lnB>
                    <a:noFill/>
                  </a:tcPr>
                </a:tc>
              </a:tr>
              <a:tr h="225425">
                <a:tc>
                  <a:txBody>
                    <a:bodyPr/>
                    <a:p>
                      <a:pPr marL="6350" indent="0" algn="l" fontAlgn="ctr"/>
                      <a:endParaRPr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12700" cap="flat" cmpd="sng">
                      <a:solidFill>
                        <a:srgbClr val="000000"/>
                      </a:solidFill>
                      <a:prstDash val="solid"/>
                      <a:headEnd type="none" w="med" len="med"/>
                      <a:tailEnd type="none" w="med" len="med"/>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2">
                        <a:lumMod val="20000"/>
                        <a:lumOff val="80000"/>
                      </a:schemeClr>
                    </a:solid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总计</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2">
                        <a:lumMod val="20000"/>
                        <a:lumOff val="80000"/>
                      </a:schemeClr>
                    </a:solid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544.0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2">
                        <a:lumMod val="20000"/>
                        <a:lumOff val="80000"/>
                      </a:schemeClr>
                    </a:solid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1010.0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2">
                        <a:lumMod val="20000"/>
                        <a:lumOff val="80000"/>
                      </a:schemeClr>
                    </a:solid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103.6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2">
                        <a:lumMod val="20000"/>
                        <a:lumOff val="80000"/>
                      </a:schemeClr>
                    </a:solid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242.4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a:noFill/>
                    </a:lnL>
                    <a:lnR>
                      <a:noFill/>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2">
                        <a:lumMod val="20000"/>
                        <a:lumOff val="80000"/>
                      </a:schemeClr>
                    </a:solidFill>
                  </a:tcPr>
                </a:tc>
                <a:tc>
                  <a:txBody>
                    <a:bodyPr/>
                    <a:p>
                      <a:pPr marL="6350" indent="0" algn="ctr" fontAlgn="ctr"/>
                      <a:r>
                        <a:rPr lang="en-US" altLang="zh-CN" sz="1100" b="0" i="0">
                          <a:solidFill>
                            <a:srgbClr val="FF0000"/>
                          </a:solidFill>
                          <a:latin typeface="宋体" panose="02010600030101010101" pitchFamily="2" charset="-122"/>
                          <a:ea typeface="宋体" panose="02010600030101010101" pitchFamily="2" charset="-122"/>
                        </a:rPr>
                        <a:t>1900.0 </a:t>
                      </a:r>
                      <a:endParaRPr lang="en-US" altLang="zh-CN"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a:noFill/>
                    </a:lnL>
                    <a:lnR w="1270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chemeClr val="accent2">
                        <a:lumMod val="20000"/>
                        <a:lumOff val="80000"/>
                      </a:schemeClr>
                    </a:solidFill>
                  </a:tcPr>
                </a:tc>
              </a:tr>
            </a:tbl>
          </a:graphicData>
        </a:graphic>
      </p:graphicFrame>
      <p:sp>
        <p:nvSpPr>
          <p:cNvPr id="61" name="小李PPT18"/>
          <p:cNvSpPr/>
          <p:nvPr/>
        </p:nvSpPr>
        <p:spPr>
          <a:xfrm>
            <a:off x="8099024" y="4184963"/>
            <a:ext cx="785876" cy="3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731520" rtl="0" eaLnBrk="1" fontAlgn="auto" latinLnBrk="0" hangingPunct="1">
              <a:lnSpc>
                <a:spcPct val="100000"/>
              </a:lnSpc>
              <a:spcBef>
                <a:spcPts val="0"/>
              </a:spcBef>
              <a:spcAft>
                <a:spcPts val="0"/>
              </a:spcAft>
              <a:buClrTx/>
              <a:buSzTx/>
              <a:buFontTx/>
              <a:buNone/>
              <a:defRPr/>
            </a:pPr>
            <a:endParaRPr kumimoji="0" lang="zh-CN" altLang="en-US" sz="1440" b="0" i="0" u="none" strike="noStrike" kern="1200" cap="none" spc="0" normalizeH="0" baseline="0" noProof="0">
              <a:ln>
                <a:noFill/>
              </a:ln>
              <a:solidFill>
                <a:srgbClr val="38C56F"/>
              </a:solidFill>
              <a:effectLst/>
              <a:uLnTx/>
              <a:uFillTx/>
              <a:latin typeface="Calibri" panose="020F0502020204030204"/>
              <a:ea typeface="等线" panose="02010600030101010101" pitchFamily="2" charset="-122"/>
              <a:cs typeface="+mn-cs"/>
            </a:endParaRPr>
          </a:p>
        </p:txBody>
      </p:sp>
      <p:sp>
        <p:nvSpPr>
          <p:cNvPr id="15" name="文本框 14"/>
          <p:cNvSpPr txBox="1"/>
          <p:nvPr/>
        </p:nvSpPr>
        <p:spPr>
          <a:xfrm>
            <a:off x="8098790" y="4356100"/>
            <a:ext cx="3599180" cy="2137410"/>
          </a:xfrm>
          <a:prstGeom prst="rect">
            <a:avLst/>
          </a:prstGeom>
          <a:noFill/>
        </p:spPr>
        <p:txBody>
          <a:bodyPr wrap="square" rtlCol="0" anchor="t">
            <a:noAutofit/>
          </a:bodyPr>
          <a:p>
            <a:pPr marL="0" marR="0" lvl="0" indent="0" algn="l" defTabSz="731520" rtl="0" eaLnBrk="1" fontAlgn="auto" latinLnBrk="0" hangingPunct="1">
              <a:lnSpc>
                <a:spcPts val="2520"/>
              </a:lnSpc>
              <a:spcBef>
                <a:spcPts val="0"/>
              </a:spcBef>
              <a:spcAft>
                <a:spcPts val="0"/>
              </a:spcAft>
              <a:buClrTx/>
              <a:buSzTx/>
              <a:buFontTx/>
              <a:buNone/>
              <a:defRPr/>
            </a:pPr>
            <a:r>
              <a:rPr lang="zh-CN" sz="3200" kern="0" dirty="0">
                <a:ln/>
                <a:solidFill>
                  <a:schemeClr val="tx1"/>
                </a:solidFill>
                <a:effectLst>
                  <a:outerShdw blurRad="38100" dist="19050" dir="2700000" algn="tl" rotWithShape="0">
                    <a:schemeClr val="dk1">
                      <a:alpha val="40000"/>
                    </a:schemeClr>
                  </a:outerShdw>
                </a:effectLst>
                <a:latin typeface="+mn-ea"/>
                <a:sym typeface="+mn-ea"/>
              </a:rPr>
              <a:t>经初步估计，</a:t>
            </a:r>
            <a:endParaRPr lang="zh-CN" sz="3200" kern="0" dirty="0">
              <a:ln/>
              <a:solidFill>
                <a:schemeClr val="tx1"/>
              </a:solidFill>
              <a:effectLst>
                <a:outerShdw blurRad="38100" dist="19050" dir="2700000" algn="tl" rotWithShape="0">
                  <a:schemeClr val="dk1">
                    <a:alpha val="40000"/>
                  </a:schemeClr>
                </a:outerShdw>
              </a:effectLst>
              <a:latin typeface="+mn-ea"/>
              <a:sym typeface="+mn-ea"/>
            </a:endParaRPr>
          </a:p>
          <a:p>
            <a:pPr marL="0" marR="0" lvl="0" indent="0" algn="l" defTabSz="731520" rtl="0" eaLnBrk="1" fontAlgn="auto" latinLnBrk="0" hangingPunct="1">
              <a:lnSpc>
                <a:spcPts val="2520"/>
              </a:lnSpc>
              <a:spcBef>
                <a:spcPts val="0"/>
              </a:spcBef>
              <a:spcAft>
                <a:spcPts val="0"/>
              </a:spcAft>
              <a:buClrTx/>
              <a:buSzTx/>
              <a:buFontTx/>
              <a:buNone/>
              <a:defRPr/>
            </a:pPr>
            <a:endParaRPr lang="zh-CN" sz="3200" kern="0" dirty="0">
              <a:ln/>
              <a:solidFill>
                <a:schemeClr val="tx1"/>
              </a:solidFill>
              <a:effectLst>
                <a:outerShdw blurRad="38100" dist="19050" dir="2700000" algn="tl" rotWithShape="0">
                  <a:schemeClr val="dk1">
                    <a:alpha val="40000"/>
                  </a:schemeClr>
                </a:outerShdw>
              </a:effectLst>
              <a:latin typeface="+mn-ea"/>
              <a:sym typeface="+mn-ea"/>
            </a:endParaRPr>
          </a:p>
          <a:p>
            <a:pPr marL="0" marR="0" lvl="0" indent="0" algn="l" defTabSz="731520" rtl="0" eaLnBrk="1" fontAlgn="auto" latinLnBrk="0" hangingPunct="1">
              <a:lnSpc>
                <a:spcPts val="2520"/>
              </a:lnSpc>
              <a:spcBef>
                <a:spcPts val="0"/>
              </a:spcBef>
              <a:spcAft>
                <a:spcPts val="0"/>
              </a:spcAft>
              <a:buClrTx/>
              <a:buSzTx/>
              <a:buFontTx/>
              <a:buNone/>
              <a:defRPr/>
            </a:pPr>
            <a:r>
              <a:rPr sz="3200" kern="0" dirty="0">
                <a:ln/>
                <a:solidFill>
                  <a:schemeClr val="tx1"/>
                </a:solidFill>
                <a:effectLst>
                  <a:outerShdw blurRad="38100" dist="19050" dir="2700000" algn="tl" rotWithShape="0">
                    <a:schemeClr val="dk1">
                      <a:alpha val="40000"/>
                    </a:schemeClr>
                  </a:outerShdw>
                </a:effectLst>
                <a:latin typeface="+mn-ea"/>
                <a:sym typeface="+mn-ea"/>
              </a:rPr>
              <a:t>建设投资估算</a:t>
            </a:r>
            <a:r>
              <a:rPr lang="zh-CN" sz="3200" kern="0" dirty="0">
                <a:ln/>
                <a:solidFill>
                  <a:schemeClr val="tx1"/>
                </a:solidFill>
                <a:effectLst>
                  <a:outerShdw blurRad="38100" dist="19050" dir="2700000" algn="tl" rotWithShape="0">
                    <a:schemeClr val="dk1">
                      <a:alpha val="40000"/>
                    </a:schemeClr>
                  </a:outerShdw>
                </a:effectLst>
                <a:latin typeface="+mn-ea"/>
                <a:sym typeface="+mn-ea"/>
              </a:rPr>
              <a:t>总计</a:t>
            </a:r>
            <a:endParaRPr lang="zh-CN" sz="3200" kern="0" dirty="0">
              <a:ln/>
              <a:solidFill>
                <a:schemeClr val="tx1"/>
              </a:solidFill>
              <a:effectLst>
                <a:outerShdw blurRad="38100" dist="19050" dir="2700000" algn="tl" rotWithShape="0">
                  <a:schemeClr val="dk1">
                    <a:alpha val="40000"/>
                  </a:schemeClr>
                </a:outerShdw>
              </a:effectLst>
              <a:latin typeface="+mn-ea"/>
              <a:sym typeface="+mn-ea"/>
            </a:endParaRPr>
          </a:p>
          <a:p>
            <a:pPr marL="0" marR="0" lvl="0" indent="0" algn="l" defTabSz="731520" rtl="0" eaLnBrk="1" fontAlgn="auto" latinLnBrk="0" hangingPunct="1">
              <a:lnSpc>
                <a:spcPts val="2520"/>
              </a:lnSpc>
              <a:spcBef>
                <a:spcPts val="0"/>
              </a:spcBef>
              <a:spcAft>
                <a:spcPts val="0"/>
              </a:spcAft>
              <a:buClrTx/>
              <a:buSzTx/>
              <a:buFontTx/>
              <a:buNone/>
              <a:defRPr/>
            </a:pPr>
            <a:endParaRPr lang="zh-CN" sz="3200" kern="0" dirty="0">
              <a:ln/>
              <a:solidFill>
                <a:schemeClr val="tx1"/>
              </a:solidFill>
              <a:effectLst>
                <a:outerShdw blurRad="38100" dist="19050" dir="2700000" algn="tl" rotWithShape="0">
                  <a:schemeClr val="dk1">
                    <a:alpha val="40000"/>
                  </a:schemeClr>
                </a:outerShdw>
              </a:effectLst>
              <a:latin typeface="+mn-ea"/>
              <a:sym typeface="+mn-ea"/>
            </a:endParaRPr>
          </a:p>
          <a:p>
            <a:pPr marL="0" marR="0" lvl="0" indent="0" algn="l" defTabSz="731520" rtl="0" eaLnBrk="1" fontAlgn="auto" latinLnBrk="0" hangingPunct="1">
              <a:lnSpc>
                <a:spcPts val="2520"/>
              </a:lnSpc>
              <a:spcBef>
                <a:spcPts val="0"/>
              </a:spcBef>
              <a:spcAft>
                <a:spcPts val="0"/>
              </a:spcAft>
              <a:buClrTx/>
              <a:buSzTx/>
              <a:buFontTx/>
              <a:buNone/>
              <a:defRPr/>
            </a:pPr>
            <a:r>
              <a:rPr lang="zh-CN" sz="3200" kern="0" dirty="0">
                <a:ln/>
                <a:solidFill>
                  <a:schemeClr val="tx1"/>
                </a:solidFill>
                <a:effectLst>
                  <a:outerShdw blurRad="38100" dist="19050" dir="2700000" algn="tl" rotWithShape="0">
                    <a:schemeClr val="dk1">
                      <a:alpha val="40000"/>
                    </a:schemeClr>
                  </a:outerShdw>
                </a:effectLst>
                <a:latin typeface="+mn-ea"/>
                <a:sym typeface="+mn-ea"/>
              </a:rPr>
              <a:t>约</a:t>
            </a:r>
            <a:r>
              <a:rPr lang="en-US" altLang="zh-CN" sz="3200" kern="0" dirty="0">
                <a:ln/>
                <a:solidFill>
                  <a:schemeClr val="tx1"/>
                </a:solidFill>
                <a:effectLst>
                  <a:outerShdw blurRad="38100" dist="19050" dir="2700000" algn="tl" rotWithShape="0">
                    <a:schemeClr val="dk1">
                      <a:alpha val="40000"/>
                    </a:schemeClr>
                  </a:outerShdw>
                </a:effectLst>
                <a:latin typeface="+mn-ea"/>
                <a:sym typeface="+mn-ea"/>
              </a:rPr>
              <a:t>1900</a:t>
            </a:r>
            <a:r>
              <a:rPr lang="zh-CN" altLang="en-US" sz="3200" kern="0" dirty="0">
                <a:ln/>
                <a:solidFill>
                  <a:schemeClr val="tx1"/>
                </a:solidFill>
                <a:effectLst>
                  <a:outerShdw blurRad="38100" dist="19050" dir="2700000" algn="tl" rotWithShape="0">
                    <a:schemeClr val="dk1">
                      <a:alpha val="40000"/>
                    </a:schemeClr>
                  </a:outerShdw>
                </a:effectLst>
                <a:latin typeface="+mn-ea"/>
                <a:sym typeface="+mn-ea"/>
              </a:rPr>
              <a:t>万元。</a:t>
            </a:r>
            <a:endParaRPr lang="zh-CN" altLang="en-US" sz="3200" kern="0" dirty="0">
              <a:ln/>
              <a:solidFill>
                <a:schemeClr val="tx1"/>
              </a:solidFill>
              <a:effectLst>
                <a:outerShdw blurRad="38100" dist="19050" dir="2700000" algn="tl" rotWithShape="0">
                  <a:schemeClr val="dk1">
                    <a:alpha val="40000"/>
                  </a:schemeClr>
                </a:outerShdw>
              </a:effectLst>
              <a:latin typeface="+mn-ea"/>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小李PPT2"/>
          <p:cNvSpPr txBox="1"/>
          <p:nvPr/>
        </p:nvSpPr>
        <p:spPr>
          <a:xfrm>
            <a:off x="800099" y="265105"/>
            <a:ext cx="38404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prstClr val="black"/>
                </a:solidFill>
                <a:latin typeface="+mj-ea"/>
                <a:ea typeface="+mj-ea"/>
                <a:sym typeface="+mn-ea"/>
              </a:rPr>
              <a:t>（二）流动资金估算</a:t>
            </a:r>
            <a:endParaRPr lang="zh-CN" altLang="en-US" sz="3200" dirty="0">
              <a:solidFill>
                <a:prstClr val="black"/>
              </a:solidFill>
              <a:latin typeface="+mj-ea"/>
              <a:ea typeface="+mj-ea"/>
              <a:sym typeface="+mn-ea"/>
            </a:endParaRPr>
          </a:p>
        </p:txBody>
      </p:sp>
      <p:sp>
        <p:nvSpPr>
          <p:cNvPr id="9" name="小李PPT3"/>
          <p:cNvSpPr/>
          <p:nvPr/>
        </p:nvSpPr>
        <p:spPr>
          <a:xfrm>
            <a:off x="695325" y="337281"/>
            <a:ext cx="79375" cy="40005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274" name="小李PPT4"/>
          <p:cNvSpPr/>
          <p:nvPr>
            <p:custDataLst>
              <p:tags r:id="rId1"/>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5" name="小李PPT5"/>
          <p:cNvSpPr/>
          <p:nvPr>
            <p:custDataLst>
              <p:tags r:id="rId2"/>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 name="小李PPT6"/>
          <p:cNvSpPr/>
          <p:nvPr>
            <p:custDataLst>
              <p:tags r:id="rId3"/>
            </p:custDataLst>
          </p:nvPr>
        </p:nvSpPr>
        <p:spPr>
          <a:xfrm>
            <a:off x="4000500" y="-914400"/>
            <a:ext cx="635000" cy="635000"/>
          </a:xfrm>
          <a:prstGeom prst="rect">
            <a:avLst/>
          </a:prstGeom>
          <a:solidFill>
            <a:schemeClr val="dk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7" name="小李PPT7"/>
          <p:cNvSpPr/>
          <p:nvPr>
            <p:custDataLst>
              <p:tags r:id="rId4"/>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8" name="小李PPT8"/>
          <p:cNvSpPr/>
          <p:nvPr>
            <p:custDataLst>
              <p:tags r:id="rId5"/>
            </p:custDataLst>
          </p:nvPr>
        </p:nvSpPr>
        <p:spPr>
          <a:xfrm>
            <a:off x="5778500" y="-914400"/>
            <a:ext cx="635000" cy="6350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1</a:t>
            </a:r>
            <a:endParaRPr lang="zh-CN" altLang="en-US" sz="2000">
              <a:solidFill>
                <a:srgbClr val="F2F2F2"/>
              </a:solidFill>
            </a:endParaRPr>
          </a:p>
        </p:txBody>
      </p:sp>
      <p:sp>
        <p:nvSpPr>
          <p:cNvPr id="279" name="小李PPT9"/>
          <p:cNvSpPr/>
          <p:nvPr>
            <p:custDataLst>
              <p:tags r:id="rId6"/>
            </p:custDataLst>
          </p:nvPr>
        </p:nvSpPr>
        <p:spPr>
          <a:xfrm>
            <a:off x="6540500" y="-914400"/>
            <a:ext cx="635000" cy="635000"/>
          </a:xfrm>
          <a:prstGeom prst="rect">
            <a:avLst/>
          </a:prstGeom>
          <a:solidFill>
            <a:schemeClr val="accen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2</a:t>
            </a:r>
            <a:endParaRPr lang="zh-CN" altLang="en-US" sz="2000">
              <a:solidFill>
                <a:srgbClr val="F2F2F2"/>
              </a:solidFill>
            </a:endParaRPr>
          </a:p>
        </p:txBody>
      </p:sp>
      <p:sp>
        <p:nvSpPr>
          <p:cNvPr id="280" name="小李PPT10"/>
          <p:cNvSpPr/>
          <p:nvPr>
            <p:custDataLst>
              <p:tags r:id="rId7"/>
            </p:custDataLst>
          </p:nvPr>
        </p:nvSpPr>
        <p:spPr>
          <a:xfrm>
            <a:off x="7302500" y="-914400"/>
            <a:ext cx="635000" cy="635000"/>
          </a:xfrm>
          <a:prstGeom prst="rect">
            <a:avLst/>
          </a:prstGeom>
          <a:solidFill>
            <a:schemeClr val="accent3"/>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3</a:t>
            </a:r>
            <a:endParaRPr lang="zh-CN" altLang="en-US" sz="2000">
              <a:solidFill>
                <a:srgbClr val="F2F2F2"/>
              </a:solidFill>
            </a:endParaRPr>
          </a:p>
        </p:txBody>
      </p:sp>
      <p:sp>
        <p:nvSpPr>
          <p:cNvPr id="281" name="小李PPT11"/>
          <p:cNvSpPr/>
          <p:nvPr>
            <p:custDataLst>
              <p:tags r:id="rId8"/>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4</a:t>
            </a:r>
            <a:endParaRPr lang="zh-CN" altLang="en-US" sz="2000">
              <a:solidFill>
                <a:srgbClr val="F2F2F2"/>
              </a:solidFill>
            </a:endParaRPr>
          </a:p>
        </p:txBody>
      </p:sp>
      <p:sp>
        <p:nvSpPr>
          <p:cNvPr id="282" name="小李PPT12"/>
          <p:cNvSpPr/>
          <p:nvPr>
            <p:custDataLst>
              <p:tags r:id="rId9"/>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5</a:t>
            </a:r>
            <a:endParaRPr lang="zh-CN" altLang="en-US" sz="2000">
              <a:solidFill>
                <a:srgbClr val="F2F2F2"/>
              </a:solidFill>
            </a:endParaRPr>
          </a:p>
        </p:txBody>
      </p:sp>
      <p:sp>
        <p:nvSpPr>
          <p:cNvPr id="283" name="小李PPT13"/>
          <p:cNvSpPr/>
          <p:nvPr>
            <p:custDataLst>
              <p:tags r:id="rId10"/>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6</a:t>
            </a:r>
            <a:endParaRPr lang="zh-CN" altLang="en-US" sz="2000">
              <a:solidFill>
                <a:srgbClr val="F2F2F2"/>
              </a:solidFill>
            </a:endParaRPr>
          </a:p>
        </p:txBody>
      </p:sp>
      <p:sp>
        <p:nvSpPr>
          <p:cNvPr id="2" name="小李PPT14"/>
          <p:cNvSpPr/>
          <p:nvPr/>
        </p:nvSpPr>
        <p:spPr>
          <a:xfrm>
            <a:off x="534670" y="1586865"/>
            <a:ext cx="3465195" cy="2261235"/>
          </a:xfrm>
          <a:prstGeom prst="roundRect">
            <a:avLst>
              <a:gd name="adj" fmla="val 0"/>
            </a:avLst>
          </a:prstGeom>
          <a:solidFill>
            <a:schemeClr val="accent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solidFill>
                <a:srgbClr val="F2F2F2"/>
              </a:solidFill>
            </a:endParaRPr>
          </a:p>
        </p:txBody>
      </p:sp>
      <p:sp>
        <p:nvSpPr>
          <p:cNvPr id="4" name="小李PPT16"/>
          <p:cNvSpPr txBox="1"/>
          <p:nvPr/>
        </p:nvSpPr>
        <p:spPr>
          <a:xfrm>
            <a:off x="534670" y="1695450"/>
            <a:ext cx="3316605" cy="2152650"/>
          </a:xfrm>
          <a:prstGeom prst="rect">
            <a:avLst/>
          </a:prstGeom>
          <a:noFill/>
        </p:spPr>
        <p:txBody>
          <a:bodyPr wrap="square" rtlCol="0">
            <a:noAutofit/>
          </a:bodyPr>
          <a:lstStyle/>
          <a:p>
            <a:pPr indent="457200" algn="l">
              <a:defRPr/>
            </a:pPr>
            <a:r>
              <a:rPr lang="zh-CN" altLang="en-US" sz="2400" dirty="0">
                <a:solidFill>
                  <a:srgbClr val="FFFFFF"/>
                </a:solidFill>
                <a:latin typeface="华文行楷" panose="02010800040101010101" charset="-122"/>
                <a:ea typeface="华文行楷" panose="02010800040101010101" charset="-122"/>
                <a:sym typeface="+mn-ea"/>
              </a:rPr>
              <a:t>按分项详细估算法进行流动</a:t>
            </a:r>
            <a:r>
              <a:rPr lang="zh-CN" altLang="en-US" sz="2400" dirty="0">
                <a:solidFill>
                  <a:srgbClr val="FFFFFF"/>
                </a:solidFill>
                <a:latin typeface="华文行楷" panose="02010800040101010101" charset="-122"/>
                <a:ea typeface="华文行楷" panose="02010800040101010101" charset="-122"/>
                <a:sym typeface="+mn-ea"/>
              </a:rPr>
              <a:t>资金计算，</a:t>
            </a:r>
            <a:endParaRPr lang="zh-CN" altLang="en-US" sz="2400" dirty="0">
              <a:solidFill>
                <a:srgbClr val="FFFFFF"/>
              </a:solidFill>
              <a:latin typeface="华文行楷" panose="02010800040101010101" charset="-122"/>
              <a:ea typeface="华文行楷" panose="02010800040101010101" charset="-122"/>
              <a:sym typeface="+mn-ea"/>
            </a:endParaRPr>
          </a:p>
          <a:p>
            <a:pPr indent="457200" algn="l">
              <a:defRPr/>
            </a:pPr>
            <a:r>
              <a:rPr lang="zh-CN" altLang="en-US" sz="2400" dirty="0">
                <a:solidFill>
                  <a:srgbClr val="FFFFFF"/>
                </a:solidFill>
                <a:latin typeface="华文行楷" panose="02010800040101010101" charset="-122"/>
                <a:ea typeface="华文行楷" panose="02010800040101010101" charset="-122"/>
                <a:sym typeface="+mn-ea"/>
              </a:rPr>
              <a:t>估算总额为 1000.0 万元。</a:t>
            </a:r>
            <a:endParaRPr lang="zh-CN" altLang="en-US" sz="2400" dirty="0">
              <a:solidFill>
                <a:srgbClr val="FFFFFF"/>
              </a:solidFill>
              <a:latin typeface="华文行楷" panose="02010800040101010101" charset="-122"/>
              <a:ea typeface="华文行楷" panose="02010800040101010101" charset="-122"/>
              <a:sym typeface="+mn-ea"/>
            </a:endParaRPr>
          </a:p>
          <a:p>
            <a:pPr indent="457200" algn="l">
              <a:defRPr/>
            </a:pPr>
            <a:r>
              <a:rPr lang="zh-CN" altLang="en-US" sz="2400" dirty="0">
                <a:solidFill>
                  <a:srgbClr val="FFFFFF"/>
                </a:solidFill>
                <a:latin typeface="华文行楷" panose="02010800040101010101" charset="-122"/>
                <a:ea typeface="华文行楷" panose="02010800040101010101" charset="-122"/>
                <a:sym typeface="+mn-ea"/>
              </a:rPr>
              <a:t>估算结果详见表 2。</a:t>
            </a:r>
            <a:endParaRPr lang="zh-CN" altLang="en-US" sz="2400" dirty="0">
              <a:solidFill>
                <a:srgbClr val="FFFFFF"/>
              </a:solidFill>
              <a:latin typeface="华文行楷" panose="02010800040101010101" charset="-122"/>
              <a:ea typeface="华文行楷" panose="02010800040101010101" charset="-122"/>
              <a:sym typeface="+mn-ea"/>
            </a:endParaRPr>
          </a:p>
        </p:txBody>
      </p:sp>
      <p:sp>
        <p:nvSpPr>
          <p:cNvPr id="40" name="小李PPT25"/>
          <p:cNvSpPr/>
          <p:nvPr/>
        </p:nvSpPr>
        <p:spPr>
          <a:xfrm>
            <a:off x="923895" y="2530430"/>
            <a:ext cx="1011586" cy="243840"/>
          </a:xfrm>
          <a:prstGeom prst="rect">
            <a:avLst/>
          </a:prstGeom>
          <a:noFill/>
        </p:spPr>
        <p:txBody>
          <a:bodyPr wrap="square" lIns="0" tIns="0" rIns="0" bIns="0" rtlCol="0" anchor="t"/>
          <a:lstStyle/>
          <a:p>
            <a:pPr defTabSz="731520">
              <a:lnSpc>
                <a:spcPts val="1920"/>
              </a:lnSpc>
              <a:spcAft>
                <a:spcPts val="1180"/>
              </a:spcAft>
              <a:defRPr/>
            </a:pPr>
            <a:endParaRPr lang="en-US" sz="1600" dirty="0">
              <a:solidFill>
                <a:prstClr val="black"/>
              </a:solidFill>
              <a:latin typeface="+mj-ea"/>
              <a:ea typeface="+mj-ea"/>
            </a:endParaRPr>
          </a:p>
        </p:txBody>
      </p:sp>
      <p:pic>
        <p:nvPicPr>
          <p:cNvPr id="14" name="图片 13"/>
          <p:cNvPicPr>
            <a:picLocks noChangeAspect="1"/>
          </p:cNvPicPr>
          <p:nvPr/>
        </p:nvPicPr>
        <p:blipFill>
          <a:blip r:embed="rId11"/>
          <a:stretch>
            <a:fillRect/>
          </a:stretch>
        </p:blipFill>
        <p:spPr>
          <a:xfrm>
            <a:off x="3851910" y="1122680"/>
            <a:ext cx="8340090" cy="57353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小李PPT2"/>
          <p:cNvSpPr txBox="1"/>
          <p:nvPr/>
        </p:nvSpPr>
        <p:spPr>
          <a:xfrm>
            <a:off x="800099" y="265105"/>
            <a:ext cx="3434080" cy="583565"/>
          </a:xfrm>
          <a:prstGeom prst="rect">
            <a:avLst/>
          </a:prstGeom>
          <a:noFill/>
        </p:spPr>
        <p:txBody>
          <a:bodyPr wrap="none" rtlCol="0">
            <a:spAutoFit/>
          </a:bodyPr>
          <a:lstStyle/>
          <a:p>
            <a:pPr algn="l" defTabSz="913765">
              <a:defRPr/>
            </a:pPr>
            <a:r>
              <a:rPr lang="zh-CN" altLang="en-US" sz="3200" dirty="0">
                <a:solidFill>
                  <a:prstClr val="black">
                    <a:lumMod val="75000"/>
                    <a:lumOff val="25000"/>
                  </a:prstClr>
                </a:solidFill>
                <a:latin typeface="微软雅黑 Light" panose="020B0502040204020203" charset="-122"/>
                <a:ea typeface="微软雅黑 Light" panose="020B0502040204020203" charset="-122"/>
                <a:sym typeface="+mn-ea"/>
              </a:rPr>
              <a:t>（三）项目总投资</a:t>
            </a:r>
            <a:endParaRPr lang="zh-CN" altLang="en-US" sz="3200" dirty="0">
              <a:solidFill>
                <a:prstClr val="black"/>
              </a:solidFill>
              <a:latin typeface="+mj-ea"/>
              <a:ea typeface="+mj-ea"/>
              <a:sym typeface="+mn-ea"/>
            </a:endParaRPr>
          </a:p>
        </p:txBody>
      </p:sp>
      <p:sp>
        <p:nvSpPr>
          <p:cNvPr id="9" name="小李PPT3"/>
          <p:cNvSpPr/>
          <p:nvPr/>
        </p:nvSpPr>
        <p:spPr>
          <a:xfrm>
            <a:off x="695325" y="337281"/>
            <a:ext cx="79375" cy="40005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274" name="小李PPT4"/>
          <p:cNvSpPr/>
          <p:nvPr>
            <p:custDataLst>
              <p:tags r:id="rId1"/>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5" name="小李PPT5"/>
          <p:cNvSpPr/>
          <p:nvPr>
            <p:custDataLst>
              <p:tags r:id="rId2"/>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 name="小李PPT6"/>
          <p:cNvSpPr/>
          <p:nvPr>
            <p:custDataLst>
              <p:tags r:id="rId3"/>
            </p:custDataLst>
          </p:nvPr>
        </p:nvSpPr>
        <p:spPr>
          <a:xfrm>
            <a:off x="4000500" y="-914400"/>
            <a:ext cx="635000" cy="635000"/>
          </a:xfrm>
          <a:prstGeom prst="rect">
            <a:avLst/>
          </a:prstGeom>
          <a:solidFill>
            <a:schemeClr val="dk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7" name="小李PPT7"/>
          <p:cNvSpPr/>
          <p:nvPr>
            <p:custDataLst>
              <p:tags r:id="rId4"/>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8" name="小李PPT8"/>
          <p:cNvSpPr/>
          <p:nvPr>
            <p:custDataLst>
              <p:tags r:id="rId5"/>
            </p:custDataLst>
          </p:nvPr>
        </p:nvSpPr>
        <p:spPr>
          <a:xfrm>
            <a:off x="5778500" y="-914400"/>
            <a:ext cx="635000" cy="6350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1</a:t>
            </a:r>
            <a:endParaRPr lang="zh-CN" altLang="en-US" sz="2000">
              <a:solidFill>
                <a:srgbClr val="F2F2F2"/>
              </a:solidFill>
            </a:endParaRPr>
          </a:p>
        </p:txBody>
      </p:sp>
      <p:sp>
        <p:nvSpPr>
          <p:cNvPr id="279" name="小李PPT9"/>
          <p:cNvSpPr/>
          <p:nvPr>
            <p:custDataLst>
              <p:tags r:id="rId6"/>
            </p:custDataLst>
          </p:nvPr>
        </p:nvSpPr>
        <p:spPr>
          <a:xfrm>
            <a:off x="6540500" y="-914400"/>
            <a:ext cx="635000" cy="635000"/>
          </a:xfrm>
          <a:prstGeom prst="rect">
            <a:avLst/>
          </a:prstGeom>
          <a:solidFill>
            <a:schemeClr val="accen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2</a:t>
            </a:r>
            <a:endParaRPr lang="zh-CN" altLang="en-US" sz="2000">
              <a:solidFill>
                <a:srgbClr val="F2F2F2"/>
              </a:solidFill>
            </a:endParaRPr>
          </a:p>
        </p:txBody>
      </p:sp>
      <p:sp>
        <p:nvSpPr>
          <p:cNvPr id="280" name="小李PPT10"/>
          <p:cNvSpPr/>
          <p:nvPr>
            <p:custDataLst>
              <p:tags r:id="rId7"/>
            </p:custDataLst>
          </p:nvPr>
        </p:nvSpPr>
        <p:spPr>
          <a:xfrm>
            <a:off x="7302500" y="-914400"/>
            <a:ext cx="635000" cy="635000"/>
          </a:xfrm>
          <a:prstGeom prst="rect">
            <a:avLst/>
          </a:prstGeom>
          <a:solidFill>
            <a:schemeClr val="accent3"/>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3</a:t>
            </a:r>
            <a:endParaRPr lang="zh-CN" altLang="en-US" sz="2000">
              <a:solidFill>
                <a:srgbClr val="F2F2F2"/>
              </a:solidFill>
            </a:endParaRPr>
          </a:p>
        </p:txBody>
      </p:sp>
      <p:sp>
        <p:nvSpPr>
          <p:cNvPr id="281" name="小李PPT11"/>
          <p:cNvSpPr/>
          <p:nvPr>
            <p:custDataLst>
              <p:tags r:id="rId8"/>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4</a:t>
            </a:r>
            <a:endParaRPr lang="zh-CN" altLang="en-US" sz="2000">
              <a:solidFill>
                <a:srgbClr val="F2F2F2"/>
              </a:solidFill>
            </a:endParaRPr>
          </a:p>
        </p:txBody>
      </p:sp>
      <p:sp>
        <p:nvSpPr>
          <p:cNvPr id="282" name="小李PPT12"/>
          <p:cNvSpPr/>
          <p:nvPr>
            <p:custDataLst>
              <p:tags r:id="rId9"/>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5</a:t>
            </a:r>
            <a:endParaRPr lang="zh-CN" altLang="en-US" sz="2000">
              <a:solidFill>
                <a:srgbClr val="F2F2F2"/>
              </a:solidFill>
            </a:endParaRPr>
          </a:p>
        </p:txBody>
      </p:sp>
      <p:sp>
        <p:nvSpPr>
          <p:cNvPr id="283" name="小李PPT13"/>
          <p:cNvSpPr/>
          <p:nvPr>
            <p:custDataLst>
              <p:tags r:id="rId10"/>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6</a:t>
            </a:r>
            <a:endParaRPr lang="zh-CN" altLang="en-US" sz="2000">
              <a:solidFill>
                <a:srgbClr val="F2F2F2"/>
              </a:solidFill>
            </a:endParaRPr>
          </a:p>
        </p:txBody>
      </p:sp>
      <p:grpSp>
        <p:nvGrpSpPr>
          <p:cNvPr id="5" name="组合 4"/>
          <p:cNvGrpSpPr/>
          <p:nvPr/>
        </p:nvGrpSpPr>
        <p:grpSpPr>
          <a:xfrm>
            <a:off x="8484870" y="1254125"/>
            <a:ext cx="3465195" cy="2411095"/>
            <a:chOff x="842" y="2499"/>
            <a:chExt cx="5457" cy="4173"/>
          </a:xfrm>
          <a:solidFill>
            <a:schemeClr val="accent2">
              <a:lumMod val="60000"/>
              <a:lumOff val="40000"/>
            </a:schemeClr>
          </a:solidFill>
        </p:grpSpPr>
        <p:sp>
          <p:nvSpPr>
            <p:cNvPr id="2" name="小李PPT14"/>
            <p:cNvSpPr/>
            <p:nvPr/>
          </p:nvSpPr>
          <p:spPr>
            <a:xfrm>
              <a:off x="842" y="2499"/>
              <a:ext cx="5457" cy="4173"/>
            </a:xfrm>
            <a:prstGeom prst="roundRect">
              <a:avLst>
                <a:gd name="adj" fmla="val 0"/>
              </a:avLst>
            </a:prstGeom>
            <a:grp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dirty="0">
                <a:solidFill>
                  <a:srgbClr val="F2F2F2"/>
                </a:solidFill>
              </a:endParaRPr>
            </a:p>
          </p:txBody>
        </p:sp>
        <p:sp>
          <p:nvSpPr>
            <p:cNvPr id="4" name="小李PPT16"/>
            <p:cNvSpPr txBox="1"/>
            <p:nvPr/>
          </p:nvSpPr>
          <p:spPr>
            <a:xfrm>
              <a:off x="842" y="2670"/>
              <a:ext cx="5223" cy="3390"/>
            </a:xfrm>
            <a:prstGeom prst="rect">
              <a:avLst/>
            </a:prstGeom>
            <a:grpFill/>
          </p:spPr>
          <p:txBody>
            <a:bodyPr wrap="square" rtlCol="0">
              <a:noAutofit/>
            </a:bodyPr>
            <a:lstStyle/>
            <a:p>
              <a:pPr indent="457200" algn="l">
                <a:defRPr/>
              </a:pPr>
              <a:r>
                <a:rPr lang="zh-CN" altLang="en-US" sz="2400" dirty="0">
                  <a:solidFill>
                    <a:srgbClr val="FFFFFF"/>
                  </a:solidFill>
                  <a:latin typeface="华文行楷" panose="02010800040101010101" charset="-122"/>
                  <a:ea typeface="华文行楷" panose="02010800040101010101" charset="-122"/>
                  <a:sym typeface="+mn-ea"/>
                </a:rPr>
                <a:t>项目总投资为</a:t>
              </a:r>
              <a:r>
                <a:rPr lang="zh-CN" altLang="en-US" sz="2400" dirty="0">
                  <a:solidFill>
                    <a:srgbClr val="FF0000"/>
                  </a:solidFill>
                  <a:latin typeface="华文行楷" panose="02010800040101010101" charset="-122"/>
                  <a:ea typeface="华文行楷" panose="02010800040101010101" charset="-122"/>
                  <a:sym typeface="+mn-ea"/>
                </a:rPr>
                <a:t>2900.0 万元</a:t>
              </a:r>
              <a:r>
                <a:rPr lang="zh-CN" altLang="en-US" sz="2400" dirty="0">
                  <a:solidFill>
                    <a:srgbClr val="FFFFFF"/>
                  </a:solidFill>
                  <a:latin typeface="华文行楷" panose="02010800040101010101" charset="-122"/>
                  <a:ea typeface="华文行楷" panose="02010800040101010101" charset="-122"/>
                  <a:sym typeface="+mn-ea"/>
                </a:rPr>
                <a:t>，其中建设投资 </a:t>
              </a:r>
              <a:r>
                <a:rPr lang="zh-CN" altLang="en-US" sz="2400" dirty="0">
                  <a:solidFill>
                    <a:srgbClr val="FF0000"/>
                  </a:solidFill>
                  <a:latin typeface="华文行楷" panose="02010800040101010101" charset="-122"/>
                  <a:ea typeface="华文行楷" panose="02010800040101010101" charset="-122"/>
                  <a:sym typeface="+mn-ea"/>
                </a:rPr>
                <a:t>1900.0 万元</a:t>
              </a:r>
              <a:r>
                <a:rPr lang="zh-CN" altLang="en-US" sz="2400" dirty="0">
                  <a:solidFill>
                    <a:srgbClr val="FFFFFF"/>
                  </a:solidFill>
                  <a:latin typeface="华文行楷" panose="02010800040101010101" charset="-122"/>
                  <a:ea typeface="华文行楷" panose="02010800040101010101" charset="-122"/>
                  <a:sym typeface="+mn-ea"/>
                </a:rPr>
                <a:t>，全部为资本金；流动资金 </a:t>
              </a:r>
              <a:r>
                <a:rPr lang="zh-CN" altLang="en-US" sz="2400" dirty="0">
                  <a:solidFill>
                    <a:srgbClr val="FF0000"/>
                  </a:solidFill>
                  <a:latin typeface="华文行楷" panose="02010800040101010101" charset="-122"/>
                  <a:ea typeface="华文行楷" panose="02010800040101010101" charset="-122"/>
                  <a:sym typeface="+mn-ea"/>
                </a:rPr>
                <a:t>1000.0万元</a:t>
              </a:r>
              <a:r>
                <a:rPr lang="zh-CN" altLang="en-US" sz="2400" dirty="0">
                  <a:solidFill>
                    <a:srgbClr val="FFFFFF"/>
                  </a:solidFill>
                  <a:latin typeface="华文行楷" panose="02010800040101010101" charset="-122"/>
                  <a:ea typeface="华文行楷" panose="02010800040101010101" charset="-122"/>
                  <a:sym typeface="+mn-ea"/>
                </a:rPr>
                <a:t>。</a:t>
              </a:r>
              <a:endParaRPr lang="zh-CN" altLang="en-US" sz="2400" dirty="0">
                <a:solidFill>
                  <a:srgbClr val="FFFFFF"/>
                </a:solidFill>
                <a:latin typeface="华文行楷" panose="02010800040101010101" charset="-122"/>
                <a:ea typeface="华文行楷" panose="02010800040101010101" charset="-122"/>
                <a:sym typeface="+mn-ea"/>
              </a:endParaRPr>
            </a:p>
          </p:txBody>
        </p:sp>
      </p:grpSp>
      <p:pic>
        <p:nvPicPr>
          <p:cNvPr id="3" name="图片 2"/>
          <p:cNvPicPr>
            <a:picLocks noChangeAspect="1"/>
          </p:cNvPicPr>
          <p:nvPr/>
        </p:nvPicPr>
        <p:blipFill>
          <a:blip r:embed="rId11"/>
          <a:stretch>
            <a:fillRect/>
          </a:stretch>
        </p:blipFill>
        <p:spPr>
          <a:xfrm>
            <a:off x="0" y="1017270"/>
            <a:ext cx="8361680" cy="5465445"/>
          </a:xfrm>
          <a:prstGeom prst="rect">
            <a:avLst/>
          </a:prstGeom>
        </p:spPr>
      </p:pic>
      <p:sp>
        <p:nvSpPr>
          <p:cNvPr id="8" name="小李PPT14"/>
          <p:cNvSpPr/>
          <p:nvPr/>
        </p:nvSpPr>
        <p:spPr>
          <a:xfrm>
            <a:off x="8484870" y="3879850"/>
            <a:ext cx="3465195" cy="2566035"/>
          </a:xfrm>
          <a:prstGeom prst="roundRect">
            <a:avLst>
              <a:gd name="adj" fmla="val 0"/>
            </a:avLst>
          </a:prstGeom>
          <a:solidFill>
            <a:schemeClr val="accent2">
              <a:lumMod val="60000"/>
              <a:lumOff val="4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indent="457200" algn="l">
              <a:defRPr/>
            </a:pPr>
            <a:r>
              <a:rPr lang="zh-CN" altLang="en-US" sz="2000" dirty="0">
                <a:solidFill>
                  <a:srgbClr val="FFFFFF"/>
                </a:solidFill>
                <a:latin typeface="华文行楷" panose="02010800040101010101" charset="-122"/>
                <a:ea typeface="华文行楷" panose="02010800040101010101" charset="-122"/>
                <a:sym typeface="+mn-ea"/>
              </a:rPr>
              <a:t>注：</a:t>
            </a:r>
            <a:r>
              <a:rPr lang="zh-CN" altLang="en-US" sz="2000" dirty="0">
                <a:solidFill>
                  <a:srgbClr val="FF0000"/>
                </a:solidFill>
                <a:latin typeface="华文行楷" panose="02010800040101010101" charset="-122"/>
                <a:ea typeface="华文行楷" panose="02010800040101010101" charset="-122"/>
                <a:sym typeface="+mn-ea"/>
              </a:rPr>
              <a:t>流动资金全部为银行贷款，贷款利率为 5.31%。</a:t>
            </a:r>
            <a:endParaRPr lang="zh-CN" altLang="en-US" sz="2000" dirty="0">
              <a:solidFill>
                <a:srgbClr val="FFFFFF"/>
              </a:solidFill>
              <a:latin typeface="华文行楷" panose="02010800040101010101" charset="-122"/>
              <a:ea typeface="华文行楷" panose="02010800040101010101" charset="-122"/>
              <a:sym typeface="+mn-ea"/>
            </a:endParaRPr>
          </a:p>
          <a:p>
            <a:pPr indent="457200" algn="l">
              <a:defRPr/>
            </a:pPr>
            <a:r>
              <a:rPr lang="zh-CN" altLang="en-US" sz="2000" dirty="0">
                <a:solidFill>
                  <a:srgbClr val="FFFFFF"/>
                </a:solidFill>
                <a:latin typeface="华文行楷" panose="02010800040101010101" charset="-122"/>
                <a:ea typeface="华文行楷" panose="02010800040101010101" charset="-122"/>
                <a:sym typeface="+mn-ea"/>
              </a:rPr>
              <a:t>在本项目建设期末借入流动资金，在项目运营期间偿还本息。项目总投资及资金筹措情况见表 3</a:t>
            </a:r>
            <a:endParaRPr lang="zh-CN" altLang="en-US" sz="2000" dirty="0">
              <a:solidFill>
                <a:srgbClr val="FFFFFF"/>
              </a:solidFill>
              <a:latin typeface="华文行楷" panose="02010800040101010101" charset="-122"/>
              <a:ea typeface="华文行楷" panose="02010800040101010101" charset="-122"/>
              <a:sym typeface="+mn-ea"/>
            </a:endParaRPr>
          </a:p>
          <a:p>
            <a:pPr indent="457200" algn="l">
              <a:defRPr/>
            </a:pPr>
            <a:endParaRPr lang="en-US" sz="2000" dirty="0">
              <a:solidFill>
                <a:srgbClr val="F2F2F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小李PPT1"/>
          <p:cNvSpPr/>
          <p:nvPr>
            <p:custDataLst>
              <p:tags r:id="rId1"/>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2"/>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3"/>
            </p:custDataLst>
          </p:nvPr>
        </p:nvSpPr>
        <p:spPr>
          <a:xfrm>
            <a:off x="4000500" y="-914400"/>
            <a:ext cx="635000" cy="635000"/>
          </a:xfrm>
          <a:prstGeom prst="rect">
            <a:avLst/>
          </a:prstGeom>
          <a:solidFill>
            <a:schemeClr val="dk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4"/>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5"/>
            </p:custDataLst>
          </p:nvPr>
        </p:nvSpPr>
        <p:spPr>
          <a:xfrm>
            <a:off x="5778500" y="-914400"/>
            <a:ext cx="635000" cy="6350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6"/>
            </p:custDataLst>
          </p:nvPr>
        </p:nvSpPr>
        <p:spPr>
          <a:xfrm>
            <a:off x="6540500" y="-914400"/>
            <a:ext cx="635000" cy="635000"/>
          </a:xfrm>
          <a:prstGeom prst="rect">
            <a:avLst/>
          </a:prstGeom>
          <a:solidFill>
            <a:schemeClr val="accen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7"/>
            </p:custDataLst>
          </p:nvPr>
        </p:nvSpPr>
        <p:spPr>
          <a:xfrm>
            <a:off x="7302500" y="-914400"/>
            <a:ext cx="635000" cy="635000"/>
          </a:xfrm>
          <a:prstGeom prst="rect">
            <a:avLst/>
          </a:prstGeom>
          <a:solidFill>
            <a:schemeClr val="accent3"/>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8"/>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9"/>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0"/>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grpSp>
        <p:nvGrpSpPr>
          <p:cNvPr id="2" name="小李PPT11"/>
          <p:cNvGrpSpPr/>
          <p:nvPr/>
        </p:nvGrpSpPr>
        <p:grpSpPr>
          <a:xfrm>
            <a:off x="279357" y="304810"/>
            <a:ext cx="11671385" cy="4737081"/>
            <a:chOff x="279357" y="304810"/>
            <a:chExt cx="11671385" cy="4737081"/>
          </a:xfrm>
          <a:solidFill>
            <a:srgbClr val="1D4223">
              <a:alpha val="2000"/>
            </a:srgbClr>
          </a:solidFill>
        </p:grpSpPr>
        <p:grpSp>
          <p:nvGrpSpPr>
            <p:cNvPr id="3" name="组合 2"/>
            <p:cNvGrpSpPr/>
            <p:nvPr/>
          </p:nvGrpSpPr>
          <p:grpSpPr>
            <a:xfrm>
              <a:off x="279357" y="304810"/>
              <a:ext cx="11671385" cy="609581"/>
              <a:chOff x="279357" y="304810"/>
              <a:chExt cx="11671385" cy="609581"/>
            </a:xfrm>
            <a:grpFill/>
          </p:grpSpPr>
          <p:sp>
            <p:nvSpPr>
              <p:cNvPr id="301" name="小李PPT11-1"/>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2" name="小李PPT11-2"/>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3" name="小李PPT11-3"/>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4" name="小李PPT11-4"/>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5" name="小李PPT11-5"/>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6" name="小李PPT11-6"/>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7" name="小李PPT11-7"/>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8" name="小李PPT11-8"/>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9" name="小李PPT11-9"/>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0" name="小李PPT11-10"/>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1" name="小李PPT11-11"/>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2" name="小李PPT11-12"/>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3" name="小李PPT11-13"/>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4" name="小李PPT11-14"/>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4" name="组合 3"/>
            <p:cNvGrpSpPr/>
            <p:nvPr/>
          </p:nvGrpSpPr>
          <p:grpSpPr>
            <a:xfrm>
              <a:off x="279357" y="1130310"/>
              <a:ext cx="11671385" cy="609581"/>
              <a:chOff x="279357" y="304810"/>
              <a:chExt cx="11671385" cy="609581"/>
            </a:xfrm>
            <a:grpFill/>
          </p:grpSpPr>
          <p:sp>
            <p:nvSpPr>
              <p:cNvPr id="287" name="小李PPT11-15"/>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8" name="小李PPT11-16"/>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9" name="小李PPT11-17"/>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0" name="小李PPT11-18"/>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1" name="小李PPT11-19"/>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2" name="小李PPT11-20"/>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3" name="小李PPT11-21"/>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4" name="小李PPT11-22"/>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5" name="小李PPT11-23"/>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6" name="小李PPT11-24"/>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7" name="小李PPT11-25"/>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8" name="小李PPT11-26"/>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9" name="小李PPT11-27"/>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0" name="小李PPT11-28"/>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6" name="组合 5"/>
            <p:cNvGrpSpPr/>
            <p:nvPr/>
          </p:nvGrpSpPr>
          <p:grpSpPr>
            <a:xfrm>
              <a:off x="279357" y="1955810"/>
              <a:ext cx="11671385" cy="609581"/>
              <a:chOff x="279357" y="304810"/>
              <a:chExt cx="11671385" cy="609581"/>
            </a:xfrm>
            <a:grpFill/>
          </p:grpSpPr>
          <p:sp>
            <p:nvSpPr>
              <p:cNvPr id="263" name="小李PPT11-29"/>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4" name="小李PPT11-30"/>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5" name="小李PPT11-31"/>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6" name="小李PPT11-32"/>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7" name="小李PPT11-33"/>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8" name="小李PPT11-34"/>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9" name="小李PPT11-35"/>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0" name="小李PPT11-36"/>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1" name="小李PPT11-37"/>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2" name="小李PPT11-38"/>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3" name="小李PPT11-39"/>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4" name="小李PPT11-40"/>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5" name="小李PPT11-41"/>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6" name="小李PPT11-42"/>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7" name="组合 6"/>
            <p:cNvGrpSpPr/>
            <p:nvPr/>
          </p:nvGrpSpPr>
          <p:grpSpPr>
            <a:xfrm>
              <a:off x="279357" y="2781310"/>
              <a:ext cx="11671385" cy="609581"/>
              <a:chOff x="279357" y="304810"/>
              <a:chExt cx="11671385" cy="609581"/>
            </a:xfrm>
            <a:grpFill/>
          </p:grpSpPr>
          <p:sp>
            <p:nvSpPr>
              <p:cNvPr id="57" name="小李PPT11-43"/>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8" name="小李PPT11-44"/>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9" name="小李PPT11-45"/>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0" name="小李PPT11-46"/>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1" name="小李PPT11-47"/>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2" name="小李PPT11-48"/>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3" name="小李PPT11-49"/>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6" name="小李PPT11-50"/>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7" name="小李PPT11-51"/>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8" name="小李PPT11-52"/>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9" name="小李PPT11-53"/>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0" name="小李PPT11-54"/>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1" name="小李PPT11-55"/>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2" name="小李PPT11-56"/>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10" name="组合 9"/>
            <p:cNvGrpSpPr/>
            <p:nvPr/>
          </p:nvGrpSpPr>
          <p:grpSpPr>
            <a:xfrm>
              <a:off x="279357" y="3606810"/>
              <a:ext cx="11671385" cy="609581"/>
              <a:chOff x="279357" y="304810"/>
              <a:chExt cx="11671385" cy="609581"/>
            </a:xfrm>
            <a:grpFill/>
          </p:grpSpPr>
          <p:sp>
            <p:nvSpPr>
              <p:cNvPr id="43" name="小李PPT11-57"/>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4" name="小李PPT11-58"/>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5" name="小李PPT11-59"/>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6" name="小李PPT11-60"/>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7" name="小李PPT11-61"/>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8" name="小李PPT11-62"/>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9" name="小李PPT11-63"/>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0" name="小李PPT11-64"/>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1" name="小李PPT11-65"/>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2" name="小李PPT11-66"/>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3" name="小李PPT11-67"/>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4" name="小李PPT11-68"/>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5" name="小李PPT11-69"/>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6" name="小李PPT11-70"/>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11" name="组合 10"/>
            <p:cNvGrpSpPr/>
            <p:nvPr/>
          </p:nvGrpSpPr>
          <p:grpSpPr>
            <a:xfrm>
              <a:off x="279357" y="4432310"/>
              <a:ext cx="11671385" cy="609581"/>
              <a:chOff x="279357" y="304810"/>
              <a:chExt cx="11671385" cy="609581"/>
            </a:xfrm>
            <a:grpFill/>
          </p:grpSpPr>
          <p:sp>
            <p:nvSpPr>
              <p:cNvPr id="14" name="小李PPT11-71"/>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19" name="小李PPT11-72"/>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0" name="小李PPT11-73"/>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1" name="小李PPT11-74"/>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4" name="小李PPT11-75"/>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4" name="小李PPT11-76"/>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5" name="小李PPT11-77"/>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6" name="小李PPT11-78"/>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7" name="小李PPT11-79"/>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8" name="小李PPT11-80"/>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9" name="小李PPT11-81"/>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0" name="小李PPT11-82"/>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1" name="小李PPT11-83"/>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2" name="小李PPT11-84"/>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sp>
        <p:nvSpPr>
          <p:cNvPr id="315" name="小李PPT12"/>
          <p:cNvSpPr/>
          <p:nvPr/>
        </p:nvSpPr>
        <p:spPr>
          <a:xfrm>
            <a:off x="0" y="4711700"/>
            <a:ext cx="12192000" cy="21463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FFFFFF"/>
              </a:solidFill>
              <a:latin typeface="Montserrat"/>
              <a:ea typeface="思源黑体 CN Normal"/>
            </a:endParaRPr>
          </a:p>
        </p:txBody>
      </p:sp>
      <p:sp>
        <p:nvSpPr>
          <p:cNvPr id="316" name="小李PPT13"/>
          <p:cNvSpPr txBox="1"/>
          <p:nvPr/>
        </p:nvSpPr>
        <p:spPr>
          <a:xfrm>
            <a:off x="4546600" y="-1476792"/>
            <a:ext cx="6642100" cy="9247505"/>
          </a:xfrm>
          <a:prstGeom prst="rect">
            <a:avLst/>
          </a:prstGeom>
          <a:noFill/>
        </p:spPr>
        <p:txBody>
          <a:bodyPr wrap="square" rtlCol="0">
            <a:spAutoFit/>
          </a:bodyPr>
          <a:lstStyle/>
          <a:p>
            <a:pPr algn="r">
              <a:defRPr/>
            </a:pPr>
            <a:r>
              <a:rPr lang="en-US" altLang="zh-CN" sz="59500" b="1" dirty="0">
                <a:ln>
                  <a:solidFill>
                    <a:schemeClr val="accent2">
                      <a:alpha val="50000"/>
                    </a:schemeClr>
                  </a:solidFill>
                  <a:prstDash val="dash"/>
                </a:ln>
                <a:solidFill>
                  <a:schemeClr val="bg1"/>
                </a:solidFill>
                <a:effectLst>
                  <a:outerShdw blurRad="101600" dist="38100" dir="5400000" algn="t" rotWithShape="0">
                    <a:srgbClr val="1D4223">
                      <a:alpha val="40000"/>
                    </a:srgbClr>
                  </a:outerShdw>
                </a:effectLst>
                <a:latin typeface="Bahnschrift SemiBold" panose="020B0502040204020203"/>
                <a:ea typeface="微软雅黑 Light" panose="020B0502040204020203" charset="-122"/>
              </a:rPr>
              <a:t>3</a:t>
            </a:r>
            <a:endParaRPr lang="en-US" altLang="zh-CN" sz="59500" b="1" dirty="0">
              <a:ln>
                <a:solidFill>
                  <a:schemeClr val="accent2">
                    <a:alpha val="50000"/>
                  </a:schemeClr>
                </a:solidFill>
                <a:prstDash val="dash"/>
              </a:ln>
              <a:solidFill>
                <a:schemeClr val="bg1"/>
              </a:solidFill>
              <a:effectLst>
                <a:outerShdw blurRad="101600" dist="38100" dir="5400000" algn="t" rotWithShape="0">
                  <a:srgbClr val="1D4223">
                    <a:alpha val="40000"/>
                  </a:srgbClr>
                </a:outerShdw>
              </a:effectLst>
              <a:latin typeface="Bahnschrift SemiBold" panose="020B0502040204020203"/>
              <a:ea typeface="微软雅黑 Light" panose="020B0502040204020203" charset="-122"/>
            </a:endParaRPr>
          </a:p>
        </p:txBody>
      </p:sp>
      <p:sp>
        <p:nvSpPr>
          <p:cNvPr id="317" name="小李PPT14"/>
          <p:cNvSpPr txBox="1"/>
          <p:nvPr/>
        </p:nvSpPr>
        <p:spPr>
          <a:xfrm>
            <a:off x="1066800" y="4953000"/>
            <a:ext cx="5791200" cy="1569660"/>
          </a:xfrm>
          <a:prstGeom prst="rect">
            <a:avLst/>
          </a:prstGeom>
          <a:noFill/>
        </p:spPr>
        <p:txBody>
          <a:bodyPr wrap="square" rtlCol="0">
            <a:spAutoFit/>
          </a:bodyPr>
          <a:lstStyle/>
          <a:p>
            <a:pPr>
              <a:defRPr/>
            </a:pPr>
            <a:r>
              <a:rPr lang="en-US" altLang="zh-CN" sz="9600" b="1" dirty="0">
                <a:gradFill>
                  <a:gsLst>
                    <a:gs pos="0">
                      <a:prstClr val="white">
                        <a:alpha val="43000"/>
                      </a:prstClr>
                    </a:gs>
                    <a:gs pos="98000">
                      <a:prstClr val="white">
                        <a:alpha val="21000"/>
                      </a:prstClr>
                    </a:gs>
                  </a:gsLst>
                  <a:lin ang="0" scaled="0"/>
                </a:gradFill>
                <a:latin typeface="Bahnschrift SemiBold" panose="020B0502040204020203"/>
                <a:ea typeface="微软雅黑 Light" panose="020B0502040204020203" charset="-122"/>
              </a:rPr>
              <a:t>CHAPTER</a:t>
            </a:r>
            <a:endParaRPr lang="zh-CN" altLang="en-US" sz="9600" b="1" dirty="0">
              <a:gradFill>
                <a:gsLst>
                  <a:gs pos="0">
                    <a:prstClr val="white">
                      <a:alpha val="43000"/>
                    </a:prstClr>
                  </a:gs>
                  <a:gs pos="98000">
                    <a:prstClr val="white">
                      <a:alpha val="21000"/>
                    </a:prstClr>
                  </a:gs>
                </a:gsLst>
                <a:lin ang="0" scaled="0"/>
              </a:gradFill>
              <a:latin typeface="Bahnschrift SemiBold" panose="020B0502040204020203"/>
              <a:ea typeface="微软雅黑 Light" panose="020B0502040204020203" charset="-122"/>
            </a:endParaRPr>
          </a:p>
        </p:txBody>
      </p:sp>
      <p:sp>
        <p:nvSpPr>
          <p:cNvPr id="318" name="小李PPT15"/>
          <p:cNvSpPr/>
          <p:nvPr/>
        </p:nvSpPr>
        <p:spPr>
          <a:xfrm>
            <a:off x="1409700" y="1422400"/>
            <a:ext cx="1498600" cy="546100"/>
          </a:xfrm>
          <a:prstGeom prst="round2DiagRect">
            <a:avLst/>
          </a:prstGeom>
          <a:solidFill>
            <a:schemeClr val="accent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第</a:t>
            </a:r>
            <a:r>
              <a:rPr kumimoji="0" lang="zh-CN" altLang="en-US" sz="2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三节</a:t>
            </a:r>
            <a:endParaRPr kumimoji="0" lang="zh-CN" altLang="en-US" sz="2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23" name="小李PPT20"/>
          <p:cNvSpPr txBox="1"/>
          <p:nvPr/>
        </p:nvSpPr>
        <p:spPr>
          <a:xfrm>
            <a:off x="1371600" y="2005965"/>
            <a:ext cx="5803265" cy="768350"/>
          </a:xfrm>
          <a:prstGeom prst="rect">
            <a:avLst/>
          </a:prstGeom>
          <a:noFill/>
        </p:spPr>
        <p:txBody>
          <a:bodyPr wrap="square" rtlCol="0">
            <a:spAutoFit/>
          </a:bodyPr>
          <a:lstStyle/>
          <a:p>
            <a:pPr defTabSz="913765">
              <a:defRPr/>
            </a:pPr>
            <a:r>
              <a:rPr lang="zh-CN" altLang="en-US" sz="4400" b="1" dirty="0">
                <a:solidFill>
                  <a:schemeClr val="accent1"/>
                </a:solidFill>
                <a:latin typeface="Arial Black" panose="020B0A04020102020204"/>
                <a:ea typeface="微软雅黑" panose="020B0503020204020204" charset="-122"/>
              </a:rPr>
              <a:t>效益与费用</a:t>
            </a:r>
            <a:r>
              <a:rPr lang="zh-CN" altLang="en-US" sz="4400" b="1" dirty="0">
                <a:solidFill>
                  <a:schemeClr val="accent1"/>
                </a:solidFill>
                <a:latin typeface="Arial Black" panose="020B0A04020102020204"/>
                <a:ea typeface="微软雅黑" panose="020B0503020204020204" charset="-122"/>
              </a:rPr>
              <a:t>估计</a:t>
            </a:r>
            <a:endParaRPr lang="zh-CN" altLang="en-US" sz="4400" b="1" dirty="0">
              <a:solidFill>
                <a:schemeClr val="accent1"/>
              </a:solidFill>
              <a:latin typeface="Arial Black" panose="020B0A04020102020204"/>
              <a:ea typeface="微软雅黑" panose="020B0503020204020204" charset="-122"/>
            </a:endParaRPr>
          </a:p>
        </p:txBody>
      </p:sp>
      <p:cxnSp>
        <p:nvCxnSpPr>
          <p:cNvPr id="324" name="小李PPT21"/>
          <p:cNvCxnSpPr/>
          <p:nvPr/>
        </p:nvCxnSpPr>
        <p:spPr>
          <a:xfrm>
            <a:off x="1409700" y="2882900"/>
            <a:ext cx="4825957" cy="0"/>
          </a:xfrm>
          <a:prstGeom prst="line">
            <a:avLst/>
          </a:prstGeom>
          <a:noFill/>
          <a:ln w="19050" cap="flat" cmpd="sng" algn="ctr">
            <a:solidFill>
              <a:schemeClr val="accent6"/>
            </a:solidFill>
            <a:prstDash val="solid"/>
          </a:ln>
          <a:effectLst/>
        </p:spPr>
      </p:cxnSp>
      <p:grpSp>
        <p:nvGrpSpPr>
          <p:cNvPr id="5" name="组合 4"/>
          <p:cNvGrpSpPr/>
          <p:nvPr/>
        </p:nvGrpSpPr>
        <p:grpSpPr>
          <a:xfrm>
            <a:off x="1411605" y="3117215"/>
            <a:ext cx="5922010" cy="725805"/>
            <a:chOff x="8223" y="4909"/>
            <a:chExt cx="9326" cy="1143"/>
          </a:xfrm>
        </p:grpSpPr>
        <p:sp>
          <p:nvSpPr>
            <p:cNvPr id="319" name="小李PPT16"/>
            <p:cNvSpPr txBox="1"/>
            <p:nvPr/>
          </p:nvSpPr>
          <p:spPr>
            <a:xfrm>
              <a:off x="8420" y="5569"/>
              <a:ext cx="5382" cy="483"/>
            </a:xfrm>
            <a:prstGeom prst="rect">
              <a:avLst/>
            </a:prstGeom>
            <a:noFill/>
          </p:spPr>
          <p:txBody>
            <a:bodyPr wrap="square" rtlCol="0">
              <a:spAutoFit/>
            </a:bodyPr>
            <a:p>
              <a:pPr algn="l" defTabSz="913765">
                <a:defRPr/>
              </a:pPr>
              <a:r>
                <a:rPr lang="zh-CN" altLang="en-US" sz="1400" dirty="0">
                  <a:solidFill>
                    <a:prstClr val="black">
                      <a:lumMod val="75000"/>
                      <a:lumOff val="25000"/>
                    </a:prstClr>
                  </a:solidFill>
                  <a:latin typeface="微软雅黑 Light" panose="020B0502040204020203" charset="-122"/>
                  <a:ea typeface="微软雅黑 Light" panose="020B0502040204020203" charset="-122"/>
                </a:rPr>
                <a:t>（三）利润估算</a:t>
              </a:r>
              <a:endParaRPr lang="zh-CN" altLang="en-US" sz="1400" dirty="0">
                <a:solidFill>
                  <a:prstClr val="black">
                    <a:lumMod val="75000"/>
                    <a:lumOff val="25000"/>
                  </a:prstClr>
                </a:solidFill>
                <a:latin typeface="微软雅黑 Light" panose="020B0502040204020203" charset="-122"/>
                <a:ea typeface="微软雅黑 Light" panose="020B0502040204020203" charset="-122"/>
              </a:endParaRPr>
            </a:p>
          </p:txBody>
        </p:sp>
        <p:sp>
          <p:nvSpPr>
            <p:cNvPr id="321" name="小李PPT18"/>
            <p:cNvSpPr txBox="1"/>
            <p:nvPr/>
          </p:nvSpPr>
          <p:spPr>
            <a:xfrm>
              <a:off x="8420" y="4909"/>
              <a:ext cx="5382" cy="483"/>
            </a:xfrm>
            <a:prstGeom prst="rect">
              <a:avLst/>
            </a:prstGeom>
            <a:noFill/>
          </p:spPr>
          <p:txBody>
            <a:bodyPr wrap="square" rtlCol="0">
              <a:spAutoFit/>
            </a:bodyPr>
            <a:p>
              <a:pPr algn="l" defTabSz="913765">
                <a:defRPr/>
              </a:pPr>
              <a:r>
                <a:rPr lang="zh-CN" altLang="en-US" sz="1400" dirty="0">
                  <a:solidFill>
                    <a:prstClr val="black">
                      <a:lumMod val="75000"/>
                      <a:lumOff val="25000"/>
                    </a:prstClr>
                  </a:solidFill>
                  <a:latin typeface="微软雅黑 Light" panose="020B0502040204020203" charset="-122"/>
                  <a:ea typeface="微软雅黑 Light" panose="020B0502040204020203" charset="-122"/>
                </a:rPr>
                <a:t>（</a:t>
              </a:r>
              <a:r>
                <a:rPr lang="zh-CN" altLang="en-US" sz="1400" dirty="0">
                  <a:solidFill>
                    <a:prstClr val="black">
                      <a:lumMod val="75000"/>
                      <a:lumOff val="25000"/>
                    </a:prstClr>
                  </a:solidFill>
                  <a:latin typeface="微软雅黑 Light" panose="020B0502040204020203" charset="-122"/>
                  <a:ea typeface="微软雅黑 Light" panose="020B0502040204020203" charset="-122"/>
                </a:rPr>
                <a:t>一）总成本估计</a:t>
              </a:r>
              <a:endParaRPr lang="zh-CN" altLang="en-US" sz="1400" dirty="0">
                <a:solidFill>
                  <a:prstClr val="black">
                    <a:lumMod val="75000"/>
                    <a:lumOff val="25000"/>
                  </a:prstClr>
                </a:solidFill>
                <a:latin typeface="微软雅黑 Light" panose="020B0502040204020203" charset="-122"/>
                <a:ea typeface="微软雅黑 Light" panose="020B0502040204020203" charset="-122"/>
              </a:endParaRPr>
            </a:p>
          </p:txBody>
        </p:sp>
        <p:sp>
          <p:nvSpPr>
            <p:cNvPr id="322" name="小李PPT19"/>
            <p:cNvSpPr txBox="1"/>
            <p:nvPr/>
          </p:nvSpPr>
          <p:spPr>
            <a:xfrm>
              <a:off x="11939" y="4909"/>
              <a:ext cx="5610" cy="483"/>
            </a:xfrm>
            <a:prstGeom prst="rect">
              <a:avLst/>
            </a:prstGeom>
            <a:noFill/>
          </p:spPr>
          <p:txBody>
            <a:bodyPr wrap="square" rtlCol="0">
              <a:spAutoFit/>
            </a:bodyPr>
            <a:p>
              <a:pPr algn="l" defTabSz="913765">
                <a:defRPr/>
              </a:pPr>
              <a:r>
                <a:rPr lang="zh-CN" altLang="en-US" sz="1400" dirty="0">
                  <a:solidFill>
                    <a:prstClr val="black">
                      <a:lumMod val="75000"/>
                      <a:lumOff val="25000"/>
                    </a:prstClr>
                  </a:solidFill>
                  <a:latin typeface="微软雅黑 Light" panose="020B0502040204020203" charset="-122"/>
                  <a:ea typeface="微软雅黑 Light" panose="020B0502040204020203" charset="-122"/>
                </a:rPr>
                <a:t>（二）年销售收入、税金及附加</a:t>
              </a:r>
              <a:endParaRPr lang="zh-CN" altLang="en-US" sz="1400" dirty="0">
                <a:solidFill>
                  <a:prstClr val="black">
                    <a:lumMod val="75000"/>
                    <a:lumOff val="25000"/>
                  </a:prstClr>
                </a:solidFill>
                <a:latin typeface="微软雅黑 Light" panose="020B0502040204020203" charset="-122"/>
                <a:ea typeface="微软雅黑 Light" panose="020B0502040204020203" charset="-122"/>
              </a:endParaRPr>
            </a:p>
          </p:txBody>
        </p:sp>
        <p:sp>
          <p:nvSpPr>
            <p:cNvPr id="325" name="小李PPT22"/>
            <p:cNvSpPr/>
            <p:nvPr/>
          </p:nvSpPr>
          <p:spPr>
            <a:xfrm rot="5400000">
              <a:off x="8210" y="5067"/>
              <a:ext cx="186" cy="160"/>
            </a:xfrm>
            <a:prstGeom prst="triangle">
              <a:avLst/>
            </a:prstGeom>
            <a:solidFill>
              <a:schemeClr val="accent6"/>
            </a:solidFill>
            <a:ln w="25400" cap="flat" cmpd="sng" algn="ctr">
              <a:noFill/>
              <a:prstDash val="solid"/>
            </a:ln>
            <a:effectLst/>
          </p:spPr>
          <p:txBody>
            <a:bodyPr rtlCol="0" anchor="ctr"/>
            <a:p>
              <a:pPr marL="0" marR="0" lvl="0" indent="0" algn="l"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26" name="小李PPT23"/>
            <p:cNvSpPr/>
            <p:nvPr/>
          </p:nvSpPr>
          <p:spPr>
            <a:xfrm rot="5400000">
              <a:off x="8210" y="5707"/>
              <a:ext cx="186" cy="160"/>
            </a:xfrm>
            <a:prstGeom prst="triangle">
              <a:avLst/>
            </a:prstGeom>
            <a:solidFill>
              <a:schemeClr val="accent6"/>
            </a:solidFill>
            <a:ln w="25400" cap="flat" cmpd="sng" algn="ctr">
              <a:noFill/>
              <a:prstDash val="solid"/>
            </a:ln>
            <a:effectLst/>
          </p:spPr>
          <p:txBody>
            <a:bodyPr rtlCol="0" anchor="ctr"/>
            <a:p>
              <a:pPr marL="0" marR="0" lvl="0" indent="0" algn="l"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27" name="小李PPT24"/>
            <p:cNvSpPr/>
            <p:nvPr/>
          </p:nvSpPr>
          <p:spPr>
            <a:xfrm rot="5400000">
              <a:off x="11641" y="5067"/>
              <a:ext cx="186" cy="160"/>
            </a:xfrm>
            <a:prstGeom prst="triangle">
              <a:avLst/>
            </a:prstGeom>
            <a:solidFill>
              <a:schemeClr val="accent6"/>
            </a:solidFill>
            <a:ln w="25400" cap="flat" cmpd="sng" algn="ctr">
              <a:noFill/>
              <a:prstDash val="solid"/>
            </a:ln>
            <a:effectLst/>
          </p:spPr>
          <p:txBody>
            <a:bodyPr rtlCol="0" anchor="ctr"/>
            <a:p>
              <a:pPr marL="0" marR="0" lvl="0" indent="0" algn="l"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28" name="小李PPT25"/>
            <p:cNvSpPr/>
            <p:nvPr/>
          </p:nvSpPr>
          <p:spPr>
            <a:xfrm rot="5400000">
              <a:off x="11641" y="5707"/>
              <a:ext cx="186" cy="160"/>
            </a:xfrm>
            <a:prstGeom prst="triangle">
              <a:avLst/>
            </a:prstGeom>
            <a:solidFill>
              <a:schemeClr val="accent6"/>
            </a:solidFill>
            <a:ln w="25400" cap="flat" cmpd="sng" algn="ctr">
              <a:noFill/>
              <a:prstDash val="solid"/>
            </a:ln>
            <a:effectLst/>
          </p:spPr>
          <p:txBody>
            <a:bodyPr rtlCol="0" anchor="ctr"/>
            <a:p>
              <a:pPr marL="0" marR="0" lvl="0" indent="0" algn="l"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小李PPT1"/>
          <p:cNvSpPr txBox="1"/>
          <p:nvPr/>
        </p:nvSpPr>
        <p:spPr>
          <a:xfrm>
            <a:off x="800099" y="265105"/>
            <a:ext cx="3434080" cy="583565"/>
          </a:xfrm>
          <a:prstGeom prst="rect">
            <a:avLst/>
          </a:prstGeom>
          <a:noFill/>
        </p:spPr>
        <p:txBody>
          <a:bodyPr wrap="none" rtlCol="0">
            <a:spAutoFit/>
          </a:bodyPr>
          <a:lstStyle/>
          <a:p>
            <a:pPr algn="l" defTabSz="913765">
              <a:defRPr/>
            </a:pPr>
            <a:r>
              <a:rPr lang="zh-CN" altLang="en-US" sz="3200" dirty="0">
                <a:solidFill>
                  <a:prstClr val="black">
                    <a:lumMod val="75000"/>
                    <a:lumOff val="25000"/>
                  </a:prstClr>
                </a:solidFill>
                <a:latin typeface="微软雅黑 Light" panose="020B0502040204020203" charset="-122"/>
                <a:ea typeface="微软雅黑 Light" panose="020B0502040204020203" charset="-122"/>
                <a:sym typeface="+mn-ea"/>
              </a:rPr>
              <a:t>（一）总成本估计</a:t>
            </a:r>
            <a:endParaRPr lang="zh-CN" altLang="en-US" sz="3200" dirty="0">
              <a:solidFill>
                <a:prstClr val="black"/>
              </a:solidFill>
              <a:latin typeface="+mj-ea"/>
              <a:ea typeface="+mj-ea"/>
            </a:endParaRPr>
          </a:p>
        </p:txBody>
      </p:sp>
      <p:sp>
        <p:nvSpPr>
          <p:cNvPr id="9" name="小李PPT2"/>
          <p:cNvSpPr/>
          <p:nvPr/>
        </p:nvSpPr>
        <p:spPr>
          <a:xfrm>
            <a:off x="695325" y="337281"/>
            <a:ext cx="79375" cy="40005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274" name="小李PPT3"/>
          <p:cNvSpPr/>
          <p:nvPr>
            <p:custDataLst>
              <p:tags r:id="rId1"/>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5" name="小李PPT4"/>
          <p:cNvSpPr/>
          <p:nvPr>
            <p:custDataLst>
              <p:tags r:id="rId2"/>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 name="小李PPT5"/>
          <p:cNvSpPr/>
          <p:nvPr>
            <p:custDataLst>
              <p:tags r:id="rId3"/>
            </p:custDataLst>
          </p:nvPr>
        </p:nvSpPr>
        <p:spPr>
          <a:xfrm>
            <a:off x="4000500" y="-914400"/>
            <a:ext cx="635000" cy="635000"/>
          </a:xfrm>
          <a:prstGeom prst="rect">
            <a:avLst/>
          </a:prstGeom>
          <a:solidFill>
            <a:schemeClr val="dk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7" name="小李PPT6"/>
          <p:cNvSpPr/>
          <p:nvPr>
            <p:custDataLst>
              <p:tags r:id="rId4"/>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8" name="小李PPT7"/>
          <p:cNvSpPr/>
          <p:nvPr>
            <p:custDataLst>
              <p:tags r:id="rId5"/>
            </p:custDataLst>
          </p:nvPr>
        </p:nvSpPr>
        <p:spPr>
          <a:xfrm>
            <a:off x="5778500" y="-914400"/>
            <a:ext cx="635000" cy="6350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1</a:t>
            </a:r>
            <a:endParaRPr lang="zh-CN" altLang="en-US" sz="2000">
              <a:solidFill>
                <a:srgbClr val="F2F2F2"/>
              </a:solidFill>
            </a:endParaRPr>
          </a:p>
        </p:txBody>
      </p:sp>
      <p:sp>
        <p:nvSpPr>
          <p:cNvPr id="279" name="小李PPT8"/>
          <p:cNvSpPr/>
          <p:nvPr>
            <p:custDataLst>
              <p:tags r:id="rId6"/>
            </p:custDataLst>
          </p:nvPr>
        </p:nvSpPr>
        <p:spPr>
          <a:xfrm>
            <a:off x="6540500" y="-914400"/>
            <a:ext cx="635000" cy="635000"/>
          </a:xfrm>
          <a:prstGeom prst="rect">
            <a:avLst/>
          </a:prstGeom>
          <a:solidFill>
            <a:schemeClr val="accen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2</a:t>
            </a:r>
            <a:endParaRPr lang="zh-CN" altLang="en-US" sz="2000">
              <a:solidFill>
                <a:srgbClr val="F2F2F2"/>
              </a:solidFill>
            </a:endParaRPr>
          </a:p>
        </p:txBody>
      </p:sp>
      <p:sp>
        <p:nvSpPr>
          <p:cNvPr id="280" name="小李PPT9"/>
          <p:cNvSpPr/>
          <p:nvPr>
            <p:custDataLst>
              <p:tags r:id="rId7"/>
            </p:custDataLst>
          </p:nvPr>
        </p:nvSpPr>
        <p:spPr>
          <a:xfrm>
            <a:off x="7302500" y="-914400"/>
            <a:ext cx="635000" cy="635000"/>
          </a:xfrm>
          <a:prstGeom prst="rect">
            <a:avLst/>
          </a:prstGeom>
          <a:solidFill>
            <a:schemeClr val="accent3"/>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3</a:t>
            </a:r>
            <a:endParaRPr lang="zh-CN" altLang="en-US" sz="2000">
              <a:solidFill>
                <a:srgbClr val="F2F2F2"/>
              </a:solidFill>
            </a:endParaRPr>
          </a:p>
        </p:txBody>
      </p:sp>
      <p:sp>
        <p:nvSpPr>
          <p:cNvPr id="281" name="小李PPT10"/>
          <p:cNvSpPr/>
          <p:nvPr>
            <p:custDataLst>
              <p:tags r:id="rId8"/>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4</a:t>
            </a:r>
            <a:endParaRPr lang="zh-CN" altLang="en-US" sz="2000">
              <a:solidFill>
                <a:srgbClr val="F2F2F2"/>
              </a:solidFill>
            </a:endParaRPr>
          </a:p>
        </p:txBody>
      </p:sp>
      <p:sp>
        <p:nvSpPr>
          <p:cNvPr id="282" name="小李PPT11"/>
          <p:cNvSpPr/>
          <p:nvPr>
            <p:custDataLst>
              <p:tags r:id="rId9"/>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5</a:t>
            </a:r>
            <a:endParaRPr lang="zh-CN" altLang="en-US" sz="2000">
              <a:solidFill>
                <a:srgbClr val="F2F2F2"/>
              </a:solidFill>
            </a:endParaRPr>
          </a:p>
        </p:txBody>
      </p:sp>
      <p:sp>
        <p:nvSpPr>
          <p:cNvPr id="283" name="小李PPT12"/>
          <p:cNvSpPr/>
          <p:nvPr>
            <p:custDataLst>
              <p:tags r:id="rId10"/>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6</a:t>
            </a:r>
            <a:endParaRPr lang="zh-CN" altLang="en-US" sz="2000">
              <a:solidFill>
                <a:srgbClr val="F2F2F2"/>
              </a:solidFill>
            </a:endParaRPr>
          </a:p>
        </p:txBody>
      </p:sp>
      <p:sp>
        <p:nvSpPr>
          <p:cNvPr id="77" name="小李PPT39"/>
          <p:cNvSpPr/>
          <p:nvPr/>
        </p:nvSpPr>
        <p:spPr>
          <a:xfrm>
            <a:off x="722441" y="948161"/>
            <a:ext cx="10738069" cy="584775"/>
          </a:xfrm>
          <a:prstGeom prst="rect">
            <a:avLst/>
          </a:prstGeom>
          <a:solidFill>
            <a:schemeClr val="accent2"/>
          </a:solidFill>
          <a:ln w="36957" cap="flat" cmpd="sng" algn="ctr">
            <a:noFill/>
            <a:prstDash val="solid"/>
            <a:miter lim="800000"/>
          </a:ln>
          <a:effectLst/>
        </p:spPr>
        <p:txBody>
          <a:bodyPr lIns="88697" tIns="44348" rIns="88697" bIns="44348" rtlCol="0" anchor="ctr"/>
          <a:lstStyle/>
          <a:p>
            <a:pPr algn="ctr"/>
            <a:endParaRPr lang="zh-CN" altLang="en-US" sz="1745" kern="0">
              <a:solidFill>
                <a:schemeClr val="bg1"/>
              </a:solidFill>
              <a:latin typeface="+mn-ea"/>
            </a:endParaRPr>
          </a:p>
        </p:txBody>
      </p:sp>
      <p:sp>
        <p:nvSpPr>
          <p:cNvPr id="78" name="小李PPT40"/>
          <p:cNvSpPr/>
          <p:nvPr>
            <p:custDataLst>
              <p:tags r:id="rId11"/>
            </p:custDataLst>
          </p:nvPr>
        </p:nvSpPr>
        <p:spPr>
          <a:xfrm>
            <a:off x="989330" y="1047750"/>
            <a:ext cx="10370820" cy="372110"/>
          </a:xfrm>
          <a:prstGeom prst="roundRect">
            <a:avLst>
              <a:gd name="adj" fmla="val 0"/>
            </a:avLst>
          </a:prstGeom>
          <a:noFill/>
          <a:ln w="38100" cap="flat" cmpd="sng" algn="ctr">
            <a:noFill/>
            <a:prstDash val="solid"/>
            <a:miter lim="800000"/>
          </a:ln>
          <a:effectLst/>
        </p:spPr>
        <p:txBody>
          <a:bodyPr lIns="88697" tIns="44348" rIns="88697" bIns="44348" rtlCol="0" anchor="ctr"/>
          <a:lstStyle/>
          <a:p>
            <a:pPr marL="0" marR="0" lvl="0" indent="0" algn="l" defTabSz="914400" eaLnBrk="1" fontAlgn="auto" latinLnBrk="0" hangingPunct="1">
              <a:lnSpc>
                <a:spcPct val="100000"/>
              </a:lnSpc>
              <a:spcBef>
                <a:spcPts val="0"/>
              </a:spcBef>
              <a:buClrTx/>
              <a:buSzTx/>
              <a:buFontTx/>
              <a:buNone/>
              <a:defRPr/>
            </a:pPr>
            <a:r>
              <a:rPr kumimoji="0" sz="2000" i="0" u="none" strike="noStrike" kern="0" cap="none" spc="0" normalizeH="0" baseline="0" noProof="0" dirty="0">
                <a:ln>
                  <a:noFill/>
                </a:ln>
                <a:solidFill>
                  <a:schemeClr val="bg1"/>
                </a:solidFill>
                <a:effectLst/>
                <a:uLnTx/>
                <a:uFillTx/>
                <a:latin typeface="+mj-ea"/>
                <a:ea typeface="+mj-ea"/>
                <a:cs typeface="+mn-cs"/>
              </a:rPr>
              <a:t>项目的总成本估算结果详见</a:t>
            </a:r>
            <a:r>
              <a:rPr kumimoji="0" lang="zh-CN" sz="2000" i="0" u="none" strike="noStrike" kern="0" cap="none" spc="0" normalizeH="0" baseline="0" noProof="0" dirty="0">
                <a:ln>
                  <a:noFill/>
                </a:ln>
                <a:solidFill>
                  <a:schemeClr val="bg1"/>
                </a:solidFill>
                <a:effectLst/>
                <a:uLnTx/>
                <a:uFillTx/>
                <a:latin typeface="+mj-ea"/>
                <a:ea typeface="+mj-ea"/>
                <a:cs typeface="+mn-cs"/>
              </a:rPr>
              <a:t>下表</a:t>
            </a:r>
            <a:r>
              <a:rPr kumimoji="0" sz="2000" i="0" u="none" strike="noStrike" kern="0" cap="none" spc="0" normalizeH="0" baseline="0" noProof="0" dirty="0">
                <a:ln>
                  <a:noFill/>
                </a:ln>
                <a:solidFill>
                  <a:schemeClr val="bg1"/>
                </a:solidFill>
                <a:effectLst/>
                <a:uLnTx/>
                <a:uFillTx/>
                <a:latin typeface="+mj-ea"/>
                <a:ea typeface="+mj-ea"/>
                <a:cs typeface="+mn-cs"/>
              </a:rPr>
              <a:t>。在生产期内年平均总成本为 2775.4 万元</a:t>
            </a:r>
            <a:endParaRPr kumimoji="0" sz="2000" i="0" u="none" strike="noStrike" kern="0" cap="none" spc="0" normalizeH="0" baseline="0" noProof="0" dirty="0">
              <a:ln>
                <a:noFill/>
              </a:ln>
              <a:solidFill>
                <a:schemeClr val="bg1"/>
              </a:solidFill>
              <a:effectLst/>
              <a:uLnTx/>
              <a:uFillTx/>
              <a:latin typeface="+mj-ea"/>
              <a:ea typeface="+mj-ea"/>
              <a:cs typeface="+mn-cs"/>
            </a:endParaRPr>
          </a:p>
        </p:txBody>
      </p:sp>
      <p:grpSp>
        <p:nvGrpSpPr>
          <p:cNvPr id="3" name="组合 2"/>
          <p:cNvGrpSpPr/>
          <p:nvPr/>
        </p:nvGrpSpPr>
        <p:grpSpPr>
          <a:xfrm>
            <a:off x="716359" y="5547901"/>
            <a:ext cx="10751502" cy="1237745"/>
            <a:chOff x="1133" y="7990"/>
            <a:chExt cx="16931" cy="1949"/>
          </a:xfrm>
          <a:solidFill>
            <a:schemeClr val="accent2"/>
          </a:solidFill>
          <a:effectLst>
            <a:outerShdw blurRad="50800" dist="38100" dir="2700000" algn="tl" rotWithShape="0">
              <a:prstClr val="black">
                <a:alpha val="40000"/>
              </a:prstClr>
            </a:outerShdw>
          </a:effectLst>
        </p:grpSpPr>
        <p:sp>
          <p:nvSpPr>
            <p:cNvPr id="76" name="小李PPT38"/>
            <p:cNvSpPr/>
            <p:nvPr/>
          </p:nvSpPr>
          <p:spPr>
            <a:xfrm>
              <a:off x="1133" y="7990"/>
              <a:ext cx="16931" cy="1949"/>
            </a:xfrm>
            <a:prstGeom prst="rect">
              <a:avLst/>
            </a:prstGeom>
            <a:grpFill/>
            <a:ln w="12700" cap="flat" cmpd="sng" algn="ctr">
              <a:noFill/>
              <a:prstDash val="dash"/>
              <a:miter lim="800000"/>
            </a:ln>
            <a:effectLst/>
          </p:spPr>
          <p:txBody>
            <a:bodyPr lIns="88697" tIns="44348" rIns="88697" bIns="44348" rtlCol="0" anchor="ctr"/>
            <a:lstStyle/>
            <a:p>
              <a:pPr>
                <a:defRPr/>
              </a:pPr>
              <a:endParaRPr kumimoji="1" lang="zh-CN" altLang="en-US" sz="1745" b="0" i="0" u="none" strike="noStrike" kern="0" cap="none" spc="0" normalizeH="0" baseline="0" noProof="0" dirty="0">
                <a:ln>
                  <a:noFill/>
                </a:ln>
                <a:solidFill>
                  <a:srgbClr val="FFFFFF"/>
                </a:solidFill>
                <a:effectLst/>
                <a:uLnTx/>
                <a:uFillTx/>
                <a:latin typeface="+mn-ea"/>
              </a:endParaRPr>
            </a:p>
          </p:txBody>
        </p:sp>
        <p:sp>
          <p:nvSpPr>
            <p:cNvPr id="86" name="小李PPT42"/>
            <p:cNvSpPr txBox="1"/>
            <p:nvPr/>
          </p:nvSpPr>
          <p:spPr>
            <a:xfrm>
              <a:off x="5598" y="8280"/>
              <a:ext cx="3929" cy="719"/>
            </a:xfrm>
            <a:prstGeom prst="rect">
              <a:avLst/>
            </a:prstGeom>
            <a:grpFill/>
            <a:effectLst/>
          </p:spPr>
          <p:txBody>
            <a:bodyPr wrap="square" lIns="88697" tIns="44348" rIns="88697" bIns="44348" rtlCol="0" anchor="t" anchorCtr="0">
              <a:spAutoFit/>
            </a:bodyPr>
            <a:lstStyle/>
            <a:p>
              <a:pPr algn="ctr">
                <a:defRPr/>
              </a:pPr>
              <a:r>
                <a:rPr lang="en-US" altLang="zh-CN" sz="2400" dirty="0">
                  <a:solidFill>
                    <a:prstClr val="white"/>
                  </a:solidFill>
                  <a:latin typeface="方正楷体简体" panose="02000000000000000000" charset="-122"/>
                  <a:ea typeface="方正楷体简体" panose="02000000000000000000" charset="-122"/>
                  <a:cs typeface="方正楷体简体" panose="02000000000000000000" charset="-122"/>
                </a:rPr>
                <a:t>12-16</a:t>
              </a:r>
              <a:r>
                <a:rPr lang="zh-CN" altLang="en-US" sz="2400" dirty="0">
                  <a:solidFill>
                    <a:prstClr val="white"/>
                  </a:solidFill>
                  <a:latin typeface="方正楷体简体" panose="02000000000000000000" charset="-122"/>
                  <a:ea typeface="方正楷体简体" panose="02000000000000000000" charset="-122"/>
                  <a:cs typeface="方正楷体简体" panose="02000000000000000000" charset="-122"/>
                </a:rPr>
                <a:t>年总成本</a:t>
              </a:r>
              <a:endParaRPr lang="zh-CN" altLang="en-US" sz="2400" dirty="0">
                <a:solidFill>
                  <a:prstClr val="white"/>
                </a:solidFill>
                <a:latin typeface="方正楷体简体" panose="02000000000000000000" charset="-122"/>
                <a:ea typeface="方正楷体简体" panose="02000000000000000000" charset="-122"/>
                <a:cs typeface="方正楷体简体" panose="02000000000000000000" charset="-122"/>
              </a:endParaRPr>
            </a:p>
          </p:txBody>
        </p:sp>
        <p:sp>
          <p:nvSpPr>
            <p:cNvPr id="87" name="小李PPT43"/>
            <p:cNvSpPr txBox="1"/>
            <p:nvPr/>
          </p:nvSpPr>
          <p:spPr>
            <a:xfrm>
              <a:off x="9761" y="8280"/>
              <a:ext cx="4083" cy="719"/>
            </a:xfrm>
            <a:prstGeom prst="rect">
              <a:avLst/>
            </a:prstGeom>
            <a:grpFill/>
            <a:effectLst/>
          </p:spPr>
          <p:txBody>
            <a:bodyPr wrap="square" lIns="88697" tIns="44348" rIns="88697" bIns="44348" rtlCol="0" anchor="t" anchorCtr="0">
              <a:spAutoFit/>
            </a:bodyPr>
            <a:lstStyle/>
            <a:p>
              <a:pPr algn="ctr">
                <a:defRPr/>
              </a:pPr>
              <a:r>
                <a:rPr lang="en-US" altLang="zh-CN" sz="2400" dirty="0">
                  <a:solidFill>
                    <a:prstClr val="white"/>
                  </a:solidFill>
                  <a:latin typeface="方正楷体简体" panose="02000000000000000000" charset="-122"/>
                  <a:ea typeface="方正楷体简体" panose="02000000000000000000" charset="-122"/>
                  <a:cs typeface="方正楷体简体" panose="02000000000000000000" charset="-122"/>
                </a:rPr>
                <a:t>17-21</a:t>
              </a:r>
              <a:r>
                <a:rPr lang="zh-CN" altLang="en-US" sz="2400" dirty="0">
                  <a:solidFill>
                    <a:prstClr val="white"/>
                  </a:solidFill>
                  <a:latin typeface="方正楷体简体" panose="02000000000000000000" charset="-122"/>
                  <a:ea typeface="方正楷体简体" panose="02000000000000000000" charset="-122"/>
                  <a:cs typeface="方正楷体简体" panose="02000000000000000000" charset="-122"/>
                </a:rPr>
                <a:t>年总成本</a:t>
              </a:r>
              <a:endParaRPr lang="zh-CN" altLang="en-US" sz="2400" dirty="0">
                <a:solidFill>
                  <a:prstClr val="white"/>
                </a:solidFill>
                <a:latin typeface="方正楷体简体" panose="02000000000000000000" charset="-122"/>
                <a:ea typeface="方正楷体简体" panose="02000000000000000000" charset="-122"/>
                <a:cs typeface="方正楷体简体" panose="02000000000000000000" charset="-122"/>
              </a:endParaRPr>
            </a:p>
          </p:txBody>
        </p:sp>
        <p:sp>
          <p:nvSpPr>
            <p:cNvPr id="88" name="小李PPT44"/>
            <p:cNvSpPr txBox="1"/>
            <p:nvPr/>
          </p:nvSpPr>
          <p:spPr>
            <a:xfrm>
              <a:off x="14372" y="8280"/>
              <a:ext cx="3282" cy="719"/>
            </a:xfrm>
            <a:prstGeom prst="rect">
              <a:avLst/>
            </a:prstGeom>
            <a:grpFill/>
            <a:effectLst/>
          </p:spPr>
          <p:txBody>
            <a:bodyPr wrap="square" lIns="88697" tIns="44348" rIns="88697" bIns="44348" rtlCol="0">
              <a:spAutoFit/>
            </a:bodyPr>
            <a:lstStyle/>
            <a:p>
              <a:pPr algn="ctr">
                <a:defRPr/>
              </a:pPr>
              <a:r>
                <a:rPr lang="zh-CN" altLang="en-US" sz="2400" dirty="0">
                  <a:solidFill>
                    <a:prstClr val="white"/>
                  </a:solidFill>
                  <a:latin typeface="方正楷体简体" panose="02000000000000000000" charset="-122"/>
                  <a:ea typeface="方正楷体简体" panose="02000000000000000000" charset="-122"/>
                </a:rPr>
                <a:t>经营成本</a:t>
              </a:r>
              <a:endParaRPr lang="zh-CN" altLang="en-US" sz="2400" dirty="0">
                <a:solidFill>
                  <a:prstClr val="white"/>
                </a:solidFill>
                <a:latin typeface="方正楷体简体" panose="02000000000000000000" charset="-122"/>
                <a:ea typeface="方正楷体简体" panose="02000000000000000000" charset="-122"/>
              </a:endParaRPr>
            </a:p>
          </p:txBody>
        </p:sp>
        <p:cxnSp>
          <p:nvCxnSpPr>
            <p:cNvPr id="89" name="小李PPT45"/>
            <p:cNvCxnSpPr/>
            <p:nvPr/>
          </p:nvCxnSpPr>
          <p:spPr>
            <a:xfrm>
              <a:off x="5524" y="8415"/>
              <a:ext cx="0" cy="1100"/>
            </a:xfrm>
            <a:prstGeom prst="line">
              <a:avLst/>
            </a:prstGeom>
            <a:grpFill/>
            <a:ln w="12700" cap="rnd">
              <a:solidFill>
                <a:schemeClr val="bg1">
                  <a:alpha val="70000"/>
                </a:schemeClr>
              </a:solidFill>
              <a:prstDash val="dash"/>
            </a:ln>
            <a:effectLst/>
          </p:spPr>
        </p:cxnSp>
        <p:sp>
          <p:nvSpPr>
            <p:cNvPr id="91" name="小李PPT46"/>
            <p:cNvSpPr txBox="1"/>
            <p:nvPr/>
          </p:nvSpPr>
          <p:spPr>
            <a:xfrm>
              <a:off x="6296" y="8841"/>
              <a:ext cx="2901" cy="816"/>
            </a:xfrm>
            <a:prstGeom prst="rect">
              <a:avLst/>
            </a:prstGeom>
            <a:grpFill/>
            <a:effectLst/>
          </p:spPr>
          <p:txBody>
            <a:bodyPr wrap="square" lIns="88697" tIns="44348" rIns="88697" bIns="44348">
              <a:spAutoFit/>
            </a:bodyPr>
            <a:lstStyle/>
            <a:p>
              <a:pPr algn="ctr">
                <a:defRPr/>
              </a:pPr>
              <a:r>
                <a:rPr lang="en-US" altLang="zh-CN" sz="2800" dirty="0">
                  <a:solidFill>
                    <a:prstClr val="white"/>
                  </a:solidFill>
                  <a:latin typeface="+mj-ea"/>
                  <a:ea typeface="+mj-ea"/>
                </a:rPr>
                <a:t>2782.9</a:t>
              </a:r>
              <a:endParaRPr lang="zh-CN" altLang="en-US" sz="1360" dirty="0">
                <a:solidFill>
                  <a:prstClr val="white"/>
                </a:solidFill>
                <a:latin typeface="+mj-ea"/>
                <a:ea typeface="+mj-ea"/>
              </a:endParaRPr>
            </a:p>
          </p:txBody>
        </p:sp>
        <p:sp>
          <p:nvSpPr>
            <p:cNvPr id="92" name="小李PPT47"/>
            <p:cNvSpPr txBox="1"/>
            <p:nvPr/>
          </p:nvSpPr>
          <p:spPr>
            <a:xfrm>
              <a:off x="10456" y="8848"/>
              <a:ext cx="2901" cy="816"/>
            </a:xfrm>
            <a:prstGeom prst="rect">
              <a:avLst/>
            </a:prstGeom>
            <a:grpFill/>
            <a:effectLst/>
          </p:spPr>
          <p:txBody>
            <a:bodyPr wrap="square" lIns="88697" tIns="44348" rIns="88697" bIns="44348">
              <a:spAutoFit/>
            </a:bodyPr>
            <a:lstStyle/>
            <a:p>
              <a:pPr algn="ctr">
                <a:defRPr/>
              </a:pPr>
              <a:r>
                <a:rPr lang="en-US" altLang="zh-CN" sz="2800" dirty="0">
                  <a:solidFill>
                    <a:prstClr val="white"/>
                  </a:solidFill>
                  <a:latin typeface="+mj-ea"/>
                  <a:ea typeface="+mj-ea"/>
                </a:rPr>
                <a:t>2714.8</a:t>
              </a:r>
              <a:endParaRPr lang="zh-CN" altLang="en-US" sz="1360" dirty="0">
                <a:solidFill>
                  <a:prstClr val="white"/>
                </a:solidFill>
                <a:latin typeface="+mj-ea"/>
                <a:ea typeface="+mj-ea"/>
              </a:endParaRPr>
            </a:p>
          </p:txBody>
        </p:sp>
        <p:sp>
          <p:nvSpPr>
            <p:cNvPr id="93" name="小李PPT48"/>
            <p:cNvSpPr txBox="1"/>
            <p:nvPr/>
          </p:nvSpPr>
          <p:spPr>
            <a:xfrm>
              <a:off x="14717" y="8827"/>
              <a:ext cx="2901" cy="816"/>
            </a:xfrm>
            <a:prstGeom prst="rect">
              <a:avLst/>
            </a:prstGeom>
            <a:grpFill/>
            <a:effectLst/>
          </p:spPr>
          <p:txBody>
            <a:bodyPr wrap="square" lIns="88697" tIns="44348" rIns="88697" bIns="44348">
              <a:spAutoFit/>
            </a:bodyPr>
            <a:lstStyle/>
            <a:p>
              <a:pPr algn="ctr">
                <a:defRPr/>
              </a:pPr>
              <a:r>
                <a:rPr lang="en-US" altLang="zh-CN" sz="2800" dirty="0">
                  <a:solidFill>
                    <a:prstClr val="white"/>
                  </a:solidFill>
                  <a:latin typeface="+mj-ea"/>
                  <a:ea typeface="+mj-ea"/>
                </a:rPr>
                <a:t>2631.8</a:t>
              </a:r>
              <a:endParaRPr lang="en-US" altLang="zh-CN" sz="1360" dirty="0">
                <a:solidFill>
                  <a:prstClr val="white"/>
                </a:solidFill>
                <a:latin typeface="+mj-ea"/>
                <a:ea typeface="+mj-ea"/>
              </a:endParaRPr>
            </a:p>
          </p:txBody>
        </p:sp>
        <p:cxnSp>
          <p:nvCxnSpPr>
            <p:cNvPr id="94" name="小李PPT49"/>
            <p:cNvCxnSpPr/>
            <p:nvPr/>
          </p:nvCxnSpPr>
          <p:spPr>
            <a:xfrm>
              <a:off x="9598" y="8415"/>
              <a:ext cx="0" cy="1100"/>
            </a:xfrm>
            <a:prstGeom prst="line">
              <a:avLst/>
            </a:prstGeom>
            <a:grpFill/>
            <a:ln w="12700" cap="rnd">
              <a:solidFill>
                <a:schemeClr val="bg1">
                  <a:alpha val="70000"/>
                </a:schemeClr>
              </a:solidFill>
              <a:prstDash val="dash"/>
            </a:ln>
            <a:effectLst/>
          </p:spPr>
        </p:cxnSp>
        <p:cxnSp>
          <p:nvCxnSpPr>
            <p:cNvPr id="95" name="小李PPT50"/>
            <p:cNvCxnSpPr/>
            <p:nvPr/>
          </p:nvCxnSpPr>
          <p:spPr>
            <a:xfrm>
              <a:off x="13865" y="8415"/>
              <a:ext cx="0" cy="1100"/>
            </a:xfrm>
            <a:prstGeom prst="line">
              <a:avLst/>
            </a:prstGeom>
            <a:grpFill/>
            <a:ln w="12700" cap="rnd">
              <a:solidFill>
                <a:schemeClr val="bg1">
                  <a:alpha val="70000"/>
                </a:schemeClr>
              </a:solidFill>
              <a:prstDash val="dash"/>
            </a:ln>
            <a:effectLst/>
          </p:spPr>
        </p:cxnSp>
      </p:grpSp>
      <p:graphicFrame>
        <p:nvGraphicFramePr>
          <p:cNvPr id="2" name="表格 1"/>
          <p:cNvGraphicFramePr/>
          <p:nvPr>
            <p:custDataLst>
              <p:tags r:id="rId12"/>
            </p:custDataLst>
          </p:nvPr>
        </p:nvGraphicFramePr>
        <p:xfrm>
          <a:off x="774700" y="1632585"/>
          <a:ext cx="10617835" cy="3826510"/>
        </p:xfrm>
        <a:graphic>
          <a:graphicData uri="http://schemas.openxmlformats.org/drawingml/2006/table">
            <a:tbl>
              <a:tblPr/>
              <a:tblGrid>
                <a:gridCol w="916305"/>
                <a:gridCol w="2953385"/>
                <a:gridCol w="2454275"/>
                <a:gridCol w="2151380"/>
                <a:gridCol w="2142490"/>
              </a:tblGrid>
              <a:tr h="219710">
                <a:tc rowSpan="2">
                  <a:txBody>
                    <a:bodyPr/>
                    <a:p>
                      <a:pPr marL="6350" indent="0" algn="ctr" fontAlgn="ctr"/>
                      <a:r>
                        <a:rPr lang="zh-CN" altLang="en-US" sz="1400" b="1" i="0">
                          <a:solidFill>
                            <a:srgbClr val="000000"/>
                          </a:solidFill>
                          <a:latin typeface="宋体" panose="02010600030101010101" pitchFamily="2" charset="-122"/>
                          <a:ea typeface="宋体" panose="02010600030101010101" pitchFamily="2" charset="-122"/>
                        </a:rPr>
                        <a:t>序号</a:t>
                      </a:r>
                      <a:endParaRPr lang="zh-CN" altLang="en-US" sz="1400" b="1"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E7E6E6"/>
                    </a:solidFill>
                  </a:tcPr>
                </a:tc>
                <a:tc rowSpan="2">
                  <a:txBody>
                    <a:bodyPr/>
                    <a:p>
                      <a:pPr marL="6350" indent="0" algn="ctr" fontAlgn="ctr"/>
                      <a:r>
                        <a:rPr lang="zh-CN" altLang="en-US" sz="1400" b="1" i="0">
                          <a:solidFill>
                            <a:srgbClr val="000000"/>
                          </a:solidFill>
                          <a:latin typeface="宋体" panose="02010600030101010101" pitchFamily="2" charset="-122"/>
                          <a:ea typeface="宋体" panose="02010600030101010101" pitchFamily="2" charset="-122"/>
                        </a:rPr>
                        <a:t>项目</a:t>
                      </a:r>
                      <a:endParaRPr lang="zh-CN" altLang="en-US" sz="1400" b="1"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E7E6E6"/>
                    </a:solidFill>
                  </a:tcPr>
                </a:tc>
                <a:tc gridSpan="3">
                  <a:txBody>
                    <a:bodyPr/>
                    <a:p>
                      <a:pPr marL="6350" indent="0" algn="ctr" fontAlgn="ctr"/>
                      <a:r>
                        <a:rPr lang="zh-CN" altLang="en-US" sz="1400" b="1" i="0">
                          <a:solidFill>
                            <a:srgbClr val="000000"/>
                          </a:solidFill>
                          <a:latin typeface="宋体" panose="02010600030101010101" pitchFamily="2" charset="-122"/>
                          <a:ea typeface="宋体" panose="02010600030101010101" pitchFamily="2" charset="-122"/>
                        </a:rPr>
                        <a:t>计算期</a:t>
                      </a:r>
                      <a:endParaRPr lang="zh-CN" altLang="en-US" sz="1400" b="1"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E7E6E6"/>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9748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marL="6350" indent="0" algn="ctr" fontAlgn="ctr"/>
                      <a:r>
                        <a:rPr lang="en-US" altLang="zh-CN" sz="1400" b="1" i="0">
                          <a:solidFill>
                            <a:srgbClr val="000000"/>
                          </a:solidFill>
                          <a:latin typeface="宋体" panose="02010600030101010101" pitchFamily="2" charset="-122"/>
                          <a:ea typeface="宋体" panose="02010600030101010101" pitchFamily="2" charset="-122"/>
                        </a:rPr>
                        <a:t>2-11</a:t>
                      </a:r>
                      <a:endParaRPr lang="en-US" altLang="zh-CN" sz="1400" b="1"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E7E6E6"/>
                    </a:solidFill>
                  </a:tcPr>
                </a:tc>
                <a:tc>
                  <a:txBody>
                    <a:bodyPr/>
                    <a:p>
                      <a:pPr marL="6350" indent="0" algn="ctr" fontAlgn="ctr"/>
                      <a:r>
                        <a:rPr lang="en-US" altLang="zh-CN" sz="1400" b="1" i="0">
                          <a:solidFill>
                            <a:srgbClr val="000000"/>
                          </a:solidFill>
                          <a:latin typeface="宋体" panose="02010600030101010101" pitchFamily="2" charset="-122"/>
                          <a:ea typeface="宋体" panose="02010600030101010101" pitchFamily="2" charset="-122"/>
                        </a:rPr>
                        <a:t>12-16</a:t>
                      </a:r>
                      <a:endParaRPr lang="en-US" altLang="zh-CN" sz="1400" b="1"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E7E6E6"/>
                    </a:solidFill>
                  </a:tcPr>
                </a:tc>
                <a:tc>
                  <a:txBody>
                    <a:bodyPr/>
                    <a:p>
                      <a:pPr marL="6350" indent="0" algn="ctr" fontAlgn="ctr"/>
                      <a:r>
                        <a:rPr lang="en-US" altLang="zh-CN" sz="1400" b="1" i="0">
                          <a:solidFill>
                            <a:srgbClr val="000000"/>
                          </a:solidFill>
                          <a:latin typeface="宋体" panose="02010600030101010101" pitchFamily="2" charset="-122"/>
                          <a:ea typeface="宋体" panose="02010600030101010101" pitchFamily="2" charset="-122"/>
                        </a:rPr>
                        <a:t>17-21</a:t>
                      </a:r>
                      <a:endParaRPr lang="en-US" altLang="zh-CN" sz="1400" b="1"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E7E6E6"/>
                    </a:solidFill>
                  </a:tcPr>
                </a:tc>
              </a:tr>
              <a:tr h="219710">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1</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外购原辅材料</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2013.3</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2013.3</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2013.3</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9710">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2</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外购燃料及动力</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62.0</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62.0</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62.0</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9710">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2.1</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水</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2.5</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2.5</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2.5</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9710">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2.2</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电</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49.1</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49.1</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49.1</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9710">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2.3</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天然气</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10.4</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10.4</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10.4</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9710">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3</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工资及福利</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FF0000"/>
                          </a:solidFill>
                          <a:latin typeface="宋体" panose="02010600030101010101" pitchFamily="2" charset="-122"/>
                          <a:ea typeface="宋体" panose="02010600030101010101" pitchFamily="2" charset="-122"/>
                        </a:rPr>
                        <a:t>187.5</a:t>
                      </a:r>
                      <a:r>
                        <a:rPr lang="en-US" altLang="zh-CN" sz="1100" b="0" i="0">
                          <a:solidFill>
                            <a:srgbClr val="FF0000"/>
                          </a:solidFill>
                          <a:latin typeface="宋体" panose="02010600030101010101" pitchFamily="2" charset="-122"/>
                          <a:ea typeface="宋体" panose="02010600030101010101" pitchFamily="2" charset="-122"/>
                        </a:rPr>
                        <a:t> </a:t>
                      </a:r>
                      <a:endParaRPr lang="en-US" altLang="zh-CN"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FF0000"/>
                          </a:solidFill>
                          <a:latin typeface="宋体" panose="02010600030101010101" pitchFamily="2" charset="-122"/>
                          <a:ea typeface="宋体" panose="02010600030101010101" pitchFamily="2" charset="-122"/>
                        </a:rPr>
                        <a:t>187.5</a:t>
                      </a:r>
                      <a:r>
                        <a:rPr lang="en-US" altLang="zh-CN" sz="1100" b="0" i="0">
                          <a:solidFill>
                            <a:srgbClr val="FF0000"/>
                          </a:solidFill>
                          <a:latin typeface="宋体" panose="02010600030101010101" pitchFamily="2" charset="-122"/>
                          <a:ea typeface="宋体" panose="02010600030101010101" pitchFamily="2" charset="-122"/>
                        </a:rPr>
                        <a:t> </a:t>
                      </a:r>
                      <a:endParaRPr lang="en-US" altLang="zh-CN"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FF0000"/>
                          </a:solidFill>
                          <a:latin typeface="宋体" panose="02010600030101010101" pitchFamily="2" charset="-122"/>
                          <a:ea typeface="宋体" panose="02010600030101010101" pitchFamily="2" charset="-122"/>
                        </a:rPr>
                        <a:t>187.5</a:t>
                      </a:r>
                      <a:r>
                        <a:rPr lang="en-US" altLang="zh-CN" sz="1100" b="0" i="0">
                          <a:solidFill>
                            <a:srgbClr val="FF0000"/>
                          </a:solidFill>
                          <a:latin typeface="宋体" panose="02010600030101010101" pitchFamily="2" charset="-122"/>
                          <a:ea typeface="宋体" panose="02010600030101010101" pitchFamily="2" charset="-122"/>
                        </a:rPr>
                        <a:t> </a:t>
                      </a:r>
                      <a:endParaRPr lang="en-US" altLang="zh-CN"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9710">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4</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维修费</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49.0</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49.0</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49.0</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9710">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5</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折旧费</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98.0</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98.0</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29.9</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9710">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6</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摊销费</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19.0</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0.0</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0.0</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9710">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7</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利息支出</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FF0000"/>
                          </a:solidFill>
                          <a:latin typeface="宋体" panose="02010600030101010101" pitchFamily="2" charset="-122"/>
                          <a:ea typeface="宋体" panose="02010600030101010101" pitchFamily="2" charset="-122"/>
                        </a:rPr>
                        <a:t>53.1</a:t>
                      </a:r>
                      <a:r>
                        <a:rPr lang="en-US" altLang="zh-CN" sz="1100" b="0" i="0">
                          <a:solidFill>
                            <a:srgbClr val="FF0000"/>
                          </a:solidFill>
                          <a:latin typeface="宋体" panose="02010600030101010101" pitchFamily="2" charset="-122"/>
                          <a:ea typeface="宋体" panose="02010600030101010101" pitchFamily="2" charset="-122"/>
                        </a:rPr>
                        <a:t> </a:t>
                      </a:r>
                      <a:endParaRPr lang="en-US" altLang="zh-CN"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FF0000"/>
                          </a:solidFill>
                          <a:latin typeface="宋体" panose="02010600030101010101" pitchFamily="2" charset="-122"/>
                          <a:ea typeface="宋体" panose="02010600030101010101" pitchFamily="2" charset="-122"/>
                        </a:rPr>
                        <a:t>53.1</a:t>
                      </a:r>
                      <a:r>
                        <a:rPr lang="en-US" altLang="zh-CN" sz="1100" b="0" i="0">
                          <a:solidFill>
                            <a:srgbClr val="FF0000"/>
                          </a:solidFill>
                          <a:latin typeface="宋体" panose="02010600030101010101" pitchFamily="2" charset="-122"/>
                          <a:ea typeface="宋体" panose="02010600030101010101" pitchFamily="2" charset="-122"/>
                        </a:rPr>
                        <a:t> </a:t>
                      </a:r>
                      <a:endParaRPr lang="en-US" altLang="zh-CN"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FF0000"/>
                          </a:solidFill>
                          <a:latin typeface="宋体" panose="02010600030101010101" pitchFamily="2" charset="-122"/>
                          <a:ea typeface="宋体" panose="02010600030101010101" pitchFamily="2" charset="-122"/>
                        </a:rPr>
                        <a:t>53.1</a:t>
                      </a:r>
                      <a:r>
                        <a:rPr lang="en-US" altLang="zh-CN" sz="1100" b="0" i="0">
                          <a:solidFill>
                            <a:srgbClr val="FF0000"/>
                          </a:solidFill>
                          <a:latin typeface="宋体" panose="02010600030101010101" pitchFamily="2" charset="-122"/>
                          <a:ea typeface="宋体" panose="02010600030101010101" pitchFamily="2" charset="-122"/>
                        </a:rPr>
                        <a:t> </a:t>
                      </a:r>
                      <a:endParaRPr lang="en-US" altLang="zh-CN"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9710">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8</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其他费用</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320.0</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320.0</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320.0</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9710">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9</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总成本费用</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FF0000"/>
                          </a:solidFill>
                          <a:latin typeface="宋体" panose="02010600030101010101" pitchFamily="2" charset="-122"/>
                          <a:ea typeface="宋体" panose="02010600030101010101" pitchFamily="2" charset="-122"/>
                        </a:rPr>
                        <a:t>2801.9</a:t>
                      </a:r>
                      <a:r>
                        <a:rPr lang="en-US" altLang="zh-CN" sz="1100" b="0" i="0">
                          <a:solidFill>
                            <a:srgbClr val="FF0000"/>
                          </a:solidFill>
                          <a:latin typeface="宋体" panose="02010600030101010101" pitchFamily="2" charset="-122"/>
                          <a:ea typeface="宋体" panose="02010600030101010101" pitchFamily="2" charset="-122"/>
                        </a:rPr>
                        <a:t> </a:t>
                      </a:r>
                      <a:endParaRPr lang="en-US" altLang="zh-CN"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FF0000"/>
                          </a:solidFill>
                          <a:latin typeface="宋体" panose="02010600030101010101" pitchFamily="2" charset="-122"/>
                          <a:ea typeface="宋体" panose="02010600030101010101" pitchFamily="2" charset="-122"/>
                        </a:rPr>
                        <a:t>2782.9</a:t>
                      </a:r>
                      <a:r>
                        <a:rPr lang="en-US" altLang="zh-CN" sz="1100" b="0" i="0">
                          <a:solidFill>
                            <a:srgbClr val="FF0000"/>
                          </a:solidFill>
                          <a:latin typeface="宋体" panose="02010600030101010101" pitchFamily="2" charset="-122"/>
                          <a:ea typeface="宋体" panose="02010600030101010101" pitchFamily="2" charset="-122"/>
                        </a:rPr>
                        <a:t> </a:t>
                      </a:r>
                      <a:endParaRPr lang="en-US" altLang="zh-CN"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FF0000"/>
                          </a:solidFill>
                          <a:latin typeface="宋体" panose="02010600030101010101" pitchFamily="2" charset="-122"/>
                          <a:ea typeface="宋体" panose="02010600030101010101" pitchFamily="2" charset="-122"/>
                        </a:rPr>
                        <a:t>2714.8</a:t>
                      </a:r>
                      <a:r>
                        <a:rPr lang="en-US" altLang="zh-CN" sz="1100" b="0" i="0">
                          <a:solidFill>
                            <a:srgbClr val="FF0000"/>
                          </a:solidFill>
                          <a:latin typeface="宋体" panose="02010600030101010101" pitchFamily="2" charset="-122"/>
                          <a:ea typeface="宋体" panose="02010600030101010101" pitchFamily="2" charset="-122"/>
                        </a:rPr>
                        <a:t> </a:t>
                      </a:r>
                      <a:endParaRPr lang="en-US" altLang="zh-CN" sz="1100" b="0" i="0">
                        <a:solidFill>
                          <a:srgbClr val="FF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9710">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9.1</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固定成本</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726.6</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707.6</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639.5</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9710">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9.2</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可变成本</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2075.3</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2075.3</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2075.3</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9710">
                <a:tc>
                  <a:txBody>
                    <a:bodyPr/>
                    <a:p>
                      <a:pPr marL="6350" indent="0" algn="l" fontAlgn="ctr"/>
                      <a:r>
                        <a:rPr lang="en-US" altLang="zh-CN" sz="1100" b="0" i="0">
                          <a:solidFill>
                            <a:srgbClr val="000000"/>
                          </a:solidFill>
                          <a:latin typeface="宋体" panose="02010600030101010101" pitchFamily="2" charset="-122"/>
                          <a:ea typeface="宋体" panose="02010600030101010101" pitchFamily="2" charset="-122"/>
                        </a:rPr>
                        <a:t>10</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l" fontAlgn="ctr"/>
                      <a:r>
                        <a:rPr lang="zh-CN" altLang="en-US" sz="1100" b="0" i="0">
                          <a:solidFill>
                            <a:srgbClr val="000000"/>
                          </a:solidFill>
                          <a:latin typeface="宋体" panose="02010600030101010101" pitchFamily="2" charset="-122"/>
                          <a:ea typeface="宋体" panose="02010600030101010101" pitchFamily="2" charset="-122"/>
                        </a:rPr>
                        <a:t>经营成本</a:t>
                      </a:r>
                      <a:endParaRPr lang="zh-CN" altLang="en-US"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2631.8</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2631.8</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marL="6350" indent="0" algn="ctr" fontAlgn="ctr"/>
                      <a:r>
                        <a:rPr lang="en-US" altLang="zh-CN" sz="1100" b="0" i="0">
                          <a:solidFill>
                            <a:srgbClr val="000000"/>
                          </a:solidFill>
                          <a:latin typeface="宋体" panose="02010600030101010101" pitchFamily="2" charset="-122"/>
                          <a:ea typeface="宋体" panose="02010600030101010101" pitchFamily="2" charset="-122"/>
                        </a:rPr>
                        <a:t>2631.8</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6667" marR="6667" marT="6667"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
        <p:nvSpPr>
          <p:cNvPr id="5" name="小李PPT42"/>
          <p:cNvSpPr txBox="1"/>
          <p:nvPr/>
        </p:nvSpPr>
        <p:spPr>
          <a:xfrm>
            <a:off x="935355" y="5732145"/>
            <a:ext cx="2362200" cy="456565"/>
          </a:xfrm>
          <a:prstGeom prst="rect">
            <a:avLst/>
          </a:prstGeom>
          <a:solidFill>
            <a:schemeClr val="accent2"/>
          </a:solidFill>
          <a:effectLst/>
        </p:spPr>
        <p:txBody>
          <a:bodyPr wrap="square" lIns="88697" tIns="44348" rIns="88697" bIns="44348" rtlCol="0">
            <a:spAutoFit/>
          </a:bodyPr>
          <a:p>
            <a:pPr algn="ctr">
              <a:defRPr/>
            </a:pPr>
            <a:r>
              <a:rPr lang="en-US" altLang="zh-CN" sz="2400" dirty="0">
                <a:solidFill>
                  <a:prstClr val="white"/>
                </a:solidFill>
                <a:latin typeface="方正楷体简体" panose="02000000000000000000" charset="-122"/>
                <a:ea typeface="方正楷体简体" panose="02000000000000000000" charset="-122"/>
                <a:cs typeface="方正楷体简体" panose="02000000000000000000" charset="-122"/>
              </a:rPr>
              <a:t>2-11</a:t>
            </a:r>
            <a:r>
              <a:rPr lang="zh-CN" altLang="en-US" sz="2400" dirty="0">
                <a:solidFill>
                  <a:prstClr val="white"/>
                </a:solidFill>
                <a:latin typeface="方正楷体简体" panose="02000000000000000000" charset="-122"/>
                <a:ea typeface="方正楷体简体" panose="02000000000000000000" charset="-122"/>
                <a:cs typeface="方正楷体简体" panose="02000000000000000000" charset="-122"/>
              </a:rPr>
              <a:t>年总成本</a:t>
            </a:r>
            <a:endParaRPr lang="zh-CN" altLang="en-US" sz="2400" dirty="0">
              <a:solidFill>
                <a:prstClr val="white"/>
              </a:solidFill>
              <a:latin typeface="方正楷体简体" panose="02000000000000000000" charset="-122"/>
              <a:ea typeface="方正楷体简体" panose="02000000000000000000" charset="-122"/>
              <a:cs typeface="方正楷体简体" panose="02000000000000000000" charset="-122"/>
            </a:endParaRPr>
          </a:p>
        </p:txBody>
      </p:sp>
      <p:sp>
        <p:nvSpPr>
          <p:cNvPr id="7" name="小李PPT46"/>
          <p:cNvSpPr txBox="1"/>
          <p:nvPr/>
        </p:nvSpPr>
        <p:spPr>
          <a:xfrm>
            <a:off x="1213619" y="6126848"/>
            <a:ext cx="1842026" cy="518160"/>
          </a:xfrm>
          <a:prstGeom prst="rect">
            <a:avLst/>
          </a:prstGeom>
          <a:solidFill>
            <a:schemeClr val="accent2"/>
          </a:solidFill>
          <a:effectLst/>
        </p:spPr>
        <p:txBody>
          <a:bodyPr wrap="square" lIns="88697" tIns="44348" rIns="88697" bIns="44348">
            <a:spAutoFit/>
          </a:bodyPr>
          <a:p>
            <a:pPr algn="ctr">
              <a:defRPr/>
            </a:pPr>
            <a:r>
              <a:rPr lang="en-US" altLang="zh-CN" sz="2800" dirty="0">
                <a:solidFill>
                  <a:prstClr val="white"/>
                </a:solidFill>
                <a:latin typeface="+mj-ea"/>
                <a:ea typeface="+mj-ea"/>
              </a:rPr>
              <a:t>2801.9</a:t>
            </a:r>
            <a:endParaRPr lang="zh-CN" altLang="en-US" sz="1360" dirty="0">
              <a:solidFill>
                <a:prstClr val="white"/>
              </a:solidFill>
              <a:latin typeface="+mj-ea"/>
              <a:ea typeface="+mj-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小李PPT1"/>
          <p:cNvSpPr txBox="1"/>
          <p:nvPr/>
        </p:nvSpPr>
        <p:spPr>
          <a:xfrm>
            <a:off x="800100" y="264795"/>
            <a:ext cx="8601710" cy="654685"/>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prstClr val="black">
                    <a:lumMod val="75000"/>
                    <a:lumOff val="25000"/>
                  </a:prstClr>
                </a:solidFill>
                <a:latin typeface="微软雅黑 Light" panose="020B0502040204020203" charset="-122"/>
                <a:ea typeface="微软雅黑 Light" panose="020B0502040204020203" charset="-122"/>
                <a:sym typeface="+mn-ea"/>
              </a:rPr>
              <a:t>（一）总成本估计</a:t>
            </a:r>
            <a:r>
              <a:rPr lang="en-US" altLang="zh-CN" sz="3200" dirty="0">
                <a:solidFill>
                  <a:prstClr val="black">
                    <a:lumMod val="75000"/>
                    <a:lumOff val="25000"/>
                  </a:prstClr>
                </a:solidFill>
                <a:latin typeface="微软雅黑 Light" panose="020B0502040204020203" charset="-122"/>
                <a:ea typeface="微软雅黑 Light" panose="020B0502040204020203" charset="-122"/>
                <a:sym typeface="+mn-ea"/>
              </a:rPr>
              <a:t>——各项费用估</a:t>
            </a:r>
            <a:r>
              <a:rPr lang="zh-CN" altLang="en-US" sz="3200" dirty="0">
                <a:solidFill>
                  <a:prstClr val="black"/>
                </a:solidFill>
                <a:latin typeface="+mj-ea"/>
                <a:ea typeface="+mj-ea"/>
              </a:rPr>
              <a:t>算如下：</a:t>
            </a:r>
            <a:endParaRPr lang="zh-CN" altLang="en-US" sz="3200" dirty="0">
              <a:solidFill>
                <a:prstClr val="black"/>
              </a:solidFill>
              <a:latin typeface="+mj-ea"/>
              <a:ea typeface="+mj-ea"/>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3200" dirty="0">
              <a:solidFill>
                <a:prstClr val="black"/>
              </a:solidFill>
              <a:latin typeface="+mj-ea"/>
              <a:ea typeface="+mj-ea"/>
            </a:endParaRPr>
          </a:p>
        </p:txBody>
      </p:sp>
      <p:sp>
        <p:nvSpPr>
          <p:cNvPr id="9" name="小李PPT2"/>
          <p:cNvSpPr/>
          <p:nvPr/>
        </p:nvSpPr>
        <p:spPr>
          <a:xfrm>
            <a:off x="695325" y="337281"/>
            <a:ext cx="79375" cy="40005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274" name="小李PPT3"/>
          <p:cNvSpPr/>
          <p:nvPr>
            <p:custDataLst>
              <p:tags r:id="rId1"/>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5" name="小李PPT4"/>
          <p:cNvSpPr/>
          <p:nvPr>
            <p:custDataLst>
              <p:tags r:id="rId2"/>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 name="小李PPT5"/>
          <p:cNvSpPr/>
          <p:nvPr>
            <p:custDataLst>
              <p:tags r:id="rId3"/>
            </p:custDataLst>
          </p:nvPr>
        </p:nvSpPr>
        <p:spPr>
          <a:xfrm>
            <a:off x="4000500" y="-914400"/>
            <a:ext cx="635000" cy="635000"/>
          </a:xfrm>
          <a:prstGeom prst="rect">
            <a:avLst/>
          </a:prstGeom>
          <a:solidFill>
            <a:schemeClr val="dk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7" name="小李PPT6"/>
          <p:cNvSpPr/>
          <p:nvPr>
            <p:custDataLst>
              <p:tags r:id="rId4"/>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8" name="小李PPT7"/>
          <p:cNvSpPr/>
          <p:nvPr>
            <p:custDataLst>
              <p:tags r:id="rId5"/>
            </p:custDataLst>
          </p:nvPr>
        </p:nvSpPr>
        <p:spPr>
          <a:xfrm>
            <a:off x="5778500" y="-914400"/>
            <a:ext cx="635000" cy="6350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1</a:t>
            </a:r>
            <a:endParaRPr lang="zh-CN" altLang="en-US" sz="2000">
              <a:solidFill>
                <a:srgbClr val="F2F2F2"/>
              </a:solidFill>
            </a:endParaRPr>
          </a:p>
        </p:txBody>
      </p:sp>
      <p:sp>
        <p:nvSpPr>
          <p:cNvPr id="279" name="小李PPT8"/>
          <p:cNvSpPr/>
          <p:nvPr>
            <p:custDataLst>
              <p:tags r:id="rId6"/>
            </p:custDataLst>
          </p:nvPr>
        </p:nvSpPr>
        <p:spPr>
          <a:xfrm>
            <a:off x="6540500" y="-914400"/>
            <a:ext cx="635000" cy="635000"/>
          </a:xfrm>
          <a:prstGeom prst="rect">
            <a:avLst/>
          </a:prstGeom>
          <a:solidFill>
            <a:schemeClr val="accen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2</a:t>
            </a:r>
            <a:endParaRPr lang="zh-CN" altLang="en-US" sz="2000">
              <a:solidFill>
                <a:srgbClr val="F2F2F2"/>
              </a:solidFill>
            </a:endParaRPr>
          </a:p>
        </p:txBody>
      </p:sp>
      <p:sp>
        <p:nvSpPr>
          <p:cNvPr id="280" name="小李PPT9"/>
          <p:cNvSpPr/>
          <p:nvPr>
            <p:custDataLst>
              <p:tags r:id="rId7"/>
            </p:custDataLst>
          </p:nvPr>
        </p:nvSpPr>
        <p:spPr>
          <a:xfrm>
            <a:off x="7302500" y="-914400"/>
            <a:ext cx="635000" cy="635000"/>
          </a:xfrm>
          <a:prstGeom prst="rect">
            <a:avLst/>
          </a:prstGeom>
          <a:solidFill>
            <a:schemeClr val="accent3"/>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3</a:t>
            </a:r>
            <a:endParaRPr lang="zh-CN" altLang="en-US" sz="2000">
              <a:solidFill>
                <a:srgbClr val="F2F2F2"/>
              </a:solidFill>
            </a:endParaRPr>
          </a:p>
        </p:txBody>
      </p:sp>
      <p:sp>
        <p:nvSpPr>
          <p:cNvPr id="281" name="小李PPT10"/>
          <p:cNvSpPr/>
          <p:nvPr>
            <p:custDataLst>
              <p:tags r:id="rId8"/>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4</a:t>
            </a:r>
            <a:endParaRPr lang="zh-CN" altLang="en-US" sz="2000">
              <a:solidFill>
                <a:srgbClr val="F2F2F2"/>
              </a:solidFill>
            </a:endParaRPr>
          </a:p>
        </p:txBody>
      </p:sp>
      <p:sp>
        <p:nvSpPr>
          <p:cNvPr id="282" name="小李PPT11"/>
          <p:cNvSpPr/>
          <p:nvPr>
            <p:custDataLst>
              <p:tags r:id="rId9"/>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5</a:t>
            </a:r>
            <a:endParaRPr lang="zh-CN" altLang="en-US" sz="2000">
              <a:solidFill>
                <a:srgbClr val="F2F2F2"/>
              </a:solidFill>
            </a:endParaRPr>
          </a:p>
        </p:txBody>
      </p:sp>
      <p:sp>
        <p:nvSpPr>
          <p:cNvPr id="283" name="小李PPT12"/>
          <p:cNvSpPr/>
          <p:nvPr>
            <p:custDataLst>
              <p:tags r:id="rId10"/>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6</a:t>
            </a:r>
            <a:endParaRPr lang="zh-CN" altLang="en-US" sz="2000">
              <a:solidFill>
                <a:srgbClr val="F2F2F2"/>
              </a:solidFill>
            </a:endParaRPr>
          </a:p>
        </p:txBody>
      </p:sp>
      <p:sp>
        <p:nvSpPr>
          <p:cNvPr id="10" name="Freeform 20"/>
          <p:cNvSpPr/>
          <p:nvPr/>
        </p:nvSpPr>
        <p:spPr bwMode="auto">
          <a:xfrm>
            <a:off x="3119597" y="1167344"/>
            <a:ext cx="4124390" cy="2423620"/>
          </a:xfrm>
          <a:prstGeom prst="rect">
            <a:avLst/>
          </a:prstGeom>
          <a:solidFill>
            <a:srgbClr val="F3F5F6"/>
          </a:solidFill>
          <a:ln w="12700">
            <a:miter lim="400000"/>
          </a:ln>
          <a:effectLst>
            <a:outerShdw blurRad="50800" dist="38100" dir="2700000" algn="tl" rotWithShape="0">
              <a:prstClr val="black">
                <a:alpha val="40000"/>
              </a:prstClr>
            </a:outerShdw>
          </a:effectLst>
        </p:spPr>
        <p:txBody>
          <a:bodyPr lIns="22260" tIns="22260" rIns="22260" bIns="22260" anchor="ctr"/>
          <a:lstStyle/>
          <a:p>
            <a:pPr defTabSz="412750"/>
            <a:endParaRPr lang="en-US" sz="1400" dirty="0">
              <a:solidFill>
                <a:srgbClr val="FFFFFF"/>
              </a:solidFill>
              <a:latin typeface="+mn-ea"/>
            </a:endParaRPr>
          </a:p>
        </p:txBody>
      </p:sp>
      <p:sp>
        <p:nvSpPr>
          <p:cNvPr id="12" name="Freeform 20"/>
          <p:cNvSpPr/>
          <p:nvPr/>
        </p:nvSpPr>
        <p:spPr bwMode="auto">
          <a:xfrm>
            <a:off x="7372285" y="1167344"/>
            <a:ext cx="4124390" cy="2423620"/>
          </a:xfrm>
          <a:prstGeom prst="rect">
            <a:avLst/>
          </a:prstGeom>
          <a:solidFill>
            <a:srgbClr val="F3F5F6"/>
          </a:solidFill>
          <a:ln w="12700">
            <a:miter lim="400000"/>
          </a:ln>
          <a:effectLst>
            <a:outerShdw blurRad="50800" dist="38100" dir="2700000" algn="tl" rotWithShape="0">
              <a:prstClr val="black">
                <a:alpha val="40000"/>
              </a:prstClr>
            </a:outerShdw>
          </a:effectLst>
        </p:spPr>
        <p:txBody>
          <a:bodyPr lIns="22260" tIns="22260" rIns="22260" bIns="22260" anchor="ctr"/>
          <a:lstStyle/>
          <a:p>
            <a:pPr defTabSz="412750"/>
            <a:endParaRPr lang="en-US" sz="1400" dirty="0">
              <a:solidFill>
                <a:srgbClr val="FFFFFF"/>
              </a:solidFill>
              <a:latin typeface="+mn-ea"/>
            </a:endParaRPr>
          </a:p>
        </p:txBody>
      </p:sp>
      <p:sp>
        <p:nvSpPr>
          <p:cNvPr id="13" name="Freeform 20"/>
          <p:cNvSpPr/>
          <p:nvPr/>
        </p:nvSpPr>
        <p:spPr bwMode="auto">
          <a:xfrm>
            <a:off x="3119597" y="3892033"/>
            <a:ext cx="4124390" cy="2423620"/>
          </a:xfrm>
          <a:prstGeom prst="rect">
            <a:avLst/>
          </a:prstGeom>
          <a:solidFill>
            <a:srgbClr val="F3F5F6"/>
          </a:solidFill>
          <a:ln w="12700">
            <a:miter lim="400000"/>
          </a:ln>
          <a:effectLst>
            <a:outerShdw blurRad="50800" dist="38100" dir="2700000" algn="tl" rotWithShape="0">
              <a:prstClr val="black">
                <a:alpha val="40000"/>
              </a:prstClr>
            </a:outerShdw>
          </a:effectLst>
        </p:spPr>
        <p:txBody>
          <a:bodyPr lIns="22260" tIns="22260" rIns="22260" bIns="22260" anchor="ctr"/>
          <a:lstStyle/>
          <a:p>
            <a:pPr defTabSz="412750"/>
            <a:endParaRPr lang="en-US" sz="1400" dirty="0">
              <a:solidFill>
                <a:srgbClr val="FFFFFF"/>
              </a:solidFill>
              <a:latin typeface="+mn-ea"/>
            </a:endParaRPr>
          </a:p>
        </p:txBody>
      </p:sp>
      <p:sp>
        <p:nvSpPr>
          <p:cNvPr id="14" name="Freeform 20"/>
          <p:cNvSpPr/>
          <p:nvPr/>
        </p:nvSpPr>
        <p:spPr bwMode="auto">
          <a:xfrm>
            <a:off x="7372285" y="3892033"/>
            <a:ext cx="4124390" cy="2423620"/>
          </a:xfrm>
          <a:prstGeom prst="rect">
            <a:avLst/>
          </a:prstGeom>
          <a:solidFill>
            <a:srgbClr val="F3F5F6"/>
          </a:solidFill>
          <a:ln w="12700">
            <a:miter lim="400000"/>
          </a:ln>
          <a:effectLst>
            <a:outerShdw blurRad="50800" dist="38100" dir="2700000" algn="tl" rotWithShape="0">
              <a:prstClr val="black">
                <a:alpha val="40000"/>
              </a:prstClr>
            </a:outerShdw>
          </a:effectLst>
        </p:spPr>
        <p:txBody>
          <a:bodyPr lIns="22260" tIns="22260" rIns="22260" bIns="22260" anchor="ctr"/>
          <a:lstStyle/>
          <a:p>
            <a:pPr defTabSz="412750"/>
            <a:endParaRPr lang="en-US" sz="1400" dirty="0">
              <a:solidFill>
                <a:srgbClr val="FFFFFF"/>
              </a:solidFill>
              <a:latin typeface="+mn-ea"/>
            </a:endParaRPr>
          </a:p>
        </p:txBody>
      </p:sp>
      <p:sp>
        <p:nvSpPr>
          <p:cNvPr id="15" name="Rounded Rectangle 83"/>
          <p:cNvSpPr/>
          <p:nvPr/>
        </p:nvSpPr>
        <p:spPr>
          <a:xfrm>
            <a:off x="3123740" y="1041355"/>
            <a:ext cx="4124390" cy="500776"/>
          </a:xfrm>
          <a:prstGeom prst="roundRect">
            <a:avLst>
              <a:gd name="adj" fmla="val 0"/>
            </a:avLst>
          </a:prstGeom>
          <a:solidFill>
            <a:schemeClr val="accent1"/>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lIns="88102" tIns="44053" rIns="88102" bIns="44053" rtlCol="0" anchor="ctr"/>
          <a:lstStyle/>
          <a:p>
            <a:pPr algn="ctr"/>
            <a:r>
              <a:rPr lang="zh-CN" altLang="en-US" sz="1600" dirty="0">
                <a:solidFill>
                  <a:schemeClr val="bg1"/>
                </a:solidFill>
                <a:latin typeface="+mj-ea"/>
                <a:ea typeface="+mj-ea"/>
              </a:rPr>
              <a:t>工资及福利</a:t>
            </a:r>
            <a:r>
              <a:rPr lang="zh-CN" altLang="en-US" sz="1600" dirty="0">
                <a:solidFill>
                  <a:schemeClr val="bg1"/>
                </a:solidFill>
                <a:latin typeface="+mj-ea"/>
                <a:ea typeface="+mj-ea"/>
              </a:rPr>
              <a:t>费</a:t>
            </a:r>
            <a:endParaRPr lang="zh-CN" altLang="en-US" sz="1600" dirty="0">
              <a:solidFill>
                <a:schemeClr val="bg1"/>
              </a:solidFill>
              <a:latin typeface="+mj-ea"/>
              <a:ea typeface="+mj-ea"/>
            </a:endParaRPr>
          </a:p>
        </p:txBody>
      </p:sp>
      <p:sp>
        <p:nvSpPr>
          <p:cNvPr id="16" name="Rounded Rectangle 83"/>
          <p:cNvSpPr/>
          <p:nvPr/>
        </p:nvSpPr>
        <p:spPr>
          <a:xfrm>
            <a:off x="7376428" y="1041355"/>
            <a:ext cx="4124390" cy="500776"/>
          </a:xfrm>
          <a:prstGeom prst="roundRect">
            <a:avLst>
              <a:gd name="adj" fmla="val 0"/>
            </a:avLst>
          </a:prstGeom>
          <a:solidFill>
            <a:schemeClr val="accent1"/>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lIns="88102" tIns="44053" rIns="88102" bIns="44053" rtlCol="0" anchor="ctr"/>
          <a:lstStyle/>
          <a:p>
            <a:pPr algn="ctr"/>
            <a:r>
              <a:rPr lang="zh-CN" altLang="en-US" sz="1600" dirty="0">
                <a:solidFill>
                  <a:schemeClr val="bg1"/>
                </a:solidFill>
                <a:latin typeface="+mj-ea"/>
                <a:ea typeface="+mj-ea"/>
              </a:rPr>
              <a:t>折旧</a:t>
            </a:r>
            <a:r>
              <a:rPr lang="zh-CN" altLang="en-US" sz="1600" dirty="0">
                <a:solidFill>
                  <a:schemeClr val="bg1"/>
                </a:solidFill>
                <a:latin typeface="+mj-ea"/>
                <a:ea typeface="+mj-ea"/>
              </a:rPr>
              <a:t>与摊销费</a:t>
            </a:r>
            <a:endParaRPr lang="zh-CN" altLang="en-US" sz="1600" dirty="0">
              <a:solidFill>
                <a:schemeClr val="bg1"/>
              </a:solidFill>
              <a:latin typeface="+mj-ea"/>
              <a:ea typeface="+mj-ea"/>
            </a:endParaRPr>
          </a:p>
        </p:txBody>
      </p:sp>
      <p:sp>
        <p:nvSpPr>
          <p:cNvPr id="17" name="Rounded Rectangle 83"/>
          <p:cNvSpPr/>
          <p:nvPr/>
        </p:nvSpPr>
        <p:spPr>
          <a:xfrm>
            <a:off x="3123740" y="3770823"/>
            <a:ext cx="4124390" cy="500776"/>
          </a:xfrm>
          <a:prstGeom prst="roundRect">
            <a:avLst>
              <a:gd name="adj" fmla="val 0"/>
            </a:avLst>
          </a:prstGeom>
          <a:solidFill>
            <a:schemeClr val="accent1"/>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lIns="88102" tIns="44053" rIns="88102" bIns="44053" rtlCol="0" anchor="ctr"/>
          <a:lstStyle/>
          <a:p>
            <a:pPr algn="ctr"/>
            <a:r>
              <a:rPr lang="zh-CN" altLang="en-US" sz="1600" dirty="0">
                <a:solidFill>
                  <a:schemeClr val="bg1"/>
                </a:solidFill>
                <a:latin typeface="+mj-ea"/>
                <a:ea typeface="+mj-ea"/>
              </a:rPr>
              <a:t>维修</a:t>
            </a:r>
            <a:r>
              <a:rPr lang="zh-CN" altLang="en-US" sz="1600" dirty="0">
                <a:solidFill>
                  <a:schemeClr val="bg1"/>
                </a:solidFill>
                <a:latin typeface="+mj-ea"/>
                <a:ea typeface="+mj-ea"/>
              </a:rPr>
              <a:t>费</a:t>
            </a:r>
            <a:endParaRPr lang="zh-CN" altLang="en-US" sz="1600" dirty="0">
              <a:solidFill>
                <a:schemeClr val="bg1"/>
              </a:solidFill>
              <a:latin typeface="+mj-ea"/>
              <a:ea typeface="+mj-ea"/>
            </a:endParaRPr>
          </a:p>
        </p:txBody>
      </p:sp>
      <p:sp>
        <p:nvSpPr>
          <p:cNvPr id="18" name="Rounded Rectangle 83"/>
          <p:cNvSpPr/>
          <p:nvPr/>
        </p:nvSpPr>
        <p:spPr>
          <a:xfrm>
            <a:off x="7376428" y="3770823"/>
            <a:ext cx="4124390" cy="500776"/>
          </a:xfrm>
          <a:prstGeom prst="roundRect">
            <a:avLst>
              <a:gd name="adj" fmla="val 0"/>
            </a:avLst>
          </a:prstGeom>
          <a:solidFill>
            <a:schemeClr val="accent1"/>
          </a:soli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lIns="88102" tIns="44053" rIns="88102" bIns="44053" rtlCol="0" anchor="ctr"/>
          <a:lstStyle/>
          <a:p>
            <a:pPr algn="ctr"/>
            <a:r>
              <a:rPr lang="zh-CN" altLang="en-US" sz="1600" dirty="0">
                <a:solidFill>
                  <a:schemeClr val="bg1"/>
                </a:solidFill>
                <a:latin typeface="+mj-ea"/>
                <a:ea typeface="+mj-ea"/>
              </a:rPr>
              <a:t>利息</a:t>
            </a:r>
            <a:r>
              <a:rPr lang="zh-CN" altLang="en-US" sz="1600" dirty="0">
                <a:solidFill>
                  <a:schemeClr val="bg1"/>
                </a:solidFill>
                <a:latin typeface="+mj-ea"/>
                <a:ea typeface="+mj-ea"/>
              </a:rPr>
              <a:t>支出</a:t>
            </a:r>
            <a:endParaRPr lang="zh-CN" altLang="en-US" sz="1600" dirty="0">
              <a:solidFill>
                <a:schemeClr val="bg1"/>
              </a:solidFill>
              <a:latin typeface="+mj-ea"/>
              <a:ea typeface="+mj-ea"/>
            </a:endParaRPr>
          </a:p>
        </p:txBody>
      </p:sp>
      <p:sp>
        <p:nvSpPr>
          <p:cNvPr id="20" name="文本框 19"/>
          <p:cNvSpPr txBox="1"/>
          <p:nvPr/>
        </p:nvSpPr>
        <p:spPr>
          <a:xfrm>
            <a:off x="3297555" y="1654810"/>
            <a:ext cx="3785235" cy="1503045"/>
          </a:xfrm>
          <a:prstGeom prst="rect">
            <a:avLst/>
          </a:prstGeom>
          <a:noFill/>
          <a:effectLst>
            <a:glow rad="139700">
              <a:schemeClr val="accent2">
                <a:satMod val="175000"/>
                <a:alpha val="40000"/>
              </a:schemeClr>
            </a:glow>
          </a:effectLst>
        </p:spPr>
        <p:txBody>
          <a:bodyPr wrap="square" lIns="91440" tIns="45720" rIns="91440" bIns="45720">
            <a:noAutofit/>
          </a:bodyPr>
          <a:lstStyle>
            <a:defPPr>
              <a:defRPr lang="zh-CN"/>
            </a:defPPr>
            <a:lvl1pPr algn="just">
              <a:lnSpc>
                <a:spcPct val="125000"/>
              </a:lnSpc>
              <a:defRPr sz="1000">
                <a:solidFill>
                  <a:prstClr val="black">
                    <a:lumMod val="65000"/>
                    <a:lumOff val="35000"/>
                  </a:prstClr>
                </a:solidFill>
                <a:latin typeface="+mn-ea"/>
              </a:defRPr>
            </a:lvl1pPr>
          </a:lstStyle>
          <a:p>
            <a:pPr indent="457200">
              <a:lnSpc>
                <a:spcPct val="150000"/>
              </a:lnSpc>
            </a:pPr>
            <a:r>
              <a:rPr lang="en-US" altLang="zh-CN" sz="1400" dirty="0"/>
              <a:t>本项目人均月工资及福利费标准为 1250 元，项目预计需雇员 125 人</a:t>
            </a:r>
            <a:r>
              <a:rPr lang="zh-CN" altLang="en-US" sz="1400" dirty="0">
                <a:ea typeface="宋体" panose="02010600030101010101" pitchFamily="2" charset="-122"/>
              </a:rPr>
              <a:t>。</a:t>
            </a:r>
            <a:endParaRPr lang="zh-CN" altLang="en-US" sz="1400" dirty="0">
              <a:ea typeface="宋体" panose="02010600030101010101" pitchFamily="2" charset="-122"/>
            </a:endParaRPr>
          </a:p>
          <a:p>
            <a:pPr indent="457200">
              <a:lnSpc>
                <a:spcPct val="150000"/>
              </a:lnSpc>
            </a:pPr>
            <a:r>
              <a:rPr lang="zh-CN" altLang="en-US" sz="1400" dirty="0">
                <a:ea typeface="宋体" panose="02010600030101010101" pitchFamily="2" charset="-122"/>
              </a:rPr>
              <a:t>所以</a:t>
            </a:r>
            <a:r>
              <a:rPr lang="en-US" altLang="zh-CN" sz="1400" dirty="0"/>
              <a:t>项目年实际工资及福利费总额为 187.5 万元。</a:t>
            </a:r>
            <a:endParaRPr lang="en-US" altLang="zh-CN" sz="1400" dirty="0"/>
          </a:p>
        </p:txBody>
      </p:sp>
      <p:sp>
        <p:nvSpPr>
          <p:cNvPr id="76" name="小李PPT39"/>
          <p:cNvSpPr/>
          <p:nvPr/>
        </p:nvSpPr>
        <p:spPr>
          <a:xfrm>
            <a:off x="699759" y="994113"/>
            <a:ext cx="2304000" cy="1153010"/>
          </a:xfrm>
          <a:prstGeom prst="rect">
            <a:avLst/>
          </a:prstGeom>
          <a:solidFill>
            <a:schemeClr val="accent1"/>
          </a:solidFill>
          <a:ln w="6350">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88102" tIns="44053" rIns="88102" bIns="44053" rtlCol="0" anchor="ctr"/>
          <a:lstStyle/>
          <a:p>
            <a:pPr algn="ctr"/>
            <a:endParaRPr lang="en-US" sz="1925" dirty="0">
              <a:solidFill>
                <a:schemeClr val="bg1"/>
              </a:solidFill>
              <a:latin typeface="+mj-ea"/>
              <a:ea typeface="+mj-ea"/>
            </a:endParaRPr>
          </a:p>
        </p:txBody>
      </p:sp>
      <p:sp>
        <p:nvSpPr>
          <p:cNvPr id="93" name="小李PPT40"/>
          <p:cNvSpPr/>
          <p:nvPr/>
        </p:nvSpPr>
        <p:spPr>
          <a:xfrm>
            <a:off x="699759" y="2241171"/>
            <a:ext cx="2304000" cy="1366260"/>
          </a:xfrm>
          <a:prstGeom prst="rect">
            <a:avLst/>
          </a:prstGeom>
          <a:solidFill>
            <a:schemeClr val="accent2"/>
          </a:solidFill>
          <a:ln w="6350">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88102" tIns="44053" rIns="88102" bIns="44053" rtlCol="0" anchor="ctr"/>
          <a:lstStyle/>
          <a:p>
            <a:pPr algn="ctr"/>
            <a:endParaRPr lang="en-US" sz="1925" dirty="0">
              <a:solidFill>
                <a:schemeClr val="bg1"/>
              </a:solidFill>
              <a:latin typeface="+mj-ea"/>
              <a:ea typeface="+mj-ea"/>
            </a:endParaRPr>
          </a:p>
        </p:txBody>
      </p:sp>
      <p:sp>
        <p:nvSpPr>
          <p:cNvPr id="94" name="小李PPT41"/>
          <p:cNvSpPr/>
          <p:nvPr/>
        </p:nvSpPr>
        <p:spPr>
          <a:xfrm>
            <a:off x="699759" y="3701480"/>
            <a:ext cx="2304000" cy="1342865"/>
          </a:xfrm>
          <a:prstGeom prst="rect">
            <a:avLst/>
          </a:prstGeom>
          <a:solidFill>
            <a:schemeClr val="accent6"/>
          </a:solidFill>
          <a:ln w="6350">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88102" tIns="44053" rIns="88102" bIns="44053" rtlCol="0" anchor="ctr"/>
          <a:lstStyle/>
          <a:p>
            <a:pPr algn="ctr"/>
            <a:endParaRPr lang="en-US" sz="1925" dirty="0">
              <a:solidFill>
                <a:schemeClr val="bg1"/>
              </a:solidFill>
              <a:latin typeface="+mj-ea"/>
              <a:ea typeface="+mj-ea"/>
            </a:endParaRPr>
          </a:p>
        </p:txBody>
      </p:sp>
      <p:sp>
        <p:nvSpPr>
          <p:cNvPr id="95" name="小李PPT42"/>
          <p:cNvSpPr/>
          <p:nvPr/>
        </p:nvSpPr>
        <p:spPr>
          <a:xfrm>
            <a:off x="699759" y="5138393"/>
            <a:ext cx="2304000" cy="1170331"/>
          </a:xfrm>
          <a:prstGeom prst="rect">
            <a:avLst/>
          </a:prstGeom>
          <a:solidFill>
            <a:schemeClr val="accent3"/>
          </a:solidFill>
          <a:ln w="6350">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88102" tIns="44053" rIns="88102" bIns="44053" rtlCol="0" anchor="ctr"/>
          <a:lstStyle/>
          <a:p>
            <a:pPr algn="ctr"/>
            <a:endParaRPr lang="en-US" sz="1925" dirty="0">
              <a:solidFill>
                <a:schemeClr val="bg1"/>
              </a:solidFill>
              <a:latin typeface="+mj-ea"/>
              <a:ea typeface="+mj-ea"/>
            </a:endParaRPr>
          </a:p>
        </p:txBody>
      </p:sp>
      <p:sp>
        <p:nvSpPr>
          <p:cNvPr id="96" name="小李PPT43"/>
          <p:cNvSpPr txBox="1"/>
          <p:nvPr/>
        </p:nvSpPr>
        <p:spPr>
          <a:xfrm>
            <a:off x="1390337" y="2393883"/>
            <a:ext cx="1456274" cy="655955"/>
          </a:xfrm>
          <a:prstGeom prst="rect">
            <a:avLst/>
          </a:prstGeom>
          <a:effectLst/>
        </p:spPr>
        <p:txBody>
          <a:bodyPr vert="horz" wrap="square" lIns="0" tIns="10579" rIns="0" bIns="0" rtlCol="0">
            <a:spAutoFit/>
          </a:bodyPr>
          <a:lstStyle/>
          <a:p>
            <a:pPr marL="25400" marR="30480" indent="88265" algn="ctr">
              <a:lnSpc>
                <a:spcPct val="150000"/>
              </a:lnSpc>
              <a:spcBef>
                <a:spcPts val="85"/>
              </a:spcBef>
              <a:defRPr/>
            </a:pPr>
            <a:r>
              <a:rPr lang="en-US" sz="2800" spc="-5" dirty="0">
                <a:solidFill>
                  <a:prstClr val="white"/>
                </a:solidFill>
                <a:latin typeface="+mj-ea"/>
                <a:ea typeface="+mj-ea"/>
                <a:cs typeface="Arial" panose="020B0604020202020204"/>
              </a:rPr>
              <a:t>19</a:t>
            </a:r>
            <a:endParaRPr lang="en-US" sz="2800" spc="-5" dirty="0">
              <a:solidFill>
                <a:prstClr val="white"/>
              </a:solidFill>
              <a:latin typeface="+mj-ea"/>
              <a:ea typeface="+mj-ea"/>
              <a:cs typeface="Arial" panose="020B0604020202020204"/>
            </a:endParaRPr>
          </a:p>
        </p:txBody>
      </p:sp>
      <p:grpSp>
        <p:nvGrpSpPr>
          <p:cNvPr id="97" name="小李PPT44"/>
          <p:cNvGrpSpPr/>
          <p:nvPr/>
        </p:nvGrpSpPr>
        <p:grpSpPr>
          <a:xfrm>
            <a:off x="937792" y="2673544"/>
            <a:ext cx="345780" cy="331781"/>
            <a:chOff x="6212287" y="3231000"/>
            <a:chExt cx="263154" cy="262590"/>
          </a:xfrm>
          <a:solidFill>
            <a:sysClr val="window" lastClr="FFFFFF"/>
          </a:solidFill>
        </p:grpSpPr>
        <p:sp>
          <p:nvSpPr>
            <p:cNvPr id="98" name="小李PPT44-1"/>
            <p:cNvSpPr/>
            <p:nvPr/>
          </p:nvSpPr>
          <p:spPr>
            <a:xfrm>
              <a:off x="6268871" y="3285847"/>
              <a:ext cx="6419" cy="15778"/>
            </a:xfrm>
            <a:custGeom>
              <a:avLst/>
              <a:gdLst/>
              <a:ahLst/>
              <a:cxnLst/>
              <a:rect l="l" t="t" r="r" b="b"/>
              <a:pathLst>
                <a:path w="262" h="644" extrusionOk="0">
                  <a:moveTo>
                    <a:pt x="0" y="0"/>
                  </a:moveTo>
                  <a:lnTo>
                    <a:pt x="0" y="643"/>
                  </a:lnTo>
                  <a:cubicBezTo>
                    <a:pt x="119" y="596"/>
                    <a:pt x="191" y="477"/>
                    <a:pt x="214" y="357"/>
                  </a:cubicBezTo>
                  <a:cubicBezTo>
                    <a:pt x="262" y="191"/>
                    <a:pt x="167" y="48"/>
                    <a:pt x="0" y="0"/>
                  </a:cubicBezTo>
                  <a:close/>
                </a:path>
              </a:pathLst>
            </a:custGeom>
            <a:grpFill/>
            <a:ln>
              <a:noFill/>
            </a:ln>
            <a:effectLst/>
          </p:spPr>
          <p:txBody>
            <a:bodyPr spcFirstLastPara="1" wrap="square" lIns="119462" tIns="119462" rIns="119462" bIns="119462" anchor="ctr" anchorCtr="0">
              <a:noAutofit/>
            </a:bodyPr>
            <a:lstStyle/>
            <a:p>
              <a:pPr>
                <a:defRPr/>
              </a:pPr>
              <a:endParaRPr sz="2350" kern="0">
                <a:solidFill>
                  <a:prstClr val="black"/>
                </a:solidFill>
                <a:latin typeface="+mn-ea"/>
              </a:endParaRPr>
            </a:p>
          </p:txBody>
        </p:sp>
        <p:sp>
          <p:nvSpPr>
            <p:cNvPr id="99" name="小李PPT44-2"/>
            <p:cNvSpPr/>
            <p:nvPr/>
          </p:nvSpPr>
          <p:spPr>
            <a:xfrm>
              <a:off x="6214017" y="3231727"/>
              <a:ext cx="119633" cy="101970"/>
            </a:xfrm>
            <a:custGeom>
              <a:avLst/>
              <a:gdLst/>
              <a:ahLst/>
              <a:cxnLst/>
              <a:rect l="l" t="t" r="r" b="b"/>
              <a:pathLst>
                <a:path w="4883" h="4162" extrusionOk="0">
                  <a:moveTo>
                    <a:pt x="2084" y="661"/>
                  </a:moveTo>
                  <a:cubicBezTo>
                    <a:pt x="2162" y="661"/>
                    <a:pt x="2239" y="709"/>
                    <a:pt x="2239" y="804"/>
                  </a:cubicBezTo>
                  <a:lnTo>
                    <a:pt x="2239" y="923"/>
                  </a:lnTo>
                  <a:cubicBezTo>
                    <a:pt x="2382" y="947"/>
                    <a:pt x="2501" y="995"/>
                    <a:pt x="2596" y="1114"/>
                  </a:cubicBezTo>
                  <a:cubicBezTo>
                    <a:pt x="2668" y="1161"/>
                    <a:pt x="2668" y="1257"/>
                    <a:pt x="2596" y="1328"/>
                  </a:cubicBezTo>
                  <a:cubicBezTo>
                    <a:pt x="2561" y="1352"/>
                    <a:pt x="2519" y="1364"/>
                    <a:pt x="2480" y="1364"/>
                  </a:cubicBezTo>
                  <a:cubicBezTo>
                    <a:pt x="2441" y="1364"/>
                    <a:pt x="2406" y="1352"/>
                    <a:pt x="2382" y="1328"/>
                  </a:cubicBezTo>
                  <a:cubicBezTo>
                    <a:pt x="2334" y="1304"/>
                    <a:pt x="2287" y="1280"/>
                    <a:pt x="2263" y="1257"/>
                  </a:cubicBezTo>
                  <a:lnTo>
                    <a:pt x="2263" y="1876"/>
                  </a:lnTo>
                  <a:lnTo>
                    <a:pt x="2358" y="1923"/>
                  </a:lnTo>
                  <a:cubicBezTo>
                    <a:pt x="2668" y="2019"/>
                    <a:pt x="2834" y="2328"/>
                    <a:pt x="2787" y="2638"/>
                  </a:cubicBezTo>
                  <a:cubicBezTo>
                    <a:pt x="2739" y="2900"/>
                    <a:pt x="2525" y="3138"/>
                    <a:pt x="2263" y="3186"/>
                  </a:cubicBezTo>
                  <a:lnTo>
                    <a:pt x="2263" y="3352"/>
                  </a:lnTo>
                  <a:cubicBezTo>
                    <a:pt x="2263" y="3448"/>
                    <a:pt x="2180" y="3495"/>
                    <a:pt x="2096" y="3495"/>
                  </a:cubicBezTo>
                  <a:cubicBezTo>
                    <a:pt x="2013" y="3495"/>
                    <a:pt x="1929" y="3448"/>
                    <a:pt x="1929" y="3352"/>
                  </a:cubicBezTo>
                  <a:lnTo>
                    <a:pt x="1929" y="3209"/>
                  </a:lnTo>
                  <a:cubicBezTo>
                    <a:pt x="1787" y="3209"/>
                    <a:pt x="1620" y="3138"/>
                    <a:pt x="1501" y="3043"/>
                  </a:cubicBezTo>
                  <a:cubicBezTo>
                    <a:pt x="1406" y="2995"/>
                    <a:pt x="1406" y="2900"/>
                    <a:pt x="1453" y="2828"/>
                  </a:cubicBezTo>
                  <a:lnTo>
                    <a:pt x="1429" y="2805"/>
                  </a:lnTo>
                  <a:cubicBezTo>
                    <a:pt x="1456" y="2765"/>
                    <a:pt x="1496" y="2748"/>
                    <a:pt x="1539" y="2748"/>
                  </a:cubicBezTo>
                  <a:cubicBezTo>
                    <a:pt x="1575" y="2748"/>
                    <a:pt x="1612" y="2759"/>
                    <a:pt x="1644" y="2781"/>
                  </a:cubicBezTo>
                  <a:cubicBezTo>
                    <a:pt x="1739" y="2828"/>
                    <a:pt x="1810" y="2876"/>
                    <a:pt x="1929" y="2876"/>
                  </a:cubicBezTo>
                  <a:lnTo>
                    <a:pt x="1929" y="2090"/>
                  </a:lnTo>
                  <a:cubicBezTo>
                    <a:pt x="1834" y="2043"/>
                    <a:pt x="1739" y="1995"/>
                    <a:pt x="1644" y="1923"/>
                  </a:cubicBezTo>
                  <a:cubicBezTo>
                    <a:pt x="1501" y="1804"/>
                    <a:pt x="1429" y="1590"/>
                    <a:pt x="1477" y="1423"/>
                  </a:cubicBezTo>
                  <a:cubicBezTo>
                    <a:pt x="1525" y="1209"/>
                    <a:pt x="1667" y="1019"/>
                    <a:pt x="1882" y="947"/>
                  </a:cubicBezTo>
                  <a:lnTo>
                    <a:pt x="1929" y="947"/>
                  </a:lnTo>
                  <a:lnTo>
                    <a:pt x="1929" y="804"/>
                  </a:lnTo>
                  <a:cubicBezTo>
                    <a:pt x="1929" y="709"/>
                    <a:pt x="2007" y="661"/>
                    <a:pt x="2084" y="661"/>
                  </a:cubicBezTo>
                  <a:close/>
                  <a:moveTo>
                    <a:pt x="2103" y="1"/>
                  </a:moveTo>
                  <a:cubicBezTo>
                    <a:pt x="1026" y="1"/>
                    <a:pt x="0" y="833"/>
                    <a:pt x="0" y="2090"/>
                  </a:cubicBezTo>
                  <a:cubicBezTo>
                    <a:pt x="0" y="3233"/>
                    <a:pt x="929" y="4162"/>
                    <a:pt x="2096" y="4162"/>
                  </a:cubicBezTo>
                  <a:cubicBezTo>
                    <a:pt x="3954" y="4162"/>
                    <a:pt x="4882" y="1923"/>
                    <a:pt x="3573" y="614"/>
                  </a:cubicBezTo>
                  <a:cubicBezTo>
                    <a:pt x="3142" y="190"/>
                    <a:pt x="2616" y="1"/>
                    <a:pt x="2103" y="1"/>
                  </a:cubicBezTo>
                  <a:close/>
                </a:path>
              </a:pathLst>
            </a:custGeom>
            <a:grpFill/>
            <a:ln>
              <a:noFill/>
            </a:ln>
            <a:effectLst/>
          </p:spPr>
          <p:txBody>
            <a:bodyPr spcFirstLastPara="1" wrap="square" lIns="119462" tIns="119462" rIns="119462" bIns="119462" anchor="ctr" anchorCtr="0">
              <a:noAutofit/>
            </a:bodyPr>
            <a:lstStyle/>
            <a:p>
              <a:pPr>
                <a:defRPr/>
              </a:pPr>
              <a:endParaRPr sz="2350" kern="0">
                <a:solidFill>
                  <a:prstClr val="black"/>
                </a:solidFill>
                <a:latin typeface="+mn-ea"/>
              </a:endParaRPr>
            </a:p>
          </p:txBody>
        </p:sp>
        <p:sp>
          <p:nvSpPr>
            <p:cNvPr id="100" name="小李PPT44-3"/>
            <p:cNvSpPr/>
            <p:nvPr/>
          </p:nvSpPr>
          <p:spPr>
            <a:xfrm>
              <a:off x="6257194" y="3263089"/>
              <a:ext cx="4116" cy="11099"/>
            </a:xfrm>
            <a:custGeom>
              <a:avLst/>
              <a:gdLst/>
              <a:ahLst/>
              <a:cxnLst/>
              <a:rect l="l" t="t" r="r" b="b"/>
              <a:pathLst>
                <a:path w="168" h="453" extrusionOk="0">
                  <a:moveTo>
                    <a:pt x="167" y="0"/>
                  </a:moveTo>
                  <a:cubicBezTo>
                    <a:pt x="96" y="24"/>
                    <a:pt x="25" y="120"/>
                    <a:pt x="25" y="191"/>
                  </a:cubicBezTo>
                  <a:cubicBezTo>
                    <a:pt x="1" y="262"/>
                    <a:pt x="25" y="334"/>
                    <a:pt x="72" y="405"/>
                  </a:cubicBezTo>
                  <a:lnTo>
                    <a:pt x="167" y="453"/>
                  </a:lnTo>
                  <a:lnTo>
                    <a:pt x="167" y="0"/>
                  </a:lnTo>
                  <a:close/>
                </a:path>
              </a:pathLst>
            </a:custGeom>
            <a:grpFill/>
            <a:ln>
              <a:noFill/>
            </a:ln>
            <a:effectLst/>
          </p:spPr>
          <p:txBody>
            <a:bodyPr spcFirstLastPara="1" wrap="square" lIns="119462" tIns="119462" rIns="119462" bIns="119462" anchor="ctr" anchorCtr="0">
              <a:noAutofit/>
            </a:bodyPr>
            <a:lstStyle/>
            <a:p>
              <a:pPr>
                <a:defRPr/>
              </a:pPr>
              <a:endParaRPr sz="2350" kern="0">
                <a:solidFill>
                  <a:prstClr val="black"/>
                </a:solidFill>
                <a:latin typeface="+mn-ea"/>
              </a:endParaRPr>
            </a:p>
          </p:txBody>
        </p:sp>
        <p:sp>
          <p:nvSpPr>
            <p:cNvPr id="101" name="小李PPT44-4"/>
            <p:cNvSpPr/>
            <p:nvPr/>
          </p:nvSpPr>
          <p:spPr>
            <a:xfrm>
              <a:off x="6311460" y="3386200"/>
              <a:ext cx="66542" cy="107384"/>
            </a:xfrm>
            <a:custGeom>
              <a:avLst/>
              <a:gdLst/>
              <a:ahLst/>
              <a:cxnLst/>
              <a:rect l="l" t="t" r="r" b="b"/>
              <a:pathLst>
                <a:path w="2716" h="4383" extrusionOk="0">
                  <a:moveTo>
                    <a:pt x="334" y="0"/>
                  </a:moveTo>
                  <a:cubicBezTo>
                    <a:pt x="143" y="0"/>
                    <a:pt x="0" y="143"/>
                    <a:pt x="0" y="310"/>
                  </a:cubicBezTo>
                  <a:lnTo>
                    <a:pt x="0" y="4073"/>
                  </a:lnTo>
                  <a:cubicBezTo>
                    <a:pt x="0" y="4239"/>
                    <a:pt x="143" y="4382"/>
                    <a:pt x="334" y="4382"/>
                  </a:cubicBezTo>
                  <a:lnTo>
                    <a:pt x="2406" y="4382"/>
                  </a:lnTo>
                  <a:cubicBezTo>
                    <a:pt x="2572" y="4382"/>
                    <a:pt x="2715" y="4239"/>
                    <a:pt x="2715" y="4073"/>
                  </a:cubicBezTo>
                  <a:lnTo>
                    <a:pt x="2715" y="310"/>
                  </a:lnTo>
                  <a:cubicBezTo>
                    <a:pt x="2715" y="143"/>
                    <a:pt x="2572" y="0"/>
                    <a:pt x="2406" y="0"/>
                  </a:cubicBezTo>
                  <a:close/>
                </a:path>
              </a:pathLst>
            </a:custGeom>
            <a:grpFill/>
            <a:ln>
              <a:noFill/>
            </a:ln>
            <a:effectLst/>
          </p:spPr>
          <p:txBody>
            <a:bodyPr spcFirstLastPara="1" wrap="square" lIns="119462" tIns="119462" rIns="119462" bIns="119462" anchor="ctr" anchorCtr="0">
              <a:noAutofit/>
            </a:bodyPr>
            <a:lstStyle/>
            <a:p>
              <a:pPr>
                <a:defRPr/>
              </a:pPr>
              <a:endParaRPr sz="2350" kern="0">
                <a:solidFill>
                  <a:prstClr val="black"/>
                </a:solidFill>
                <a:latin typeface="+mn-ea"/>
              </a:endParaRPr>
            </a:p>
          </p:txBody>
        </p:sp>
        <p:sp>
          <p:nvSpPr>
            <p:cNvPr id="102" name="小李PPT44-5"/>
            <p:cNvSpPr/>
            <p:nvPr/>
          </p:nvSpPr>
          <p:spPr>
            <a:xfrm>
              <a:off x="6408896" y="3355283"/>
              <a:ext cx="66542" cy="138303"/>
            </a:xfrm>
            <a:custGeom>
              <a:avLst/>
              <a:gdLst/>
              <a:ahLst/>
              <a:cxnLst/>
              <a:rect l="l" t="t" r="r" b="b"/>
              <a:pathLst>
                <a:path w="2716" h="5645" extrusionOk="0">
                  <a:moveTo>
                    <a:pt x="310" y="0"/>
                  </a:moveTo>
                  <a:cubicBezTo>
                    <a:pt x="143" y="0"/>
                    <a:pt x="1" y="143"/>
                    <a:pt x="1" y="310"/>
                  </a:cubicBezTo>
                  <a:lnTo>
                    <a:pt x="1" y="5335"/>
                  </a:lnTo>
                  <a:cubicBezTo>
                    <a:pt x="1" y="5501"/>
                    <a:pt x="143" y="5644"/>
                    <a:pt x="310" y="5644"/>
                  </a:cubicBezTo>
                  <a:lnTo>
                    <a:pt x="2406" y="5644"/>
                  </a:lnTo>
                  <a:cubicBezTo>
                    <a:pt x="2572" y="5644"/>
                    <a:pt x="2715" y="5501"/>
                    <a:pt x="2715" y="5335"/>
                  </a:cubicBezTo>
                  <a:lnTo>
                    <a:pt x="2715" y="310"/>
                  </a:lnTo>
                  <a:cubicBezTo>
                    <a:pt x="2715" y="143"/>
                    <a:pt x="2572" y="0"/>
                    <a:pt x="2406" y="0"/>
                  </a:cubicBezTo>
                  <a:close/>
                </a:path>
              </a:pathLst>
            </a:custGeom>
            <a:grpFill/>
            <a:ln>
              <a:noFill/>
            </a:ln>
            <a:effectLst/>
          </p:spPr>
          <p:txBody>
            <a:bodyPr spcFirstLastPara="1" wrap="square" lIns="119462" tIns="119462" rIns="119462" bIns="119462" anchor="ctr" anchorCtr="0">
              <a:noAutofit/>
            </a:bodyPr>
            <a:lstStyle/>
            <a:p>
              <a:pPr>
                <a:defRPr/>
              </a:pPr>
              <a:endParaRPr sz="2350" kern="0">
                <a:solidFill>
                  <a:prstClr val="black"/>
                </a:solidFill>
                <a:latin typeface="+mn-ea"/>
              </a:endParaRPr>
            </a:p>
          </p:txBody>
        </p:sp>
        <p:sp>
          <p:nvSpPr>
            <p:cNvPr id="103" name="小李PPT44-6"/>
            <p:cNvSpPr/>
            <p:nvPr/>
          </p:nvSpPr>
          <p:spPr>
            <a:xfrm>
              <a:off x="6214028" y="3416538"/>
              <a:ext cx="66542" cy="77052"/>
            </a:xfrm>
            <a:custGeom>
              <a:avLst/>
              <a:gdLst/>
              <a:ahLst/>
              <a:cxnLst/>
              <a:rect l="l" t="t" r="r" b="b"/>
              <a:pathLst>
                <a:path w="2716" h="3145" extrusionOk="0">
                  <a:moveTo>
                    <a:pt x="334" y="1"/>
                  </a:moveTo>
                  <a:cubicBezTo>
                    <a:pt x="143" y="1"/>
                    <a:pt x="0" y="144"/>
                    <a:pt x="0" y="334"/>
                  </a:cubicBezTo>
                  <a:lnTo>
                    <a:pt x="0" y="2835"/>
                  </a:lnTo>
                  <a:cubicBezTo>
                    <a:pt x="0" y="3001"/>
                    <a:pt x="143" y="3144"/>
                    <a:pt x="334" y="3144"/>
                  </a:cubicBezTo>
                  <a:lnTo>
                    <a:pt x="2406" y="3144"/>
                  </a:lnTo>
                  <a:cubicBezTo>
                    <a:pt x="2572" y="3144"/>
                    <a:pt x="2715" y="3001"/>
                    <a:pt x="2715" y="2835"/>
                  </a:cubicBezTo>
                  <a:lnTo>
                    <a:pt x="2715" y="334"/>
                  </a:lnTo>
                  <a:cubicBezTo>
                    <a:pt x="2715" y="144"/>
                    <a:pt x="2572" y="1"/>
                    <a:pt x="2406" y="1"/>
                  </a:cubicBezTo>
                  <a:close/>
                </a:path>
              </a:pathLst>
            </a:custGeom>
            <a:grpFill/>
            <a:ln>
              <a:noFill/>
            </a:ln>
            <a:effectLst/>
          </p:spPr>
          <p:txBody>
            <a:bodyPr spcFirstLastPara="1" wrap="square" lIns="119462" tIns="119462" rIns="119462" bIns="119462" anchor="ctr" anchorCtr="0">
              <a:noAutofit/>
            </a:bodyPr>
            <a:lstStyle/>
            <a:p>
              <a:pPr>
                <a:defRPr/>
              </a:pPr>
              <a:endParaRPr sz="2350" kern="0">
                <a:solidFill>
                  <a:prstClr val="black"/>
                </a:solidFill>
                <a:latin typeface="+mn-ea"/>
              </a:endParaRPr>
            </a:p>
          </p:txBody>
        </p:sp>
        <p:sp>
          <p:nvSpPr>
            <p:cNvPr id="104" name="小李PPT44-7"/>
            <p:cNvSpPr/>
            <p:nvPr/>
          </p:nvSpPr>
          <p:spPr>
            <a:xfrm>
              <a:off x="6212287" y="3231000"/>
              <a:ext cx="263154" cy="159299"/>
            </a:xfrm>
            <a:custGeom>
              <a:avLst/>
              <a:gdLst/>
              <a:ahLst/>
              <a:cxnLst/>
              <a:rect l="l" t="t" r="r" b="b"/>
              <a:pathLst>
                <a:path w="10741" h="6502" extrusionOk="0">
                  <a:moveTo>
                    <a:pt x="8764" y="1"/>
                  </a:moveTo>
                  <a:cubicBezTo>
                    <a:pt x="8383" y="48"/>
                    <a:pt x="8383" y="596"/>
                    <a:pt x="8764" y="644"/>
                  </a:cubicBezTo>
                  <a:lnTo>
                    <a:pt x="9645" y="644"/>
                  </a:lnTo>
                  <a:cubicBezTo>
                    <a:pt x="9502" y="763"/>
                    <a:pt x="9359" y="906"/>
                    <a:pt x="9216" y="1049"/>
                  </a:cubicBezTo>
                  <a:cubicBezTo>
                    <a:pt x="7335" y="2906"/>
                    <a:pt x="4477" y="5692"/>
                    <a:pt x="381" y="5859"/>
                  </a:cubicBezTo>
                  <a:cubicBezTo>
                    <a:pt x="0" y="5907"/>
                    <a:pt x="0" y="6454"/>
                    <a:pt x="381" y="6502"/>
                  </a:cubicBezTo>
                  <a:cubicBezTo>
                    <a:pt x="4715" y="6311"/>
                    <a:pt x="7668" y="3430"/>
                    <a:pt x="9645" y="1501"/>
                  </a:cubicBezTo>
                  <a:lnTo>
                    <a:pt x="10097" y="1049"/>
                  </a:lnTo>
                  <a:lnTo>
                    <a:pt x="10097" y="2001"/>
                  </a:lnTo>
                  <a:cubicBezTo>
                    <a:pt x="10121" y="2192"/>
                    <a:pt x="10270" y="2287"/>
                    <a:pt x="10419" y="2287"/>
                  </a:cubicBezTo>
                  <a:cubicBezTo>
                    <a:pt x="10568" y="2287"/>
                    <a:pt x="10717" y="2192"/>
                    <a:pt x="10740" y="2001"/>
                  </a:cubicBezTo>
                  <a:lnTo>
                    <a:pt x="10740" y="334"/>
                  </a:lnTo>
                  <a:cubicBezTo>
                    <a:pt x="10740" y="144"/>
                    <a:pt x="10597" y="1"/>
                    <a:pt x="10431" y="1"/>
                  </a:cubicBezTo>
                  <a:close/>
                </a:path>
              </a:pathLst>
            </a:custGeom>
            <a:grpFill/>
            <a:ln>
              <a:noFill/>
            </a:ln>
            <a:effectLst/>
          </p:spPr>
          <p:txBody>
            <a:bodyPr spcFirstLastPara="1" wrap="square" lIns="119462" tIns="119462" rIns="119462" bIns="119462" anchor="ctr" anchorCtr="0">
              <a:noAutofit/>
            </a:bodyPr>
            <a:lstStyle/>
            <a:p>
              <a:pPr>
                <a:defRPr/>
              </a:pPr>
              <a:endParaRPr sz="2350" kern="0">
                <a:solidFill>
                  <a:prstClr val="black"/>
                </a:solidFill>
                <a:latin typeface="+mn-ea"/>
              </a:endParaRPr>
            </a:p>
          </p:txBody>
        </p:sp>
      </p:grpSp>
      <p:sp>
        <p:nvSpPr>
          <p:cNvPr id="105" name="小李PPT45"/>
          <p:cNvSpPr txBox="1"/>
          <p:nvPr/>
        </p:nvSpPr>
        <p:spPr>
          <a:xfrm>
            <a:off x="1195705" y="3039745"/>
            <a:ext cx="1807845" cy="508635"/>
          </a:xfrm>
          <a:prstGeom prst="rect">
            <a:avLst/>
          </a:prstGeom>
          <a:noFill/>
          <a:effectLst/>
        </p:spPr>
        <p:txBody>
          <a:bodyPr wrap="square" lIns="89611" tIns="44806" rIns="89611" bIns="44806">
            <a:spAutoFit/>
          </a:bodyPr>
          <a:lstStyle/>
          <a:p>
            <a:pPr marL="25400" marR="30480" indent="88265" algn="ctr">
              <a:lnSpc>
                <a:spcPct val="150000"/>
              </a:lnSpc>
              <a:spcBef>
                <a:spcPts val="85"/>
              </a:spcBef>
              <a:defRPr/>
            </a:pPr>
            <a:r>
              <a:rPr lang="zh-CN" altLang="en-US" sz="2800" spc="-5" baseline="24000" dirty="0">
                <a:solidFill>
                  <a:prstClr val="white"/>
                </a:solidFill>
                <a:latin typeface="+mn-ea"/>
                <a:cs typeface="Arial" panose="020B0604020202020204"/>
              </a:rPr>
              <a:t>摊销费</a:t>
            </a:r>
            <a:endParaRPr lang="zh-CN" altLang="en-US" sz="2800" spc="-5" baseline="24000" dirty="0">
              <a:solidFill>
                <a:prstClr val="white"/>
              </a:solidFill>
              <a:latin typeface="+mn-ea"/>
              <a:cs typeface="Arial" panose="020B0604020202020204"/>
            </a:endParaRPr>
          </a:p>
        </p:txBody>
      </p:sp>
      <p:sp>
        <p:nvSpPr>
          <p:cNvPr id="106" name="小李PPT46"/>
          <p:cNvSpPr>
            <a:spLocks noEditPoints="1"/>
          </p:cNvSpPr>
          <p:nvPr/>
        </p:nvSpPr>
        <p:spPr bwMode="auto">
          <a:xfrm>
            <a:off x="913527" y="5446689"/>
            <a:ext cx="394310" cy="388510"/>
          </a:xfrm>
          <a:custGeom>
            <a:avLst/>
            <a:gdLst>
              <a:gd name="T0" fmla="*/ 97 w 176"/>
              <a:gd name="T1" fmla="*/ 84 h 176"/>
              <a:gd name="T2" fmla="*/ 90 w 176"/>
              <a:gd name="T3" fmla="*/ 62 h 176"/>
              <a:gd name="T4" fmla="*/ 99 w 176"/>
              <a:gd name="T5" fmla="*/ 72 h 176"/>
              <a:gd name="T6" fmla="*/ 107 w 176"/>
              <a:gd name="T7" fmla="*/ 64 h 176"/>
              <a:gd name="T8" fmla="*/ 97 w 176"/>
              <a:gd name="T9" fmla="*/ 55 h 176"/>
              <a:gd name="T10" fmla="*/ 90 w 176"/>
              <a:gd name="T11" fmla="*/ 48 h 176"/>
              <a:gd name="T12" fmla="*/ 85 w 176"/>
              <a:gd name="T13" fmla="*/ 54 h 176"/>
              <a:gd name="T14" fmla="*/ 72 w 176"/>
              <a:gd name="T15" fmla="*/ 58 h 176"/>
              <a:gd name="T16" fmla="*/ 66 w 176"/>
              <a:gd name="T17" fmla="*/ 72 h 176"/>
              <a:gd name="T18" fmla="*/ 72 w 176"/>
              <a:gd name="T19" fmla="*/ 86 h 176"/>
              <a:gd name="T20" fmla="*/ 85 w 176"/>
              <a:gd name="T21" fmla="*/ 92 h 176"/>
              <a:gd name="T22" fmla="*/ 77 w 176"/>
              <a:gd name="T23" fmla="*/ 110 h 176"/>
              <a:gd name="T24" fmla="*/ 64 w 176"/>
              <a:gd name="T25" fmla="*/ 100 h 176"/>
              <a:gd name="T26" fmla="*/ 70 w 176"/>
              <a:gd name="T27" fmla="*/ 116 h 176"/>
              <a:gd name="T28" fmla="*/ 85 w 176"/>
              <a:gd name="T29" fmla="*/ 122 h 176"/>
              <a:gd name="T30" fmla="*/ 90 w 176"/>
              <a:gd name="T31" fmla="*/ 128 h 176"/>
              <a:gd name="T32" fmla="*/ 98 w 176"/>
              <a:gd name="T33" fmla="*/ 120 h 176"/>
              <a:gd name="T34" fmla="*/ 109 w 176"/>
              <a:gd name="T35" fmla="*/ 110 h 176"/>
              <a:gd name="T36" fmla="*/ 109 w 176"/>
              <a:gd name="T37" fmla="*/ 93 h 176"/>
              <a:gd name="T38" fmla="*/ 85 w 176"/>
              <a:gd name="T39" fmla="*/ 80 h 176"/>
              <a:gd name="T40" fmla="*/ 79 w 176"/>
              <a:gd name="T41" fmla="*/ 77 h 176"/>
              <a:gd name="T42" fmla="*/ 76 w 176"/>
              <a:gd name="T43" fmla="*/ 71 h 176"/>
              <a:gd name="T44" fmla="*/ 85 w 176"/>
              <a:gd name="T45" fmla="*/ 62 h 176"/>
              <a:gd name="T46" fmla="*/ 97 w 176"/>
              <a:gd name="T47" fmla="*/ 111 h 176"/>
              <a:gd name="T48" fmla="*/ 90 w 176"/>
              <a:gd name="T49" fmla="*/ 92 h 176"/>
              <a:gd name="T50" fmla="*/ 97 w 176"/>
              <a:gd name="T51" fmla="*/ 96 h 176"/>
              <a:gd name="T52" fmla="*/ 100 w 176"/>
              <a:gd name="T53" fmla="*/ 103 h 176"/>
              <a:gd name="T54" fmla="*/ 88 w 176"/>
              <a:gd name="T55" fmla="*/ 0 h 176"/>
              <a:gd name="T56" fmla="*/ 88 w 176"/>
              <a:gd name="T57" fmla="*/ 176 h 176"/>
              <a:gd name="T58" fmla="*/ 88 w 176"/>
              <a:gd name="T59" fmla="*/ 0 h 176"/>
              <a:gd name="T60" fmla="*/ 8 w 176"/>
              <a:gd name="T61" fmla="*/ 88 h 176"/>
              <a:gd name="T62" fmla="*/ 168 w 176"/>
              <a:gd name="T63" fmla="*/ 88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6" h="176">
                <a:moveTo>
                  <a:pt x="104" y="87"/>
                </a:moveTo>
                <a:cubicBezTo>
                  <a:pt x="102" y="86"/>
                  <a:pt x="100" y="85"/>
                  <a:pt x="97" y="84"/>
                </a:cubicBezTo>
                <a:cubicBezTo>
                  <a:pt x="95" y="83"/>
                  <a:pt x="93" y="82"/>
                  <a:pt x="90" y="81"/>
                </a:cubicBezTo>
                <a:cubicBezTo>
                  <a:pt x="90" y="62"/>
                  <a:pt x="90" y="62"/>
                  <a:pt x="90" y="62"/>
                </a:cubicBezTo>
                <a:cubicBezTo>
                  <a:pt x="93" y="62"/>
                  <a:pt x="95" y="63"/>
                  <a:pt x="96" y="64"/>
                </a:cubicBezTo>
                <a:cubicBezTo>
                  <a:pt x="98" y="66"/>
                  <a:pt x="99" y="68"/>
                  <a:pt x="99" y="72"/>
                </a:cubicBezTo>
                <a:cubicBezTo>
                  <a:pt x="109" y="72"/>
                  <a:pt x="109" y="72"/>
                  <a:pt x="109" y="72"/>
                </a:cubicBezTo>
                <a:cubicBezTo>
                  <a:pt x="109" y="69"/>
                  <a:pt x="108" y="66"/>
                  <a:pt x="107" y="64"/>
                </a:cubicBezTo>
                <a:cubicBezTo>
                  <a:pt x="106" y="62"/>
                  <a:pt x="105" y="60"/>
                  <a:pt x="103" y="58"/>
                </a:cubicBezTo>
                <a:cubicBezTo>
                  <a:pt x="101" y="57"/>
                  <a:pt x="99" y="56"/>
                  <a:pt x="97" y="55"/>
                </a:cubicBezTo>
                <a:cubicBezTo>
                  <a:pt x="95" y="54"/>
                  <a:pt x="93" y="54"/>
                  <a:pt x="90" y="54"/>
                </a:cubicBezTo>
                <a:cubicBezTo>
                  <a:pt x="90" y="48"/>
                  <a:pt x="90" y="48"/>
                  <a:pt x="90" y="48"/>
                </a:cubicBezTo>
                <a:cubicBezTo>
                  <a:pt x="85" y="48"/>
                  <a:pt x="85" y="48"/>
                  <a:pt x="85" y="48"/>
                </a:cubicBezTo>
                <a:cubicBezTo>
                  <a:pt x="85" y="54"/>
                  <a:pt x="85" y="54"/>
                  <a:pt x="85" y="54"/>
                </a:cubicBezTo>
                <a:cubicBezTo>
                  <a:pt x="82" y="54"/>
                  <a:pt x="81" y="54"/>
                  <a:pt x="78" y="55"/>
                </a:cubicBezTo>
                <a:cubicBezTo>
                  <a:pt x="76" y="56"/>
                  <a:pt x="74" y="57"/>
                  <a:pt x="72" y="58"/>
                </a:cubicBezTo>
                <a:cubicBezTo>
                  <a:pt x="70" y="60"/>
                  <a:pt x="69" y="62"/>
                  <a:pt x="67" y="64"/>
                </a:cubicBezTo>
                <a:cubicBezTo>
                  <a:pt x="66" y="66"/>
                  <a:pt x="66" y="69"/>
                  <a:pt x="66" y="72"/>
                </a:cubicBezTo>
                <a:cubicBezTo>
                  <a:pt x="66" y="75"/>
                  <a:pt x="66" y="78"/>
                  <a:pt x="68" y="80"/>
                </a:cubicBezTo>
                <a:cubicBezTo>
                  <a:pt x="69" y="82"/>
                  <a:pt x="70" y="84"/>
                  <a:pt x="72" y="86"/>
                </a:cubicBezTo>
                <a:cubicBezTo>
                  <a:pt x="74" y="87"/>
                  <a:pt x="76" y="88"/>
                  <a:pt x="79" y="89"/>
                </a:cubicBezTo>
                <a:cubicBezTo>
                  <a:pt x="81" y="90"/>
                  <a:pt x="83" y="91"/>
                  <a:pt x="85" y="92"/>
                </a:cubicBezTo>
                <a:cubicBezTo>
                  <a:pt x="85" y="114"/>
                  <a:pt x="85" y="114"/>
                  <a:pt x="85" y="114"/>
                </a:cubicBezTo>
                <a:cubicBezTo>
                  <a:pt x="81" y="113"/>
                  <a:pt x="79" y="112"/>
                  <a:pt x="77" y="110"/>
                </a:cubicBezTo>
                <a:cubicBezTo>
                  <a:pt x="75" y="108"/>
                  <a:pt x="74" y="104"/>
                  <a:pt x="75" y="100"/>
                </a:cubicBezTo>
                <a:cubicBezTo>
                  <a:pt x="64" y="100"/>
                  <a:pt x="64" y="100"/>
                  <a:pt x="64" y="100"/>
                </a:cubicBezTo>
                <a:cubicBezTo>
                  <a:pt x="64" y="104"/>
                  <a:pt x="65" y="107"/>
                  <a:pt x="66" y="109"/>
                </a:cubicBezTo>
                <a:cubicBezTo>
                  <a:pt x="67" y="112"/>
                  <a:pt x="68" y="114"/>
                  <a:pt x="70" y="116"/>
                </a:cubicBezTo>
                <a:cubicBezTo>
                  <a:pt x="72" y="118"/>
                  <a:pt x="74" y="119"/>
                  <a:pt x="77" y="120"/>
                </a:cubicBezTo>
                <a:cubicBezTo>
                  <a:pt x="80" y="121"/>
                  <a:pt x="82" y="122"/>
                  <a:pt x="85" y="122"/>
                </a:cubicBezTo>
                <a:cubicBezTo>
                  <a:pt x="85" y="128"/>
                  <a:pt x="85" y="128"/>
                  <a:pt x="85" y="128"/>
                </a:cubicBezTo>
                <a:cubicBezTo>
                  <a:pt x="90" y="128"/>
                  <a:pt x="90" y="128"/>
                  <a:pt x="90" y="128"/>
                </a:cubicBezTo>
                <a:cubicBezTo>
                  <a:pt x="90" y="122"/>
                  <a:pt x="90" y="122"/>
                  <a:pt x="90" y="122"/>
                </a:cubicBezTo>
                <a:cubicBezTo>
                  <a:pt x="93" y="122"/>
                  <a:pt x="95" y="121"/>
                  <a:pt x="98" y="120"/>
                </a:cubicBezTo>
                <a:cubicBezTo>
                  <a:pt x="100" y="119"/>
                  <a:pt x="102" y="118"/>
                  <a:pt x="104" y="116"/>
                </a:cubicBezTo>
                <a:cubicBezTo>
                  <a:pt x="106" y="115"/>
                  <a:pt x="108" y="113"/>
                  <a:pt x="109" y="110"/>
                </a:cubicBezTo>
                <a:cubicBezTo>
                  <a:pt x="110" y="108"/>
                  <a:pt x="110" y="105"/>
                  <a:pt x="110" y="101"/>
                </a:cubicBezTo>
                <a:cubicBezTo>
                  <a:pt x="110" y="98"/>
                  <a:pt x="110" y="95"/>
                  <a:pt x="109" y="93"/>
                </a:cubicBezTo>
                <a:cubicBezTo>
                  <a:pt x="108" y="91"/>
                  <a:pt x="106" y="89"/>
                  <a:pt x="104" y="87"/>
                </a:cubicBezTo>
                <a:moveTo>
                  <a:pt x="85" y="80"/>
                </a:moveTo>
                <a:cubicBezTo>
                  <a:pt x="84" y="80"/>
                  <a:pt x="83" y="79"/>
                  <a:pt x="82" y="79"/>
                </a:cubicBezTo>
                <a:cubicBezTo>
                  <a:pt x="81" y="79"/>
                  <a:pt x="80" y="78"/>
                  <a:pt x="79" y="77"/>
                </a:cubicBezTo>
                <a:cubicBezTo>
                  <a:pt x="78" y="77"/>
                  <a:pt x="77" y="76"/>
                  <a:pt x="77" y="75"/>
                </a:cubicBezTo>
                <a:cubicBezTo>
                  <a:pt x="76" y="74"/>
                  <a:pt x="76" y="72"/>
                  <a:pt x="76" y="71"/>
                </a:cubicBezTo>
                <a:cubicBezTo>
                  <a:pt x="76" y="68"/>
                  <a:pt x="77" y="65"/>
                  <a:pt x="78" y="64"/>
                </a:cubicBezTo>
                <a:cubicBezTo>
                  <a:pt x="80" y="63"/>
                  <a:pt x="82" y="62"/>
                  <a:pt x="85" y="62"/>
                </a:cubicBezTo>
                <a:lnTo>
                  <a:pt x="85" y="80"/>
                </a:lnTo>
                <a:close/>
                <a:moveTo>
                  <a:pt x="97" y="111"/>
                </a:moveTo>
                <a:cubicBezTo>
                  <a:pt x="95" y="112"/>
                  <a:pt x="93" y="113"/>
                  <a:pt x="90" y="114"/>
                </a:cubicBezTo>
                <a:cubicBezTo>
                  <a:pt x="90" y="92"/>
                  <a:pt x="90" y="92"/>
                  <a:pt x="90" y="92"/>
                </a:cubicBezTo>
                <a:cubicBezTo>
                  <a:pt x="92" y="93"/>
                  <a:pt x="92" y="93"/>
                  <a:pt x="94" y="94"/>
                </a:cubicBezTo>
                <a:cubicBezTo>
                  <a:pt x="95" y="94"/>
                  <a:pt x="96" y="95"/>
                  <a:pt x="97" y="96"/>
                </a:cubicBezTo>
                <a:cubicBezTo>
                  <a:pt x="98" y="96"/>
                  <a:pt x="99" y="97"/>
                  <a:pt x="99" y="98"/>
                </a:cubicBezTo>
                <a:cubicBezTo>
                  <a:pt x="100" y="100"/>
                  <a:pt x="100" y="101"/>
                  <a:pt x="100" y="103"/>
                </a:cubicBezTo>
                <a:cubicBezTo>
                  <a:pt x="100" y="106"/>
                  <a:pt x="99" y="109"/>
                  <a:pt x="97" y="111"/>
                </a:cubicBezTo>
                <a:moveTo>
                  <a:pt x="88" y="0"/>
                </a:moveTo>
                <a:cubicBezTo>
                  <a:pt x="39" y="0"/>
                  <a:pt x="0" y="39"/>
                  <a:pt x="0" y="88"/>
                </a:cubicBezTo>
                <a:cubicBezTo>
                  <a:pt x="0" y="137"/>
                  <a:pt x="39" y="176"/>
                  <a:pt x="88" y="176"/>
                </a:cubicBezTo>
                <a:cubicBezTo>
                  <a:pt x="137" y="176"/>
                  <a:pt x="176" y="137"/>
                  <a:pt x="176" y="88"/>
                </a:cubicBezTo>
                <a:cubicBezTo>
                  <a:pt x="176" y="39"/>
                  <a:pt x="137" y="0"/>
                  <a:pt x="88" y="0"/>
                </a:cubicBezTo>
                <a:moveTo>
                  <a:pt x="88" y="168"/>
                </a:moveTo>
                <a:cubicBezTo>
                  <a:pt x="44" y="168"/>
                  <a:pt x="8" y="132"/>
                  <a:pt x="8" y="88"/>
                </a:cubicBezTo>
                <a:cubicBezTo>
                  <a:pt x="8" y="44"/>
                  <a:pt x="44" y="8"/>
                  <a:pt x="88" y="8"/>
                </a:cubicBezTo>
                <a:cubicBezTo>
                  <a:pt x="132" y="8"/>
                  <a:pt x="168" y="44"/>
                  <a:pt x="168" y="88"/>
                </a:cubicBezTo>
                <a:cubicBezTo>
                  <a:pt x="168" y="132"/>
                  <a:pt x="132" y="168"/>
                  <a:pt x="88" y="168"/>
                </a:cubicBezTo>
              </a:path>
            </a:pathLst>
          </a:custGeom>
          <a:solidFill>
            <a:schemeClr val="bg1"/>
          </a:solidFill>
          <a:ln w="9335">
            <a:solidFill>
              <a:schemeClr val="bg1"/>
            </a:solidFill>
          </a:ln>
          <a:effectLst/>
        </p:spPr>
        <p:txBody>
          <a:bodyPr vert="horz" wrap="square" lIns="89611" tIns="44806" rIns="89611" bIns="44806" numCol="1" anchor="t" anchorCtr="0" compatLnSpc="1"/>
          <a:lstStyle/>
          <a:p>
            <a:pPr marL="0" marR="0" lvl="0" indent="0" defTabSz="914400" eaLnBrk="1" fontAlgn="auto" latinLnBrk="0" hangingPunct="1">
              <a:lnSpc>
                <a:spcPct val="100000"/>
              </a:lnSpc>
              <a:spcBef>
                <a:spcPts val="0"/>
              </a:spcBef>
              <a:buClrTx/>
              <a:buSzTx/>
              <a:buFontTx/>
              <a:buNone/>
              <a:defRPr/>
            </a:pPr>
            <a:endParaRPr kumimoji="0" lang="en-US" sz="1765" b="0" i="0" u="none" strike="noStrike" kern="0" cap="none" spc="0" normalizeH="0" baseline="0" noProof="0">
              <a:ln>
                <a:noFill/>
              </a:ln>
              <a:solidFill>
                <a:prstClr val="black">
                  <a:lumMod val="65000"/>
                  <a:lumOff val="35000"/>
                </a:prstClr>
              </a:solidFill>
              <a:effectLst/>
              <a:uLnTx/>
              <a:uFillTx/>
              <a:latin typeface="+mn-ea"/>
            </a:endParaRPr>
          </a:p>
        </p:txBody>
      </p:sp>
      <p:sp>
        <p:nvSpPr>
          <p:cNvPr id="107" name="小李PPT47"/>
          <p:cNvSpPr txBox="1"/>
          <p:nvPr/>
        </p:nvSpPr>
        <p:spPr>
          <a:xfrm>
            <a:off x="1351712" y="5261610"/>
            <a:ext cx="1533525" cy="655955"/>
          </a:xfrm>
          <a:prstGeom prst="rect">
            <a:avLst/>
          </a:prstGeom>
          <a:effectLst/>
        </p:spPr>
        <p:txBody>
          <a:bodyPr vert="horz" wrap="square" lIns="0" tIns="10579" rIns="0" bIns="0" rtlCol="0">
            <a:spAutoFit/>
          </a:bodyPr>
          <a:lstStyle/>
          <a:p>
            <a:pPr marL="25400" marR="30480" indent="88265" algn="ctr">
              <a:lnSpc>
                <a:spcPct val="150000"/>
              </a:lnSpc>
              <a:spcBef>
                <a:spcPts val="85"/>
              </a:spcBef>
              <a:defRPr/>
            </a:pPr>
            <a:r>
              <a:rPr lang="en-US" sz="2800" spc="-5" dirty="0">
                <a:solidFill>
                  <a:prstClr val="white"/>
                </a:solidFill>
                <a:latin typeface="+mj-ea"/>
                <a:ea typeface="+mj-ea"/>
                <a:cs typeface="Arial" panose="020B0604020202020204"/>
              </a:rPr>
              <a:t>53.1</a:t>
            </a:r>
            <a:endParaRPr lang="en-US" sz="2800" spc="-5" dirty="0">
              <a:solidFill>
                <a:prstClr val="white"/>
              </a:solidFill>
              <a:latin typeface="+mj-ea"/>
              <a:ea typeface="+mj-ea"/>
              <a:cs typeface="Arial" panose="020B0604020202020204"/>
            </a:endParaRPr>
          </a:p>
        </p:txBody>
      </p:sp>
      <p:sp>
        <p:nvSpPr>
          <p:cNvPr id="108" name="小李PPT48"/>
          <p:cNvSpPr txBox="1"/>
          <p:nvPr/>
        </p:nvSpPr>
        <p:spPr>
          <a:xfrm>
            <a:off x="1034415" y="5885815"/>
            <a:ext cx="2124075" cy="508635"/>
          </a:xfrm>
          <a:prstGeom prst="rect">
            <a:avLst/>
          </a:prstGeom>
          <a:noFill/>
          <a:effectLst/>
        </p:spPr>
        <p:txBody>
          <a:bodyPr wrap="square" lIns="89611" tIns="44806" rIns="89611" bIns="44806">
            <a:spAutoFit/>
          </a:bodyPr>
          <a:lstStyle/>
          <a:p>
            <a:pPr marL="25400" marR="30480" indent="88265" algn="ctr">
              <a:lnSpc>
                <a:spcPct val="150000"/>
              </a:lnSpc>
              <a:spcBef>
                <a:spcPts val="85"/>
              </a:spcBef>
              <a:defRPr/>
            </a:pPr>
            <a:r>
              <a:rPr lang="zh-CN" altLang="en-US" sz="2800" spc="-5" baseline="24000" dirty="0">
                <a:solidFill>
                  <a:prstClr val="white"/>
                </a:solidFill>
                <a:latin typeface="+mn-ea"/>
                <a:cs typeface="Arial" panose="020B0604020202020204"/>
              </a:rPr>
              <a:t>利息支出</a:t>
            </a:r>
            <a:endParaRPr lang="zh-CN" altLang="en-US" sz="2800" spc="-5" baseline="24000" dirty="0">
              <a:solidFill>
                <a:prstClr val="white"/>
              </a:solidFill>
              <a:latin typeface="+mn-ea"/>
              <a:cs typeface="Arial" panose="020B0604020202020204"/>
            </a:endParaRPr>
          </a:p>
        </p:txBody>
      </p:sp>
      <p:sp>
        <p:nvSpPr>
          <p:cNvPr id="109" name="小李PPT49"/>
          <p:cNvSpPr txBox="1"/>
          <p:nvPr/>
        </p:nvSpPr>
        <p:spPr>
          <a:xfrm>
            <a:off x="1390337" y="3856298"/>
            <a:ext cx="1456274" cy="655955"/>
          </a:xfrm>
          <a:prstGeom prst="rect">
            <a:avLst/>
          </a:prstGeom>
          <a:effectLst/>
        </p:spPr>
        <p:txBody>
          <a:bodyPr vert="horz" wrap="square" lIns="0" tIns="10579" rIns="0" bIns="0" rtlCol="0">
            <a:spAutoFit/>
          </a:bodyPr>
          <a:lstStyle/>
          <a:p>
            <a:pPr marL="25400" marR="30480" indent="88265" algn="ctr">
              <a:lnSpc>
                <a:spcPct val="150000"/>
              </a:lnSpc>
              <a:spcBef>
                <a:spcPts val="85"/>
              </a:spcBef>
              <a:defRPr/>
            </a:pPr>
            <a:r>
              <a:rPr lang="en-US" sz="2800" spc="-5" dirty="0">
                <a:solidFill>
                  <a:prstClr val="white"/>
                </a:solidFill>
                <a:latin typeface="+mj-ea"/>
                <a:ea typeface="+mj-ea"/>
                <a:cs typeface="Arial" panose="020B0604020202020204"/>
              </a:rPr>
              <a:t>49</a:t>
            </a:r>
            <a:endParaRPr lang="en-US" sz="2800" spc="-5" dirty="0">
              <a:solidFill>
                <a:prstClr val="white"/>
              </a:solidFill>
              <a:latin typeface="+mj-ea"/>
              <a:ea typeface="+mj-ea"/>
              <a:cs typeface="Arial" panose="020B0604020202020204"/>
            </a:endParaRPr>
          </a:p>
        </p:txBody>
      </p:sp>
      <p:sp>
        <p:nvSpPr>
          <p:cNvPr id="110" name="小李PPT50"/>
          <p:cNvSpPr txBox="1"/>
          <p:nvPr/>
        </p:nvSpPr>
        <p:spPr>
          <a:xfrm>
            <a:off x="1050290" y="4500245"/>
            <a:ext cx="2092960" cy="508635"/>
          </a:xfrm>
          <a:prstGeom prst="rect">
            <a:avLst/>
          </a:prstGeom>
          <a:noFill/>
          <a:effectLst/>
        </p:spPr>
        <p:txBody>
          <a:bodyPr wrap="square" lIns="89611" tIns="44806" rIns="89611" bIns="44806">
            <a:spAutoFit/>
          </a:bodyPr>
          <a:lstStyle/>
          <a:p>
            <a:pPr marL="25400" marR="30480" indent="88265" algn="ctr">
              <a:lnSpc>
                <a:spcPct val="150000"/>
              </a:lnSpc>
              <a:spcBef>
                <a:spcPts val="85"/>
              </a:spcBef>
              <a:defRPr/>
            </a:pPr>
            <a:r>
              <a:rPr lang="zh-CN" altLang="en-US" sz="2800" spc="-5" baseline="24000" dirty="0">
                <a:solidFill>
                  <a:prstClr val="white"/>
                </a:solidFill>
                <a:latin typeface="+mn-ea"/>
                <a:cs typeface="Arial" panose="020B0604020202020204"/>
              </a:rPr>
              <a:t>维修费</a:t>
            </a:r>
            <a:endParaRPr lang="zh-CN" altLang="en-US" sz="2800" spc="-5" baseline="24000" dirty="0">
              <a:solidFill>
                <a:prstClr val="white"/>
              </a:solidFill>
              <a:latin typeface="+mn-ea"/>
              <a:cs typeface="Arial" panose="020B0604020202020204"/>
            </a:endParaRPr>
          </a:p>
        </p:txBody>
      </p:sp>
      <p:grpSp>
        <p:nvGrpSpPr>
          <p:cNvPr id="111" name="小李PPT51"/>
          <p:cNvGrpSpPr/>
          <p:nvPr/>
        </p:nvGrpSpPr>
        <p:grpSpPr>
          <a:xfrm>
            <a:off x="927063" y="4037006"/>
            <a:ext cx="346919" cy="347779"/>
            <a:chOff x="-61845344" y="3731461"/>
            <a:chExt cx="310396" cy="311100"/>
          </a:xfrm>
          <a:solidFill>
            <a:sysClr val="window" lastClr="FFFFFF"/>
          </a:solidFill>
        </p:grpSpPr>
        <p:sp>
          <p:nvSpPr>
            <p:cNvPr id="112" name="小李PPT51-1"/>
            <p:cNvSpPr/>
            <p:nvPr/>
          </p:nvSpPr>
          <p:spPr>
            <a:xfrm>
              <a:off x="-61845344" y="3731461"/>
              <a:ext cx="310317" cy="311100"/>
            </a:xfrm>
            <a:custGeom>
              <a:avLst/>
              <a:gdLst/>
              <a:ahLst/>
              <a:cxnLst/>
              <a:rect l="l" t="t" r="r" b="b"/>
              <a:pathLst>
                <a:path w="12666" h="12698" extrusionOk="0">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grpFill/>
            <a:ln>
              <a:noFill/>
            </a:ln>
            <a:effectLst/>
          </p:spPr>
          <p:txBody>
            <a:bodyPr spcFirstLastPara="1" wrap="square" lIns="119462" tIns="119462" rIns="119462" bIns="119462" anchor="ctr" anchorCtr="0">
              <a:noAutofit/>
            </a:bodyPr>
            <a:lstStyle/>
            <a:p>
              <a:pPr marL="0" marR="0" lvl="0" indent="0" defTabSz="914400" eaLnBrk="1" fontAlgn="auto" latinLnBrk="0" hangingPunct="1">
                <a:lnSpc>
                  <a:spcPct val="100000"/>
                </a:lnSpc>
                <a:spcBef>
                  <a:spcPts val="0"/>
                </a:spcBef>
                <a:buClrTx/>
                <a:buSzTx/>
                <a:buFontTx/>
                <a:buNone/>
                <a:defRPr/>
              </a:pPr>
              <a:endParaRPr kumimoji="0" sz="2350" b="0" i="0" u="none" strike="noStrike" kern="0" cap="none" spc="0" normalizeH="0" baseline="0" noProof="0">
                <a:ln>
                  <a:noFill/>
                </a:ln>
                <a:solidFill>
                  <a:prstClr val="black"/>
                </a:solidFill>
                <a:effectLst/>
                <a:uLnTx/>
                <a:uFillTx/>
                <a:latin typeface="+mn-ea"/>
              </a:endParaRPr>
            </a:p>
          </p:txBody>
        </p:sp>
        <p:sp>
          <p:nvSpPr>
            <p:cNvPr id="113" name="小李PPT51-2"/>
            <p:cNvSpPr/>
            <p:nvPr/>
          </p:nvSpPr>
          <p:spPr>
            <a:xfrm>
              <a:off x="-61802022" y="3819460"/>
              <a:ext cx="267074" cy="146681"/>
            </a:xfrm>
            <a:custGeom>
              <a:avLst/>
              <a:gdLst/>
              <a:ahLst/>
              <a:cxnLst/>
              <a:rect l="l" t="t" r="r" b="b"/>
              <a:pathLst>
                <a:path w="10901" h="5987" extrusionOk="0">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grpFill/>
            <a:ln>
              <a:noFill/>
            </a:ln>
            <a:effectLst/>
          </p:spPr>
          <p:txBody>
            <a:bodyPr spcFirstLastPara="1" wrap="square" lIns="119462" tIns="119462" rIns="119462" bIns="119462" anchor="ctr" anchorCtr="0">
              <a:noAutofit/>
            </a:bodyPr>
            <a:lstStyle/>
            <a:p>
              <a:pPr marL="0" marR="0" lvl="0" indent="0" defTabSz="914400" eaLnBrk="1" fontAlgn="auto" latinLnBrk="0" hangingPunct="1">
                <a:lnSpc>
                  <a:spcPct val="100000"/>
                </a:lnSpc>
                <a:spcBef>
                  <a:spcPts val="0"/>
                </a:spcBef>
                <a:buClrTx/>
                <a:buSzTx/>
                <a:buFontTx/>
                <a:buNone/>
                <a:defRPr/>
              </a:pPr>
              <a:endParaRPr kumimoji="0" sz="2350" b="0" i="0" u="none" strike="noStrike" kern="0" cap="none" spc="0" normalizeH="0" baseline="0" noProof="0">
                <a:ln>
                  <a:noFill/>
                </a:ln>
                <a:solidFill>
                  <a:prstClr val="black"/>
                </a:solidFill>
                <a:effectLst/>
                <a:uLnTx/>
                <a:uFillTx/>
                <a:latin typeface="+mn-ea"/>
              </a:endParaRPr>
            </a:p>
          </p:txBody>
        </p:sp>
      </p:grpSp>
      <p:sp>
        <p:nvSpPr>
          <p:cNvPr id="114" name="小李PPT52"/>
          <p:cNvSpPr txBox="1"/>
          <p:nvPr/>
        </p:nvSpPr>
        <p:spPr>
          <a:xfrm>
            <a:off x="1305992" y="1086485"/>
            <a:ext cx="1624965" cy="655955"/>
          </a:xfrm>
          <a:prstGeom prst="rect">
            <a:avLst/>
          </a:prstGeom>
          <a:effectLst/>
        </p:spPr>
        <p:txBody>
          <a:bodyPr vert="horz" wrap="square" lIns="0" tIns="10579" rIns="0" bIns="0" rtlCol="0">
            <a:spAutoFit/>
          </a:bodyPr>
          <a:lstStyle/>
          <a:p>
            <a:pPr marL="25400" marR="30480" indent="88265" algn="ctr">
              <a:lnSpc>
                <a:spcPct val="150000"/>
              </a:lnSpc>
              <a:spcBef>
                <a:spcPts val="85"/>
              </a:spcBef>
              <a:defRPr/>
            </a:pPr>
            <a:r>
              <a:rPr lang="en-US" altLang="zh-CN" sz="2800" spc="-5" dirty="0">
                <a:solidFill>
                  <a:prstClr val="white"/>
                </a:solidFill>
                <a:latin typeface="+mj-ea"/>
                <a:ea typeface="+mj-ea"/>
                <a:cs typeface="Arial" panose="020B0604020202020204"/>
              </a:rPr>
              <a:t>187.5</a:t>
            </a:r>
            <a:endParaRPr lang="en-US" altLang="zh-CN" sz="2800" spc="-5" dirty="0">
              <a:solidFill>
                <a:prstClr val="white"/>
              </a:solidFill>
              <a:latin typeface="+mj-ea"/>
              <a:ea typeface="+mj-ea"/>
              <a:cs typeface="Arial" panose="020B0604020202020204"/>
            </a:endParaRPr>
          </a:p>
        </p:txBody>
      </p:sp>
      <p:sp>
        <p:nvSpPr>
          <p:cNvPr id="115" name="小李PPT53" descr="桌子"/>
          <p:cNvSpPr/>
          <p:nvPr/>
        </p:nvSpPr>
        <p:spPr>
          <a:xfrm>
            <a:off x="947470" y="1320839"/>
            <a:ext cx="326424" cy="313208"/>
          </a:xfrm>
          <a:custGeom>
            <a:avLst/>
            <a:gdLst>
              <a:gd name="connsiteX0" fmla="*/ 704850 w 762000"/>
              <a:gd name="connsiteY0" fmla="*/ 171450 h 533400"/>
              <a:gd name="connsiteX1" fmla="*/ 514350 w 762000"/>
              <a:gd name="connsiteY1" fmla="*/ 171450 h 533400"/>
              <a:gd name="connsiteX2" fmla="*/ 514350 w 762000"/>
              <a:gd name="connsiteY2" fmla="*/ 57150 h 533400"/>
              <a:gd name="connsiteX3" fmla="*/ 704850 w 762000"/>
              <a:gd name="connsiteY3" fmla="*/ 57150 h 533400"/>
              <a:gd name="connsiteX4" fmla="*/ 704850 w 762000"/>
              <a:gd name="connsiteY4" fmla="*/ 171450 h 533400"/>
              <a:gd name="connsiteX5" fmla="*/ 704850 w 762000"/>
              <a:gd name="connsiteY5" fmla="*/ 323850 h 533400"/>
              <a:gd name="connsiteX6" fmla="*/ 514350 w 762000"/>
              <a:gd name="connsiteY6" fmla="*/ 323850 h 533400"/>
              <a:gd name="connsiteX7" fmla="*/ 514350 w 762000"/>
              <a:gd name="connsiteY7" fmla="*/ 209550 h 533400"/>
              <a:gd name="connsiteX8" fmla="*/ 704850 w 762000"/>
              <a:gd name="connsiteY8" fmla="*/ 209550 h 533400"/>
              <a:gd name="connsiteX9" fmla="*/ 704850 w 762000"/>
              <a:gd name="connsiteY9" fmla="*/ 323850 h 533400"/>
              <a:gd name="connsiteX10" fmla="*/ 704850 w 762000"/>
              <a:gd name="connsiteY10" fmla="*/ 476250 h 533400"/>
              <a:gd name="connsiteX11" fmla="*/ 514350 w 762000"/>
              <a:gd name="connsiteY11" fmla="*/ 476250 h 533400"/>
              <a:gd name="connsiteX12" fmla="*/ 514350 w 762000"/>
              <a:gd name="connsiteY12" fmla="*/ 361950 h 533400"/>
              <a:gd name="connsiteX13" fmla="*/ 704850 w 762000"/>
              <a:gd name="connsiteY13" fmla="*/ 361950 h 533400"/>
              <a:gd name="connsiteX14" fmla="*/ 704850 w 762000"/>
              <a:gd name="connsiteY14" fmla="*/ 476250 h 533400"/>
              <a:gd name="connsiteX15" fmla="*/ 285750 w 762000"/>
              <a:gd name="connsiteY15" fmla="*/ 476250 h 533400"/>
              <a:gd name="connsiteX16" fmla="*/ 285750 w 762000"/>
              <a:gd name="connsiteY16" fmla="*/ 361950 h 533400"/>
              <a:gd name="connsiteX17" fmla="*/ 476250 w 762000"/>
              <a:gd name="connsiteY17" fmla="*/ 361950 h 533400"/>
              <a:gd name="connsiteX18" fmla="*/ 476250 w 762000"/>
              <a:gd name="connsiteY18" fmla="*/ 476250 h 533400"/>
              <a:gd name="connsiteX19" fmla="*/ 285750 w 762000"/>
              <a:gd name="connsiteY19" fmla="*/ 476250 h 533400"/>
              <a:gd name="connsiteX20" fmla="*/ 57150 w 762000"/>
              <a:gd name="connsiteY20" fmla="*/ 476250 h 533400"/>
              <a:gd name="connsiteX21" fmla="*/ 57150 w 762000"/>
              <a:gd name="connsiteY21" fmla="*/ 361950 h 533400"/>
              <a:gd name="connsiteX22" fmla="*/ 247650 w 762000"/>
              <a:gd name="connsiteY22" fmla="*/ 361950 h 533400"/>
              <a:gd name="connsiteX23" fmla="*/ 247650 w 762000"/>
              <a:gd name="connsiteY23" fmla="*/ 476250 h 533400"/>
              <a:gd name="connsiteX24" fmla="*/ 57150 w 762000"/>
              <a:gd name="connsiteY24" fmla="*/ 476250 h 533400"/>
              <a:gd name="connsiteX25" fmla="*/ 57150 w 762000"/>
              <a:gd name="connsiteY25" fmla="*/ 209550 h 533400"/>
              <a:gd name="connsiteX26" fmla="*/ 247650 w 762000"/>
              <a:gd name="connsiteY26" fmla="*/ 209550 h 533400"/>
              <a:gd name="connsiteX27" fmla="*/ 247650 w 762000"/>
              <a:gd name="connsiteY27" fmla="*/ 323850 h 533400"/>
              <a:gd name="connsiteX28" fmla="*/ 57150 w 762000"/>
              <a:gd name="connsiteY28" fmla="*/ 323850 h 533400"/>
              <a:gd name="connsiteX29" fmla="*/ 57150 w 762000"/>
              <a:gd name="connsiteY29" fmla="*/ 209550 h 533400"/>
              <a:gd name="connsiteX30" fmla="*/ 57150 w 762000"/>
              <a:gd name="connsiteY30" fmla="*/ 57150 h 533400"/>
              <a:gd name="connsiteX31" fmla="*/ 247650 w 762000"/>
              <a:gd name="connsiteY31" fmla="*/ 57150 h 533400"/>
              <a:gd name="connsiteX32" fmla="*/ 247650 w 762000"/>
              <a:gd name="connsiteY32" fmla="*/ 171450 h 533400"/>
              <a:gd name="connsiteX33" fmla="*/ 57150 w 762000"/>
              <a:gd name="connsiteY33" fmla="*/ 171450 h 533400"/>
              <a:gd name="connsiteX34" fmla="*/ 57150 w 762000"/>
              <a:gd name="connsiteY34" fmla="*/ 57150 h 533400"/>
              <a:gd name="connsiteX35" fmla="*/ 476250 w 762000"/>
              <a:gd name="connsiteY35" fmla="*/ 209550 h 533400"/>
              <a:gd name="connsiteX36" fmla="*/ 476250 w 762000"/>
              <a:gd name="connsiteY36" fmla="*/ 323850 h 533400"/>
              <a:gd name="connsiteX37" fmla="*/ 285750 w 762000"/>
              <a:gd name="connsiteY37" fmla="*/ 323850 h 533400"/>
              <a:gd name="connsiteX38" fmla="*/ 285750 w 762000"/>
              <a:gd name="connsiteY38" fmla="*/ 209550 h 533400"/>
              <a:gd name="connsiteX39" fmla="*/ 476250 w 762000"/>
              <a:gd name="connsiteY39" fmla="*/ 209550 h 533400"/>
              <a:gd name="connsiteX40" fmla="*/ 476250 w 762000"/>
              <a:gd name="connsiteY40" fmla="*/ 57150 h 533400"/>
              <a:gd name="connsiteX41" fmla="*/ 476250 w 762000"/>
              <a:gd name="connsiteY41" fmla="*/ 171450 h 533400"/>
              <a:gd name="connsiteX42" fmla="*/ 285750 w 762000"/>
              <a:gd name="connsiteY42" fmla="*/ 171450 h 533400"/>
              <a:gd name="connsiteX43" fmla="*/ 285750 w 762000"/>
              <a:gd name="connsiteY43" fmla="*/ 57150 h 533400"/>
              <a:gd name="connsiteX44" fmla="*/ 476250 w 762000"/>
              <a:gd name="connsiteY44" fmla="*/ 57150 h 533400"/>
              <a:gd name="connsiteX45" fmla="*/ 0 w 762000"/>
              <a:gd name="connsiteY45" fmla="*/ 0 h 533400"/>
              <a:gd name="connsiteX46" fmla="*/ 0 w 762000"/>
              <a:gd name="connsiteY46" fmla="*/ 533400 h 533400"/>
              <a:gd name="connsiteX47" fmla="*/ 762000 w 762000"/>
              <a:gd name="connsiteY47" fmla="*/ 533400 h 533400"/>
              <a:gd name="connsiteX48" fmla="*/ 762000 w 762000"/>
              <a:gd name="connsiteY48" fmla="*/ 0 h 533400"/>
              <a:gd name="connsiteX49" fmla="*/ 0 w 762000"/>
              <a:gd name="connsiteY49" fmla="*/ 0 h 53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762000" h="533400">
                <a:moveTo>
                  <a:pt x="704850" y="171450"/>
                </a:moveTo>
                <a:lnTo>
                  <a:pt x="514350" y="171450"/>
                </a:lnTo>
                <a:lnTo>
                  <a:pt x="514350" y="57150"/>
                </a:lnTo>
                <a:lnTo>
                  <a:pt x="704850" y="57150"/>
                </a:lnTo>
                <a:lnTo>
                  <a:pt x="704850" y="171450"/>
                </a:lnTo>
                <a:close/>
                <a:moveTo>
                  <a:pt x="704850" y="323850"/>
                </a:moveTo>
                <a:lnTo>
                  <a:pt x="514350" y="323850"/>
                </a:lnTo>
                <a:lnTo>
                  <a:pt x="514350" y="209550"/>
                </a:lnTo>
                <a:lnTo>
                  <a:pt x="704850" y="209550"/>
                </a:lnTo>
                <a:lnTo>
                  <a:pt x="704850" y="323850"/>
                </a:lnTo>
                <a:close/>
                <a:moveTo>
                  <a:pt x="704850" y="476250"/>
                </a:moveTo>
                <a:lnTo>
                  <a:pt x="514350" y="476250"/>
                </a:lnTo>
                <a:lnTo>
                  <a:pt x="514350" y="361950"/>
                </a:lnTo>
                <a:lnTo>
                  <a:pt x="704850" y="361950"/>
                </a:lnTo>
                <a:lnTo>
                  <a:pt x="704850" y="476250"/>
                </a:lnTo>
                <a:close/>
                <a:moveTo>
                  <a:pt x="285750" y="476250"/>
                </a:moveTo>
                <a:lnTo>
                  <a:pt x="285750" y="361950"/>
                </a:lnTo>
                <a:lnTo>
                  <a:pt x="476250" y="361950"/>
                </a:lnTo>
                <a:lnTo>
                  <a:pt x="476250" y="476250"/>
                </a:lnTo>
                <a:lnTo>
                  <a:pt x="285750" y="476250"/>
                </a:lnTo>
                <a:close/>
                <a:moveTo>
                  <a:pt x="57150" y="476250"/>
                </a:moveTo>
                <a:lnTo>
                  <a:pt x="57150" y="361950"/>
                </a:lnTo>
                <a:lnTo>
                  <a:pt x="247650" y="361950"/>
                </a:lnTo>
                <a:lnTo>
                  <a:pt x="247650" y="476250"/>
                </a:lnTo>
                <a:lnTo>
                  <a:pt x="57150" y="476250"/>
                </a:lnTo>
                <a:close/>
                <a:moveTo>
                  <a:pt x="57150" y="209550"/>
                </a:moveTo>
                <a:lnTo>
                  <a:pt x="247650" y="209550"/>
                </a:lnTo>
                <a:lnTo>
                  <a:pt x="247650" y="323850"/>
                </a:lnTo>
                <a:lnTo>
                  <a:pt x="57150" y="323850"/>
                </a:lnTo>
                <a:lnTo>
                  <a:pt x="57150" y="209550"/>
                </a:lnTo>
                <a:close/>
                <a:moveTo>
                  <a:pt x="57150" y="57150"/>
                </a:moveTo>
                <a:lnTo>
                  <a:pt x="247650" y="57150"/>
                </a:lnTo>
                <a:lnTo>
                  <a:pt x="247650" y="171450"/>
                </a:lnTo>
                <a:lnTo>
                  <a:pt x="57150" y="171450"/>
                </a:lnTo>
                <a:lnTo>
                  <a:pt x="57150" y="57150"/>
                </a:lnTo>
                <a:close/>
                <a:moveTo>
                  <a:pt x="476250" y="209550"/>
                </a:moveTo>
                <a:lnTo>
                  <a:pt x="476250" y="323850"/>
                </a:lnTo>
                <a:lnTo>
                  <a:pt x="285750" y="323850"/>
                </a:lnTo>
                <a:lnTo>
                  <a:pt x="285750" y="209550"/>
                </a:lnTo>
                <a:lnTo>
                  <a:pt x="476250" y="209550"/>
                </a:lnTo>
                <a:close/>
                <a:moveTo>
                  <a:pt x="476250" y="57150"/>
                </a:moveTo>
                <a:lnTo>
                  <a:pt x="476250" y="171450"/>
                </a:lnTo>
                <a:lnTo>
                  <a:pt x="285750" y="171450"/>
                </a:lnTo>
                <a:lnTo>
                  <a:pt x="285750" y="57150"/>
                </a:lnTo>
                <a:lnTo>
                  <a:pt x="476250" y="57150"/>
                </a:lnTo>
                <a:close/>
                <a:moveTo>
                  <a:pt x="0" y="0"/>
                </a:moveTo>
                <a:lnTo>
                  <a:pt x="0" y="533400"/>
                </a:lnTo>
                <a:lnTo>
                  <a:pt x="762000" y="533400"/>
                </a:lnTo>
                <a:lnTo>
                  <a:pt x="762000" y="0"/>
                </a:lnTo>
                <a:lnTo>
                  <a:pt x="0" y="0"/>
                </a:lnTo>
                <a:close/>
              </a:path>
            </a:pathLst>
          </a:custGeom>
          <a:solidFill>
            <a:srgbClr val="FFFFFF"/>
          </a:solidFill>
          <a:ln w="9525" cap="flat">
            <a:noFill/>
            <a:prstDash val="solid"/>
            <a:miter/>
          </a:ln>
          <a:effectLst/>
        </p:spPr>
        <p:txBody>
          <a:bodyPr lIns="91440" tIns="45720" rIns="91440" bIns="45720" rtlCol="0" anchor="ctr"/>
          <a:lstStyle/>
          <a:p>
            <a:pPr defTabSz="457200">
              <a:defRPr/>
            </a:pPr>
            <a:endParaRPr lang="zh-CN" altLang="en-US" kern="0">
              <a:solidFill>
                <a:srgbClr val="000000"/>
              </a:solidFill>
              <a:latin typeface="Calibri" panose="020F0502020204030204"/>
              <a:ea typeface="等线" panose="02010600030101010101" pitchFamily="2" charset="-122"/>
            </a:endParaRPr>
          </a:p>
        </p:txBody>
      </p:sp>
      <p:sp>
        <p:nvSpPr>
          <p:cNvPr id="116" name="小李PPT54"/>
          <p:cNvSpPr txBox="1"/>
          <p:nvPr/>
        </p:nvSpPr>
        <p:spPr>
          <a:xfrm>
            <a:off x="1195705" y="1732280"/>
            <a:ext cx="1807845" cy="508635"/>
          </a:xfrm>
          <a:prstGeom prst="rect">
            <a:avLst/>
          </a:prstGeom>
          <a:noFill/>
          <a:effectLst/>
        </p:spPr>
        <p:txBody>
          <a:bodyPr wrap="square" lIns="89611" tIns="44806" rIns="89611" bIns="44806">
            <a:spAutoFit/>
          </a:bodyPr>
          <a:lstStyle/>
          <a:p>
            <a:pPr marL="25400" marR="30480" indent="88265" algn="ctr">
              <a:lnSpc>
                <a:spcPct val="150000"/>
              </a:lnSpc>
              <a:spcBef>
                <a:spcPts val="85"/>
              </a:spcBef>
              <a:defRPr/>
            </a:pPr>
            <a:r>
              <a:rPr lang="zh-CN" altLang="en-US" sz="2800" spc="-5" baseline="24000" dirty="0">
                <a:solidFill>
                  <a:prstClr val="white"/>
                </a:solidFill>
                <a:latin typeface="+mn-ea"/>
                <a:cs typeface="Arial" panose="020B0604020202020204"/>
              </a:rPr>
              <a:t>工资及福利费</a:t>
            </a:r>
            <a:endParaRPr lang="zh-CN" altLang="en-US" sz="2800" spc="-5" baseline="24000" dirty="0">
              <a:solidFill>
                <a:prstClr val="white"/>
              </a:solidFill>
              <a:latin typeface="+mn-ea"/>
              <a:cs typeface="Arial" panose="020B0604020202020204"/>
            </a:endParaRPr>
          </a:p>
        </p:txBody>
      </p:sp>
      <p:sp>
        <p:nvSpPr>
          <p:cNvPr id="2" name="文本框 1"/>
          <p:cNvSpPr txBox="1"/>
          <p:nvPr/>
        </p:nvSpPr>
        <p:spPr>
          <a:xfrm>
            <a:off x="7486015" y="1641475"/>
            <a:ext cx="3905885" cy="1814830"/>
          </a:xfrm>
          <a:prstGeom prst="rect">
            <a:avLst/>
          </a:prstGeom>
          <a:noFill/>
          <a:effectLst>
            <a:glow rad="139700">
              <a:schemeClr val="accent2">
                <a:satMod val="175000"/>
                <a:alpha val="40000"/>
              </a:schemeClr>
            </a:glow>
          </a:effectLst>
        </p:spPr>
        <p:txBody>
          <a:bodyPr wrap="square" rtlCol="0">
            <a:spAutoFit/>
          </a:bodyPr>
          <a:p>
            <a:pPr indent="457200"/>
            <a:r>
              <a:rPr lang="zh-CN" altLang="en-US" sz="1400"/>
              <a:t>房屋建筑物折旧年限为 20 年，年折旧率 4.75%；</a:t>
            </a:r>
            <a:endParaRPr lang="zh-CN" altLang="en-US" sz="1400"/>
          </a:p>
          <a:p>
            <a:pPr indent="457200"/>
            <a:r>
              <a:rPr lang="zh-CN" altLang="en-US" sz="1400"/>
              <a:t>机器设备折旧年限 15 年，年折旧率 6.3%；净残值率为 5%。折旧费的计算详见表 5。</a:t>
            </a:r>
            <a:endParaRPr lang="zh-CN" altLang="en-US" sz="1400"/>
          </a:p>
          <a:p>
            <a:pPr indent="457200"/>
            <a:r>
              <a:rPr lang="zh-CN" altLang="en-US" sz="1400"/>
              <a:t>无形资产及其他资产按 10 年摊销，根据相关资料估算得出无形资产乃其它资产总</a:t>
            </a:r>
            <a:endParaRPr lang="zh-CN" altLang="en-US" sz="1400"/>
          </a:p>
          <a:p>
            <a:r>
              <a:rPr lang="zh-CN" altLang="en-US" sz="1400"/>
              <a:t>额为 190 万元，故每年摊销为 19 万元。</a:t>
            </a:r>
            <a:endParaRPr lang="zh-CN" altLang="en-US" sz="1400"/>
          </a:p>
        </p:txBody>
      </p:sp>
      <p:sp>
        <p:nvSpPr>
          <p:cNvPr id="3" name="文本框 2"/>
          <p:cNvSpPr txBox="1"/>
          <p:nvPr/>
        </p:nvSpPr>
        <p:spPr>
          <a:xfrm>
            <a:off x="3238500" y="4410710"/>
            <a:ext cx="4064000" cy="645160"/>
          </a:xfrm>
          <a:prstGeom prst="rect">
            <a:avLst/>
          </a:prstGeom>
          <a:noFill/>
          <a:effectLst>
            <a:glow rad="139700">
              <a:schemeClr val="accent2">
                <a:satMod val="175000"/>
                <a:alpha val="40000"/>
              </a:schemeClr>
            </a:glow>
          </a:effectLst>
        </p:spPr>
        <p:txBody>
          <a:bodyPr wrap="square" rtlCol="0">
            <a:spAutoFit/>
          </a:bodyPr>
          <a:p>
            <a:r>
              <a:rPr lang="zh-CN" altLang="en-US"/>
              <a:t>年维修费按正常生产年折旧费用的一半计算，即 98 × 0.5 = 49 万元。</a:t>
            </a:r>
            <a:endParaRPr lang="zh-CN" altLang="en-US"/>
          </a:p>
        </p:txBody>
      </p:sp>
      <p:sp>
        <p:nvSpPr>
          <p:cNvPr id="4" name="文本框 3"/>
          <p:cNvSpPr txBox="1"/>
          <p:nvPr/>
        </p:nvSpPr>
        <p:spPr>
          <a:xfrm>
            <a:off x="7376160" y="4410710"/>
            <a:ext cx="4064000" cy="1476375"/>
          </a:xfrm>
          <a:prstGeom prst="rect">
            <a:avLst/>
          </a:prstGeom>
          <a:noFill/>
          <a:effectLst>
            <a:glow rad="139700">
              <a:schemeClr val="accent2">
                <a:satMod val="175000"/>
                <a:alpha val="40000"/>
              </a:schemeClr>
            </a:glow>
          </a:effectLst>
        </p:spPr>
        <p:txBody>
          <a:bodyPr wrap="square" rtlCol="0">
            <a:spAutoFit/>
          </a:bodyPr>
          <a:p>
            <a:pPr indent="457200"/>
            <a:r>
              <a:rPr lang="zh-CN" altLang="en-US"/>
              <a:t>财务费用（利息支出）为项目生产服务期内借款利息之和。</a:t>
            </a:r>
            <a:endParaRPr lang="zh-CN" altLang="en-US"/>
          </a:p>
          <a:p>
            <a:pPr indent="457200"/>
            <a:r>
              <a:rPr lang="zh-CN" altLang="en-US"/>
              <a:t>本项目仅含流动资金借款，年利率 5.31%，则年利息为 1000 × 5.31% = 53.1 万元。</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圆角 12"/>
          <p:cNvSpPr/>
          <p:nvPr/>
        </p:nvSpPr>
        <p:spPr>
          <a:xfrm>
            <a:off x="227965" y="915670"/>
            <a:ext cx="5868670" cy="5815965"/>
          </a:xfrm>
          <a:prstGeom prst="roundRect">
            <a:avLst>
              <a:gd name="adj" fmla="val 4054"/>
            </a:avLst>
          </a:prstGeom>
          <a:solidFill>
            <a:schemeClr val="bg1"/>
          </a:solidFill>
          <a:ln>
            <a:noFill/>
          </a:ln>
          <a:effectLst>
            <a:outerShdw blurRad="177800" dist="165100" dir="2700000" algn="tl" rotWithShape="0">
              <a:schemeClr val="bg1">
                <a:lumMod val="8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21341" y="232951"/>
            <a:ext cx="8530359" cy="521970"/>
          </a:xfrm>
          <a:prstGeom prst="rect">
            <a:avLst/>
          </a:prstGeom>
          <a:noFill/>
        </p:spPr>
        <p:txBody>
          <a:bodyPr wrap="square" rtlCol="0">
            <a:spAutoFit/>
          </a:bodyPr>
          <a:lstStyle/>
          <a:p>
            <a:r>
              <a:rPr sz="2800" b="1" dirty="0">
                <a:solidFill>
                  <a:srgbClr val="515161"/>
                </a:solidFill>
                <a:latin typeface="微软雅黑" panose="020B0503020204020204" charset="-122"/>
                <a:ea typeface="微软雅黑" panose="020B0503020204020204" charset="-122"/>
              </a:rPr>
              <a:t>（二）年销售收入、税金及附加</a:t>
            </a:r>
            <a:endParaRPr sz="2800" b="1" dirty="0">
              <a:solidFill>
                <a:srgbClr val="515161"/>
              </a:solidFill>
              <a:latin typeface="微软雅黑" panose="020B0503020204020204" charset="-122"/>
              <a:ea typeface="微软雅黑" panose="020B0503020204020204" charset="-122"/>
            </a:endParaRPr>
          </a:p>
        </p:txBody>
      </p:sp>
      <p:cxnSp>
        <p:nvCxnSpPr>
          <p:cNvPr id="5" name="直接连接符 4"/>
          <p:cNvCxnSpPr/>
          <p:nvPr/>
        </p:nvCxnSpPr>
        <p:spPr>
          <a:xfrm>
            <a:off x="421341" y="795721"/>
            <a:ext cx="11349317" cy="0"/>
          </a:xfrm>
          <a:prstGeom prst="line">
            <a:avLst/>
          </a:prstGeom>
          <a:ln w="19050">
            <a:solidFill>
              <a:srgbClr val="515161"/>
            </a:solidFill>
          </a:ln>
        </p:spPr>
        <p:style>
          <a:lnRef idx="1">
            <a:schemeClr val="accent1"/>
          </a:lnRef>
          <a:fillRef idx="0">
            <a:schemeClr val="accent1"/>
          </a:fillRef>
          <a:effectRef idx="0">
            <a:schemeClr val="accent1"/>
          </a:effectRef>
          <a:fontRef idx="minor">
            <a:schemeClr val="tx1"/>
          </a:fontRef>
        </p:style>
      </p:cxnSp>
      <p:sp>
        <p:nvSpPr>
          <p:cNvPr id="7" name="矩形: 圆角 6"/>
          <p:cNvSpPr/>
          <p:nvPr/>
        </p:nvSpPr>
        <p:spPr>
          <a:xfrm>
            <a:off x="9487535" y="195580"/>
            <a:ext cx="2400300" cy="532765"/>
          </a:xfrm>
          <a:prstGeom prst="roundRect">
            <a:avLst>
              <a:gd name="adj" fmla="val 50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sp>
        <p:nvSpPr>
          <p:cNvPr id="54" name="矩形: 圆角 53"/>
          <p:cNvSpPr/>
          <p:nvPr/>
        </p:nvSpPr>
        <p:spPr>
          <a:xfrm>
            <a:off x="7042150" y="1572895"/>
            <a:ext cx="4412615" cy="1248410"/>
          </a:xfrm>
          <a:prstGeom prst="roundRect">
            <a:avLst>
              <a:gd name="adj" fmla="val 15663"/>
            </a:avLst>
          </a:prstGeom>
          <a:solidFill>
            <a:schemeClr val="bg1"/>
          </a:solidFill>
          <a:ln>
            <a:noFill/>
          </a:ln>
          <a:effectLst>
            <a:outerShdw blurRad="177800" dist="165100" dir="2700000" algn="tl" rotWithShape="0">
              <a:schemeClr val="bg1">
                <a:lumMod val="8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圆角 54"/>
          <p:cNvSpPr/>
          <p:nvPr/>
        </p:nvSpPr>
        <p:spPr>
          <a:xfrm>
            <a:off x="7042150" y="2869565"/>
            <a:ext cx="4412615" cy="1248410"/>
          </a:xfrm>
          <a:prstGeom prst="roundRect">
            <a:avLst>
              <a:gd name="adj" fmla="val 15663"/>
            </a:avLst>
          </a:prstGeom>
          <a:solidFill>
            <a:schemeClr val="bg1"/>
          </a:solidFill>
          <a:ln>
            <a:noFill/>
          </a:ln>
          <a:effectLst>
            <a:outerShdw blurRad="177800" dist="165100" dir="2700000" algn="tl" rotWithShape="0">
              <a:schemeClr val="bg1">
                <a:lumMod val="8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圆角 56"/>
          <p:cNvSpPr/>
          <p:nvPr/>
        </p:nvSpPr>
        <p:spPr>
          <a:xfrm>
            <a:off x="7042150" y="4166870"/>
            <a:ext cx="4810760" cy="1248410"/>
          </a:xfrm>
          <a:prstGeom prst="roundRect">
            <a:avLst>
              <a:gd name="adj" fmla="val 15663"/>
            </a:avLst>
          </a:prstGeom>
          <a:solidFill>
            <a:schemeClr val="bg1"/>
          </a:solidFill>
          <a:ln>
            <a:noFill/>
          </a:ln>
          <a:effectLst>
            <a:outerShdw blurRad="177800" dist="165100" dir="2700000" algn="tl" rotWithShape="0">
              <a:schemeClr val="bg1">
                <a:lumMod val="8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圆角 55"/>
          <p:cNvSpPr/>
          <p:nvPr/>
        </p:nvSpPr>
        <p:spPr>
          <a:xfrm>
            <a:off x="7042150" y="5463540"/>
            <a:ext cx="4810760" cy="1248410"/>
          </a:xfrm>
          <a:prstGeom prst="roundRect">
            <a:avLst>
              <a:gd name="adj" fmla="val 15663"/>
            </a:avLst>
          </a:prstGeom>
          <a:solidFill>
            <a:schemeClr val="bg1"/>
          </a:solidFill>
          <a:ln>
            <a:noFill/>
          </a:ln>
          <a:effectLst>
            <a:outerShdw blurRad="177800" dist="165100" dir="2700000" algn="tl" rotWithShape="0">
              <a:schemeClr val="bg1">
                <a:lumMod val="8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圆顶角 57"/>
          <p:cNvSpPr/>
          <p:nvPr/>
        </p:nvSpPr>
        <p:spPr>
          <a:xfrm rot="16200000">
            <a:off x="6252845" y="1668145"/>
            <a:ext cx="1248410" cy="1058545"/>
          </a:xfrm>
          <a:prstGeom prst="round2SameRect">
            <a:avLst>
              <a:gd name="adj1" fmla="val 50000"/>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圆顶角 58"/>
          <p:cNvSpPr/>
          <p:nvPr/>
        </p:nvSpPr>
        <p:spPr>
          <a:xfrm rot="16200000">
            <a:off x="6252845" y="2964815"/>
            <a:ext cx="1248410" cy="1058545"/>
          </a:xfrm>
          <a:prstGeom prst="round2SameRect">
            <a:avLst>
              <a:gd name="adj1" fmla="val 50000"/>
              <a:gd name="adj2" fmla="val 0"/>
            </a:avLst>
          </a:prstGeom>
          <a:solidFill>
            <a:srgbClr val="01539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7493000" y="1865630"/>
            <a:ext cx="3048635" cy="739140"/>
          </a:xfrm>
          <a:prstGeom prst="rect">
            <a:avLst/>
          </a:prstGeom>
          <a:noFill/>
        </p:spPr>
        <p:txBody>
          <a:bodyPr wrap="square" rtlCol="0">
            <a:noAutofit/>
          </a:bodyPr>
          <a:lstStyle/>
          <a:p>
            <a:pPr indent="457200" algn="l"/>
            <a:r>
              <a:rPr lang="en-US" altLang="zh-CN" sz="1200" b="1" dirty="0">
                <a:solidFill>
                  <a:schemeClr val="bg2">
                    <a:lumMod val="50000"/>
                  </a:schemeClr>
                </a:solidFill>
                <a:latin typeface="微软雅黑" panose="020B0503020204020204" charset="-122"/>
                <a:ea typeface="微软雅黑" panose="020B0503020204020204" charset="-122"/>
              </a:rPr>
              <a:t>按照税法规定，本项目所生产的产品应缴纳增值税，税率为 17%。项目运营期内，年实现增值税为 </a:t>
            </a:r>
            <a:r>
              <a:rPr lang="en-US" altLang="zh-CN" sz="1200" b="1" dirty="0">
                <a:solidFill>
                  <a:srgbClr val="FF0000"/>
                </a:solidFill>
                <a:latin typeface="微软雅黑" panose="020B0503020204020204" charset="-122"/>
                <a:ea typeface="微软雅黑" panose="020B0503020204020204" charset="-122"/>
              </a:rPr>
              <a:t>376.6 万元</a:t>
            </a:r>
            <a:r>
              <a:rPr lang="en-US" altLang="zh-CN" sz="1200" b="1" dirty="0">
                <a:solidFill>
                  <a:schemeClr val="bg2">
                    <a:lumMod val="50000"/>
                  </a:schemeClr>
                </a:solidFill>
                <a:latin typeface="微软雅黑" panose="020B0503020204020204" charset="-122"/>
                <a:ea typeface="微软雅黑" panose="020B0503020204020204" charset="-122"/>
              </a:rPr>
              <a:t>。</a:t>
            </a:r>
            <a:endParaRPr sz="1400" b="1" dirty="0">
              <a:latin typeface="微软雅黑" panose="020B0503020204020204" charset="-122"/>
              <a:ea typeface="微软雅黑" panose="020B0503020204020204" charset="-122"/>
            </a:endParaRPr>
          </a:p>
        </p:txBody>
      </p:sp>
      <p:sp>
        <p:nvSpPr>
          <p:cNvPr id="64" name="矩形: 圆顶角 63"/>
          <p:cNvSpPr/>
          <p:nvPr/>
        </p:nvSpPr>
        <p:spPr>
          <a:xfrm rot="16200000">
            <a:off x="6252845" y="4262120"/>
            <a:ext cx="1248410" cy="1058545"/>
          </a:xfrm>
          <a:prstGeom prst="round2SameRect">
            <a:avLst>
              <a:gd name="adj1" fmla="val 50000"/>
              <a:gd name="adj2"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圆顶角 64"/>
          <p:cNvSpPr/>
          <p:nvPr/>
        </p:nvSpPr>
        <p:spPr>
          <a:xfrm rot="16200000">
            <a:off x="6249035" y="5581650"/>
            <a:ext cx="1248410" cy="1052195"/>
          </a:xfrm>
          <a:prstGeom prst="round2SameRect">
            <a:avLst>
              <a:gd name="adj1" fmla="val 50000"/>
              <a:gd name="adj2" fmla="val 0"/>
            </a:avLst>
          </a:prstGeom>
          <a:solidFill>
            <a:schemeClr val="accent6"/>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文本框 82"/>
          <p:cNvSpPr txBox="1"/>
          <p:nvPr/>
        </p:nvSpPr>
        <p:spPr>
          <a:xfrm>
            <a:off x="7601585" y="3134360"/>
            <a:ext cx="2939415" cy="922020"/>
          </a:xfrm>
          <a:prstGeom prst="rect">
            <a:avLst/>
          </a:prstGeom>
          <a:noFill/>
        </p:spPr>
        <p:txBody>
          <a:bodyPr wrap="square" rtlCol="0">
            <a:spAutoFit/>
          </a:bodyPr>
          <a:lstStyle/>
          <a:p>
            <a:pPr>
              <a:lnSpc>
                <a:spcPct val="150000"/>
              </a:lnSpc>
            </a:pPr>
            <a:r>
              <a:rPr lang="en-US" altLang="zh-CN" sz="1200" b="1" dirty="0">
                <a:solidFill>
                  <a:schemeClr val="bg2">
                    <a:lumMod val="50000"/>
                  </a:schemeClr>
                </a:solidFill>
                <a:latin typeface="微软雅黑" panose="020B0503020204020204" charset="-122"/>
                <a:ea typeface="微软雅黑" panose="020B0503020204020204" charset="-122"/>
              </a:rPr>
              <a:t>城市维护建设税税率为增值税的 7%，正常年份实现的城市维护建设税为 </a:t>
            </a:r>
            <a:r>
              <a:rPr lang="en-US" altLang="zh-CN" sz="1200" b="1" dirty="0">
                <a:solidFill>
                  <a:srgbClr val="FF0000"/>
                </a:solidFill>
                <a:latin typeface="微软雅黑" panose="020B0503020204020204" charset="-122"/>
                <a:ea typeface="微软雅黑" panose="020B0503020204020204" charset="-122"/>
              </a:rPr>
              <a:t>26.2 万元</a:t>
            </a:r>
            <a:endParaRPr lang="en-US" altLang="zh-CN" sz="1200" b="1" dirty="0">
              <a:solidFill>
                <a:srgbClr val="FF0000"/>
              </a:solidFill>
              <a:latin typeface="微软雅黑" panose="020B0503020204020204" charset="-122"/>
              <a:ea typeface="微软雅黑" panose="020B0503020204020204" charset="-122"/>
            </a:endParaRPr>
          </a:p>
        </p:txBody>
      </p:sp>
      <p:grpSp>
        <p:nvGrpSpPr>
          <p:cNvPr id="91" name="组合 90"/>
          <p:cNvGrpSpPr/>
          <p:nvPr/>
        </p:nvGrpSpPr>
        <p:grpSpPr>
          <a:xfrm rot="0">
            <a:off x="7591425" y="4456430"/>
            <a:ext cx="3801110" cy="808355"/>
            <a:chOff x="7515825" y="2829981"/>
            <a:chExt cx="4282550" cy="843609"/>
          </a:xfrm>
        </p:grpSpPr>
        <p:sp>
          <p:nvSpPr>
            <p:cNvPr id="92" name="文本框 91"/>
            <p:cNvSpPr txBox="1"/>
            <p:nvPr/>
          </p:nvSpPr>
          <p:spPr>
            <a:xfrm>
              <a:off x="7515825" y="2829981"/>
              <a:ext cx="3048840" cy="673297"/>
            </a:xfrm>
            <a:prstGeom prst="rect">
              <a:avLst/>
            </a:prstGeom>
            <a:noFill/>
          </p:spPr>
          <p:txBody>
            <a:bodyPr wrap="square" rtlCol="0">
              <a:spAutoFit/>
            </a:bodyPr>
            <a:lstStyle/>
            <a:p>
              <a:pPr>
                <a:lnSpc>
                  <a:spcPct val="150000"/>
                </a:lnSpc>
              </a:pPr>
              <a:r>
                <a:rPr lang="en-US" altLang="zh-CN" sz="1200" b="1" dirty="0">
                  <a:solidFill>
                    <a:schemeClr val="bg2">
                      <a:lumMod val="50000"/>
                    </a:schemeClr>
                  </a:solidFill>
                  <a:latin typeface="微软雅黑" panose="020B0503020204020204" charset="-122"/>
                  <a:ea typeface="微软雅黑" panose="020B0503020204020204" charset="-122"/>
                </a:rPr>
                <a:t>教育费附加为增值税的 3%，正常年份实现的教育费附加为</a:t>
              </a:r>
              <a:r>
                <a:rPr lang="en-US" altLang="zh-CN" sz="1200" b="1" dirty="0">
                  <a:solidFill>
                    <a:srgbClr val="FF0000"/>
                  </a:solidFill>
                  <a:latin typeface="微软雅黑" panose="020B0503020204020204" charset="-122"/>
                  <a:ea typeface="微软雅黑" panose="020B0503020204020204" charset="-122"/>
                </a:rPr>
                <a:t>11.2 万元</a:t>
              </a:r>
              <a:r>
                <a:rPr lang="en-US" altLang="zh-CN" sz="1200" b="1" dirty="0">
                  <a:solidFill>
                    <a:schemeClr val="bg2">
                      <a:lumMod val="50000"/>
                    </a:schemeClr>
                  </a:solidFill>
                  <a:latin typeface="微软雅黑" panose="020B0503020204020204" charset="-122"/>
                  <a:ea typeface="微软雅黑" panose="020B0503020204020204" charset="-122"/>
                </a:rPr>
                <a:t>。</a:t>
              </a:r>
              <a:endParaRPr lang="en-US" altLang="zh-CN" sz="1200" b="1" dirty="0">
                <a:solidFill>
                  <a:schemeClr val="bg2">
                    <a:lumMod val="50000"/>
                  </a:schemeClr>
                </a:solidFill>
                <a:latin typeface="微软雅黑" panose="020B0503020204020204" charset="-122"/>
                <a:ea typeface="微软雅黑" panose="020B0503020204020204" charset="-122"/>
              </a:endParaRPr>
            </a:p>
          </p:txBody>
        </p:sp>
        <p:sp>
          <p:nvSpPr>
            <p:cNvPr id="93" name="文本框 92"/>
            <p:cNvSpPr txBox="1"/>
            <p:nvPr/>
          </p:nvSpPr>
          <p:spPr>
            <a:xfrm>
              <a:off x="7516533" y="3409873"/>
              <a:ext cx="4281842" cy="263717"/>
            </a:xfrm>
            <a:prstGeom prst="rect">
              <a:avLst/>
            </a:prstGeom>
            <a:noFill/>
          </p:spPr>
          <p:txBody>
            <a:bodyPr wrap="square">
              <a:spAutoFit/>
            </a:bodyPr>
            <a:lstStyle/>
            <a:p>
              <a:endParaRPr lang="en-US" altLang="zh-CN" sz="1050" dirty="0">
                <a:solidFill>
                  <a:schemeClr val="bg2">
                    <a:lumMod val="50000"/>
                  </a:schemeClr>
                </a:solidFill>
                <a:latin typeface="微软雅黑" panose="020B0503020204020204" charset="-122"/>
                <a:ea typeface="微软雅黑" panose="020B0503020204020204" charset="-122"/>
              </a:endParaRPr>
            </a:p>
          </p:txBody>
        </p:sp>
      </p:grpSp>
      <p:grpSp>
        <p:nvGrpSpPr>
          <p:cNvPr id="94" name="组合 93"/>
          <p:cNvGrpSpPr/>
          <p:nvPr/>
        </p:nvGrpSpPr>
        <p:grpSpPr>
          <a:xfrm rot="0">
            <a:off x="7596505" y="5728970"/>
            <a:ext cx="3744595" cy="814070"/>
            <a:chOff x="7551266" y="2821658"/>
            <a:chExt cx="4224614" cy="849347"/>
          </a:xfrm>
        </p:grpSpPr>
        <p:sp>
          <p:nvSpPr>
            <p:cNvPr id="95" name="文本框 94"/>
            <p:cNvSpPr txBox="1"/>
            <p:nvPr/>
          </p:nvSpPr>
          <p:spPr>
            <a:xfrm>
              <a:off x="7559809" y="2821658"/>
              <a:ext cx="3037201" cy="673117"/>
            </a:xfrm>
            <a:prstGeom prst="rect">
              <a:avLst/>
            </a:prstGeom>
            <a:noFill/>
          </p:spPr>
          <p:txBody>
            <a:bodyPr wrap="square" rtlCol="0">
              <a:spAutoFit/>
            </a:bodyPr>
            <a:lstStyle/>
            <a:p>
              <a:pPr>
                <a:lnSpc>
                  <a:spcPct val="150000"/>
                </a:lnSpc>
              </a:pPr>
              <a:r>
                <a:rPr lang="en-US" altLang="zh-CN" sz="1200" b="1" dirty="0">
                  <a:solidFill>
                    <a:schemeClr val="bg2">
                      <a:lumMod val="50000"/>
                    </a:schemeClr>
                  </a:solidFill>
                  <a:latin typeface="微软雅黑" panose="020B0503020204020204" charset="-122"/>
                  <a:ea typeface="微软雅黑" panose="020B0503020204020204" charset="-122"/>
                </a:rPr>
                <a:t>本项目的</a:t>
              </a:r>
              <a:r>
                <a:rPr lang="en-US" altLang="zh-CN" sz="1200" b="1" dirty="0">
                  <a:solidFill>
                    <a:srgbClr val="FF0000"/>
                  </a:solidFill>
                  <a:latin typeface="微软雅黑" panose="020B0503020204020204" charset="-122"/>
                  <a:ea typeface="微软雅黑" panose="020B0503020204020204" charset="-122"/>
                </a:rPr>
                <a:t>营业税金及附加总额</a:t>
              </a:r>
              <a:r>
                <a:rPr lang="en-US" altLang="zh-CN" sz="1200" b="1" dirty="0">
                  <a:solidFill>
                    <a:schemeClr val="bg2">
                      <a:lumMod val="50000"/>
                    </a:schemeClr>
                  </a:solidFill>
                  <a:latin typeface="微软雅黑" panose="020B0503020204020204" charset="-122"/>
                  <a:ea typeface="微软雅黑" panose="020B0503020204020204" charset="-122"/>
                </a:rPr>
                <a:t>为：</a:t>
              </a:r>
              <a:endParaRPr lang="en-US" altLang="zh-CN" sz="1200" b="1" dirty="0">
                <a:solidFill>
                  <a:schemeClr val="bg2">
                    <a:lumMod val="50000"/>
                  </a:schemeClr>
                </a:solidFill>
                <a:latin typeface="微软雅黑" panose="020B0503020204020204" charset="-122"/>
                <a:ea typeface="微软雅黑" panose="020B0503020204020204" charset="-122"/>
              </a:endParaRPr>
            </a:p>
            <a:p>
              <a:pPr>
                <a:lnSpc>
                  <a:spcPct val="150000"/>
                </a:lnSpc>
              </a:pPr>
              <a:r>
                <a:rPr lang="en-US" altLang="zh-CN" sz="1200" b="1" dirty="0">
                  <a:solidFill>
                    <a:srgbClr val="FF0000"/>
                  </a:solidFill>
                  <a:latin typeface="微软雅黑" panose="020B0503020204020204" charset="-122"/>
                  <a:ea typeface="微软雅黑" panose="020B0503020204020204" charset="-122"/>
                </a:rPr>
                <a:t>376.6+26.2+11.2 = 414.0 万元</a:t>
              </a:r>
              <a:endParaRPr lang="en-US" altLang="zh-CN" sz="1200" b="1" dirty="0">
                <a:solidFill>
                  <a:srgbClr val="FF0000"/>
                </a:solidFill>
                <a:latin typeface="微软雅黑" panose="020B0503020204020204" charset="-122"/>
                <a:ea typeface="微软雅黑" panose="020B0503020204020204" charset="-122"/>
              </a:endParaRPr>
            </a:p>
          </p:txBody>
        </p:sp>
        <p:sp>
          <p:nvSpPr>
            <p:cNvPr id="96" name="文本框 95"/>
            <p:cNvSpPr txBox="1"/>
            <p:nvPr/>
          </p:nvSpPr>
          <p:spPr>
            <a:xfrm>
              <a:off x="7551266" y="3407334"/>
              <a:ext cx="4224614" cy="263671"/>
            </a:xfrm>
            <a:prstGeom prst="rect">
              <a:avLst/>
            </a:prstGeom>
            <a:noFill/>
          </p:spPr>
          <p:txBody>
            <a:bodyPr wrap="square">
              <a:spAutoFit/>
            </a:bodyPr>
            <a:lstStyle/>
            <a:p>
              <a:endParaRPr lang="en-US" altLang="zh-CN" sz="1050" dirty="0">
                <a:solidFill>
                  <a:schemeClr val="bg2">
                    <a:lumMod val="50000"/>
                  </a:schemeClr>
                </a:solidFill>
                <a:latin typeface="微软雅黑" panose="020B0503020204020204" charset="-122"/>
                <a:ea typeface="微软雅黑" panose="020B0503020204020204" charset="-122"/>
              </a:endParaRPr>
            </a:p>
          </p:txBody>
        </p:sp>
      </p:grpSp>
      <p:sp>
        <p:nvSpPr>
          <p:cNvPr id="9" name="小李PPT2"/>
          <p:cNvSpPr/>
          <p:nvPr/>
        </p:nvSpPr>
        <p:spPr>
          <a:xfrm>
            <a:off x="508635" y="327756"/>
            <a:ext cx="79375" cy="40005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grpSp>
        <p:nvGrpSpPr>
          <p:cNvPr id="2" name="组合 1"/>
          <p:cNvGrpSpPr/>
          <p:nvPr/>
        </p:nvGrpSpPr>
        <p:grpSpPr>
          <a:xfrm>
            <a:off x="321945" y="895350"/>
            <a:ext cx="5637530" cy="483235"/>
            <a:chOff x="675" y="1418"/>
            <a:chExt cx="17873" cy="558"/>
          </a:xfrm>
        </p:grpSpPr>
        <p:sp>
          <p:nvSpPr>
            <p:cNvPr id="3" name="矩形 2"/>
            <p:cNvSpPr/>
            <p:nvPr/>
          </p:nvSpPr>
          <p:spPr>
            <a:xfrm>
              <a:off x="675" y="1418"/>
              <a:ext cx="17873" cy="558"/>
            </a:xfrm>
            <a:prstGeom prst="rect">
              <a:avLst/>
            </a:prstGeom>
            <a:solidFill>
              <a:schemeClr val="accent3">
                <a:lumMod val="20000"/>
                <a:lumOff val="80000"/>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8" name="文本框 17"/>
            <p:cNvSpPr txBox="1"/>
            <p:nvPr/>
          </p:nvSpPr>
          <p:spPr>
            <a:xfrm>
              <a:off x="953" y="1537"/>
              <a:ext cx="17467" cy="354"/>
            </a:xfrm>
            <a:prstGeom prst="rect">
              <a:avLst/>
            </a:prstGeom>
            <a:noFill/>
          </p:spPr>
          <p:txBody>
            <a:bodyPr wrap="square" rtlCol="0">
              <a:spAutoFit/>
            </a:bodyPr>
            <a:p>
              <a:pPr indent="0"/>
              <a:r>
                <a:rPr lang="zh-CN" altLang="en-US" sz="1400" b="1" dirty="0">
                  <a:solidFill>
                    <a:schemeClr val="tx1">
                      <a:lumMod val="75000"/>
                      <a:lumOff val="25000"/>
                    </a:schemeClr>
                  </a:solidFill>
                  <a:latin typeface="微软雅黑" panose="020B0503020204020204" charset="-122"/>
                  <a:ea typeface="微软雅黑" panose="020B0503020204020204" charset="-122"/>
                </a:rPr>
                <a:t>（</a:t>
              </a:r>
              <a:r>
                <a:rPr lang="en-US" altLang="zh-CN" sz="1400" b="1" dirty="0">
                  <a:solidFill>
                    <a:schemeClr val="tx1">
                      <a:lumMod val="75000"/>
                      <a:lumOff val="25000"/>
                    </a:schemeClr>
                  </a:solidFill>
                  <a:latin typeface="微软雅黑" panose="020B0503020204020204" charset="-122"/>
                  <a:ea typeface="微软雅黑" panose="020B0503020204020204" charset="-122"/>
                </a:rPr>
                <a:t>1</a:t>
              </a:r>
              <a:r>
                <a:rPr lang="zh-CN" altLang="en-US" sz="1400" b="1" dirty="0">
                  <a:solidFill>
                    <a:schemeClr val="tx1">
                      <a:lumMod val="75000"/>
                      <a:lumOff val="25000"/>
                    </a:schemeClr>
                  </a:solidFill>
                  <a:latin typeface="微软雅黑" panose="020B0503020204020204" charset="-122"/>
                  <a:ea typeface="微软雅黑" panose="020B0503020204020204" charset="-122"/>
                </a:rPr>
                <a:t>）本项目销售单价、</a:t>
              </a:r>
              <a:r>
                <a:rPr lang="zh-CN" altLang="en-US" sz="1400" b="1" dirty="0">
                  <a:solidFill>
                    <a:schemeClr val="tx1">
                      <a:lumMod val="75000"/>
                      <a:lumOff val="25000"/>
                    </a:schemeClr>
                  </a:solidFill>
                  <a:latin typeface="微软雅黑" panose="020B0503020204020204" charset="-122"/>
                  <a:ea typeface="微软雅黑" panose="020B0503020204020204" charset="-122"/>
                </a:rPr>
                <a:t>年产量、年实际销售收入总额如表所示。</a:t>
              </a:r>
              <a:endParaRPr lang="zh-CN" altLang="en-US" sz="1400" b="1" dirty="0">
                <a:solidFill>
                  <a:schemeClr val="tx1">
                    <a:lumMod val="75000"/>
                    <a:lumOff val="25000"/>
                  </a:schemeClr>
                </a:solidFill>
                <a:latin typeface="微软雅黑" panose="020B0503020204020204" charset="-122"/>
                <a:ea typeface="微软雅黑" panose="020B0503020204020204" charset="-122"/>
              </a:endParaRPr>
            </a:p>
          </p:txBody>
        </p:sp>
      </p:grpSp>
      <p:pic>
        <p:nvPicPr>
          <p:cNvPr id="22" name="图片 21"/>
          <p:cNvPicPr>
            <a:picLocks noChangeAspect="1"/>
          </p:cNvPicPr>
          <p:nvPr/>
        </p:nvPicPr>
        <p:blipFill>
          <a:blip r:embed="rId1"/>
          <a:stretch>
            <a:fillRect/>
          </a:stretch>
        </p:blipFill>
        <p:spPr>
          <a:xfrm>
            <a:off x="321945" y="1666240"/>
            <a:ext cx="5690870" cy="1836420"/>
          </a:xfrm>
          <a:prstGeom prst="rect">
            <a:avLst/>
          </a:prstGeom>
        </p:spPr>
      </p:pic>
      <p:sp>
        <p:nvSpPr>
          <p:cNvPr id="23" name="Rectangle: Rounded Corners 77"/>
          <p:cNvSpPr/>
          <p:nvPr/>
        </p:nvSpPr>
        <p:spPr>
          <a:xfrm>
            <a:off x="408940" y="3745230"/>
            <a:ext cx="5509895" cy="1246505"/>
          </a:xfrm>
          <a:prstGeom prst="roundRect">
            <a:avLst>
              <a:gd name="adj" fmla="val 0"/>
            </a:avLst>
          </a:prstGeom>
          <a:noFill/>
          <a:ln w="19050">
            <a:solidFill>
              <a:srgbClr val="507596"/>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tIns="180000" rtlCol="0" anchor="t"/>
          <a:p>
            <a:r>
              <a:rPr lang="en-US" altLang="zh-CN" sz="1400" b="1" dirty="0">
                <a:solidFill>
                  <a:srgbClr val="015056"/>
                </a:solidFill>
                <a:latin typeface="微软雅黑" panose="020B0503020204020204" charset="-122"/>
                <a:ea typeface="微软雅黑" panose="020B0503020204020204" charset="-122"/>
              </a:rPr>
              <a:t>1. </a:t>
            </a:r>
            <a:r>
              <a:rPr lang="zh-CN" altLang="en-US" sz="1400" b="1" dirty="0">
                <a:solidFill>
                  <a:srgbClr val="015056"/>
                </a:solidFill>
                <a:latin typeface="微软雅黑" panose="020B0503020204020204" charset="-122"/>
                <a:ea typeface="微软雅黑" panose="020B0503020204020204" charset="-122"/>
              </a:rPr>
              <a:t>产品销售价格</a:t>
            </a:r>
            <a:endParaRPr lang="en-US" altLang="zh-CN" sz="1400" b="1" dirty="0">
              <a:solidFill>
                <a:srgbClr val="015056"/>
              </a:solidFill>
              <a:latin typeface="微软雅黑" panose="020B0503020204020204" charset="-122"/>
              <a:ea typeface="微软雅黑" panose="020B0503020204020204" charset="-122"/>
            </a:endParaRPr>
          </a:p>
          <a:p>
            <a:endParaRPr lang="en-US" sz="1200" dirty="0">
              <a:solidFill>
                <a:srgbClr val="015056"/>
              </a:solidFill>
              <a:latin typeface="微软雅黑" panose="020B0503020204020204" charset="-122"/>
              <a:ea typeface="微软雅黑" panose="020B0503020204020204" charset="-122"/>
            </a:endParaRPr>
          </a:p>
        </p:txBody>
      </p:sp>
      <p:sp>
        <p:nvSpPr>
          <p:cNvPr id="24" name="文本框 23"/>
          <p:cNvSpPr txBox="1"/>
          <p:nvPr/>
        </p:nvSpPr>
        <p:spPr>
          <a:xfrm>
            <a:off x="371475" y="4250690"/>
            <a:ext cx="5368290" cy="583565"/>
          </a:xfrm>
          <a:prstGeom prst="rect">
            <a:avLst/>
          </a:prstGeom>
          <a:noFill/>
        </p:spPr>
        <p:txBody>
          <a:bodyPr wrap="square" rtlCol="0">
            <a:spAutoFit/>
          </a:bodyPr>
          <a:p>
            <a:r>
              <a:rPr lang="zh-CN" altLang="en-US" sz="1600">
                <a:latin typeface="方正楷体简体" panose="02000000000000000000" charset="-122"/>
                <a:ea typeface="方正楷体简体" panose="02000000000000000000" charset="-122"/>
                <a:cs typeface="方正楷体简体" panose="02000000000000000000" charset="-122"/>
              </a:rPr>
              <a:t>本财务评价中采用的产品销售价格为建设单位提供的价格。具体为：PVC 管材为 1万元/吨，PE 管材为 1.8 万元/吨。</a:t>
            </a:r>
            <a:endParaRPr lang="zh-CN" altLang="en-US" sz="1600">
              <a:latin typeface="方正楷体简体" panose="02000000000000000000" charset="-122"/>
              <a:ea typeface="方正楷体简体" panose="02000000000000000000" charset="-122"/>
              <a:cs typeface="方正楷体简体" panose="02000000000000000000" charset="-122"/>
            </a:endParaRPr>
          </a:p>
        </p:txBody>
      </p:sp>
      <p:sp>
        <p:nvSpPr>
          <p:cNvPr id="25" name="Rectangle: Rounded Corners 77"/>
          <p:cNvSpPr/>
          <p:nvPr/>
        </p:nvSpPr>
        <p:spPr>
          <a:xfrm>
            <a:off x="408305" y="5123815"/>
            <a:ext cx="5509895" cy="1246505"/>
          </a:xfrm>
          <a:prstGeom prst="roundRect">
            <a:avLst>
              <a:gd name="adj" fmla="val 0"/>
            </a:avLst>
          </a:prstGeom>
          <a:noFill/>
          <a:ln w="19050">
            <a:solidFill>
              <a:srgbClr val="507596"/>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tIns="180000" rtlCol="0" anchor="t"/>
          <a:p>
            <a:r>
              <a:rPr lang="en-US" altLang="zh-CN" sz="1400" b="1" dirty="0">
                <a:solidFill>
                  <a:srgbClr val="015056"/>
                </a:solidFill>
                <a:latin typeface="微软雅黑" panose="020B0503020204020204" charset="-122"/>
                <a:ea typeface="微软雅黑" panose="020B0503020204020204" charset="-122"/>
              </a:rPr>
              <a:t>2. </a:t>
            </a:r>
            <a:r>
              <a:rPr lang="zh-CN" altLang="en-US" sz="1400" b="1" dirty="0">
                <a:solidFill>
                  <a:srgbClr val="015056"/>
                </a:solidFill>
                <a:latin typeface="微软雅黑" panose="020B0503020204020204" charset="-122"/>
                <a:ea typeface="微软雅黑" panose="020B0503020204020204" charset="-122"/>
              </a:rPr>
              <a:t>销售收入</a:t>
            </a:r>
            <a:endParaRPr lang="zh-CN" altLang="en-US" sz="1400" b="1" dirty="0">
              <a:solidFill>
                <a:srgbClr val="015056"/>
              </a:solidFill>
              <a:latin typeface="微软雅黑" panose="020B0503020204020204" charset="-122"/>
              <a:ea typeface="微软雅黑" panose="020B0503020204020204" charset="-122"/>
            </a:endParaRPr>
          </a:p>
        </p:txBody>
      </p:sp>
      <p:sp>
        <p:nvSpPr>
          <p:cNvPr id="69" name="文本框 68"/>
          <p:cNvSpPr txBox="1"/>
          <p:nvPr/>
        </p:nvSpPr>
        <p:spPr>
          <a:xfrm>
            <a:off x="371475" y="5579745"/>
            <a:ext cx="5368290" cy="829945"/>
          </a:xfrm>
          <a:prstGeom prst="rect">
            <a:avLst/>
          </a:prstGeom>
          <a:noFill/>
        </p:spPr>
        <p:txBody>
          <a:bodyPr wrap="square" rtlCol="0">
            <a:spAutoFit/>
          </a:bodyPr>
          <a:p>
            <a:r>
              <a:rPr lang="zh-CN" altLang="en-US" sz="1600">
                <a:latin typeface="方正楷体简体" panose="02000000000000000000" charset="-122"/>
                <a:ea typeface="方正楷体简体" panose="02000000000000000000" charset="-122"/>
                <a:cs typeface="方正楷体简体" panose="02000000000000000000" charset="-122"/>
              </a:rPr>
              <a:t>本项目设计生产能力为 3000 吨/年，其中生产 PVC 管材 1750 吨/年，生产 PE管材 1250 吨/年。故年销售收入为</a:t>
            </a:r>
            <a:r>
              <a:rPr lang="en-US" altLang="zh-CN" sz="1600">
                <a:solidFill>
                  <a:srgbClr val="FF0000"/>
                </a:solidFill>
                <a:latin typeface="方正楷体简体" panose="02000000000000000000" charset="-122"/>
                <a:ea typeface="方正楷体简体" panose="02000000000000000000" charset="-122"/>
                <a:cs typeface="方正楷体简体" panose="02000000000000000000" charset="-122"/>
              </a:rPr>
              <a:t>4000</a:t>
            </a:r>
            <a:r>
              <a:rPr lang="zh-CN" altLang="en-US" sz="1600">
                <a:solidFill>
                  <a:srgbClr val="FF0000"/>
                </a:solidFill>
                <a:latin typeface="方正楷体简体" panose="02000000000000000000" charset="-122"/>
                <a:ea typeface="方正楷体简体" panose="02000000000000000000" charset="-122"/>
                <a:cs typeface="方正楷体简体" panose="02000000000000000000" charset="-122"/>
              </a:rPr>
              <a:t>万元</a:t>
            </a:r>
            <a:r>
              <a:rPr lang="zh-CN" altLang="en-US" sz="1600">
                <a:latin typeface="方正楷体简体" panose="02000000000000000000" charset="-122"/>
                <a:ea typeface="方正楷体简体" panose="02000000000000000000" charset="-122"/>
                <a:cs typeface="方正楷体简体" panose="02000000000000000000" charset="-122"/>
              </a:rPr>
              <a:t>。</a:t>
            </a:r>
            <a:endParaRPr lang="zh-CN" altLang="en-US" sz="1600">
              <a:latin typeface="方正楷体简体" panose="02000000000000000000" charset="-122"/>
              <a:ea typeface="方正楷体简体" panose="02000000000000000000" charset="-122"/>
              <a:cs typeface="方正楷体简体" panose="02000000000000000000" charset="-122"/>
            </a:endParaRPr>
          </a:p>
        </p:txBody>
      </p:sp>
      <p:sp>
        <p:nvSpPr>
          <p:cNvPr id="73" name="矩形 72"/>
          <p:cNvSpPr/>
          <p:nvPr/>
        </p:nvSpPr>
        <p:spPr>
          <a:xfrm>
            <a:off x="6167120" y="907415"/>
            <a:ext cx="76200" cy="5824855"/>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74" name="组合 73"/>
          <p:cNvGrpSpPr/>
          <p:nvPr/>
        </p:nvGrpSpPr>
        <p:grpSpPr>
          <a:xfrm>
            <a:off x="6309995" y="895350"/>
            <a:ext cx="5379720" cy="483235"/>
            <a:chOff x="675" y="1418"/>
            <a:chExt cx="17873" cy="558"/>
          </a:xfrm>
        </p:grpSpPr>
        <p:sp>
          <p:nvSpPr>
            <p:cNvPr id="76" name="矩形 75"/>
            <p:cNvSpPr/>
            <p:nvPr/>
          </p:nvSpPr>
          <p:spPr>
            <a:xfrm>
              <a:off x="675" y="1418"/>
              <a:ext cx="17873" cy="558"/>
            </a:xfrm>
            <a:prstGeom prst="rect">
              <a:avLst/>
            </a:prstGeom>
            <a:solidFill>
              <a:schemeClr val="accent3">
                <a:lumMod val="20000"/>
                <a:lumOff val="80000"/>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77" name="文本框 76"/>
            <p:cNvSpPr txBox="1"/>
            <p:nvPr/>
          </p:nvSpPr>
          <p:spPr>
            <a:xfrm>
              <a:off x="953" y="1537"/>
              <a:ext cx="17467" cy="354"/>
            </a:xfrm>
            <a:prstGeom prst="rect">
              <a:avLst/>
            </a:prstGeom>
            <a:noFill/>
          </p:spPr>
          <p:txBody>
            <a:bodyPr wrap="square" rtlCol="0">
              <a:spAutoFit/>
            </a:bodyPr>
            <a:p>
              <a:pPr indent="0"/>
              <a:r>
                <a:rPr lang="zh-CN" altLang="en-US" sz="1400" b="1" dirty="0">
                  <a:solidFill>
                    <a:schemeClr val="tx1">
                      <a:lumMod val="75000"/>
                      <a:lumOff val="25000"/>
                    </a:schemeClr>
                  </a:solidFill>
                  <a:latin typeface="微软雅黑" panose="020B0503020204020204" charset="-122"/>
                  <a:ea typeface="微软雅黑" panose="020B0503020204020204" charset="-122"/>
                </a:rPr>
                <a:t>（</a:t>
              </a:r>
              <a:r>
                <a:rPr lang="en-US" altLang="zh-CN" sz="1400" b="1" dirty="0">
                  <a:solidFill>
                    <a:schemeClr val="tx1">
                      <a:lumMod val="75000"/>
                      <a:lumOff val="25000"/>
                    </a:schemeClr>
                  </a:solidFill>
                  <a:latin typeface="微软雅黑" panose="020B0503020204020204" charset="-122"/>
                  <a:ea typeface="微软雅黑" panose="020B0503020204020204" charset="-122"/>
                </a:rPr>
                <a:t>2</a:t>
              </a:r>
              <a:r>
                <a:rPr lang="zh-CN" altLang="en-US" sz="1400" b="1" dirty="0">
                  <a:solidFill>
                    <a:schemeClr val="tx1">
                      <a:lumMod val="75000"/>
                      <a:lumOff val="25000"/>
                    </a:schemeClr>
                  </a:solidFill>
                  <a:latin typeface="微软雅黑" panose="020B0503020204020204" charset="-122"/>
                  <a:ea typeface="微软雅黑" panose="020B0503020204020204" charset="-122"/>
                </a:rPr>
                <a:t>）营业税金及附加</a:t>
              </a:r>
              <a:endParaRPr lang="zh-CN" altLang="en-US" sz="1400" b="1" dirty="0">
                <a:solidFill>
                  <a:schemeClr val="tx1">
                    <a:lumMod val="75000"/>
                    <a:lumOff val="25000"/>
                  </a:schemeClr>
                </a:solidFill>
                <a:latin typeface="微软雅黑" panose="020B0503020204020204" charset="-122"/>
                <a:ea typeface="微软雅黑" panose="020B0503020204020204" charset="-122"/>
              </a:endParaRPr>
            </a:p>
          </p:txBody>
        </p:sp>
      </p:grpSp>
      <p:sp>
        <p:nvSpPr>
          <p:cNvPr id="79" name="文本框 78"/>
          <p:cNvSpPr txBox="1"/>
          <p:nvPr/>
        </p:nvSpPr>
        <p:spPr>
          <a:xfrm>
            <a:off x="6557328" y="2010728"/>
            <a:ext cx="873760" cy="373380"/>
          </a:xfrm>
          <a:prstGeom prst="rect">
            <a:avLst/>
          </a:prstGeom>
          <a:noFill/>
        </p:spPr>
        <p:txBody>
          <a:bodyPr wrap="square" rtlCol="0">
            <a:noAutofit/>
          </a:bodyPr>
          <a:p>
            <a:r>
              <a:rPr lang="zh-CN" altLang="en-US" sz="1600" b="1" dirty="0">
                <a:solidFill>
                  <a:srgbClr val="ECFEFB"/>
                </a:solidFill>
                <a:latin typeface="微软雅黑" panose="020B0503020204020204" charset="-122"/>
                <a:ea typeface="微软雅黑" panose="020B0503020204020204" charset="-122"/>
              </a:rPr>
              <a:t>增值税</a:t>
            </a:r>
            <a:endParaRPr lang="zh-CN" altLang="en-US"/>
          </a:p>
        </p:txBody>
      </p:sp>
      <p:sp>
        <p:nvSpPr>
          <p:cNvPr id="80" name="文本框 79"/>
          <p:cNvSpPr txBox="1"/>
          <p:nvPr/>
        </p:nvSpPr>
        <p:spPr>
          <a:xfrm>
            <a:off x="6491605" y="3231833"/>
            <a:ext cx="1124585" cy="524510"/>
          </a:xfrm>
          <a:prstGeom prst="rect">
            <a:avLst/>
          </a:prstGeom>
          <a:noFill/>
        </p:spPr>
        <p:txBody>
          <a:bodyPr wrap="square" rtlCol="0">
            <a:noAutofit/>
          </a:bodyPr>
          <a:p>
            <a:r>
              <a:rPr lang="zh-CN" altLang="en-US" sz="1600" b="1" dirty="0">
                <a:solidFill>
                  <a:srgbClr val="ECFEFB"/>
                </a:solidFill>
                <a:latin typeface="微软雅黑" panose="020B0503020204020204" charset="-122"/>
                <a:ea typeface="微软雅黑" panose="020B0503020204020204" charset="-122"/>
              </a:rPr>
              <a:t>城市维护建设税</a:t>
            </a:r>
            <a:endParaRPr lang="zh-CN" altLang="en-US" sz="1600" b="1" dirty="0">
              <a:solidFill>
                <a:srgbClr val="ECFEFB"/>
              </a:solidFill>
              <a:latin typeface="微软雅黑" panose="020B0503020204020204" charset="-122"/>
              <a:ea typeface="微软雅黑" panose="020B0503020204020204" charset="-122"/>
            </a:endParaRPr>
          </a:p>
        </p:txBody>
      </p:sp>
      <p:sp>
        <p:nvSpPr>
          <p:cNvPr id="81" name="文本框 80"/>
          <p:cNvSpPr txBox="1"/>
          <p:nvPr/>
        </p:nvSpPr>
        <p:spPr>
          <a:xfrm>
            <a:off x="6557645" y="4605020"/>
            <a:ext cx="889000" cy="373380"/>
          </a:xfrm>
          <a:prstGeom prst="rect">
            <a:avLst/>
          </a:prstGeom>
          <a:noFill/>
        </p:spPr>
        <p:txBody>
          <a:bodyPr wrap="square" rtlCol="0">
            <a:noAutofit/>
          </a:bodyPr>
          <a:p>
            <a:r>
              <a:rPr lang="zh-CN" altLang="en-US" sz="1600" b="1" dirty="0">
                <a:solidFill>
                  <a:srgbClr val="ECFEFB"/>
                </a:solidFill>
                <a:latin typeface="微软雅黑" panose="020B0503020204020204" charset="-122"/>
                <a:ea typeface="微软雅黑" panose="020B0503020204020204" charset="-122"/>
              </a:rPr>
              <a:t>教育费附加</a:t>
            </a:r>
            <a:endParaRPr lang="zh-CN" altLang="en-US" sz="1600" b="1" dirty="0">
              <a:solidFill>
                <a:srgbClr val="ECFEFB"/>
              </a:solidFill>
              <a:latin typeface="微软雅黑" panose="020B0503020204020204" charset="-122"/>
              <a:ea typeface="微软雅黑" panose="020B0503020204020204" charset="-122"/>
            </a:endParaRPr>
          </a:p>
        </p:txBody>
      </p:sp>
      <p:sp>
        <p:nvSpPr>
          <p:cNvPr id="82" name="文本框 81"/>
          <p:cNvSpPr txBox="1"/>
          <p:nvPr/>
        </p:nvSpPr>
        <p:spPr>
          <a:xfrm>
            <a:off x="6492875" y="5684520"/>
            <a:ext cx="1030605" cy="610235"/>
          </a:xfrm>
          <a:prstGeom prst="rect">
            <a:avLst/>
          </a:prstGeom>
          <a:noFill/>
          <a:ln>
            <a:noFill/>
          </a:ln>
        </p:spPr>
        <p:txBody>
          <a:bodyPr wrap="square" rtlCol="0">
            <a:noAutofit/>
          </a:bodyPr>
          <a:p>
            <a:r>
              <a:rPr lang="zh-CN" altLang="en-US" sz="1600" b="1" dirty="0">
                <a:solidFill>
                  <a:srgbClr val="ECFEFB"/>
                </a:solidFill>
                <a:latin typeface="微软雅黑" panose="020B0503020204020204" charset="-122"/>
                <a:ea typeface="微软雅黑" panose="020B0503020204020204" charset="-122"/>
              </a:rPr>
              <a:t>营业税金及附加总额</a:t>
            </a:r>
            <a:endParaRPr lang="zh-CN" altLang="en-US"/>
          </a:p>
        </p:txBody>
      </p:sp>
      <p:grpSp>
        <p:nvGrpSpPr>
          <p:cNvPr id="266" name="组合 265"/>
          <p:cNvGrpSpPr/>
          <p:nvPr/>
        </p:nvGrpSpPr>
        <p:grpSpPr>
          <a:xfrm>
            <a:off x="10671175" y="1572895"/>
            <a:ext cx="1057910" cy="5138420"/>
            <a:chOff x="17533" y="2477"/>
            <a:chExt cx="1666" cy="8092"/>
          </a:xfrm>
        </p:grpSpPr>
        <p:sp>
          <p:nvSpPr>
            <p:cNvPr id="89" name="矩形: 圆顶角 58"/>
            <p:cNvSpPr/>
            <p:nvPr/>
          </p:nvSpPr>
          <p:spPr>
            <a:xfrm rot="5400000" flipH="1">
              <a:off x="17383" y="4680"/>
              <a:ext cx="1966" cy="1667"/>
            </a:xfrm>
            <a:prstGeom prst="round2SameRect">
              <a:avLst>
                <a:gd name="adj1" fmla="val 50000"/>
                <a:gd name="adj2" fmla="val 0"/>
              </a:avLst>
            </a:prstGeom>
            <a:solidFill>
              <a:srgbClr val="01539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7" name="矩形: 圆顶角 63"/>
            <p:cNvSpPr/>
            <p:nvPr/>
          </p:nvSpPr>
          <p:spPr>
            <a:xfrm rot="5400000" flipH="1">
              <a:off x="17383" y="6710"/>
              <a:ext cx="1966" cy="1667"/>
            </a:xfrm>
            <a:prstGeom prst="round2SameRect">
              <a:avLst>
                <a:gd name="adj1" fmla="val 50000"/>
                <a:gd name="adj2"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8" name="矩形: 圆顶角 64"/>
            <p:cNvSpPr/>
            <p:nvPr/>
          </p:nvSpPr>
          <p:spPr>
            <a:xfrm rot="5400000" flipH="1">
              <a:off x="17388" y="8758"/>
              <a:ext cx="1966" cy="1657"/>
            </a:xfrm>
            <a:prstGeom prst="round2SameRect">
              <a:avLst>
                <a:gd name="adj1" fmla="val 50000"/>
                <a:gd name="adj2" fmla="val 0"/>
              </a:avLst>
            </a:prstGeom>
            <a:solidFill>
              <a:schemeClr val="accent6"/>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265" name="组合 264"/>
            <p:cNvGrpSpPr/>
            <p:nvPr/>
          </p:nvGrpSpPr>
          <p:grpSpPr>
            <a:xfrm>
              <a:off x="17533" y="2477"/>
              <a:ext cx="1666" cy="1966"/>
              <a:chOff x="17533" y="2477"/>
              <a:chExt cx="1666" cy="1966"/>
            </a:xfrm>
          </p:grpSpPr>
          <p:sp>
            <p:nvSpPr>
              <p:cNvPr id="85" name="矩形: 圆顶角 57"/>
              <p:cNvSpPr/>
              <p:nvPr/>
            </p:nvSpPr>
            <p:spPr>
              <a:xfrm rot="5400000" flipH="1">
                <a:off x="17383" y="2627"/>
                <a:ext cx="1966" cy="1667"/>
              </a:xfrm>
              <a:prstGeom prst="round2SameRect">
                <a:avLst>
                  <a:gd name="adj1" fmla="val 50000"/>
                  <a:gd name="adj2"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99" name="文本框 98"/>
              <p:cNvSpPr txBox="1"/>
              <p:nvPr/>
            </p:nvSpPr>
            <p:spPr>
              <a:xfrm>
                <a:off x="17543" y="2939"/>
                <a:ext cx="1657" cy="1240"/>
              </a:xfrm>
              <a:prstGeom prst="rect">
                <a:avLst/>
              </a:prstGeom>
              <a:noFill/>
            </p:spPr>
            <p:txBody>
              <a:bodyPr wrap="square" rtlCol="0" anchor="ctr" anchorCtr="0">
                <a:noAutofit/>
              </a:bodyPr>
              <a:p>
                <a:r>
                  <a:rPr lang="en-US" altLang="zh-CN" b="1">
                    <a:solidFill>
                      <a:schemeClr val="bg1"/>
                    </a:solidFill>
                    <a:effectLst>
                      <a:outerShdw blurRad="38100" dist="38100" dir="2700000" algn="tl">
                        <a:srgbClr val="000000">
                          <a:alpha val="43137"/>
                        </a:srgbClr>
                      </a:outerShdw>
                    </a:effectLst>
                  </a:rPr>
                  <a:t>376.6</a:t>
                </a:r>
                <a:endParaRPr lang="en-US" altLang="zh-CN">
                  <a:solidFill>
                    <a:schemeClr val="bg1"/>
                  </a:solidFill>
                </a:endParaRPr>
              </a:p>
              <a:p>
                <a:r>
                  <a:rPr lang="zh-CN" altLang="en-US">
                    <a:solidFill>
                      <a:schemeClr val="bg1"/>
                    </a:solidFill>
                  </a:rPr>
                  <a:t>万元</a:t>
                </a:r>
                <a:endParaRPr lang="zh-CN" altLang="en-US">
                  <a:solidFill>
                    <a:schemeClr val="bg1"/>
                  </a:solidFill>
                </a:endParaRPr>
              </a:p>
            </p:txBody>
          </p:sp>
        </p:grpSp>
        <p:sp>
          <p:nvSpPr>
            <p:cNvPr id="100" name="文本框 99"/>
            <p:cNvSpPr txBox="1"/>
            <p:nvPr/>
          </p:nvSpPr>
          <p:spPr>
            <a:xfrm>
              <a:off x="17543" y="9022"/>
              <a:ext cx="1657" cy="1240"/>
            </a:xfrm>
            <a:prstGeom prst="rect">
              <a:avLst/>
            </a:prstGeom>
            <a:noFill/>
          </p:spPr>
          <p:txBody>
            <a:bodyPr wrap="square" rtlCol="0" anchor="ctr" anchorCtr="0">
              <a:noAutofit/>
            </a:bodyPr>
            <a:p>
              <a:r>
                <a:rPr lang="en-US" altLang="zh-CN" b="1">
                  <a:solidFill>
                    <a:schemeClr val="bg1"/>
                  </a:solidFill>
                  <a:effectLst>
                    <a:outerShdw blurRad="38100" dist="38100" dir="2700000" algn="tl">
                      <a:srgbClr val="000000">
                        <a:alpha val="43137"/>
                      </a:srgbClr>
                    </a:outerShdw>
                  </a:effectLst>
                </a:rPr>
                <a:t>414.0</a:t>
              </a:r>
              <a:endParaRPr lang="en-US" altLang="zh-CN" b="1">
                <a:solidFill>
                  <a:schemeClr val="bg1"/>
                </a:solidFill>
                <a:effectLst>
                  <a:outerShdw blurRad="38100" dist="38100" dir="2700000" algn="tl">
                    <a:srgbClr val="000000">
                      <a:alpha val="43137"/>
                    </a:srgbClr>
                  </a:outerShdw>
                </a:effectLst>
              </a:endParaRPr>
            </a:p>
            <a:p>
              <a:r>
                <a:rPr lang="zh-CN" altLang="en-US">
                  <a:solidFill>
                    <a:schemeClr val="bg1"/>
                  </a:solidFill>
                </a:rPr>
                <a:t>万元</a:t>
              </a:r>
              <a:endParaRPr lang="zh-CN" altLang="en-US">
                <a:solidFill>
                  <a:schemeClr val="bg1"/>
                </a:solidFill>
              </a:endParaRPr>
            </a:p>
          </p:txBody>
        </p:sp>
        <p:sp>
          <p:nvSpPr>
            <p:cNvPr id="101" name="文本框 100"/>
            <p:cNvSpPr txBox="1"/>
            <p:nvPr/>
          </p:nvSpPr>
          <p:spPr>
            <a:xfrm>
              <a:off x="17543" y="7018"/>
              <a:ext cx="1657" cy="1240"/>
            </a:xfrm>
            <a:prstGeom prst="rect">
              <a:avLst/>
            </a:prstGeom>
            <a:noFill/>
          </p:spPr>
          <p:txBody>
            <a:bodyPr wrap="square" rtlCol="0" anchor="ctr" anchorCtr="0">
              <a:noAutofit/>
            </a:bodyPr>
            <a:p>
              <a:r>
                <a:rPr lang="en-US" altLang="zh-CN" b="1">
                  <a:solidFill>
                    <a:schemeClr val="bg1"/>
                  </a:solidFill>
                  <a:effectLst>
                    <a:outerShdw blurRad="38100" dist="38100" dir="2700000" algn="tl">
                      <a:srgbClr val="000000">
                        <a:alpha val="43137"/>
                      </a:srgbClr>
                    </a:outerShdw>
                  </a:effectLst>
                </a:rPr>
                <a:t>11.2</a:t>
              </a:r>
              <a:endParaRPr lang="en-US" altLang="zh-CN">
                <a:solidFill>
                  <a:schemeClr val="bg1"/>
                </a:solidFill>
              </a:endParaRPr>
            </a:p>
            <a:p>
              <a:r>
                <a:rPr lang="zh-CN" altLang="en-US">
                  <a:solidFill>
                    <a:schemeClr val="bg1"/>
                  </a:solidFill>
                </a:rPr>
                <a:t>万元</a:t>
              </a:r>
              <a:endParaRPr lang="zh-CN" altLang="en-US">
                <a:solidFill>
                  <a:schemeClr val="bg1"/>
                </a:solidFill>
              </a:endParaRPr>
            </a:p>
          </p:txBody>
        </p:sp>
        <p:sp>
          <p:nvSpPr>
            <p:cNvPr id="102" name="文本框 101"/>
            <p:cNvSpPr txBox="1"/>
            <p:nvPr/>
          </p:nvSpPr>
          <p:spPr>
            <a:xfrm>
              <a:off x="17543" y="4936"/>
              <a:ext cx="1657" cy="1240"/>
            </a:xfrm>
            <a:prstGeom prst="rect">
              <a:avLst/>
            </a:prstGeom>
            <a:noFill/>
          </p:spPr>
          <p:txBody>
            <a:bodyPr wrap="square" rtlCol="0" anchor="ctr" anchorCtr="0">
              <a:noAutofit/>
            </a:bodyPr>
            <a:p>
              <a:r>
                <a:rPr lang="en-US" altLang="zh-CN" b="1">
                  <a:solidFill>
                    <a:schemeClr val="bg1"/>
                  </a:solidFill>
                  <a:effectLst>
                    <a:outerShdw blurRad="38100" dist="38100" dir="2700000" algn="tl">
                      <a:srgbClr val="000000">
                        <a:alpha val="43137"/>
                      </a:srgbClr>
                    </a:outerShdw>
                  </a:effectLst>
                </a:rPr>
                <a:t>26.2</a:t>
              </a:r>
              <a:endParaRPr lang="en-US" altLang="zh-CN">
                <a:solidFill>
                  <a:schemeClr val="bg1"/>
                </a:solidFill>
              </a:endParaRPr>
            </a:p>
            <a:p>
              <a:r>
                <a:rPr lang="zh-CN" altLang="en-US">
                  <a:solidFill>
                    <a:schemeClr val="bg1"/>
                  </a:solidFill>
                </a:rPr>
                <a:t>万元</a:t>
              </a:r>
              <a:endParaRPr lang="zh-CN" altLang="en-US">
                <a:solidFill>
                  <a:schemeClr val="bg1"/>
                </a:solidFil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21640" y="233045"/>
            <a:ext cx="3374390" cy="521970"/>
          </a:xfrm>
          <a:prstGeom prst="rect">
            <a:avLst/>
          </a:prstGeom>
          <a:noFill/>
        </p:spPr>
        <p:txBody>
          <a:bodyPr wrap="square" rtlCol="0">
            <a:spAutoFit/>
          </a:bodyPr>
          <a:lstStyle/>
          <a:p>
            <a:r>
              <a:rPr lang="zh-CN" altLang="en-US" sz="2800" dirty="0">
                <a:solidFill>
                  <a:prstClr val="black">
                    <a:lumMod val="75000"/>
                    <a:lumOff val="25000"/>
                  </a:prstClr>
                </a:solidFill>
                <a:latin typeface="微软雅黑 Light" panose="020B0502040204020203" charset="-122"/>
                <a:ea typeface="微软雅黑 Light" panose="020B0502040204020203" charset="-122"/>
                <a:sym typeface="+mn-ea"/>
              </a:rPr>
              <a:t>（三）利润估算</a:t>
            </a:r>
            <a:endParaRPr lang="zh-CN" altLang="en-US" sz="2800" b="1" dirty="0">
              <a:solidFill>
                <a:srgbClr val="515161"/>
              </a:solidFill>
              <a:latin typeface="微软雅黑" panose="020B0503020204020204" charset="-122"/>
              <a:ea typeface="微软雅黑" panose="020B0503020204020204" charset="-122"/>
            </a:endParaRPr>
          </a:p>
        </p:txBody>
      </p:sp>
      <p:grpSp>
        <p:nvGrpSpPr>
          <p:cNvPr id="12" name="组合 11"/>
          <p:cNvGrpSpPr/>
          <p:nvPr/>
        </p:nvGrpSpPr>
        <p:grpSpPr>
          <a:xfrm>
            <a:off x="301625" y="956310"/>
            <a:ext cx="5708650" cy="554355"/>
            <a:chOff x="603" y="3788"/>
            <a:chExt cx="8997" cy="1018"/>
          </a:xfrm>
        </p:grpSpPr>
        <p:sp>
          <p:nvSpPr>
            <p:cNvPr id="20" name="矩形 19"/>
            <p:cNvSpPr/>
            <p:nvPr/>
          </p:nvSpPr>
          <p:spPr>
            <a:xfrm>
              <a:off x="603" y="3788"/>
              <a:ext cx="8997" cy="1018"/>
            </a:xfrm>
            <a:prstGeom prst="rect">
              <a:avLst/>
            </a:prstGeom>
            <a:gradFill flip="none" rotWithShape="1">
              <a:gsLst>
                <a:gs pos="0">
                  <a:schemeClr val="accent6">
                    <a:lumMod val="20000"/>
                    <a:lumOff val="80000"/>
                    <a:alpha val="33000"/>
                  </a:schemeClr>
                </a:gs>
                <a:gs pos="97248">
                  <a:schemeClr val="accent3">
                    <a:lumMod val="40000"/>
                    <a:lumOff val="6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文本框 20"/>
            <p:cNvSpPr txBox="1"/>
            <p:nvPr/>
          </p:nvSpPr>
          <p:spPr>
            <a:xfrm>
              <a:off x="811" y="3982"/>
              <a:ext cx="7292" cy="732"/>
            </a:xfrm>
            <a:prstGeom prst="rect">
              <a:avLst/>
            </a:prstGeom>
            <a:noFill/>
          </p:spPr>
          <p:txBody>
            <a:bodyPr wrap="square" rtlCol="0">
              <a:spAutoFit/>
            </a:bodyPr>
            <a:lstStyle/>
            <a:p>
              <a:r>
                <a:rPr lang="zh-CN" altLang="en-US" sz="2000" b="1" dirty="0">
                  <a:gradFill>
                    <a:gsLst>
                      <a:gs pos="0">
                        <a:srgbClr val="01539D"/>
                      </a:gs>
                      <a:gs pos="97248">
                        <a:srgbClr val="2C8EA7"/>
                      </a:gs>
                    </a:gsLst>
                    <a:lin ang="2700000" scaled="1"/>
                  </a:gradFill>
                  <a:latin typeface="微软雅黑" panose="020B0503020204020204" charset="-122"/>
                  <a:ea typeface="微软雅黑" panose="020B0503020204020204" charset="-122"/>
                </a:rPr>
                <a:t>各年利润及利润分配如表 7 所示。</a:t>
              </a:r>
              <a:endParaRPr lang="zh-CN" altLang="en-US" sz="2000" b="1" dirty="0">
                <a:gradFill>
                  <a:gsLst>
                    <a:gs pos="0">
                      <a:srgbClr val="01539D"/>
                    </a:gs>
                    <a:gs pos="97248">
                      <a:srgbClr val="2C8EA7"/>
                    </a:gs>
                  </a:gsLst>
                  <a:lin ang="2700000" scaled="1"/>
                </a:gradFill>
                <a:latin typeface="微软雅黑" panose="020B0503020204020204" charset="-122"/>
                <a:ea typeface="微软雅黑" panose="020B0503020204020204" charset="-122"/>
              </a:endParaRPr>
            </a:p>
          </p:txBody>
        </p:sp>
      </p:grpSp>
      <p:cxnSp>
        <p:nvCxnSpPr>
          <p:cNvPr id="19" name="直接连接符 18"/>
          <p:cNvCxnSpPr/>
          <p:nvPr/>
        </p:nvCxnSpPr>
        <p:spPr>
          <a:xfrm>
            <a:off x="421341" y="828741"/>
            <a:ext cx="11349317" cy="0"/>
          </a:xfrm>
          <a:prstGeom prst="line">
            <a:avLst/>
          </a:prstGeom>
          <a:ln w="19050">
            <a:solidFill>
              <a:srgbClr val="515161"/>
            </a:solidFill>
          </a:ln>
        </p:spPr>
        <p:style>
          <a:lnRef idx="1">
            <a:schemeClr val="accent1"/>
          </a:lnRef>
          <a:fillRef idx="0">
            <a:schemeClr val="accent1"/>
          </a:fillRef>
          <a:effectRef idx="0">
            <a:schemeClr val="accent1"/>
          </a:effectRef>
          <a:fontRef idx="minor">
            <a:schemeClr val="tx1"/>
          </a:fontRef>
        </p:style>
      </p:cxnSp>
      <p:grpSp>
        <p:nvGrpSpPr>
          <p:cNvPr id="62" name="组合 61"/>
          <p:cNvGrpSpPr/>
          <p:nvPr/>
        </p:nvGrpSpPr>
        <p:grpSpPr>
          <a:xfrm>
            <a:off x="6227445" y="900430"/>
            <a:ext cx="3674745" cy="1366520"/>
            <a:chOff x="9807" y="1418"/>
            <a:chExt cx="5787" cy="2152"/>
          </a:xfrm>
        </p:grpSpPr>
        <p:grpSp>
          <p:nvGrpSpPr>
            <p:cNvPr id="32" name="组合 31"/>
            <p:cNvGrpSpPr/>
            <p:nvPr/>
          </p:nvGrpSpPr>
          <p:grpSpPr>
            <a:xfrm rot="0">
              <a:off x="9807" y="1418"/>
              <a:ext cx="2838" cy="2153"/>
              <a:chOff x="436418" y="912137"/>
              <a:chExt cx="1809142" cy="1367385"/>
            </a:xfrm>
          </p:grpSpPr>
          <p:sp>
            <p:nvSpPr>
              <p:cNvPr id="33" name="矩形 32"/>
              <p:cNvSpPr/>
              <p:nvPr/>
            </p:nvSpPr>
            <p:spPr>
              <a:xfrm>
                <a:off x="475126" y="912137"/>
                <a:ext cx="1752305" cy="136738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p:cNvGrpSpPr/>
              <p:nvPr/>
            </p:nvGrpSpPr>
            <p:grpSpPr>
              <a:xfrm>
                <a:off x="475301" y="953916"/>
                <a:ext cx="1731377" cy="1050290"/>
                <a:chOff x="432278" y="1760727"/>
                <a:chExt cx="2097347" cy="1460276"/>
              </a:xfrm>
            </p:grpSpPr>
            <p:sp>
              <p:nvSpPr>
                <p:cNvPr id="36" name="文本框 35"/>
                <p:cNvSpPr txBox="1"/>
                <p:nvPr/>
              </p:nvSpPr>
              <p:spPr>
                <a:xfrm>
                  <a:off x="432278" y="2409641"/>
                  <a:ext cx="1697208" cy="811362"/>
                </a:xfrm>
                <a:prstGeom prst="rect">
                  <a:avLst/>
                </a:prstGeom>
                <a:noFill/>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810.6</a:t>
                  </a:r>
                  <a:endParaRPr lang="en-US" altLang="zh-CN" sz="3200" b="1" dirty="0">
                    <a:solidFill>
                      <a:schemeClr val="bg1"/>
                    </a:solidFill>
                    <a:latin typeface="微软雅黑" panose="020B0503020204020204" charset="-122"/>
                    <a:ea typeface="微软雅黑" panose="020B0503020204020204" charset="-122"/>
                  </a:endParaRPr>
                </a:p>
              </p:txBody>
            </p:sp>
            <p:sp>
              <p:nvSpPr>
                <p:cNvPr id="37" name="文本框 36"/>
                <p:cNvSpPr txBox="1"/>
                <p:nvPr/>
              </p:nvSpPr>
              <p:spPr>
                <a:xfrm>
                  <a:off x="2035436" y="2581589"/>
                  <a:ext cx="494189" cy="468140"/>
                </a:xfrm>
                <a:prstGeom prst="rect">
                  <a:avLst/>
                </a:prstGeom>
                <a:noFill/>
              </p:spPr>
              <p:txBody>
                <a:bodyPr wrap="square" rtlCol="0">
                  <a:spAutoFit/>
                </a:bodyPr>
                <a:lstStyle/>
                <a:p>
                  <a:r>
                    <a:rPr lang="zh-CN" altLang="en-US" sz="1600" b="1" dirty="0">
                      <a:solidFill>
                        <a:schemeClr val="bg1"/>
                      </a:solidFill>
                      <a:latin typeface="微软雅黑" panose="020B0503020204020204" charset="-122"/>
                      <a:ea typeface="微软雅黑" panose="020B0503020204020204" charset="-122"/>
                    </a:rPr>
                    <a:t>万</a:t>
                  </a:r>
                  <a:endParaRPr lang="zh-CN" altLang="en-US" sz="1600" b="1" dirty="0">
                    <a:solidFill>
                      <a:schemeClr val="bg1"/>
                    </a:solidFill>
                    <a:latin typeface="微软雅黑" panose="020B0503020204020204" charset="-122"/>
                    <a:ea typeface="微软雅黑" panose="020B0503020204020204" charset="-122"/>
                  </a:endParaRPr>
                </a:p>
              </p:txBody>
            </p:sp>
            <p:sp>
              <p:nvSpPr>
                <p:cNvPr id="38" name="文本框 37"/>
                <p:cNvSpPr txBox="1"/>
                <p:nvPr/>
              </p:nvSpPr>
              <p:spPr>
                <a:xfrm>
                  <a:off x="636553" y="1760727"/>
                  <a:ext cx="1665989" cy="426429"/>
                </a:xfrm>
                <a:prstGeom prst="rect">
                  <a:avLst/>
                </a:prstGeom>
                <a:solidFill>
                  <a:schemeClr val="bg1">
                    <a:lumMod val="85000"/>
                    <a:alpha val="51000"/>
                  </a:schemeClr>
                </a:solidFill>
              </p:spPr>
              <p:txBody>
                <a:bodyPr wrap="square" rtlCol="0">
                  <a:spAutoFit/>
                </a:bodyPr>
                <a:lstStyle/>
                <a:p>
                  <a:pPr algn="ctr"/>
                  <a:r>
                    <a:rPr lang="zh-CN" altLang="en-US" sz="1400" b="1" dirty="0">
                      <a:solidFill>
                        <a:schemeClr val="bg1"/>
                      </a:solidFill>
                      <a:latin typeface="微软雅黑" panose="020B0503020204020204" charset="-122"/>
                      <a:ea typeface="微软雅黑" panose="020B0503020204020204" charset="-122"/>
                    </a:rPr>
                    <a:t>年平均</a:t>
                  </a:r>
                  <a:r>
                    <a:rPr lang="zh-CN" altLang="en-US" sz="1400" b="1" dirty="0">
                      <a:solidFill>
                        <a:schemeClr val="bg1"/>
                      </a:solidFill>
                      <a:latin typeface="微软雅黑" panose="020B0503020204020204" charset="-122"/>
                      <a:ea typeface="微软雅黑" panose="020B0503020204020204" charset="-122"/>
                    </a:rPr>
                    <a:t>利润</a:t>
                  </a:r>
                  <a:endParaRPr lang="zh-CN" altLang="en-US" sz="1400" b="1" dirty="0">
                    <a:solidFill>
                      <a:schemeClr val="bg1"/>
                    </a:solidFill>
                    <a:latin typeface="微软雅黑" panose="020B0503020204020204" charset="-122"/>
                    <a:ea typeface="微软雅黑" panose="020B0503020204020204" charset="-122"/>
                  </a:endParaRPr>
                </a:p>
              </p:txBody>
            </p:sp>
          </p:grpSp>
          <p:sp>
            <p:nvSpPr>
              <p:cNvPr id="35" name="文本框 34"/>
              <p:cNvSpPr txBox="1"/>
              <p:nvPr/>
            </p:nvSpPr>
            <p:spPr>
              <a:xfrm>
                <a:off x="436418" y="1709691"/>
                <a:ext cx="1809142" cy="252730"/>
              </a:xfrm>
              <a:prstGeom prst="rect">
                <a:avLst/>
              </a:prstGeom>
              <a:noFill/>
            </p:spPr>
            <p:txBody>
              <a:bodyPr wrap="square" rtlCol="0">
                <a:spAutoFit/>
              </a:bodyPr>
              <a:lstStyle/>
              <a:p>
                <a:endParaRPr lang="en-US" altLang="zh-CN" sz="1050" b="1" dirty="0">
                  <a:solidFill>
                    <a:schemeClr val="bg1"/>
                  </a:solidFill>
                  <a:latin typeface="微软雅黑" panose="020B0503020204020204" charset="-122"/>
                  <a:ea typeface="微软雅黑" panose="020B0503020204020204" charset="-122"/>
                </a:endParaRPr>
              </a:p>
            </p:txBody>
          </p:sp>
        </p:grpSp>
        <p:grpSp>
          <p:nvGrpSpPr>
            <p:cNvPr id="39" name="组合 38"/>
            <p:cNvGrpSpPr/>
            <p:nvPr/>
          </p:nvGrpSpPr>
          <p:grpSpPr>
            <a:xfrm rot="0">
              <a:off x="12780" y="1418"/>
              <a:ext cx="2814" cy="2153"/>
              <a:chOff x="433868" y="912137"/>
              <a:chExt cx="1793563" cy="1367385"/>
            </a:xfrm>
          </p:grpSpPr>
          <p:sp>
            <p:nvSpPr>
              <p:cNvPr id="40" name="矩形 39"/>
              <p:cNvSpPr/>
              <p:nvPr/>
            </p:nvSpPr>
            <p:spPr>
              <a:xfrm>
                <a:off x="475126" y="912137"/>
                <a:ext cx="1752305" cy="136738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1" name="组合 40"/>
              <p:cNvGrpSpPr/>
              <p:nvPr/>
            </p:nvGrpSpPr>
            <p:grpSpPr>
              <a:xfrm>
                <a:off x="433868" y="953916"/>
                <a:ext cx="1725639" cy="1049655"/>
                <a:chOff x="382087" y="1760727"/>
                <a:chExt cx="2090397" cy="1459392"/>
              </a:xfrm>
            </p:grpSpPr>
            <p:sp>
              <p:nvSpPr>
                <p:cNvPr id="43" name="文本框 42"/>
                <p:cNvSpPr txBox="1"/>
                <p:nvPr/>
              </p:nvSpPr>
              <p:spPr>
                <a:xfrm>
                  <a:off x="382087" y="2408757"/>
                  <a:ext cx="1599144" cy="811362"/>
                </a:xfrm>
                <a:prstGeom prst="rect">
                  <a:avLst/>
                </a:prstGeom>
                <a:noFill/>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637.4</a:t>
                  </a:r>
                  <a:endParaRPr lang="en-US" altLang="zh-CN" sz="3200" b="1" dirty="0">
                    <a:solidFill>
                      <a:schemeClr val="bg1"/>
                    </a:solidFill>
                    <a:latin typeface="微软雅黑" panose="020B0503020204020204" charset="-122"/>
                    <a:ea typeface="微软雅黑" panose="020B0503020204020204" charset="-122"/>
                  </a:endParaRPr>
                </a:p>
              </p:txBody>
            </p:sp>
            <p:sp>
              <p:nvSpPr>
                <p:cNvPr id="44" name="文本框 43"/>
                <p:cNvSpPr txBox="1"/>
                <p:nvPr/>
              </p:nvSpPr>
              <p:spPr>
                <a:xfrm>
                  <a:off x="1978295" y="2581588"/>
                  <a:ext cx="494189" cy="468140"/>
                </a:xfrm>
                <a:prstGeom prst="rect">
                  <a:avLst/>
                </a:prstGeom>
                <a:noFill/>
              </p:spPr>
              <p:txBody>
                <a:bodyPr wrap="square" rtlCol="0">
                  <a:spAutoFit/>
                </a:bodyPr>
                <a:lstStyle/>
                <a:p>
                  <a:r>
                    <a:rPr lang="zh-CN" altLang="en-US" sz="1600" b="1" dirty="0">
                      <a:solidFill>
                        <a:schemeClr val="bg1"/>
                      </a:solidFill>
                      <a:latin typeface="微软雅黑" panose="020B0503020204020204" charset="-122"/>
                      <a:ea typeface="微软雅黑" panose="020B0503020204020204" charset="-122"/>
                    </a:rPr>
                    <a:t>万</a:t>
                  </a:r>
                  <a:endParaRPr lang="zh-CN" altLang="en-US" sz="1600" b="1" dirty="0">
                    <a:solidFill>
                      <a:schemeClr val="bg1"/>
                    </a:solidFill>
                    <a:latin typeface="微软雅黑" panose="020B0503020204020204" charset="-122"/>
                    <a:ea typeface="微软雅黑" panose="020B0503020204020204" charset="-122"/>
                  </a:endParaRPr>
                </a:p>
              </p:txBody>
            </p:sp>
            <p:sp>
              <p:nvSpPr>
                <p:cNvPr id="45" name="文本框 44"/>
                <p:cNvSpPr txBox="1"/>
                <p:nvPr/>
              </p:nvSpPr>
              <p:spPr>
                <a:xfrm>
                  <a:off x="636553" y="1760727"/>
                  <a:ext cx="1665989" cy="426429"/>
                </a:xfrm>
                <a:prstGeom prst="rect">
                  <a:avLst/>
                </a:prstGeom>
                <a:solidFill>
                  <a:schemeClr val="bg1">
                    <a:lumMod val="85000"/>
                    <a:alpha val="51000"/>
                  </a:schemeClr>
                </a:solidFill>
              </p:spPr>
              <p:txBody>
                <a:bodyPr wrap="square" rtlCol="0">
                  <a:spAutoFit/>
                </a:bodyPr>
                <a:lstStyle/>
                <a:p>
                  <a:pPr algn="ctr"/>
                  <a:r>
                    <a:rPr lang="zh-CN" altLang="en-US" sz="1400" b="1" dirty="0">
                      <a:solidFill>
                        <a:schemeClr val="bg1"/>
                      </a:solidFill>
                      <a:latin typeface="微软雅黑" panose="020B0503020204020204" charset="-122"/>
                      <a:ea typeface="微软雅黑" panose="020B0503020204020204" charset="-122"/>
                    </a:rPr>
                    <a:t>年均</a:t>
                  </a:r>
                  <a:r>
                    <a:rPr lang="zh-CN" altLang="en-US" sz="1400" b="1" dirty="0">
                      <a:solidFill>
                        <a:schemeClr val="bg1"/>
                      </a:solidFill>
                      <a:latin typeface="微软雅黑" panose="020B0503020204020204" charset="-122"/>
                      <a:ea typeface="微软雅黑" panose="020B0503020204020204" charset="-122"/>
                    </a:rPr>
                    <a:t>净利润</a:t>
                  </a:r>
                  <a:endParaRPr lang="zh-CN" altLang="en-US" sz="1400" b="1" dirty="0">
                    <a:solidFill>
                      <a:schemeClr val="bg1"/>
                    </a:solidFill>
                    <a:latin typeface="微软雅黑" panose="020B0503020204020204" charset="-122"/>
                    <a:ea typeface="微软雅黑" panose="020B0503020204020204" charset="-122"/>
                  </a:endParaRPr>
                </a:p>
              </p:txBody>
            </p:sp>
          </p:grpSp>
        </p:grpSp>
      </p:grpSp>
      <p:grpSp>
        <p:nvGrpSpPr>
          <p:cNvPr id="46" name="组合 45"/>
          <p:cNvGrpSpPr/>
          <p:nvPr/>
        </p:nvGrpSpPr>
        <p:grpSpPr>
          <a:xfrm rot="0">
            <a:off x="9999980" y="900430"/>
            <a:ext cx="1854835" cy="1367155"/>
            <a:chOff x="427494" y="912137"/>
            <a:chExt cx="1862048" cy="1367385"/>
          </a:xfrm>
        </p:grpSpPr>
        <p:sp>
          <p:nvSpPr>
            <p:cNvPr id="47" name="矩形 46"/>
            <p:cNvSpPr/>
            <p:nvPr/>
          </p:nvSpPr>
          <p:spPr>
            <a:xfrm>
              <a:off x="475126" y="912137"/>
              <a:ext cx="1752305" cy="13673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8" name="组合 47"/>
            <p:cNvGrpSpPr/>
            <p:nvPr/>
          </p:nvGrpSpPr>
          <p:grpSpPr>
            <a:xfrm>
              <a:off x="427494" y="953916"/>
              <a:ext cx="1862048" cy="1050290"/>
              <a:chOff x="374366" y="1760727"/>
              <a:chExt cx="2255639" cy="1460276"/>
            </a:xfrm>
          </p:grpSpPr>
          <p:sp>
            <p:nvSpPr>
              <p:cNvPr id="50" name="文本框 49"/>
              <p:cNvSpPr txBox="1"/>
              <p:nvPr/>
            </p:nvSpPr>
            <p:spPr>
              <a:xfrm>
                <a:off x="374366" y="2409641"/>
                <a:ext cx="1908780" cy="811362"/>
              </a:xfrm>
              <a:prstGeom prst="rect">
                <a:avLst/>
              </a:prstGeom>
              <a:noFill/>
            </p:spPr>
            <p:txBody>
              <a:bodyPr wrap="square" rtlCol="0">
                <a:spAutoFit/>
              </a:bodyPr>
              <a:lstStyle/>
              <a:p>
                <a:r>
                  <a:rPr lang="en-US" altLang="zh-CN" sz="3200" b="1" dirty="0">
                    <a:solidFill>
                      <a:schemeClr val="bg1"/>
                    </a:solidFill>
                    <a:latin typeface="微软雅黑" panose="020B0503020204020204" charset="-122"/>
                    <a:ea typeface="微软雅黑" panose="020B0503020204020204" charset="-122"/>
                  </a:rPr>
                  <a:t>1224.6</a:t>
                </a:r>
                <a:endParaRPr lang="en-US" altLang="zh-CN" sz="3200" b="1" dirty="0">
                  <a:solidFill>
                    <a:schemeClr val="bg1"/>
                  </a:solidFill>
                  <a:latin typeface="微软雅黑" panose="020B0503020204020204" charset="-122"/>
                  <a:ea typeface="微软雅黑" panose="020B0503020204020204" charset="-122"/>
                </a:endParaRPr>
              </a:p>
            </p:txBody>
          </p:sp>
          <p:sp>
            <p:nvSpPr>
              <p:cNvPr id="51" name="文本框 50"/>
              <p:cNvSpPr txBox="1"/>
              <p:nvPr/>
            </p:nvSpPr>
            <p:spPr>
              <a:xfrm>
                <a:off x="2135816" y="2581588"/>
                <a:ext cx="494189" cy="468140"/>
              </a:xfrm>
              <a:prstGeom prst="rect">
                <a:avLst/>
              </a:prstGeom>
              <a:noFill/>
            </p:spPr>
            <p:txBody>
              <a:bodyPr wrap="square" rtlCol="0">
                <a:spAutoFit/>
              </a:bodyPr>
              <a:lstStyle/>
              <a:p>
                <a:r>
                  <a:rPr lang="zh-CN" altLang="en-US" sz="1600" b="1" dirty="0">
                    <a:solidFill>
                      <a:schemeClr val="bg1"/>
                    </a:solidFill>
                    <a:latin typeface="微软雅黑" panose="020B0503020204020204" charset="-122"/>
                    <a:ea typeface="微软雅黑" panose="020B0503020204020204" charset="-122"/>
                  </a:rPr>
                  <a:t>万</a:t>
                </a:r>
                <a:endParaRPr lang="zh-CN" altLang="en-US" sz="1600" b="1" dirty="0">
                  <a:solidFill>
                    <a:schemeClr val="bg1"/>
                  </a:solidFill>
                  <a:latin typeface="微软雅黑" panose="020B0503020204020204" charset="-122"/>
                  <a:ea typeface="微软雅黑" panose="020B0503020204020204" charset="-122"/>
                </a:endParaRPr>
              </a:p>
            </p:txBody>
          </p:sp>
          <p:sp>
            <p:nvSpPr>
              <p:cNvPr id="52" name="文本框 51"/>
              <p:cNvSpPr txBox="1"/>
              <p:nvPr/>
            </p:nvSpPr>
            <p:spPr>
              <a:xfrm>
                <a:off x="636553" y="1760727"/>
                <a:ext cx="1665989" cy="426429"/>
              </a:xfrm>
              <a:prstGeom prst="rect">
                <a:avLst/>
              </a:prstGeom>
              <a:solidFill>
                <a:schemeClr val="bg1">
                  <a:lumMod val="85000"/>
                  <a:alpha val="51000"/>
                </a:schemeClr>
              </a:solidFill>
            </p:spPr>
            <p:txBody>
              <a:bodyPr wrap="square" rtlCol="0">
                <a:spAutoFit/>
              </a:bodyPr>
              <a:lstStyle/>
              <a:p>
                <a:pPr algn="ctr"/>
                <a:r>
                  <a:rPr lang="zh-CN" altLang="en-US" sz="1400" b="1" dirty="0">
                    <a:solidFill>
                      <a:schemeClr val="bg1"/>
                    </a:solidFill>
                    <a:latin typeface="微软雅黑" panose="020B0503020204020204" charset="-122"/>
                    <a:ea typeface="微软雅黑" panose="020B0503020204020204" charset="-122"/>
                  </a:rPr>
                  <a:t>年</a:t>
                </a:r>
                <a:r>
                  <a:rPr lang="zh-CN" altLang="en-US" sz="1400" b="1" dirty="0">
                    <a:solidFill>
                      <a:schemeClr val="bg1"/>
                    </a:solidFill>
                    <a:latin typeface="微软雅黑" panose="020B0503020204020204" charset="-122"/>
                    <a:ea typeface="微软雅黑" panose="020B0503020204020204" charset="-122"/>
                  </a:rPr>
                  <a:t>利税</a:t>
                </a:r>
                <a:endParaRPr lang="zh-CN" altLang="en-US" sz="1400" b="1" dirty="0">
                  <a:solidFill>
                    <a:schemeClr val="bg1"/>
                  </a:solidFill>
                  <a:latin typeface="微软雅黑" panose="020B0503020204020204" charset="-122"/>
                  <a:ea typeface="微软雅黑" panose="020B0503020204020204" charset="-122"/>
                </a:endParaRPr>
              </a:p>
            </p:txBody>
          </p:sp>
        </p:grpSp>
      </p:grpSp>
      <p:grpSp>
        <p:nvGrpSpPr>
          <p:cNvPr id="59" name="组合 58"/>
          <p:cNvGrpSpPr>
            <a:grpSpLocks noChangeAspect="1"/>
          </p:cNvGrpSpPr>
          <p:nvPr/>
        </p:nvGrpSpPr>
        <p:grpSpPr>
          <a:xfrm>
            <a:off x="9428480" y="233680"/>
            <a:ext cx="2426335" cy="480695"/>
            <a:chOff x="4106955" y="518581"/>
            <a:chExt cx="1470165" cy="302113"/>
          </a:xfrm>
          <a:solidFill>
            <a:srgbClr val="7A9AB8"/>
          </a:solidFill>
        </p:grpSpPr>
        <p:sp>
          <p:nvSpPr>
            <p:cNvPr id="60" name="矩形: 圆角 59"/>
            <p:cNvSpPr/>
            <p:nvPr/>
          </p:nvSpPr>
          <p:spPr>
            <a:xfrm>
              <a:off x="4106955" y="518581"/>
              <a:ext cx="1470165" cy="302113"/>
            </a:xfrm>
            <a:prstGeom prst="roundRect">
              <a:avLst>
                <a:gd name="adj" fmla="val 50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微软雅黑" panose="020B0503020204020204" charset="-122"/>
                <a:ea typeface="微软雅黑" panose="020B0503020204020204" charset="-122"/>
              </a:endParaRPr>
            </a:p>
          </p:txBody>
        </p:sp>
        <p:sp>
          <p:nvSpPr>
            <p:cNvPr id="61" name="文本框 60"/>
            <p:cNvSpPr txBox="1"/>
            <p:nvPr/>
          </p:nvSpPr>
          <p:spPr>
            <a:xfrm>
              <a:off x="4238096" y="551546"/>
              <a:ext cx="1339024" cy="268820"/>
            </a:xfrm>
            <a:prstGeom prst="rect">
              <a:avLst/>
            </a:prstGeom>
            <a:noFill/>
          </p:spPr>
          <p:txBody>
            <a:bodyPr wrap="square" rtlCol="0">
              <a:spAutoFit/>
            </a:bodyPr>
            <a:lstStyle/>
            <a:p>
              <a:endParaRPr lang="zh-CN" altLang="en-US" sz="1200" b="1" dirty="0">
                <a:solidFill>
                  <a:schemeClr val="bg1"/>
                </a:solidFill>
                <a:latin typeface="微软雅黑" panose="020B0503020204020204" charset="-122"/>
                <a:ea typeface="微软雅黑" panose="020B0503020204020204" charset="-122"/>
                <a:cs typeface="Arial" panose="020B0604020202020204" pitchFamily="34" charset="0"/>
              </a:endParaRPr>
            </a:p>
          </p:txBody>
        </p:sp>
      </p:grpSp>
      <p:sp>
        <p:nvSpPr>
          <p:cNvPr id="63" name="文本框 62"/>
          <p:cNvSpPr txBox="1"/>
          <p:nvPr/>
        </p:nvSpPr>
        <p:spPr>
          <a:xfrm>
            <a:off x="593584" y="6630248"/>
            <a:ext cx="7033588" cy="253916"/>
          </a:xfrm>
          <a:prstGeom prst="rect">
            <a:avLst/>
          </a:prstGeom>
          <a:noFill/>
        </p:spPr>
        <p:txBody>
          <a:bodyPr wrap="square">
            <a:spAutoFit/>
          </a:bodyPr>
          <a:lstStyle/>
          <a:p>
            <a:r>
              <a:rPr lang="zh-CN" altLang="en-US" sz="1050" dirty="0">
                <a:solidFill>
                  <a:schemeClr val="accent4"/>
                </a:solidFill>
                <a:latin typeface="微软雅黑" panose="020B0503020204020204" charset="-122"/>
                <a:ea typeface="微软雅黑" panose="020B0503020204020204" charset="-122"/>
              </a:rPr>
              <a:t>注：以上数据为示例，结论需要结合业务实际，以上内容描述不具实际参考意义</a:t>
            </a:r>
            <a:r>
              <a:rPr lang="zh-CN" altLang="en-US" sz="1050" dirty="0">
                <a:solidFill>
                  <a:srgbClr val="2C8EA7"/>
                </a:solidFill>
                <a:latin typeface="微软雅黑" panose="020B0503020204020204" charset="-122"/>
                <a:ea typeface="微软雅黑" panose="020B0503020204020204" charset="-122"/>
              </a:rPr>
              <a:t>，</a:t>
            </a:r>
            <a:r>
              <a:rPr lang="zh-CN" altLang="en-US" sz="1050" b="1" dirty="0">
                <a:solidFill>
                  <a:srgbClr val="704888"/>
                </a:solidFill>
                <a:latin typeface="微软雅黑" panose="020B0503020204020204" charset="-122"/>
                <a:ea typeface="微软雅黑" panose="020B0503020204020204" charset="-122"/>
              </a:rPr>
              <a:t>本页也可用于分析产品</a:t>
            </a:r>
            <a:endParaRPr lang="zh-CN" altLang="en-US" sz="1050" b="1" dirty="0">
              <a:solidFill>
                <a:srgbClr val="704888"/>
              </a:solidFill>
              <a:latin typeface="微软雅黑" panose="020B0503020204020204" charset="-122"/>
              <a:ea typeface="微软雅黑" panose="020B0503020204020204" charset="-122"/>
            </a:endParaRPr>
          </a:p>
        </p:txBody>
      </p:sp>
      <p:sp>
        <p:nvSpPr>
          <p:cNvPr id="6" name="小李PPT2"/>
          <p:cNvSpPr/>
          <p:nvPr/>
        </p:nvSpPr>
        <p:spPr>
          <a:xfrm>
            <a:off x="356870" y="286481"/>
            <a:ext cx="79375" cy="40005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pic>
        <p:nvPicPr>
          <p:cNvPr id="15" name="图片 14"/>
          <p:cNvPicPr>
            <a:picLocks noChangeAspect="1"/>
          </p:cNvPicPr>
          <p:nvPr/>
        </p:nvPicPr>
        <p:blipFill>
          <a:blip r:embed="rId2"/>
          <a:stretch>
            <a:fillRect/>
          </a:stretch>
        </p:blipFill>
        <p:spPr>
          <a:xfrm>
            <a:off x="29845" y="3009265"/>
            <a:ext cx="6092190" cy="3548380"/>
          </a:xfrm>
          <a:prstGeom prst="rect">
            <a:avLst/>
          </a:prstGeom>
        </p:spPr>
      </p:pic>
      <p:sp>
        <p:nvSpPr>
          <p:cNvPr id="23" name="Rectangle: Rounded Corners 77"/>
          <p:cNvSpPr/>
          <p:nvPr/>
        </p:nvSpPr>
        <p:spPr>
          <a:xfrm>
            <a:off x="301625" y="1768475"/>
            <a:ext cx="5650865" cy="1246505"/>
          </a:xfrm>
          <a:prstGeom prst="roundRect">
            <a:avLst>
              <a:gd name="adj" fmla="val 0"/>
            </a:avLst>
          </a:prstGeom>
          <a:noFill/>
          <a:ln w="19050">
            <a:solidFill>
              <a:srgbClr val="507596"/>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tIns="180000" rtlCol="0" anchor="t"/>
          <a:p>
            <a:r>
              <a:rPr lang="zh-CN" altLang="en-US" sz="1400" b="1" dirty="0">
                <a:solidFill>
                  <a:srgbClr val="015056"/>
                </a:solidFill>
                <a:latin typeface="微软雅黑" panose="020B0503020204020204" charset="-122"/>
                <a:ea typeface="微软雅黑" panose="020B0503020204020204" charset="-122"/>
              </a:rPr>
              <a:t>注：</a:t>
            </a:r>
            <a:endParaRPr lang="zh-CN" altLang="en-US" sz="1400" b="1" dirty="0">
              <a:solidFill>
                <a:srgbClr val="015056"/>
              </a:solidFill>
              <a:latin typeface="微软雅黑" panose="020B0503020204020204" charset="-122"/>
              <a:ea typeface="微软雅黑" panose="020B0503020204020204" charset="-122"/>
            </a:endParaRPr>
          </a:p>
          <a:p>
            <a:pPr indent="457200"/>
            <a:r>
              <a:rPr lang="zh-CN" altLang="en-US" sz="1400" b="1" dirty="0">
                <a:solidFill>
                  <a:srgbClr val="015056"/>
                </a:solidFill>
                <a:latin typeface="微软雅黑" panose="020B0503020204020204" charset="-122"/>
                <a:ea typeface="微软雅黑" panose="020B0503020204020204" charset="-122"/>
              </a:rPr>
              <a:t>本项目地处宝鸡国家高新技术产业开发区，按照有关优惠政策规定，在项目投产前</a:t>
            </a:r>
            <a:r>
              <a:rPr lang="en-US" altLang="zh-CN" sz="1400" b="1" dirty="0">
                <a:solidFill>
                  <a:srgbClr val="015056"/>
                </a:solidFill>
                <a:latin typeface="微软雅黑" panose="020B0503020204020204" charset="-122"/>
                <a:ea typeface="微软雅黑" panose="020B0503020204020204" charset="-122"/>
              </a:rPr>
              <a:t>3 年免征所得税，以后各年按利润总额的 25% 计取。盈余公积金按税后利润的 10% 计取。</a:t>
            </a:r>
            <a:endParaRPr lang="en-US" altLang="zh-CN" sz="1400" b="1" dirty="0">
              <a:solidFill>
                <a:srgbClr val="015056"/>
              </a:solidFill>
              <a:latin typeface="微软雅黑" panose="020B0503020204020204" charset="-122"/>
              <a:ea typeface="微软雅黑" panose="020B0503020204020204" charset="-122"/>
            </a:endParaRPr>
          </a:p>
          <a:p>
            <a:endParaRPr lang="en-US" sz="1200" dirty="0">
              <a:solidFill>
                <a:srgbClr val="015056"/>
              </a:solidFill>
              <a:latin typeface="微软雅黑" panose="020B0503020204020204" charset="-122"/>
              <a:ea typeface="微软雅黑" panose="020B0503020204020204" charset="-122"/>
            </a:endParaRPr>
          </a:p>
        </p:txBody>
      </p:sp>
      <p:sp>
        <p:nvSpPr>
          <p:cNvPr id="18" name="Rectangle: Rounded Corners 77"/>
          <p:cNvSpPr/>
          <p:nvPr/>
        </p:nvSpPr>
        <p:spPr>
          <a:xfrm>
            <a:off x="6266180" y="2573020"/>
            <a:ext cx="5650865" cy="3930650"/>
          </a:xfrm>
          <a:prstGeom prst="roundRect">
            <a:avLst>
              <a:gd name="adj" fmla="val 0"/>
            </a:avLst>
          </a:prstGeom>
          <a:noFill/>
          <a:ln w="19050">
            <a:solidFill>
              <a:srgbClr val="507596"/>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tIns="180000" rtlCol="0" anchor="t"/>
          <a:p>
            <a:r>
              <a:rPr lang="zh-CN" altLang="en-US" sz="1600" dirty="0">
                <a:solidFill>
                  <a:srgbClr val="015056"/>
                </a:solidFill>
                <a:latin typeface="微软雅黑" panose="020B0503020204020204" charset="-122"/>
                <a:ea typeface="微软雅黑" panose="020B0503020204020204" charset="-122"/>
              </a:rPr>
              <a:t>各年的税前利润、税后利润折线图如下：</a:t>
            </a:r>
            <a:endParaRPr lang="zh-CN" altLang="en-US" sz="1600" dirty="0">
              <a:solidFill>
                <a:srgbClr val="015056"/>
              </a:solidFill>
              <a:latin typeface="微软雅黑" panose="020B0503020204020204" charset="-122"/>
              <a:ea typeface="微软雅黑" panose="020B0503020204020204" charset="-122"/>
            </a:endParaRPr>
          </a:p>
        </p:txBody>
      </p:sp>
      <p:graphicFrame>
        <p:nvGraphicFramePr>
          <p:cNvPr id="22" name="图表 21"/>
          <p:cNvGraphicFramePr/>
          <p:nvPr/>
        </p:nvGraphicFramePr>
        <p:xfrm>
          <a:off x="6346825" y="3143250"/>
          <a:ext cx="5507990" cy="331470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小李PPT1"/>
          <p:cNvSpPr/>
          <p:nvPr>
            <p:custDataLst>
              <p:tags r:id="rId1"/>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2"/>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3"/>
            </p:custDataLst>
          </p:nvPr>
        </p:nvSpPr>
        <p:spPr>
          <a:xfrm>
            <a:off x="4000500" y="-914400"/>
            <a:ext cx="635000" cy="635000"/>
          </a:xfrm>
          <a:prstGeom prst="rect">
            <a:avLst/>
          </a:prstGeom>
          <a:solidFill>
            <a:schemeClr val="dk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4"/>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5"/>
            </p:custDataLst>
          </p:nvPr>
        </p:nvSpPr>
        <p:spPr>
          <a:xfrm>
            <a:off x="5778500" y="-914400"/>
            <a:ext cx="635000" cy="6350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6"/>
            </p:custDataLst>
          </p:nvPr>
        </p:nvSpPr>
        <p:spPr>
          <a:xfrm>
            <a:off x="6540500" y="-914400"/>
            <a:ext cx="635000" cy="635000"/>
          </a:xfrm>
          <a:prstGeom prst="rect">
            <a:avLst/>
          </a:prstGeom>
          <a:solidFill>
            <a:schemeClr val="accen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7"/>
            </p:custDataLst>
          </p:nvPr>
        </p:nvSpPr>
        <p:spPr>
          <a:xfrm>
            <a:off x="7302500" y="-914400"/>
            <a:ext cx="635000" cy="635000"/>
          </a:xfrm>
          <a:prstGeom prst="rect">
            <a:avLst/>
          </a:prstGeom>
          <a:solidFill>
            <a:schemeClr val="accent3"/>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8"/>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9"/>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0"/>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grpSp>
        <p:nvGrpSpPr>
          <p:cNvPr id="2" name="小李PPT11"/>
          <p:cNvGrpSpPr/>
          <p:nvPr/>
        </p:nvGrpSpPr>
        <p:grpSpPr>
          <a:xfrm>
            <a:off x="279357" y="304810"/>
            <a:ext cx="11671385" cy="4737081"/>
            <a:chOff x="279357" y="304810"/>
            <a:chExt cx="11671385" cy="4737081"/>
          </a:xfrm>
          <a:solidFill>
            <a:srgbClr val="1D4223">
              <a:alpha val="2000"/>
            </a:srgbClr>
          </a:solidFill>
        </p:grpSpPr>
        <p:grpSp>
          <p:nvGrpSpPr>
            <p:cNvPr id="3" name="组合 2"/>
            <p:cNvGrpSpPr/>
            <p:nvPr/>
          </p:nvGrpSpPr>
          <p:grpSpPr>
            <a:xfrm>
              <a:off x="279357" y="304810"/>
              <a:ext cx="11671385" cy="609581"/>
              <a:chOff x="279357" y="304810"/>
              <a:chExt cx="11671385" cy="609581"/>
            </a:xfrm>
            <a:grpFill/>
          </p:grpSpPr>
          <p:sp>
            <p:nvSpPr>
              <p:cNvPr id="301" name="小李PPT11-1"/>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2" name="小李PPT11-2"/>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3" name="小李PPT11-3"/>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4" name="小李PPT11-4"/>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5" name="小李PPT11-5"/>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6" name="小李PPT11-6"/>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7" name="小李PPT11-7"/>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8" name="小李PPT11-8"/>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9" name="小李PPT11-9"/>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0" name="小李PPT11-10"/>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1" name="小李PPT11-11"/>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2" name="小李PPT11-12"/>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3" name="小李PPT11-13"/>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4" name="小李PPT11-14"/>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4" name="组合 3"/>
            <p:cNvGrpSpPr/>
            <p:nvPr/>
          </p:nvGrpSpPr>
          <p:grpSpPr>
            <a:xfrm>
              <a:off x="279357" y="1130310"/>
              <a:ext cx="11671385" cy="609581"/>
              <a:chOff x="279357" y="304810"/>
              <a:chExt cx="11671385" cy="609581"/>
            </a:xfrm>
            <a:grpFill/>
          </p:grpSpPr>
          <p:sp>
            <p:nvSpPr>
              <p:cNvPr id="287" name="小李PPT11-15"/>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8" name="小李PPT11-16"/>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9" name="小李PPT11-17"/>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0" name="小李PPT11-18"/>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1" name="小李PPT11-19"/>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2" name="小李PPT11-20"/>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3" name="小李PPT11-21"/>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4" name="小李PPT11-22"/>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5" name="小李PPT11-23"/>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6" name="小李PPT11-24"/>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7" name="小李PPT11-25"/>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8" name="小李PPT11-26"/>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9" name="小李PPT11-27"/>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0" name="小李PPT11-28"/>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6" name="组合 5"/>
            <p:cNvGrpSpPr/>
            <p:nvPr/>
          </p:nvGrpSpPr>
          <p:grpSpPr>
            <a:xfrm>
              <a:off x="279357" y="1955810"/>
              <a:ext cx="11671385" cy="609581"/>
              <a:chOff x="279357" y="304810"/>
              <a:chExt cx="11671385" cy="609581"/>
            </a:xfrm>
            <a:grpFill/>
          </p:grpSpPr>
          <p:sp>
            <p:nvSpPr>
              <p:cNvPr id="263" name="小李PPT11-29"/>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4" name="小李PPT11-30"/>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5" name="小李PPT11-31"/>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6" name="小李PPT11-32"/>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7" name="小李PPT11-33"/>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8" name="小李PPT11-34"/>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9" name="小李PPT11-35"/>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0" name="小李PPT11-36"/>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1" name="小李PPT11-37"/>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2" name="小李PPT11-38"/>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3" name="小李PPT11-39"/>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4" name="小李PPT11-40"/>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5" name="小李PPT11-41"/>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6" name="小李PPT11-42"/>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7" name="组合 6"/>
            <p:cNvGrpSpPr/>
            <p:nvPr/>
          </p:nvGrpSpPr>
          <p:grpSpPr>
            <a:xfrm>
              <a:off x="279357" y="2781310"/>
              <a:ext cx="11671385" cy="609581"/>
              <a:chOff x="279357" y="304810"/>
              <a:chExt cx="11671385" cy="609581"/>
            </a:xfrm>
            <a:grpFill/>
          </p:grpSpPr>
          <p:sp>
            <p:nvSpPr>
              <p:cNvPr id="57" name="小李PPT11-43"/>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8" name="小李PPT11-44"/>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9" name="小李PPT11-45"/>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0" name="小李PPT11-46"/>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1" name="小李PPT11-47"/>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2" name="小李PPT11-48"/>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3" name="小李PPT11-49"/>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6" name="小李PPT11-50"/>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7" name="小李PPT11-51"/>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8" name="小李PPT11-52"/>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9" name="小李PPT11-53"/>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0" name="小李PPT11-54"/>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1" name="小李PPT11-55"/>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2" name="小李PPT11-56"/>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10" name="组合 9"/>
            <p:cNvGrpSpPr/>
            <p:nvPr/>
          </p:nvGrpSpPr>
          <p:grpSpPr>
            <a:xfrm>
              <a:off x="279357" y="3606810"/>
              <a:ext cx="11671385" cy="609581"/>
              <a:chOff x="279357" y="304810"/>
              <a:chExt cx="11671385" cy="609581"/>
            </a:xfrm>
            <a:grpFill/>
          </p:grpSpPr>
          <p:sp>
            <p:nvSpPr>
              <p:cNvPr id="43" name="小李PPT11-57"/>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4" name="小李PPT11-58"/>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5" name="小李PPT11-59"/>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6" name="小李PPT11-60"/>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7" name="小李PPT11-61"/>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8" name="小李PPT11-62"/>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9" name="小李PPT11-63"/>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0" name="小李PPT11-64"/>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1" name="小李PPT11-65"/>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2" name="小李PPT11-66"/>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3" name="小李PPT11-67"/>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4" name="小李PPT11-68"/>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5" name="小李PPT11-69"/>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6" name="小李PPT11-70"/>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11" name="组合 10"/>
            <p:cNvGrpSpPr/>
            <p:nvPr/>
          </p:nvGrpSpPr>
          <p:grpSpPr>
            <a:xfrm>
              <a:off x="279357" y="4432310"/>
              <a:ext cx="11671385" cy="609581"/>
              <a:chOff x="279357" y="304810"/>
              <a:chExt cx="11671385" cy="609581"/>
            </a:xfrm>
            <a:grpFill/>
          </p:grpSpPr>
          <p:sp>
            <p:nvSpPr>
              <p:cNvPr id="14" name="小李PPT11-71"/>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19" name="小李PPT11-72"/>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0" name="小李PPT11-73"/>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1" name="小李PPT11-74"/>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4" name="小李PPT11-75"/>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4" name="小李PPT11-76"/>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5" name="小李PPT11-77"/>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6" name="小李PPT11-78"/>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7" name="小李PPT11-79"/>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8" name="小李PPT11-80"/>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9" name="小李PPT11-81"/>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0" name="小李PPT11-82"/>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1" name="小李PPT11-83"/>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2" name="小李PPT11-84"/>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sp>
        <p:nvSpPr>
          <p:cNvPr id="315" name="小李PPT12"/>
          <p:cNvSpPr/>
          <p:nvPr/>
        </p:nvSpPr>
        <p:spPr>
          <a:xfrm>
            <a:off x="0" y="4711700"/>
            <a:ext cx="12192000" cy="21463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FFFFFF"/>
              </a:solidFill>
              <a:latin typeface="Montserrat"/>
              <a:ea typeface="思源黑体 CN Normal"/>
            </a:endParaRPr>
          </a:p>
        </p:txBody>
      </p:sp>
      <p:sp>
        <p:nvSpPr>
          <p:cNvPr id="316" name="小李PPT13"/>
          <p:cNvSpPr txBox="1"/>
          <p:nvPr/>
        </p:nvSpPr>
        <p:spPr>
          <a:xfrm>
            <a:off x="0" y="-1477010"/>
            <a:ext cx="11188700" cy="9247505"/>
          </a:xfrm>
          <a:prstGeom prst="rect">
            <a:avLst/>
          </a:prstGeom>
          <a:noFill/>
        </p:spPr>
        <p:txBody>
          <a:bodyPr wrap="square" rtlCol="0">
            <a:spAutoFit/>
          </a:bodyPr>
          <a:lstStyle/>
          <a:p>
            <a:pPr algn="l">
              <a:defRPr/>
            </a:pPr>
            <a:r>
              <a:rPr lang="en-US" altLang="zh-CN" sz="59500" b="1" dirty="0">
                <a:ln>
                  <a:solidFill>
                    <a:schemeClr val="accent2">
                      <a:alpha val="50000"/>
                    </a:schemeClr>
                  </a:solidFill>
                  <a:prstDash val="dash"/>
                </a:ln>
                <a:solidFill>
                  <a:schemeClr val="bg1"/>
                </a:solidFill>
                <a:effectLst>
                  <a:outerShdw blurRad="101600" dist="38100" dir="5400000" algn="t" rotWithShape="0">
                    <a:srgbClr val="1D4223">
                      <a:alpha val="40000"/>
                    </a:srgbClr>
                  </a:outerShdw>
                </a:effectLst>
                <a:latin typeface="Bahnschrift SemiBold" panose="020B0502040204020203"/>
                <a:ea typeface="微软雅黑 Light" panose="020B0502040204020203" charset="-122"/>
              </a:rPr>
              <a:t>4</a:t>
            </a:r>
            <a:endParaRPr lang="en-US" altLang="zh-CN" sz="59500" b="1" dirty="0">
              <a:ln>
                <a:solidFill>
                  <a:schemeClr val="accent2">
                    <a:alpha val="50000"/>
                  </a:schemeClr>
                </a:solidFill>
                <a:prstDash val="dash"/>
              </a:ln>
              <a:solidFill>
                <a:schemeClr val="bg1"/>
              </a:solidFill>
              <a:effectLst>
                <a:outerShdw blurRad="101600" dist="38100" dir="5400000" algn="t" rotWithShape="0">
                  <a:srgbClr val="1D4223">
                    <a:alpha val="40000"/>
                  </a:srgbClr>
                </a:outerShdw>
              </a:effectLst>
              <a:latin typeface="Bahnschrift SemiBold" panose="020B0502040204020203"/>
              <a:ea typeface="微软雅黑 Light" panose="020B0502040204020203" charset="-122"/>
            </a:endParaRPr>
          </a:p>
        </p:txBody>
      </p:sp>
      <p:sp>
        <p:nvSpPr>
          <p:cNvPr id="317" name="小李PPT14"/>
          <p:cNvSpPr txBox="1"/>
          <p:nvPr/>
        </p:nvSpPr>
        <p:spPr>
          <a:xfrm>
            <a:off x="1066800" y="4953000"/>
            <a:ext cx="5791200" cy="1569660"/>
          </a:xfrm>
          <a:prstGeom prst="rect">
            <a:avLst/>
          </a:prstGeom>
          <a:noFill/>
        </p:spPr>
        <p:txBody>
          <a:bodyPr wrap="square" rtlCol="0">
            <a:spAutoFit/>
          </a:bodyPr>
          <a:lstStyle/>
          <a:p>
            <a:pPr>
              <a:defRPr/>
            </a:pPr>
            <a:r>
              <a:rPr lang="en-US" altLang="zh-CN" sz="9600" b="1" dirty="0">
                <a:gradFill>
                  <a:gsLst>
                    <a:gs pos="0">
                      <a:prstClr val="white">
                        <a:alpha val="43000"/>
                      </a:prstClr>
                    </a:gs>
                    <a:gs pos="98000">
                      <a:prstClr val="white">
                        <a:alpha val="21000"/>
                      </a:prstClr>
                    </a:gs>
                  </a:gsLst>
                  <a:lin ang="0" scaled="0"/>
                </a:gradFill>
                <a:latin typeface="Bahnschrift SemiBold" panose="020B0502040204020203"/>
                <a:ea typeface="微软雅黑 Light" panose="020B0502040204020203" charset="-122"/>
              </a:rPr>
              <a:t>CHAPTER</a:t>
            </a:r>
            <a:endParaRPr lang="zh-CN" altLang="en-US" sz="9600" b="1" dirty="0">
              <a:gradFill>
                <a:gsLst>
                  <a:gs pos="0">
                    <a:prstClr val="white">
                      <a:alpha val="43000"/>
                    </a:prstClr>
                  </a:gs>
                  <a:gs pos="98000">
                    <a:prstClr val="white">
                      <a:alpha val="21000"/>
                    </a:prstClr>
                  </a:gs>
                </a:gsLst>
                <a:lin ang="0" scaled="0"/>
              </a:gradFill>
              <a:latin typeface="Bahnschrift SemiBold" panose="020B0502040204020203"/>
              <a:ea typeface="微软雅黑 Light" panose="020B0502040204020203" charset="-122"/>
            </a:endParaRPr>
          </a:p>
        </p:txBody>
      </p:sp>
      <p:sp>
        <p:nvSpPr>
          <p:cNvPr id="318" name="小李PPT15"/>
          <p:cNvSpPr/>
          <p:nvPr/>
        </p:nvSpPr>
        <p:spPr>
          <a:xfrm>
            <a:off x="5143500" y="1337945"/>
            <a:ext cx="1498600" cy="546100"/>
          </a:xfrm>
          <a:prstGeom prst="round2DiagRect">
            <a:avLst/>
          </a:prstGeom>
          <a:solidFill>
            <a:schemeClr val="accent2"/>
          </a:solidFill>
          <a:ln w="25400" cap="flat" cmpd="sng" algn="ctr">
            <a:noFill/>
            <a:prstDash val="solid"/>
          </a:ln>
          <a:effectLst/>
        </p:spPr>
        <p:txBody>
          <a:bodyPr rtlCol="0" anchor="ct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第</a:t>
            </a:r>
            <a:r>
              <a:rPr kumimoji="0" lang="zh-CN" altLang="en-US" sz="2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四节</a:t>
            </a:r>
            <a:endParaRPr kumimoji="0" lang="zh-CN" altLang="en-US" sz="2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19" name="小李PPT16"/>
          <p:cNvSpPr txBox="1"/>
          <p:nvPr/>
        </p:nvSpPr>
        <p:spPr>
          <a:xfrm>
            <a:off x="5346700" y="3536315"/>
            <a:ext cx="3417570" cy="306705"/>
          </a:xfrm>
          <a:prstGeom prst="rect">
            <a:avLst/>
          </a:prstGeom>
          <a:noFill/>
        </p:spPr>
        <p:txBody>
          <a:bodyPr wrap="square" rtlCol="0">
            <a:spAutoFit/>
          </a:bodyPr>
          <a:lstStyle/>
          <a:p>
            <a:pPr algn="l" defTabSz="913765">
              <a:defRPr/>
            </a:pPr>
            <a:r>
              <a:rPr lang="zh-CN" altLang="en-US" sz="1400" dirty="0">
                <a:solidFill>
                  <a:prstClr val="black">
                    <a:lumMod val="75000"/>
                    <a:lumOff val="25000"/>
                  </a:prstClr>
                </a:solidFill>
                <a:latin typeface="微软雅黑 Light" panose="020B0502040204020203" charset="-122"/>
                <a:ea typeface="微软雅黑 Light" panose="020B0502040204020203" charset="-122"/>
              </a:rPr>
              <a:t>（</a:t>
            </a:r>
            <a:r>
              <a:rPr lang="zh-CN" altLang="en-US" sz="1400" dirty="0">
                <a:solidFill>
                  <a:prstClr val="black">
                    <a:lumMod val="75000"/>
                    <a:lumOff val="25000"/>
                  </a:prstClr>
                </a:solidFill>
                <a:latin typeface="微软雅黑 Light" panose="020B0502040204020203" charset="-122"/>
                <a:ea typeface="微软雅黑 Light" panose="020B0502040204020203" charset="-122"/>
              </a:rPr>
              <a:t>二）投资收益分析</a:t>
            </a:r>
            <a:endParaRPr lang="zh-CN" altLang="en-US" sz="1400" dirty="0">
              <a:solidFill>
                <a:prstClr val="black">
                  <a:lumMod val="75000"/>
                  <a:lumOff val="25000"/>
                </a:prstClr>
              </a:solidFill>
              <a:latin typeface="微软雅黑 Light" panose="020B0502040204020203" charset="-122"/>
              <a:ea typeface="微软雅黑 Light" panose="020B0502040204020203" charset="-122"/>
            </a:endParaRPr>
          </a:p>
        </p:txBody>
      </p:sp>
      <p:sp>
        <p:nvSpPr>
          <p:cNvPr id="321" name="小李PPT18"/>
          <p:cNvSpPr txBox="1"/>
          <p:nvPr/>
        </p:nvSpPr>
        <p:spPr>
          <a:xfrm>
            <a:off x="5346700" y="3117215"/>
            <a:ext cx="3417570" cy="306705"/>
          </a:xfrm>
          <a:prstGeom prst="rect">
            <a:avLst/>
          </a:prstGeom>
          <a:noFill/>
        </p:spPr>
        <p:txBody>
          <a:bodyPr wrap="square" rtlCol="0">
            <a:spAutoFit/>
          </a:bodyPr>
          <a:lstStyle/>
          <a:p>
            <a:pPr algn="l" defTabSz="913765">
              <a:defRPr/>
            </a:pPr>
            <a:r>
              <a:rPr lang="zh-CN" altLang="en-US" sz="1400" dirty="0">
                <a:solidFill>
                  <a:prstClr val="black">
                    <a:lumMod val="75000"/>
                    <a:lumOff val="25000"/>
                  </a:prstClr>
                </a:solidFill>
                <a:latin typeface="微软雅黑 Light" panose="020B0502040204020203" charset="-122"/>
                <a:ea typeface="微软雅黑 Light" panose="020B0502040204020203" charset="-122"/>
              </a:rPr>
              <a:t>（</a:t>
            </a:r>
            <a:r>
              <a:rPr lang="zh-CN" altLang="en-US" sz="1400" dirty="0">
                <a:solidFill>
                  <a:prstClr val="black">
                    <a:lumMod val="75000"/>
                    <a:lumOff val="25000"/>
                  </a:prstClr>
                </a:solidFill>
                <a:latin typeface="微软雅黑 Light" panose="020B0502040204020203" charset="-122"/>
                <a:ea typeface="微软雅黑 Light" panose="020B0502040204020203" charset="-122"/>
              </a:rPr>
              <a:t>一）项目投资现金流量分析</a:t>
            </a:r>
            <a:endParaRPr lang="zh-CN" altLang="en-US" sz="1400" dirty="0">
              <a:solidFill>
                <a:prstClr val="black">
                  <a:lumMod val="75000"/>
                  <a:lumOff val="25000"/>
                </a:prstClr>
              </a:solidFill>
              <a:latin typeface="微软雅黑 Light" panose="020B0502040204020203" charset="-122"/>
              <a:ea typeface="微软雅黑 Light" panose="020B0502040204020203" charset="-122"/>
            </a:endParaRPr>
          </a:p>
        </p:txBody>
      </p:sp>
      <p:sp>
        <p:nvSpPr>
          <p:cNvPr id="323" name="小李PPT20"/>
          <p:cNvSpPr txBox="1"/>
          <p:nvPr/>
        </p:nvSpPr>
        <p:spPr>
          <a:xfrm>
            <a:off x="5105400" y="1921510"/>
            <a:ext cx="5385435" cy="768350"/>
          </a:xfrm>
          <a:prstGeom prst="rect">
            <a:avLst/>
          </a:prstGeom>
          <a:noFill/>
        </p:spPr>
        <p:txBody>
          <a:bodyPr wrap="square" rtlCol="0">
            <a:spAutoFit/>
          </a:bodyPr>
          <a:lstStyle/>
          <a:p>
            <a:pPr algn="l" defTabSz="913765">
              <a:defRPr/>
            </a:pPr>
            <a:r>
              <a:rPr lang="zh-CN" altLang="en-US" sz="4400" b="1" dirty="0">
                <a:solidFill>
                  <a:schemeClr val="accent1"/>
                </a:solidFill>
                <a:latin typeface="Arial Black" panose="020B0A04020102020204"/>
                <a:ea typeface="微软雅黑" panose="020B0503020204020204" charset="-122"/>
              </a:rPr>
              <a:t>财务评价</a:t>
            </a:r>
            <a:endParaRPr lang="zh-CN" altLang="en-US" sz="4400" b="1" dirty="0">
              <a:solidFill>
                <a:schemeClr val="accent1"/>
              </a:solidFill>
              <a:latin typeface="Arial Black" panose="020B0A04020102020204"/>
              <a:ea typeface="微软雅黑" panose="020B0503020204020204" charset="-122"/>
            </a:endParaRPr>
          </a:p>
        </p:txBody>
      </p:sp>
      <p:cxnSp>
        <p:nvCxnSpPr>
          <p:cNvPr id="324" name="小李PPT21"/>
          <p:cNvCxnSpPr/>
          <p:nvPr/>
        </p:nvCxnSpPr>
        <p:spPr>
          <a:xfrm>
            <a:off x="5143500" y="2798445"/>
            <a:ext cx="4826000" cy="0"/>
          </a:xfrm>
          <a:prstGeom prst="line">
            <a:avLst/>
          </a:prstGeom>
          <a:noFill/>
          <a:ln w="19050" cap="flat" cmpd="sng" algn="ctr">
            <a:solidFill>
              <a:schemeClr val="accent6"/>
            </a:solidFill>
            <a:prstDash val="solid"/>
          </a:ln>
          <a:effectLst/>
        </p:spPr>
      </p:cxnSp>
      <p:sp>
        <p:nvSpPr>
          <p:cNvPr id="325" name="小李PPT22"/>
          <p:cNvSpPr/>
          <p:nvPr/>
        </p:nvSpPr>
        <p:spPr>
          <a:xfrm rot="5400000">
            <a:off x="5213350" y="3217545"/>
            <a:ext cx="118110" cy="101600"/>
          </a:xfrm>
          <a:prstGeom prst="triangle">
            <a:avLst/>
          </a:prstGeom>
          <a:solidFill>
            <a:schemeClr val="accent6"/>
          </a:solidFill>
          <a:ln w="25400" cap="flat" cmpd="sng" algn="ctr">
            <a:noFill/>
            <a:prstDash val="solid"/>
          </a:ln>
          <a:effectLst/>
        </p:spPr>
        <p:txBody>
          <a:bodyPr rtlCol="0" anchor="ctr"/>
          <a:lstStyle/>
          <a:p>
            <a:pPr marL="0" marR="0" lvl="0" indent="0" algn="l"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26" name="小李PPT23"/>
          <p:cNvSpPr/>
          <p:nvPr/>
        </p:nvSpPr>
        <p:spPr>
          <a:xfrm rot="5400000">
            <a:off x="5213350" y="3623945"/>
            <a:ext cx="118110" cy="101600"/>
          </a:xfrm>
          <a:prstGeom prst="triangle">
            <a:avLst/>
          </a:prstGeom>
          <a:solidFill>
            <a:schemeClr val="accent6"/>
          </a:solidFill>
          <a:ln w="25400" cap="flat" cmpd="sng" algn="ctr">
            <a:noFill/>
            <a:prstDash val="solid"/>
          </a:ln>
          <a:effectLst/>
        </p:spPr>
        <p:txBody>
          <a:bodyPr rtlCol="0" anchor="ctr"/>
          <a:lstStyle/>
          <a:p>
            <a:pPr marL="0" marR="0" lvl="0" indent="0" algn="l"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21640" y="233045"/>
            <a:ext cx="6423025" cy="521970"/>
          </a:xfrm>
          <a:prstGeom prst="rect">
            <a:avLst/>
          </a:prstGeom>
          <a:noFill/>
        </p:spPr>
        <p:txBody>
          <a:bodyPr wrap="square" rtlCol="0">
            <a:spAutoFit/>
          </a:bodyPr>
          <a:lstStyle/>
          <a:p>
            <a:r>
              <a:rPr sz="2800" b="1" dirty="0">
                <a:solidFill>
                  <a:srgbClr val="515161"/>
                </a:solidFill>
                <a:latin typeface="微软雅黑" panose="020B0503020204020204" charset="-122"/>
                <a:ea typeface="微软雅黑" panose="020B0503020204020204" charset="-122"/>
              </a:rPr>
              <a:t>（一）项目投资现金流量分析</a:t>
            </a:r>
            <a:endParaRPr sz="2800" b="1" dirty="0">
              <a:solidFill>
                <a:srgbClr val="515161"/>
              </a:solidFill>
              <a:latin typeface="微软雅黑" panose="020B0503020204020204" charset="-122"/>
              <a:ea typeface="微软雅黑" panose="020B0503020204020204" charset="-122"/>
            </a:endParaRPr>
          </a:p>
        </p:txBody>
      </p:sp>
      <p:cxnSp>
        <p:nvCxnSpPr>
          <p:cNvPr id="5" name="直接连接符 4"/>
          <p:cNvCxnSpPr/>
          <p:nvPr/>
        </p:nvCxnSpPr>
        <p:spPr>
          <a:xfrm>
            <a:off x="421341" y="828741"/>
            <a:ext cx="11349317" cy="0"/>
          </a:xfrm>
          <a:prstGeom prst="line">
            <a:avLst/>
          </a:prstGeom>
          <a:ln w="19050">
            <a:solidFill>
              <a:srgbClr val="515161"/>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p:nvGrpSpPr>
        <p:grpSpPr>
          <a:xfrm>
            <a:off x="8114496" y="894306"/>
            <a:ext cx="4000019" cy="1023511"/>
            <a:chOff x="463381" y="900656"/>
            <a:chExt cx="4000019" cy="1023511"/>
          </a:xfrm>
        </p:grpSpPr>
        <p:grpSp>
          <p:nvGrpSpPr>
            <p:cNvPr id="2" name="组合 1"/>
            <p:cNvGrpSpPr/>
            <p:nvPr/>
          </p:nvGrpSpPr>
          <p:grpSpPr>
            <a:xfrm>
              <a:off x="463381" y="900656"/>
              <a:ext cx="4000019" cy="1023511"/>
              <a:chOff x="475126" y="912137"/>
              <a:chExt cx="1917364" cy="1367385"/>
            </a:xfrm>
          </p:grpSpPr>
          <p:sp>
            <p:nvSpPr>
              <p:cNvPr id="3" name="矩形 2"/>
              <p:cNvSpPr/>
              <p:nvPr/>
            </p:nvSpPr>
            <p:spPr>
              <a:xfrm>
                <a:off x="475126" y="912137"/>
                <a:ext cx="1752305" cy="136738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506576" y="932501"/>
                <a:ext cx="1885914" cy="995597"/>
                <a:chOff x="470164" y="1730953"/>
                <a:chExt cx="2284549" cy="1384232"/>
              </a:xfrm>
            </p:grpSpPr>
            <p:sp>
              <p:nvSpPr>
                <p:cNvPr id="12" name="文本框 11"/>
                <p:cNvSpPr txBox="1"/>
                <p:nvPr/>
              </p:nvSpPr>
              <p:spPr>
                <a:xfrm>
                  <a:off x="470164" y="1730953"/>
                  <a:ext cx="1550578" cy="740725"/>
                </a:xfrm>
                <a:prstGeom prst="rect">
                  <a:avLst/>
                </a:prstGeom>
                <a:noFill/>
              </p:spPr>
              <p:txBody>
                <a:bodyPr wrap="square" rtlCol="0">
                  <a:spAutoFit/>
                </a:bodyPr>
                <a:lstStyle/>
                <a:p>
                  <a:r>
                    <a:rPr lang="en-US" altLang="zh-CN" sz="2000" b="1" dirty="0">
                      <a:solidFill>
                        <a:schemeClr val="bg1"/>
                      </a:solidFill>
                      <a:latin typeface="微软雅黑" panose="020B0503020204020204" charset="-122"/>
                      <a:ea typeface="微软雅黑" panose="020B0503020204020204" charset="-122"/>
                    </a:rPr>
                    <a:t>1. </a:t>
                  </a:r>
                  <a:r>
                    <a:rPr lang="zh-CN" altLang="en-US" sz="2000" b="1" dirty="0">
                      <a:solidFill>
                        <a:schemeClr val="bg1"/>
                      </a:solidFill>
                      <a:latin typeface="微软雅黑" panose="020B0503020204020204" charset="-122"/>
                      <a:ea typeface="微软雅黑" panose="020B0503020204020204" charset="-122"/>
                    </a:rPr>
                    <a:t>财务内部</a:t>
                  </a:r>
                  <a:r>
                    <a:rPr lang="zh-CN" altLang="en-US" sz="2000" b="1" dirty="0">
                      <a:solidFill>
                        <a:schemeClr val="bg1"/>
                      </a:solidFill>
                      <a:latin typeface="微软雅黑" panose="020B0503020204020204" charset="-122"/>
                      <a:ea typeface="微软雅黑" panose="020B0503020204020204" charset="-122"/>
                    </a:rPr>
                    <a:t>收益率</a:t>
                  </a:r>
                  <a:endParaRPr lang="zh-CN" altLang="en-US" sz="2000" b="1" dirty="0">
                    <a:solidFill>
                      <a:schemeClr val="bg1"/>
                    </a:solidFill>
                    <a:latin typeface="微软雅黑" panose="020B0503020204020204" charset="-122"/>
                    <a:ea typeface="微软雅黑" panose="020B0503020204020204" charset="-122"/>
                  </a:endParaRPr>
                </a:p>
              </p:txBody>
            </p:sp>
            <p:sp>
              <p:nvSpPr>
                <p:cNvPr id="13" name="文本框 12"/>
                <p:cNvSpPr txBox="1"/>
                <p:nvPr/>
              </p:nvSpPr>
              <p:spPr>
                <a:xfrm>
                  <a:off x="2260524" y="2488871"/>
                  <a:ext cx="494189" cy="626314"/>
                </a:xfrm>
                <a:prstGeom prst="rect">
                  <a:avLst/>
                </a:prstGeom>
                <a:noFill/>
              </p:spPr>
              <p:txBody>
                <a:bodyPr wrap="square" rtlCol="0">
                  <a:spAutoFit/>
                </a:bodyPr>
                <a:lstStyle/>
                <a:p>
                  <a:endParaRPr lang="zh-CN" altLang="en-US" sz="1600" b="1" dirty="0">
                    <a:solidFill>
                      <a:schemeClr val="bg1"/>
                    </a:solidFill>
                    <a:latin typeface="微软雅黑" panose="020B0503020204020204" charset="-122"/>
                    <a:ea typeface="微软雅黑" panose="020B0503020204020204" charset="-122"/>
                  </a:endParaRPr>
                </a:p>
              </p:txBody>
            </p:sp>
          </p:grpSp>
        </p:grpSp>
        <p:sp>
          <p:nvSpPr>
            <p:cNvPr id="27" name="文本框 26"/>
            <p:cNvSpPr txBox="1"/>
            <p:nvPr/>
          </p:nvSpPr>
          <p:spPr>
            <a:xfrm>
              <a:off x="528992" y="1294435"/>
              <a:ext cx="3045504" cy="398780"/>
            </a:xfrm>
            <a:prstGeom prst="rect">
              <a:avLst/>
            </a:prstGeom>
            <a:noFill/>
          </p:spPr>
          <p:txBody>
            <a:bodyPr wrap="square" rtlCol="0">
              <a:spAutoFit/>
            </a:bodyPr>
            <a:lstStyle/>
            <a:p>
              <a:r>
                <a:rPr lang="en-US" altLang="zh-CN" sz="2000" b="1" dirty="0">
                  <a:solidFill>
                    <a:schemeClr val="bg1"/>
                  </a:solidFill>
                  <a:latin typeface="微软雅黑" panose="020B0503020204020204" charset="-122"/>
                  <a:ea typeface="微软雅黑" panose="020B0503020204020204" charset="-122"/>
                </a:rPr>
                <a:t>36%                     33%</a:t>
              </a:r>
              <a:endParaRPr lang="zh-CN" altLang="en-US" sz="3200" b="1" dirty="0">
                <a:solidFill>
                  <a:schemeClr val="bg1"/>
                </a:solidFill>
                <a:latin typeface="微软雅黑" panose="020B0503020204020204" charset="-122"/>
                <a:ea typeface="微软雅黑" panose="020B0503020204020204" charset="-122"/>
              </a:endParaRPr>
            </a:p>
          </p:txBody>
        </p:sp>
        <p:sp>
          <p:nvSpPr>
            <p:cNvPr id="28" name="Arrow"/>
            <p:cNvSpPr/>
            <p:nvPr/>
          </p:nvSpPr>
          <p:spPr>
            <a:xfrm>
              <a:off x="1556300" y="1368877"/>
              <a:ext cx="1131481" cy="208471"/>
            </a:xfrm>
            <a:prstGeom prst="rightArrow">
              <a:avLst>
                <a:gd name="adj1" fmla="val 52268"/>
                <a:gd name="adj2" fmla="val 157862"/>
              </a:avLst>
            </a:prstGeom>
            <a:gradFill flip="none" rotWithShape="1">
              <a:gsLst>
                <a:gs pos="0">
                  <a:schemeClr val="accent1">
                    <a:lumMod val="20000"/>
                    <a:lumOff val="80000"/>
                    <a:alpha val="24000"/>
                  </a:schemeClr>
                </a:gs>
                <a:gs pos="100000">
                  <a:schemeClr val="accent1">
                    <a:lumMod val="20000"/>
                    <a:lumOff val="80000"/>
                  </a:schemeClr>
                </a:gs>
              </a:gsLst>
              <a:lin ang="0" scaled="0"/>
            </a:gradFill>
            <a:ln w="12700" cap="flat">
              <a:noFill/>
              <a:miter lim="400000"/>
            </a:ln>
            <a:effectLst/>
          </p:spPr>
          <p:txBody>
            <a:bodyPr wrap="square" lIns="0" tIns="0" rIns="0" bIns="0" numCol="1" anchor="ctr">
              <a:noAutofit/>
            </a:bodyPr>
            <a:lstStyle/>
            <a:p/>
          </p:txBody>
        </p:sp>
      </p:grpSp>
      <p:grpSp>
        <p:nvGrpSpPr>
          <p:cNvPr id="39" name="组合 38"/>
          <p:cNvGrpSpPr/>
          <p:nvPr/>
        </p:nvGrpSpPr>
        <p:grpSpPr>
          <a:xfrm>
            <a:off x="8114606" y="2019334"/>
            <a:ext cx="3714115" cy="1024351"/>
            <a:chOff x="463381" y="900656"/>
            <a:chExt cx="3714115" cy="1024351"/>
          </a:xfrm>
          <a:solidFill>
            <a:schemeClr val="accent2">
              <a:lumMod val="60000"/>
              <a:lumOff val="40000"/>
            </a:schemeClr>
          </a:solidFill>
        </p:grpSpPr>
        <p:grpSp>
          <p:nvGrpSpPr>
            <p:cNvPr id="40" name="组合 39"/>
            <p:cNvGrpSpPr/>
            <p:nvPr/>
          </p:nvGrpSpPr>
          <p:grpSpPr>
            <a:xfrm>
              <a:off x="463381" y="900656"/>
              <a:ext cx="3655672" cy="1023511"/>
              <a:chOff x="475126" y="912137"/>
              <a:chExt cx="1752305" cy="1367385"/>
            </a:xfrm>
            <a:grpFill/>
          </p:grpSpPr>
          <p:sp>
            <p:nvSpPr>
              <p:cNvPr id="44" name="矩形 43"/>
              <p:cNvSpPr/>
              <p:nvPr/>
            </p:nvSpPr>
            <p:spPr>
              <a:xfrm>
                <a:off x="475126" y="912137"/>
                <a:ext cx="1752305" cy="1367385"/>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506576" y="932501"/>
                <a:ext cx="1280015" cy="532760"/>
              </a:xfrm>
              <a:prstGeom prst="rect">
                <a:avLst/>
              </a:prstGeom>
              <a:grpFill/>
            </p:spPr>
            <p:txBody>
              <a:bodyPr wrap="square" rtlCol="0">
                <a:spAutoFit/>
              </a:bodyPr>
              <a:lstStyle/>
              <a:p>
                <a:r>
                  <a:rPr lang="en-US" altLang="zh-CN" sz="2000" b="1" dirty="0">
                    <a:solidFill>
                      <a:schemeClr val="bg1"/>
                    </a:solidFill>
                    <a:latin typeface="微软雅黑" panose="020B0503020204020204" charset="-122"/>
                    <a:ea typeface="微软雅黑" panose="020B0503020204020204" charset="-122"/>
                  </a:rPr>
                  <a:t>2. </a:t>
                </a:r>
                <a:r>
                  <a:rPr lang="zh-CN" altLang="en-US" sz="2000" b="1" dirty="0">
                    <a:solidFill>
                      <a:schemeClr val="bg1"/>
                    </a:solidFill>
                    <a:latin typeface="微软雅黑" panose="020B0503020204020204" charset="-122"/>
                    <a:ea typeface="微软雅黑" panose="020B0503020204020204" charset="-122"/>
                  </a:rPr>
                  <a:t>财务</a:t>
                </a:r>
                <a:r>
                  <a:rPr lang="zh-CN" altLang="en-US" sz="2000" b="1" dirty="0">
                    <a:solidFill>
                      <a:schemeClr val="bg1"/>
                    </a:solidFill>
                    <a:latin typeface="微软雅黑" panose="020B0503020204020204" charset="-122"/>
                    <a:ea typeface="微软雅黑" panose="020B0503020204020204" charset="-122"/>
                  </a:rPr>
                  <a:t>净现值</a:t>
                </a:r>
                <a:endParaRPr lang="zh-CN" altLang="en-US" sz="2000" b="1" dirty="0">
                  <a:solidFill>
                    <a:schemeClr val="bg1"/>
                  </a:solidFill>
                  <a:latin typeface="微软雅黑" panose="020B0503020204020204" charset="-122"/>
                  <a:ea typeface="微软雅黑" panose="020B0503020204020204" charset="-122"/>
                </a:endParaRPr>
              </a:p>
            </p:txBody>
          </p:sp>
        </p:grpSp>
        <p:sp>
          <p:nvSpPr>
            <p:cNvPr id="41" name="文本框 40"/>
            <p:cNvSpPr txBox="1"/>
            <p:nvPr/>
          </p:nvSpPr>
          <p:spPr>
            <a:xfrm>
              <a:off x="528786" y="1294356"/>
              <a:ext cx="3648710" cy="398780"/>
            </a:xfrm>
            <a:prstGeom prst="rect">
              <a:avLst/>
            </a:prstGeom>
            <a:grpFill/>
          </p:spPr>
          <p:txBody>
            <a:bodyPr wrap="square" rtlCol="0">
              <a:spAutoFit/>
            </a:bodyPr>
            <a:lstStyle/>
            <a:p>
              <a:r>
                <a:rPr lang="en-US" altLang="zh-CN" sz="2000" b="1" dirty="0">
                  <a:solidFill>
                    <a:schemeClr val="bg1"/>
                  </a:solidFill>
                  <a:latin typeface="微软雅黑" panose="020B0503020204020204" charset="-122"/>
                  <a:ea typeface="微软雅黑" panose="020B0503020204020204" charset="-122"/>
                </a:rPr>
                <a:t>4447                    3434  </a:t>
              </a:r>
              <a:r>
                <a:rPr lang="zh-CN" altLang="en-US" sz="1600" b="1" dirty="0">
                  <a:solidFill>
                    <a:schemeClr val="bg1"/>
                  </a:solidFill>
                  <a:latin typeface="微软雅黑" panose="020B0503020204020204" charset="-122"/>
                  <a:ea typeface="微软雅黑" panose="020B0503020204020204" charset="-122"/>
                </a:rPr>
                <a:t>万元</a:t>
              </a:r>
              <a:endParaRPr lang="zh-CN" altLang="en-US" sz="1600" b="1" dirty="0">
                <a:solidFill>
                  <a:schemeClr val="bg1"/>
                </a:solidFill>
                <a:latin typeface="微软雅黑" panose="020B0503020204020204" charset="-122"/>
                <a:ea typeface="微软雅黑" panose="020B0503020204020204" charset="-122"/>
              </a:endParaRPr>
            </a:p>
          </p:txBody>
        </p:sp>
        <p:sp>
          <p:nvSpPr>
            <p:cNvPr id="42" name="Arrow"/>
            <p:cNvSpPr/>
            <p:nvPr/>
          </p:nvSpPr>
          <p:spPr>
            <a:xfrm>
              <a:off x="1556300" y="1368877"/>
              <a:ext cx="1131481" cy="208471"/>
            </a:xfrm>
            <a:prstGeom prst="rightArrow">
              <a:avLst>
                <a:gd name="adj1" fmla="val 52268"/>
                <a:gd name="adj2" fmla="val 157862"/>
              </a:avLst>
            </a:prstGeom>
            <a:gradFill flip="none" rotWithShape="1">
              <a:gsLst>
                <a:gs pos="0">
                  <a:schemeClr val="accent1">
                    <a:lumMod val="20000"/>
                    <a:lumOff val="80000"/>
                    <a:alpha val="24000"/>
                  </a:schemeClr>
                </a:gs>
                <a:gs pos="100000">
                  <a:schemeClr val="accent1">
                    <a:lumMod val="20000"/>
                    <a:lumOff val="80000"/>
                  </a:schemeClr>
                </a:gs>
              </a:gsLst>
              <a:lin ang="0" scaled="0"/>
            </a:gradFill>
            <a:ln w="12700" cap="flat">
              <a:noFill/>
              <a:miter lim="400000"/>
            </a:ln>
            <a:effectLst/>
          </p:spPr>
          <p:txBody>
            <a:bodyPr wrap="square" lIns="0" tIns="0" rIns="0" bIns="0" numCol="1" anchor="ctr">
              <a:noAutofit/>
            </a:bodyPr>
            <a:lstStyle/>
            <a:p/>
          </p:txBody>
        </p:sp>
        <p:sp>
          <p:nvSpPr>
            <p:cNvPr id="43" name="文本框 42"/>
            <p:cNvSpPr txBox="1"/>
            <p:nvPr/>
          </p:nvSpPr>
          <p:spPr>
            <a:xfrm>
              <a:off x="528992" y="1664657"/>
              <a:ext cx="1472661" cy="260350"/>
            </a:xfrm>
            <a:prstGeom prst="rect">
              <a:avLst/>
            </a:prstGeom>
            <a:grpFill/>
          </p:spPr>
          <p:txBody>
            <a:bodyPr wrap="square" rtlCol="0">
              <a:spAutoFit/>
            </a:bodyPr>
            <a:lstStyle/>
            <a:p>
              <a:endParaRPr lang="zh-CN" altLang="en-US" sz="1100" b="1" dirty="0">
                <a:solidFill>
                  <a:schemeClr val="bg1"/>
                </a:solidFill>
                <a:latin typeface="微软雅黑" panose="020B0503020204020204" charset="-122"/>
                <a:ea typeface="微软雅黑" panose="020B0503020204020204" charset="-122"/>
              </a:endParaRPr>
            </a:p>
          </p:txBody>
        </p:sp>
      </p:grpSp>
      <p:grpSp>
        <p:nvGrpSpPr>
          <p:cNvPr id="48" name="组合 47"/>
          <p:cNvGrpSpPr/>
          <p:nvPr/>
        </p:nvGrpSpPr>
        <p:grpSpPr>
          <a:xfrm>
            <a:off x="8139365" y="3221386"/>
            <a:ext cx="3655672" cy="1024351"/>
            <a:chOff x="463381" y="900656"/>
            <a:chExt cx="3655672" cy="1024351"/>
          </a:xfrm>
        </p:grpSpPr>
        <p:grpSp>
          <p:nvGrpSpPr>
            <p:cNvPr id="49" name="组合 48"/>
            <p:cNvGrpSpPr/>
            <p:nvPr/>
          </p:nvGrpSpPr>
          <p:grpSpPr>
            <a:xfrm>
              <a:off x="463381" y="900656"/>
              <a:ext cx="3655672" cy="1023511"/>
              <a:chOff x="475126" y="912137"/>
              <a:chExt cx="1752305" cy="1367385"/>
            </a:xfrm>
          </p:grpSpPr>
          <p:sp>
            <p:nvSpPr>
              <p:cNvPr id="53" name="矩形 52"/>
              <p:cNvSpPr/>
              <p:nvPr/>
            </p:nvSpPr>
            <p:spPr>
              <a:xfrm>
                <a:off x="475126" y="912137"/>
                <a:ext cx="1752305" cy="13673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p:cNvSpPr txBox="1"/>
              <p:nvPr/>
            </p:nvSpPr>
            <p:spPr>
              <a:xfrm>
                <a:off x="506576" y="932502"/>
                <a:ext cx="1280015" cy="532760"/>
              </a:xfrm>
              <a:prstGeom prst="rect">
                <a:avLst/>
              </a:prstGeom>
              <a:noFill/>
            </p:spPr>
            <p:txBody>
              <a:bodyPr wrap="square" rtlCol="0">
                <a:spAutoFit/>
              </a:bodyPr>
              <a:lstStyle/>
              <a:p>
                <a:r>
                  <a:rPr lang="en-US" altLang="zh-CN" sz="2000" b="1" dirty="0">
                    <a:solidFill>
                      <a:schemeClr val="bg1"/>
                    </a:solidFill>
                    <a:latin typeface="微软雅黑" panose="020B0503020204020204" charset="-122"/>
                    <a:ea typeface="微软雅黑" panose="020B0503020204020204" charset="-122"/>
                  </a:rPr>
                  <a:t>3. </a:t>
                </a:r>
                <a:r>
                  <a:rPr lang="zh-CN" altLang="en-US" sz="2000" b="1" dirty="0">
                    <a:solidFill>
                      <a:schemeClr val="bg1"/>
                    </a:solidFill>
                    <a:latin typeface="微软雅黑" panose="020B0503020204020204" charset="-122"/>
                    <a:ea typeface="微软雅黑" panose="020B0503020204020204" charset="-122"/>
                  </a:rPr>
                  <a:t>静态投资</a:t>
                </a:r>
                <a:r>
                  <a:rPr lang="zh-CN" altLang="en-US" sz="2000" b="1" dirty="0">
                    <a:solidFill>
                      <a:schemeClr val="bg1"/>
                    </a:solidFill>
                    <a:latin typeface="微软雅黑" panose="020B0503020204020204" charset="-122"/>
                    <a:ea typeface="微软雅黑" panose="020B0503020204020204" charset="-122"/>
                  </a:rPr>
                  <a:t>回收期</a:t>
                </a:r>
                <a:endParaRPr lang="zh-CN" altLang="en-US" sz="2000" b="1" dirty="0">
                  <a:solidFill>
                    <a:schemeClr val="bg1"/>
                  </a:solidFill>
                  <a:latin typeface="微软雅黑" panose="020B0503020204020204" charset="-122"/>
                  <a:ea typeface="微软雅黑" panose="020B0503020204020204" charset="-122"/>
                </a:endParaRPr>
              </a:p>
            </p:txBody>
          </p:sp>
        </p:grpSp>
        <p:sp>
          <p:nvSpPr>
            <p:cNvPr id="50" name="文本框 49"/>
            <p:cNvSpPr txBox="1"/>
            <p:nvPr/>
          </p:nvSpPr>
          <p:spPr>
            <a:xfrm>
              <a:off x="528786" y="1294356"/>
              <a:ext cx="3189605" cy="398780"/>
            </a:xfrm>
            <a:prstGeom prst="rect">
              <a:avLst/>
            </a:prstGeom>
            <a:noFill/>
          </p:spPr>
          <p:txBody>
            <a:bodyPr wrap="square" rtlCol="0">
              <a:spAutoFit/>
            </a:bodyPr>
            <a:lstStyle/>
            <a:p>
              <a:r>
                <a:rPr lang="en-US" altLang="zh-CN" sz="2000" b="1" dirty="0">
                  <a:solidFill>
                    <a:schemeClr val="bg1"/>
                  </a:solidFill>
                  <a:latin typeface="微软雅黑" panose="020B0503020204020204" charset="-122"/>
                  <a:ea typeface="微软雅黑" panose="020B0503020204020204" charset="-122"/>
                </a:rPr>
                <a:t>4.04                     4.05%</a:t>
              </a:r>
              <a:endParaRPr lang="zh-CN" altLang="en-US" sz="3200" b="1" dirty="0">
                <a:solidFill>
                  <a:schemeClr val="bg1"/>
                </a:solidFill>
                <a:latin typeface="微软雅黑" panose="020B0503020204020204" charset="-122"/>
                <a:ea typeface="微软雅黑" panose="020B0503020204020204" charset="-122"/>
              </a:endParaRPr>
            </a:p>
          </p:txBody>
        </p:sp>
        <p:sp>
          <p:nvSpPr>
            <p:cNvPr id="51" name="Arrow"/>
            <p:cNvSpPr/>
            <p:nvPr/>
          </p:nvSpPr>
          <p:spPr>
            <a:xfrm>
              <a:off x="1556300" y="1368877"/>
              <a:ext cx="1131481" cy="208471"/>
            </a:xfrm>
            <a:prstGeom prst="rightArrow">
              <a:avLst>
                <a:gd name="adj1" fmla="val 52268"/>
                <a:gd name="adj2" fmla="val 157862"/>
              </a:avLst>
            </a:prstGeom>
            <a:gradFill flip="none" rotWithShape="1">
              <a:gsLst>
                <a:gs pos="0">
                  <a:schemeClr val="accent1">
                    <a:lumMod val="20000"/>
                    <a:lumOff val="80000"/>
                    <a:alpha val="24000"/>
                  </a:schemeClr>
                </a:gs>
                <a:gs pos="100000">
                  <a:schemeClr val="accent1">
                    <a:lumMod val="20000"/>
                    <a:lumOff val="80000"/>
                  </a:schemeClr>
                </a:gs>
              </a:gsLst>
              <a:lin ang="0" scaled="0"/>
            </a:gradFill>
            <a:ln w="12700" cap="flat">
              <a:noFill/>
              <a:miter lim="400000"/>
            </a:ln>
            <a:effectLst/>
          </p:spPr>
          <p:txBody>
            <a:bodyPr wrap="square" lIns="0" tIns="0" rIns="0" bIns="0" numCol="1" anchor="ctr">
              <a:noAutofit/>
            </a:bodyPr>
            <a:lstStyle/>
            <a:p/>
          </p:txBody>
        </p:sp>
        <p:sp>
          <p:nvSpPr>
            <p:cNvPr id="52" name="文本框 51"/>
            <p:cNvSpPr txBox="1"/>
            <p:nvPr/>
          </p:nvSpPr>
          <p:spPr>
            <a:xfrm>
              <a:off x="528992" y="1664657"/>
              <a:ext cx="1472661" cy="260350"/>
            </a:xfrm>
            <a:prstGeom prst="rect">
              <a:avLst/>
            </a:prstGeom>
            <a:noFill/>
          </p:spPr>
          <p:txBody>
            <a:bodyPr wrap="square" rtlCol="0">
              <a:spAutoFit/>
            </a:bodyPr>
            <a:lstStyle/>
            <a:p>
              <a:endParaRPr lang="zh-CN" altLang="en-US" sz="1100" b="1" dirty="0">
                <a:solidFill>
                  <a:schemeClr val="bg1"/>
                </a:solidFill>
                <a:latin typeface="微软雅黑" panose="020B0503020204020204" charset="-122"/>
                <a:ea typeface="微软雅黑" panose="020B0503020204020204" charset="-122"/>
              </a:endParaRPr>
            </a:p>
          </p:txBody>
        </p:sp>
      </p:grpSp>
      <p:sp>
        <p:nvSpPr>
          <p:cNvPr id="11" name="小李PPT2"/>
          <p:cNvSpPr/>
          <p:nvPr/>
        </p:nvSpPr>
        <p:spPr>
          <a:xfrm>
            <a:off x="356870" y="286481"/>
            <a:ext cx="79375" cy="40005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grpSp>
        <p:nvGrpSpPr>
          <p:cNvPr id="14" name="组合 13"/>
          <p:cNvGrpSpPr/>
          <p:nvPr/>
        </p:nvGrpSpPr>
        <p:grpSpPr>
          <a:xfrm>
            <a:off x="301625" y="1022350"/>
            <a:ext cx="6597650" cy="554355"/>
            <a:chOff x="603" y="3788"/>
            <a:chExt cx="8997" cy="1018"/>
          </a:xfrm>
        </p:grpSpPr>
        <p:sp>
          <p:nvSpPr>
            <p:cNvPr id="15" name="矩形 14"/>
            <p:cNvSpPr/>
            <p:nvPr/>
          </p:nvSpPr>
          <p:spPr>
            <a:xfrm>
              <a:off x="603" y="3788"/>
              <a:ext cx="8997" cy="1018"/>
            </a:xfrm>
            <a:prstGeom prst="rect">
              <a:avLst/>
            </a:prstGeom>
            <a:gradFill flip="none" rotWithShape="1">
              <a:gsLst>
                <a:gs pos="0">
                  <a:schemeClr val="accent6">
                    <a:lumMod val="20000"/>
                    <a:lumOff val="80000"/>
                    <a:alpha val="33000"/>
                  </a:schemeClr>
                </a:gs>
                <a:gs pos="97248">
                  <a:schemeClr val="accent3">
                    <a:lumMod val="40000"/>
                    <a:lumOff val="6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6" name="文本框 15"/>
            <p:cNvSpPr txBox="1"/>
            <p:nvPr/>
          </p:nvSpPr>
          <p:spPr>
            <a:xfrm>
              <a:off x="811" y="3982"/>
              <a:ext cx="8088" cy="732"/>
            </a:xfrm>
            <a:prstGeom prst="rect">
              <a:avLst/>
            </a:prstGeom>
            <a:noFill/>
          </p:spPr>
          <p:txBody>
            <a:bodyPr wrap="square" rtlCol="0">
              <a:spAutoFit/>
            </a:bodyPr>
            <a:p>
              <a:pPr algn="ctr"/>
              <a:r>
                <a:rPr lang="zh-CN" altLang="en-US" sz="2000" b="1" dirty="0">
                  <a:gradFill>
                    <a:gsLst>
                      <a:gs pos="0">
                        <a:srgbClr val="01539D"/>
                      </a:gs>
                      <a:gs pos="97248">
                        <a:srgbClr val="2C8EA7"/>
                      </a:gs>
                    </a:gsLst>
                    <a:lin ang="2700000" scaled="1"/>
                  </a:gradFill>
                  <a:latin typeface="微软雅黑" panose="020B0503020204020204" charset="-122"/>
                  <a:ea typeface="微软雅黑" panose="020B0503020204020204" charset="-122"/>
                </a:rPr>
                <a:t>项目投资现金流量分析详见表 8。</a:t>
              </a:r>
              <a:endParaRPr lang="zh-CN" altLang="en-US" sz="2000" b="1" dirty="0">
                <a:gradFill>
                  <a:gsLst>
                    <a:gs pos="0">
                      <a:srgbClr val="01539D"/>
                    </a:gs>
                    <a:gs pos="97248">
                      <a:srgbClr val="2C8EA7"/>
                    </a:gs>
                  </a:gsLst>
                  <a:lin ang="2700000" scaled="1"/>
                </a:gradFill>
                <a:latin typeface="微软雅黑" panose="020B0503020204020204" charset="-122"/>
                <a:ea typeface="微软雅黑" panose="020B0503020204020204" charset="-122"/>
              </a:endParaRPr>
            </a:p>
          </p:txBody>
        </p:sp>
      </p:grpSp>
      <p:pic>
        <p:nvPicPr>
          <p:cNvPr id="17" name="图片 16"/>
          <p:cNvPicPr>
            <a:picLocks noChangeAspect="1"/>
          </p:cNvPicPr>
          <p:nvPr/>
        </p:nvPicPr>
        <p:blipFill>
          <a:blip r:embed="rId1"/>
          <a:stretch>
            <a:fillRect/>
          </a:stretch>
        </p:blipFill>
        <p:spPr>
          <a:xfrm>
            <a:off x="174625" y="1777365"/>
            <a:ext cx="6904355" cy="4876800"/>
          </a:xfrm>
          <a:prstGeom prst="rect">
            <a:avLst/>
          </a:prstGeom>
        </p:spPr>
      </p:pic>
      <p:sp>
        <p:nvSpPr>
          <p:cNvPr id="19" name="矩形 18"/>
          <p:cNvSpPr/>
          <p:nvPr/>
        </p:nvSpPr>
        <p:spPr>
          <a:xfrm>
            <a:off x="7238365" y="902335"/>
            <a:ext cx="753745" cy="3347720"/>
          </a:xfrm>
          <a:prstGeom prst="rect">
            <a:avLst/>
          </a:prstGeom>
          <a:solidFill>
            <a:schemeClr val="accent2">
              <a:lumMod val="60000"/>
              <a:lumOff val="40000"/>
            </a:schemeClr>
          </a:solidFill>
          <a:ln cap="sq">
            <a:noFill/>
          </a:ln>
          <a:effectLst>
            <a:outerShdw blurRad="50800" dist="50800" dir="1800000" algn="ctr" rotWithShape="0">
              <a:srgbClr val="B2B2B2">
                <a:alpha val="43000"/>
              </a:srgb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2000" b="1" dirty="0">
                <a:solidFill>
                  <a:schemeClr val="bg1"/>
                </a:solidFill>
                <a:latin typeface="微软雅黑" panose="020B0503020204020204" charset="-122"/>
                <a:ea typeface="微软雅黑" panose="020B0503020204020204" charset="-122"/>
              </a:rPr>
              <a:t>项目经济评价指标</a:t>
            </a:r>
            <a:endParaRPr lang="zh-CN" altLang="en-US"/>
          </a:p>
        </p:txBody>
      </p:sp>
      <p:sp>
        <p:nvSpPr>
          <p:cNvPr id="31" name="文本框 30"/>
          <p:cNvSpPr txBox="1"/>
          <p:nvPr/>
        </p:nvSpPr>
        <p:spPr>
          <a:xfrm>
            <a:off x="8204666" y="2781526"/>
            <a:ext cx="2774950" cy="260350"/>
          </a:xfrm>
          <a:prstGeom prst="rect">
            <a:avLst/>
          </a:prstGeom>
          <a:noFill/>
        </p:spPr>
        <p:txBody>
          <a:bodyPr wrap="square" rtlCol="0">
            <a:spAutoFit/>
          </a:bodyPr>
          <a:p>
            <a:pPr algn="l"/>
            <a:r>
              <a:rPr lang="zh-CN" altLang="en-US" sz="1100" b="1" dirty="0">
                <a:solidFill>
                  <a:schemeClr val="bg1"/>
                </a:solidFill>
                <a:latin typeface="微软雅黑" panose="020B0503020204020204" charset="-122"/>
                <a:ea typeface="微软雅黑" panose="020B0503020204020204" charset="-122"/>
              </a:rPr>
              <a:t>税前</a:t>
            </a:r>
            <a:r>
              <a:rPr lang="en-US" altLang="zh-CN" sz="1100" b="1" dirty="0">
                <a:solidFill>
                  <a:schemeClr val="bg1"/>
                </a:solidFill>
                <a:latin typeface="微软雅黑" panose="020B0503020204020204" charset="-122"/>
                <a:ea typeface="微软雅黑" panose="020B0503020204020204" charset="-122"/>
              </a:rPr>
              <a:t> 	                                </a:t>
            </a:r>
            <a:r>
              <a:rPr lang="zh-CN" altLang="en-US" sz="1100" b="1" dirty="0">
                <a:solidFill>
                  <a:schemeClr val="bg1"/>
                </a:solidFill>
                <a:latin typeface="微软雅黑" panose="020B0503020204020204" charset="-122"/>
                <a:ea typeface="微软雅黑" panose="020B0503020204020204" charset="-122"/>
              </a:rPr>
              <a:t>税后</a:t>
            </a:r>
            <a:endParaRPr lang="zh-CN" altLang="en-US" sz="1100" b="1" dirty="0">
              <a:solidFill>
                <a:schemeClr val="bg1"/>
              </a:solidFill>
              <a:latin typeface="微软雅黑" panose="020B0503020204020204" charset="-122"/>
              <a:ea typeface="微软雅黑" panose="020B0503020204020204" charset="-122"/>
            </a:endParaRPr>
          </a:p>
        </p:txBody>
      </p:sp>
      <p:sp>
        <p:nvSpPr>
          <p:cNvPr id="32" name="文本框 31"/>
          <p:cNvSpPr txBox="1"/>
          <p:nvPr/>
        </p:nvSpPr>
        <p:spPr>
          <a:xfrm>
            <a:off x="8215461" y="1665196"/>
            <a:ext cx="2774950" cy="260350"/>
          </a:xfrm>
          <a:prstGeom prst="rect">
            <a:avLst/>
          </a:prstGeom>
          <a:noFill/>
        </p:spPr>
        <p:txBody>
          <a:bodyPr wrap="square" rtlCol="0">
            <a:spAutoFit/>
          </a:bodyPr>
          <a:lstStyle/>
          <a:p>
            <a:pPr algn="l"/>
            <a:r>
              <a:rPr lang="zh-CN" altLang="en-US" sz="1100" b="1" dirty="0">
                <a:solidFill>
                  <a:schemeClr val="bg1"/>
                </a:solidFill>
                <a:latin typeface="微软雅黑" panose="020B0503020204020204" charset="-122"/>
                <a:ea typeface="微软雅黑" panose="020B0503020204020204" charset="-122"/>
              </a:rPr>
              <a:t>税前</a:t>
            </a:r>
            <a:r>
              <a:rPr lang="en-US" altLang="zh-CN" sz="1100" b="1" dirty="0">
                <a:solidFill>
                  <a:schemeClr val="bg1"/>
                </a:solidFill>
                <a:latin typeface="微软雅黑" panose="020B0503020204020204" charset="-122"/>
                <a:ea typeface="微软雅黑" panose="020B0503020204020204" charset="-122"/>
              </a:rPr>
              <a:t> 	                                </a:t>
            </a:r>
            <a:r>
              <a:rPr lang="zh-CN" altLang="en-US" sz="1100" b="1" dirty="0">
                <a:solidFill>
                  <a:schemeClr val="bg1"/>
                </a:solidFill>
                <a:latin typeface="微软雅黑" panose="020B0503020204020204" charset="-122"/>
                <a:ea typeface="微软雅黑" panose="020B0503020204020204" charset="-122"/>
              </a:rPr>
              <a:t>税后</a:t>
            </a:r>
            <a:endParaRPr lang="zh-CN" altLang="en-US" sz="1100" b="1" dirty="0">
              <a:solidFill>
                <a:schemeClr val="bg1"/>
              </a:solidFill>
              <a:latin typeface="微软雅黑" panose="020B0503020204020204" charset="-122"/>
              <a:ea typeface="微软雅黑" panose="020B0503020204020204" charset="-122"/>
            </a:endParaRPr>
          </a:p>
        </p:txBody>
      </p:sp>
      <p:sp>
        <p:nvSpPr>
          <p:cNvPr id="33" name="文本框 32"/>
          <p:cNvSpPr txBox="1"/>
          <p:nvPr/>
        </p:nvSpPr>
        <p:spPr>
          <a:xfrm>
            <a:off x="8252926" y="3977231"/>
            <a:ext cx="2774950" cy="260350"/>
          </a:xfrm>
          <a:prstGeom prst="rect">
            <a:avLst/>
          </a:prstGeom>
          <a:noFill/>
        </p:spPr>
        <p:txBody>
          <a:bodyPr wrap="square" rtlCol="0">
            <a:spAutoFit/>
          </a:bodyPr>
          <a:lstStyle/>
          <a:p>
            <a:pPr algn="l"/>
            <a:r>
              <a:rPr lang="zh-CN" altLang="en-US" sz="1100" b="1" dirty="0">
                <a:solidFill>
                  <a:schemeClr val="bg1"/>
                </a:solidFill>
                <a:latin typeface="微软雅黑" panose="020B0503020204020204" charset="-122"/>
                <a:ea typeface="微软雅黑" panose="020B0503020204020204" charset="-122"/>
              </a:rPr>
              <a:t>税前</a:t>
            </a:r>
            <a:r>
              <a:rPr lang="en-US" altLang="zh-CN" sz="1100" b="1" dirty="0">
                <a:solidFill>
                  <a:schemeClr val="bg1"/>
                </a:solidFill>
                <a:latin typeface="微软雅黑" panose="020B0503020204020204" charset="-122"/>
                <a:ea typeface="微软雅黑" panose="020B0503020204020204" charset="-122"/>
              </a:rPr>
              <a:t> 	                                </a:t>
            </a:r>
            <a:r>
              <a:rPr lang="zh-CN" altLang="en-US" sz="1100" b="1" dirty="0">
                <a:solidFill>
                  <a:schemeClr val="bg1"/>
                </a:solidFill>
                <a:latin typeface="微软雅黑" panose="020B0503020204020204" charset="-122"/>
                <a:ea typeface="微软雅黑" panose="020B0503020204020204" charset="-122"/>
              </a:rPr>
              <a:t>税后</a:t>
            </a:r>
            <a:endParaRPr lang="zh-CN" altLang="en-US" sz="1100" b="1" dirty="0">
              <a:solidFill>
                <a:schemeClr val="bg1"/>
              </a:solidFill>
              <a:latin typeface="微软雅黑" panose="020B0503020204020204" charset="-122"/>
              <a:ea typeface="微软雅黑" panose="020B0503020204020204" charset="-122"/>
            </a:endParaRPr>
          </a:p>
        </p:txBody>
      </p:sp>
      <p:sp>
        <p:nvSpPr>
          <p:cNvPr id="34" name="Rectangle: Rounded Corners 77"/>
          <p:cNvSpPr/>
          <p:nvPr/>
        </p:nvSpPr>
        <p:spPr>
          <a:xfrm>
            <a:off x="7238365" y="4595495"/>
            <a:ext cx="4590415" cy="1804670"/>
          </a:xfrm>
          <a:prstGeom prst="roundRect">
            <a:avLst>
              <a:gd name="adj" fmla="val 0"/>
            </a:avLst>
          </a:prstGeom>
          <a:noFill/>
          <a:ln w="19050">
            <a:solidFill>
              <a:srgbClr val="507596"/>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tIns="180000" rtlCol="0" anchor="t"/>
          <a:p>
            <a:r>
              <a:rPr lang="zh-CN" altLang="en-US" sz="1400" b="1" dirty="0">
                <a:solidFill>
                  <a:srgbClr val="015056"/>
                </a:solidFill>
                <a:latin typeface="微软雅黑" panose="020B0503020204020204" charset="-122"/>
                <a:ea typeface="微软雅黑" panose="020B0503020204020204" charset="-122"/>
              </a:rPr>
              <a:t>分析：</a:t>
            </a:r>
            <a:endParaRPr lang="en-US" altLang="zh-CN" sz="1400" b="1" dirty="0">
              <a:solidFill>
                <a:srgbClr val="015056"/>
              </a:solidFill>
              <a:latin typeface="微软雅黑" panose="020B0503020204020204" charset="-122"/>
              <a:ea typeface="微软雅黑" panose="020B0503020204020204" charset="-122"/>
            </a:endParaRPr>
          </a:p>
          <a:p>
            <a:endParaRPr lang="en-US" sz="1200" dirty="0">
              <a:solidFill>
                <a:srgbClr val="015056"/>
              </a:solidFill>
              <a:latin typeface="微软雅黑" panose="020B0503020204020204" charset="-122"/>
              <a:ea typeface="微软雅黑" panose="020B0503020204020204" charset="-122"/>
            </a:endParaRPr>
          </a:p>
        </p:txBody>
      </p:sp>
      <p:sp>
        <p:nvSpPr>
          <p:cNvPr id="35" name="文本框 34"/>
          <p:cNvSpPr txBox="1"/>
          <p:nvPr/>
        </p:nvSpPr>
        <p:spPr>
          <a:xfrm>
            <a:off x="7200900" y="5100955"/>
            <a:ext cx="4472940" cy="844550"/>
          </a:xfrm>
          <a:prstGeom prst="rect">
            <a:avLst/>
          </a:prstGeom>
          <a:noFill/>
        </p:spPr>
        <p:txBody>
          <a:bodyPr wrap="square" rtlCol="0">
            <a:noAutofit/>
          </a:bodyPr>
          <a:p>
            <a:pPr indent="457200"/>
            <a:r>
              <a:rPr lang="zh-CN" altLang="en-US" sz="1600">
                <a:latin typeface="方正楷体简体" panose="02000000000000000000" charset="-122"/>
                <a:ea typeface="方正楷体简体" panose="02000000000000000000" charset="-122"/>
                <a:cs typeface="方正楷体简体" panose="02000000000000000000" charset="-122"/>
              </a:rPr>
              <a:t>根据表 8 的计算结果可知，项目财务净现值均大于 0，说明该项目在设定折现率条件下可取得较高的盈利水平，具有良好的经济效益与可行性，因此该项目是可行且合理的。</a:t>
            </a:r>
            <a:endParaRPr lang="zh-CN" altLang="en-US" sz="1600">
              <a:latin typeface="方正楷体简体" panose="02000000000000000000" charset="-122"/>
              <a:ea typeface="方正楷体简体" panose="02000000000000000000" charset="-122"/>
              <a:cs typeface="方正楷体简体" panose="02000000000000000000"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21640" y="233045"/>
            <a:ext cx="6423025" cy="521970"/>
          </a:xfrm>
          <a:prstGeom prst="rect">
            <a:avLst/>
          </a:prstGeom>
          <a:noFill/>
        </p:spPr>
        <p:txBody>
          <a:bodyPr wrap="square" rtlCol="0">
            <a:spAutoFit/>
          </a:bodyPr>
          <a:lstStyle/>
          <a:p>
            <a:r>
              <a:rPr sz="2800" b="1" dirty="0">
                <a:solidFill>
                  <a:srgbClr val="515161"/>
                </a:solidFill>
                <a:latin typeface="微软雅黑" panose="020B0503020204020204" charset="-122"/>
                <a:ea typeface="微软雅黑" panose="020B0503020204020204" charset="-122"/>
              </a:rPr>
              <a:t>（二）投资收益分析</a:t>
            </a:r>
            <a:endParaRPr sz="2800" b="1" dirty="0">
              <a:solidFill>
                <a:srgbClr val="515161"/>
              </a:solidFill>
              <a:latin typeface="微软雅黑" panose="020B0503020204020204" charset="-122"/>
              <a:ea typeface="微软雅黑" panose="020B0503020204020204" charset="-122"/>
            </a:endParaRPr>
          </a:p>
        </p:txBody>
      </p:sp>
      <p:cxnSp>
        <p:nvCxnSpPr>
          <p:cNvPr id="5" name="直接连接符 4"/>
          <p:cNvCxnSpPr/>
          <p:nvPr/>
        </p:nvCxnSpPr>
        <p:spPr>
          <a:xfrm>
            <a:off x="421341" y="828741"/>
            <a:ext cx="11349317" cy="0"/>
          </a:xfrm>
          <a:prstGeom prst="line">
            <a:avLst/>
          </a:prstGeom>
          <a:ln w="19050">
            <a:solidFill>
              <a:srgbClr val="515161"/>
            </a:solidFill>
          </a:ln>
        </p:spPr>
        <p:style>
          <a:lnRef idx="1">
            <a:schemeClr val="accent1"/>
          </a:lnRef>
          <a:fillRef idx="0">
            <a:schemeClr val="accent1"/>
          </a:fillRef>
          <a:effectRef idx="0">
            <a:schemeClr val="accent1"/>
          </a:effectRef>
          <a:fontRef idx="minor">
            <a:schemeClr val="tx1"/>
          </a:fontRef>
        </p:style>
      </p:cxnSp>
      <p:sp>
        <p:nvSpPr>
          <p:cNvPr id="11" name="小李PPT2"/>
          <p:cNvSpPr/>
          <p:nvPr/>
        </p:nvSpPr>
        <p:spPr>
          <a:xfrm>
            <a:off x="356870" y="286481"/>
            <a:ext cx="79375" cy="40005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grpSp>
        <p:nvGrpSpPr>
          <p:cNvPr id="7" name="组合 6"/>
          <p:cNvGrpSpPr/>
          <p:nvPr/>
        </p:nvGrpSpPr>
        <p:grpSpPr>
          <a:xfrm>
            <a:off x="5206365" y="1022350"/>
            <a:ext cx="6597650" cy="5473700"/>
            <a:chOff x="475" y="1610"/>
            <a:chExt cx="10390" cy="8620"/>
          </a:xfrm>
        </p:grpSpPr>
        <p:grpSp>
          <p:nvGrpSpPr>
            <p:cNvPr id="14" name="组合 13"/>
            <p:cNvGrpSpPr/>
            <p:nvPr/>
          </p:nvGrpSpPr>
          <p:grpSpPr>
            <a:xfrm>
              <a:off x="475" y="1610"/>
              <a:ext cx="10390" cy="873"/>
              <a:chOff x="603" y="3788"/>
              <a:chExt cx="8997" cy="1018"/>
            </a:xfrm>
          </p:grpSpPr>
          <p:sp>
            <p:nvSpPr>
              <p:cNvPr id="15" name="矩形 14"/>
              <p:cNvSpPr/>
              <p:nvPr/>
            </p:nvSpPr>
            <p:spPr>
              <a:xfrm>
                <a:off x="603" y="3788"/>
                <a:ext cx="8997" cy="1018"/>
              </a:xfrm>
              <a:prstGeom prst="rect">
                <a:avLst/>
              </a:prstGeom>
              <a:gradFill flip="none" rotWithShape="1">
                <a:gsLst>
                  <a:gs pos="0">
                    <a:schemeClr val="accent6">
                      <a:lumMod val="20000"/>
                      <a:lumOff val="80000"/>
                      <a:alpha val="33000"/>
                    </a:schemeClr>
                  </a:gs>
                  <a:gs pos="97248">
                    <a:schemeClr val="accent3">
                      <a:lumMod val="40000"/>
                      <a:lumOff val="6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6" name="文本框 15"/>
              <p:cNvSpPr txBox="1"/>
              <p:nvPr/>
            </p:nvSpPr>
            <p:spPr>
              <a:xfrm>
                <a:off x="811" y="3982"/>
                <a:ext cx="8088" cy="732"/>
              </a:xfrm>
              <a:prstGeom prst="rect">
                <a:avLst/>
              </a:prstGeom>
              <a:noFill/>
            </p:spPr>
            <p:txBody>
              <a:bodyPr wrap="square" rtlCol="0">
                <a:spAutoFit/>
              </a:bodyPr>
              <a:p>
                <a:pPr algn="ctr"/>
                <a:r>
                  <a:rPr lang="zh-CN" altLang="en-US" sz="2000" b="1" dirty="0">
                    <a:gradFill>
                      <a:gsLst>
                        <a:gs pos="0">
                          <a:srgbClr val="01539D"/>
                        </a:gs>
                        <a:gs pos="97248">
                          <a:srgbClr val="2C8EA7"/>
                        </a:gs>
                      </a:gsLst>
                      <a:lin ang="2700000" scaled="1"/>
                    </a:gradFill>
                    <a:latin typeface="微软雅黑" panose="020B0503020204020204" charset="-122"/>
                    <a:ea typeface="微软雅黑" panose="020B0503020204020204" charset="-122"/>
                  </a:rPr>
                  <a:t>项目资本金现金流量分析结果见表 9。</a:t>
                </a:r>
                <a:endParaRPr lang="zh-CN" altLang="en-US" sz="2000" b="1" dirty="0">
                  <a:gradFill>
                    <a:gsLst>
                      <a:gs pos="0">
                        <a:srgbClr val="01539D"/>
                      </a:gs>
                      <a:gs pos="97248">
                        <a:srgbClr val="2C8EA7"/>
                      </a:gs>
                    </a:gsLst>
                    <a:lin ang="2700000" scaled="1"/>
                  </a:gradFill>
                  <a:latin typeface="微软雅黑" panose="020B0503020204020204" charset="-122"/>
                  <a:ea typeface="微软雅黑" panose="020B0503020204020204" charset="-122"/>
                </a:endParaRPr>
              </a:p>
            </p:txBody>
          </p:sp>
        </p:grpSp>
        <p:pic>
          <p:nvPicPr>
            <p:cNvPr id="6" name="图片 5"/>
            <p:cNvPicPr>
              <a:picLocks noChangeAspect="1"/>
            </p:cNvPicPr>
            <p:nvPr/>
          </p:nvPicPr>
          <p:blipFill>
            <a:blip r:embed="rId1"/>
            <a:stretch>
              <a:fillRect/>
            </a:stretch>
          </p:blipFill>
          <p:spPr>
            <a:xfrm>
              <a:off x="475" y="2788"/>
              <a:ext cx="10390" cy="7442"/>
            </a:xfrm>
            <a:prstGeom prst="rect">
              <a:avLst/>
            </a:prstGeom>
          </p:spPr>
        </p:pic>
      </p:grpSp>
      <p:sp>
        <p:nvSpPr>
          <p:cNvPr id="8" name="Rectangle: Rounded Corners 77"/>
          <p:cNvSpPr/>
          <p:nvPr/>
        </p:nvSpPr>
        <p:spPr>
          <a:xfrm>
            <a:off x="356870" y="1022350"/>
            <a:ext cx="4590415" cy="1170305"/>
          </a:xfrm>
          <a:prstGeom prst="roundRect">
            <a:avLst>
              <a:gd name="adj" fmla="val 0"/>
            </a:avLst>
          </a:prstGeom>
          <a:noFill/>
          <a:ln w="19050">
            <a:solidFill>
              <a:srgbClr val="507596"/>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tIns="180000" rtlCol="0" anchor="t"/>
          <a:p>
            <a:r>
              <a:rPr lang="zh-CN" altLang="en-US" sz="1400" b="1" dirty="0">
                <a:solidFill>
                  <a:srgbClr val="015056"/>
                </a:solidFill>
                <a:latin typeface="微软雅黑" panose="020B0503020204020204" charset="-122"/>
                <a:ea typeface="微软雅黑" panose="020B0503020204020204" charset="-122"/>
              </a:rPr>
              <a:t>分析：</a:t>
            </a:r>
            <a:endParaRPr lang="zh-CN" altLang="en-US" sz="1400" b="1" dirty="0">
              <a:solidFill>
                <a:srgbClr val="015056"/>
              </a:solidFill>
              <a:latin typeface="微软雅黑" panose="020B0503020204020204" charset="-122"/>
              <a:ea typeface="微软雅黑" panose="020B0503020204020204" charset="-122"/>
            </a:endParaRPr>
          </a:p>
          <a:p>
            <a:endParaRPr lang="zh-CN" altLang="en-US" sz="1400" b="1" dirty="0">
              <a:solidFill>
                <a:srgbClr val="015056"/>
              </a:solidFill>
              <a:latin typeface="微软雅黑" panose="020B0503020204020204" charset="-122"/>
              <a:ea typeface="微软雅黑" panose="020B0503020204020204" charset="-122"/>
            </a:endParaRPr>
          </a:p>
          <a:p>
            <a:pPr indent="457200"/>
            <a:r>
              <a:rPr lang="en-US" altLang="zh-CN" sz="1400" b="1" dirty="0">
                <a:solidFill>
                  <a:srgbClr val="015056"/>
                </a:solidFill>
                <a:latin typeface="微软雅黑" panose="020B0503020204020204" charset="-122"/>
                <a:ea typeface="微软雅黑" panose="020B0503020204020204" charset="-122"/>
              </a:rPr>
              <a:t>根据计算，项目的财务内部收益率（所得税后）为44%，财务净现值为 3930.07 万元（折现率 i = 12%）</a:t>
            </a:r>
            <a:endParaRPr lang="en-US" altLang="zh-CN" sz="1400" b="1" dirty="0">
              <a:solidFill>
                <a:srgbClr val="015056"/>
              </a:solidFill>
              <a:latin typeface="微软雅黑" panose="020B0503020204020204" charset="-122"/>
              <a:ea typeface="微软雅黑" panose="020B0503020204020204" charset="-122"/>
            </a:endParaRPr>
          </a:p>
          <a:p>
            <a:endParaRPr lang="en-US" sz="1200" dirty="0">
              <a:solidFill>
                <a:srgbClr val="015056"/>
              </a:solidFill>
              <a:latin typeface="微软雅黑" panose="020B0503020204020204" charset="-122"/>
              <a:ea typeface="微软雅黑" panose="020B0503020204020204" charset="-122"/>
            </a:endParaRPr>
          </a:p>
        </p:txBody>
      </p:sp>
      <p:grpSp>
        <p:nvGrpSpPr>
          <p:cNvPr id="54" name="组合 53"/>
          <p:cNvGrpSpPr/>
          <p:nvPr/>
        </p:nvGrpSpPr>
        <p:grpSpPr>
          <a:xfrm>
            <a:off x="371914" y="5238750"/>
            <a:ext cx="4578546" cy="1381760"/>
            <a:chOff x="581" y="3982"/>
            <a:chExt cx="7210" cy="2176"/>
          </a:xfrm>
        </p:grpSpPr>
        <p:grpSp>
          <p:nvGrpSpPr>
            <p:cNvPr id="9" name="组合 8"/>
            <p:cNvGrpSpPr/>
            <p:nvPr/>
          </p:nvGrpSpPr>
          <p:grpSpPr>
            <a:xfrm rot="0">
              <a:off x="581" y="4005"/>
              <a:ext cx="3019" cy="2153"/>
              <a:chOff x="475126" y="912137"/>
              <a:chExt cx="1752305" cy="1367385"/>
            </a:xfrm>
          </p:grpSpPr>
          <p:sp>
            <p:nvSpPr>
              <p:cNvPr id="18" name="矩形 17"/>
              <p:cNvSpPr/>
              <p:nvPr/>
            </p:nvSpPr>
            <p:spPr>
              <a:xfrm>
                <a:off x="475126" y="912137"/>
                <a:ext cx="1752305" cy="136738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20" name="组合 19"/>
              <p:cNvGrpSpPr/>
              <p:nvPr/>
            </p:nvGrpSpPr>
            <p:grpSpPr>
              <a:xfrm>
                <a:off x="475301" y="953916"/>
                <a:ext cx="1731377" cy="1050389"/>
                <a:chOff x="432278" y="1760727"/>
                <a:chExt cx="2097347" cy="1460413"/>
              </a:xfrm>
            </p:grpSpPr>
            <p:sp>
              <p:nvSpPr>
                <p:cNvPr id="36" name="文本框 35"/>
                <p:cNvSpPr txBox="1"/>
                <p:nvPr/>
              </p:nvSpPr>
              <p:spPr>
                <a:xfrm>
                  <a:off x="432278" y="2409641"/>
                  <a:ext cx="1697208" cy="811499"/>
                </a:xfrm>
                <a:prstGeom prst="rect">
                  <a:avLst/>
                </a:prstGeom>
                <a:noFill/>
              </p:spPr>
              <p:txBody>
                <a:bodyPr wrap="square" rtlCol="0">
                  <a:spAutoFit/>
                </a:bodyPr>
                <a:p>
                  <a:pPr algn="ctr"/>
                  <a:r>
                    <a:rPr lang="en-US" altLang="zh-CN" sz="3200" b="1" dirty="0">
                      <a:solidFill>
                        <a:schemeClr val="bg1"/>
                      </a:solidFill>
                      <a:latin typeface="微软雅黑" panose="020B0503020204020204" charset="-122"/>
                      <a:ea typeface="微软雅黑" panose="020B0503020204020204" charset="-122"/>
                    </a:rPr>
                    <a:t>28.0</a:t>
                  </a:r>
                  <a:endParaRPr lang="en-US" altLang="zh-CN" sz="3200" b="1" dirty="0">
                    <a:solidFill>
                      <a:schemeClr val="bg1"/>
                    </a:solidFill>
                    <a:latin typeface="微软雅黑" panose="020B0503020204020204" charset="-122"/>
                    <a:ea typeface="微软雅黑" panose="020B0503020204020204" charset="-122"/>
                  </a:endParaRPr>
                </a:p>
              </p:txBody>
            </p:sp>
            <p:sp>
              <p:nvSpPr>
                <p:cNvPr id="37" name="文本框 36"/>
                <p:cNvSpPr txBox="1"/>
                <p:nvPr/>
              </p:nvSpPr>
              <p:spPr>
                <a:xfrm>
                  <a:off x="2035436" y="2581666"/>
                  <a:ext cx="494189" cy="468886"/>
                </a:xfrm>
                <a:prstGeom prst="rect">
                  <a:avLst/>
                </a:prstGeom>
                <a:noFill/>
              </p:spPr>
              <p:txBody>
                <a:bodyPr wrap="square" rtlCol="0">
                  <a:spAutoFit/>
                </a:bodyPr>
                <a:p>
                  <a:r>
                    <a:rPr lang="en-US" altLang="zh-CN" sz="1600" b="1" dirty="0">
                      <a:solidFill>
                        <a:schemeClr val="bg1"/>
                      </a:solidFill>
                      <a:latin typeface="微软雅黑" panose="020B0503020204020204" charset="-122"/>
                      <a:ea typeface="微软雅黑" panose="020B0503020204020204" charset="-122"/>
                    </a:rPr>
                    <a:t>%</a:t>
                  </a:r>
                  <a:endParaRPr lang="en-US" altLang="zh-CN" sz="1600" b="1" dirty="0">
                    <a:solidFill>
                      <a:schemeClr val="bg1"/>
                    </a:solidFill>
                    <a:latin typeface="微软雅黑" panose="020B0503020204020204" charset="-122"/>
                    <a:ea typeface="微软雅黑" panose="020B0503020204020204" charset="-122"/>
                  </a:endParaRPr>
                </a:p>
              </p:txBody>
            </p:sp>
            <p:sp>
              <p:nvSpPr>
                <p:cNvPr id="21" name="文本框 20"/>
                <p:cNvSpPr txBox="1"/>
                <p:nvPr/>
              </p:nvSpPr>
              <p:spPr>
                <a:xfrm>
                  <a:off x="636553" y="1760727"/>
                  <a:ext cx="1665989" cy="426501"/>
                </a:xfrm>
                <a:prstGeom prst="rect">
                  <a:avLst/>
                </a:prstGeom>
                <a:solidFill>
                  <a:schemeClr val="bg1">
                    <a:lumMod val="85000"/>
                    <a:alpha val="51000"/>
                  </a:schemeClr>
                </a:solidFill>
              </p:spPr>
              <p:txBody>
                <a:bodyPr wrap="square" rtlCol="0">
                  <a:spAutoFit/>
                </a:bodyPr>
                <a:p>
                  <a:pPr algn="ctr"/>
                  <a:r>
                    <a:rPr lang="zh-CN" altLang="en-US" sz="1400" b="1" dirty="0">
                      <a:solidFill>
                        <a:schemeClr val="bg1"/>
                      </a:solidFill>
                      <a:latin typeface="微软雅黑" panose="020B0503020204020204" charset="-122"/>
                      <a:ea typeface="微软雅黑" panose="020B0503020204020204" charset="-122"/>
                    </a:rPr>
                    <a:t>投资收益</a:t>
                  </a:r>
                  <a:r>
                    <a:rPr lang="zh-CN" altLang="en-US" sz="1400" b="1" dirty="0">
                      <a:solidFill>
                        <a:schemeClr val="bg1"/>
                      </a:solidFill>
                      <a:latin typeface="微软雅黑" panose="020B0503020204020204" charset="-122"/>
                      <a:ea typeface="微软雅黑" panose="020B0503020204020204" charset="-122"/>
                    </a:rPr>
                    <a:t>率</a:t>
                  </a:r>
                  <a:endParaRPr lang="zh-CN" altLang="en-US" sz="1400" b="1" dirty="0">
                    <a:solidFill>
                      <a:schemeClr val="bg1"/>
                    </a:solidFill>
                    <a:latin typeface="微软雅黑" panose="020B0503020204020204" charset="-122"/>
                    <a:ea typeface="微软雅黑" panose="020B0503020204020204" charset="-122"/>
                  </a:endParaRPr>
                </a:p>
              </p:txBody>
            </p:sp>
          </p:grpSp>
        </p:grpSp>
        <p:grpSp>
          <p:nvGrpSpPr>
            <p:cNvPr id="23" name="组合 22"/>
            <p:cNvGrpSpPr/>
            <p:nvPr/>
          </p:nvGrpSpPr>
          <p:grpSpPr>
            <a:xfrm rot="0">
              <a:off x="4657" y="3982"/>
              <a:ext cx="3134" cy="2153"/>
              <a:chOff x="433868" y="912137"/>
              <a:chExt cx="1793563" cy="1367385"/>
            </a:xfrm>
          </p:grpSpPr>
          <p:sp>
            <p:nvSpPr>
              <p:cNvPr id="24" name="矩形 23"/>
              <p:cNvSpPr/>
              <p:nvPr/>
            </p:nvSpPr>
            <p:spPr>
              <a:xfrm>
                <a:off x="475126" y="912137"/>
                <a:ext cx="1752305" cy="136738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25" name="组合 24"/>
              <p:cNvGrpSpPr/>
              <p:nvPr/>
            </p:nvGrpSpPr>
            <p:grpSpPr>
              <a:xfrm>
                <a:off x="433868" y="953916"/>
                <a:ext cx="1725639" cy="1049753"/>
                <a:chOff x="382087" y="1760727"/>
                <a:chExt cx="2090397" cy="1459528"/>
              </a:xfrm>
            </p:grpSpPr>
            <p:sp>
              <p:nvSpPr>
                <p:cNvPr id="26" name="文本框 25"/>
                <p:cNvSpPr txBox="1"/>
                <p:nvPr/>
              </p:nvSpPr>
              <p:spPr>
                <a:xfrm>
                  <a:off x="382087" y="2408757"/>
                  <a:ext cx="1599144" cy="811498"/>
                </a:xfrm>
                <a:prstGeom prst="rect">
                  <a:avLst/>
                </a:prstGeom>
                <a:noFill/>
              </p:spPr>
              <p:txBody>
                <a:bodyPr wrap="square" rtlCol="0">
                  <a:spAutoFit/>
                </a:bodyPr>
                <a:p>
                  <a:pPr algn="ctr"/>
                  <a:r>
                    <a:rPr lang="en-US" altLang="zh-CN" sz="3200" b="1" dirty="0">
                      <a:solidFill>
                        <a:schemeClr val="bg1"/>
                      </a:solidFill>
                      <a:latin typeface="微软雅黑" panose="020B0503020204020204" charset="-122"/>
                      <a:ea typeface="微软雅黑" panose="020B0503020204020204" charset="-122"/>
                    </a:rPr>
                    <a:t>33.5</a:t>
                  </a:r>
                  <a:endParaRPr lang="en-US" altLang="zh-CN" sz="3200" b="1" dirty="0">
                    <a:solidFill>
                      <a:schemeClr val="bg1"/>
                    </a:solidFill>
                    <a:latin typeface="微软雅黑" panose="020B0503020204020204" charset="-122"/>
                    <a:ea typeface="微软雅黑" panose="020B0503020204020204" charset="-122"/>
                  </a:endParaRPr>
                </a:p>
              </p:txBody>
            </p:sp>
            <p:sp>
              <p:nvSpPr>
                <p:cNvPr id="29" name="文本框 28"/>
                <p:cNvSpPr txBox="1"/>
                <p:nvPr/>
              </p:nvSpPr>
              <p:spPr>
                <a:xfrm>
                  <a:off x="1978295" y="2581664"/>
                  <a:ext cx="494189" cy="468885"/>
                </a:xfrm>
                <a:prstGeom prst="rect">
                  <a:avLst/>
                </a:prstGeom>
                <a:noFill/>
              </p:spPr>
              <p:txBody>
                <a:bodyPr wrap="square" rtlCol="0">
                  <a:spAutoFit/>
                </a:bodyPr>
                <a:p>
                  <a:r>
                    <a:rPr lang="en-US" altLang="zh-CN" sz="1600" b="1" dirty="0">
                      <a:solidFill>
                        <a:schemeClr val="bg1"/>
                      </a:solidFill>
                      <a:latin typeface="微软雅黑" panose="020B0503020204020204" charset="-122"/>
                      <a:ea typeface="微软雅黑" panose="020B0503020204020204" charset="-122"/>
                    </a:rPr>
                    <a:t>%</a:t>
                  </a:r>
                  <a:endParaRPr lang="en-US" altLang="zh-CN" sz="1600" b="1" dirty="0">
                    <a:solidFill>
                      <a:schemeClr val="bg1"/>
                    </a:solidFill>
                    <a:latin typeface="微软雅黑" panose="020B0503020204020204" charset="-122"/>
                    <a:ea typeface="微软雅黑" panose="020B0503020204020204" charset="-122"/>
                  </a:endParaRPr>
                </a:p>
              </p:txBody>
            </p:sp>
            <p:sp>
              <p:nvSpPr>
                <p:cNvPr id="45" name="文本框 44"/>
                <p:cNvSpPr txBox="1"/>
                <p:nvPr/>
              </p:nvSpPr>
              <p:spPr>
                <a:xfrm>
                  <a:off x="636553" y="1760727"/>
                  <a:ext cx="1665989" cy="426540"/>
                </a:xfrm>
                <a:prstGeom prst="rect">
                  <a:avLst/>
                </a:prstGeom>
                <a:solidFill>
                  <a:schemeClr val="bg1">
                    <a:lumMod val="85000"/>
                    <a:alpha val="51000"/>
                  </a:schemeClr>
                </a:solidFill>
              </p:spPr>
              <p:txBody>
                <a:bodyPr wrap="square" rtlCol="0">
                  <a:spAutoFit/>
                </a:bodyPr>
                <a:p>
                  <a:pPr algn="ctr"/>
                  <a:r>
                    <a:rPr lang="zh-CN" altLang="en-US" sz="1400" b="1" dirty="0">
                      <a:solidFill>
                        <a:schemeClr val="bg1"/>
                      </a:solidFill>
                      <a:latin typeface="微软雅黑" panose="020B0503020204020204" charset="-122"/>
                      <a:ea typeface="微软雅黑" panose="020B0503020204020204" charset="-122"/>
                    </a:rPr>
                    <a:t>年均</a:t>
                  </a:r>
                  <a:r>
                    <a:rPr lang="zh-CN" altLang="en-US" sz="1400" b="1" dirty="0">
                      <a:solidFill>
                        <a:schemeClr val="bg1"/>
                      </a:solidFill>
                      <a:latin typeface="微软雅黑" panose="020B0503020204020204" charset="-122"/>
                      <a:ea typeface="微软雅黑" panose="020B0503020204020204" charset="-122"/>
                    </a:rPr>
                    <a:t>净利润</a:t>
                  </a:r>
                  <a:endParaRPr lang="zh-CN" altLang="en-US" sz="1400" b="1" dirty="0">
                    <a:solidFill>
                      <a:schemeClr val="bg1"/>
                    </a:solidFill>
                    <a:latin typeface="微软雅黑" panose="020B0503020204020204" charset="-122"/>
                    <a:ea typeface="微软雅黑" panose="020B0503020204020204" charset="-122"/>
                  </a:endParaRPr>
                </a:p>
              </p:txBody>
            </p:sp>
          </p:grpSp>
        </p:grpSp>
      </p:grpSp>
      <p:sp>
        <p:nvSpPr>
          <p:cNvPr id="30" name="文本框 29"/>
          <p:cNvSpPr txBox="1"/>
          <p:nvPr/>
        </p:nvSpPr>
        <p:spPr>
          <a:xfrm>
            <a:off x="356870" y="2694940"/>
            <a:ext cx="4591050" cy="1076325"/>
          </a:xfrm>
          <a:prstGeom prst="rect">
            <a:avLst/>
          </a:prstGeom>
        </p:spPr>
        <p:txBody>
          <a:bodyPr wrap="square">
            <a:spAutoFit/>
          </a:bodyPr>
          <a:p>
            <a:r>
              <a:rPr lang="zh-CN" altLang="en-US" sz="1600">
                <a:solidFill>
                  <a:srgbClr val="000000"/>
                </a:solidFill>
                <a:latin typeface="FandolSong-Regular-Identity-H"/>
                <a:ea typeface="FandolSong-Regular-Identity-H"/>
              </a:rPr>
              <a:t>已知，正常生产年份的年平均息税前利润为</a:t>
            </a:r>
            <a:r>
              <a:rPr lang="en-US" altLang="zh-CN" sz="1600">
                <a:solidFill>
                  <a:srgbClr val="FF0000"/>
                </a:solidFill>
                <a:latin typeface="LMRoman12-Regular-Identity-H"/>
                <a:ea typeface="LMRoman12-Regular-Identity-H"/>
              </a:rPr>
              <a:t>810.6 </a:t>
            </a:r>
            <a:r>
              <a:rPr lang="zh-CN" altLang="en-US" sz="1600">
                <a:solidFill>
                  <a:srgbClr val="000000"/>
                </a:solidFill>
                <a:latin typeface="FandolSong-Regular-Identity-H"/>
                <a:ea typeface="FandolSong-Regular-Identity-H"/>
              </a:rPr>
              <a:t>万元，年平均净利润为</a:t>
            </a:r>
            <a:r>
              <a:rPr lang="en-US" altLang="zh-CN" sz="1600">
                <a:solidFill>
                  <a:srgbClr val="FF0000"/>
                </a:solidFill>
                <a:latin typeface="LMRoman12-Regular-Identity-H"/>
                <a:ea typeface="LMRoman12-Regular-Identity-H"/>
              </a:rPr>
              <a:t>637.4 </a:t>
            </a:r>
            <a:r>
              <a:rPr lang="zh-CN" altLang="en-US" sz="1600">
                <a:solidFill>
                  <a:srgbClr val="000000"/>
                </a:solidFill>
                <a:latin typeface="FandolSong-Regular-Identity-H"/>
                <a:ea typeface="FandolSong-Regular-Identity-H"/>
              </a:rPr>
              <a:t>万元。 </a:t>
            </a:r>
            <a:endParaRPr lang="zh-CN" altLang="en-US" sz="1600">
              <a:solidFill>
                <a:srgbClr val="000000"/>
              </a:solidFill>
              <a:latin typeface="FandolSong-Regular-Identity-H"/>
              <a:ea typeface="FandolSong-Regular-Identity-H"/>
            </a:endParaRPr>
          </a:p>
          <a:p>
            <a:r>
              <a:rPr lang="zh-CN" altLang="en-US" sz="1600">
                <a:solidFill>
                  <a:srgbClr val="000000"/>
                </a:solidFill>
                <a:latin typeface="FandolSong-Regular-Identity-H"/>
                <a:ea typeface="FandolSong-Regular-Identity-H"/>
              </a:rPr>
              <a:t>据此可计算项目的投资收益率和资本金净利润率如下：</a:t>
            </a:r>
            <a:endParaRPr lang="zh-CN" altLang="en-US" sz="1600">
              <a:solidFill>
                <a:srgbClr val="000000"/>
              </a:solidFill>
              <a:latin typeface="FandolSong-Regular-Identity-H"/>
              <a:ea typeface="FandolSong-Regular-Identity-H"/>
            </a:endParaRPr>
          </a:p>
        </p:txBody>
      </p:sp>
      <p:sp>
        <p:nvSpPr>
          <p:cNvPr id="47" name="文本框 46"/>
          <p:cNvSpPr txBox="1"/>
          <p:nvPr/>
        </p:nvSpPr>
        <p:spPr>
          <a:xfrm>
            <a:off x="421640" y="3854768"/>
            <a:ext cx="5080000" cy="1076325"/>
          </a:xfrm>
          <a:prstGeom prst="rect">
            <a:avLst/>
          </a:prstGeom>
        </p:spPr>
        <p:txBody>
          <a:bodyPr>
            <a:spAutoFit/>
          </a:bodyPr>
          <a:p>
            <a:r>
              <a:rPr lang="en-US" altLang="zh-CN" sz="1600">
                <a:solidFill>
                  <a:srgbClr val="000000"/>
                </a:solidFill>
                <a:latin typeface="LMRoman12-Regular-Identity-H"/>
                <a:ea typeface="LMRoman12-Regular-Identity-H"/>
              </a:rPr>
              <a:t>ROI </a:t>
            </a:r>
            <a:r>
              <a:rPr lang="en-US" altLang="zh-CN" sz="1600">
                <a:solidFill>
                  <a:srgbClr val="000000"/>
                </a:solidFill>
                <a:latin typeface="CMR12"/>
                <a:ea typeface="CMR12"/>
              </a:rPr>
              <a:t>= </a:t>
            </a:r>
            <a:r>
              <a:rPr lang="en-US" altLang="zh-CN" sz="1600">
                <a:solidFill>
                  <a:srgbClr val="000000"/>
                </a:solidFill>
                <a:latin typeface="LMRoman12-Regular-Identity-H"/>
                <a:ea typeface="LMRoman12-Regular-Identity-H"/>
              </a:rPr>
              <a:t>EBIT /TI </a:t>
            </a:r>
            <a:r>
              <a:rPr lang="en-US" altLang="zh-CN" sz="1600" i="1">
                <a:solidFill>
                  <a:srgbClr val="000000"/>
                </a:solidFill>
                <a:latin typeface="CMSY10"/>
                <a:ea typeface="CMSY10"/>
              </a:rPr>
              <a:t>× </a:t>
            </a:r>
            <a:r>
              <a:rPr lang="en-US" altLang="zh-CN" sz="1600">
                <a:solidFill>
                  <a:srgbClr val="000000"/>
                </a:solidFill>
                <a:latin typeface="CMR12"/>
                <a:ea typeface="CMR12"/>
              </a:rPr>
              <a:t>100</a:t>
            </a:r>
            <a:r>
              <a:rPr lang="en-US" altLang="zh-CN" sz="1600">
                <a:solidFill>
                  <a:srgbClr val="000000"/>
                </a:solidFill>
                <a:latin typeface="LMRoman12-Regular-Identity-H"/>
                <a:ea typeface="LMRoman12-Regular-Identity-H"/>
              </a:rPr>
              <a:t>% </a:t>
            </a:r>
            <a:endParaRPr lang="en-US" altLang="zh-CN" sz="1600">
              <a:solidFill>
                <a:srgbClr val="000000"/>
              </a:solidFill>
              <a:latin typeface="LMRoman12-Regular-Identity-H"/>
              <a:ea typeface="LMRoman12-Regular-Identity-H"/>
            </a:endParaRPr>
          </a:p>
          <a:p>
            <a:pPr indent="457200"/>
            <a:r>
              <a:rPr lang="en-US" altLang="zh-CN" sz="1600">
                <a:solidFill>
                  <a:srgbClr val="000000"/>
                </a:solidFill>
                <a:latin typeface="CMR12"/>
                <a:ea typeface="CMR12"/>
              </a:rPr>
              <a:t>= 810</a:t>
            </a:r>
            <a:r>
              <a:rPr lang="en-US" altLang="zh-CN" sz="1600" i="1">
                <a:solidFill>
                  <a:srgbClr val="000000"/>
                </a:solidFill>
                <a:latin typeface="CMMI12"/>
                <a:ea typeface="CMMI12"/>
              </a:rPr>
              <a:t>.</a:t>
            </a:r>
            <a:r>
              <a:rPr lang="en-US" altLang="zh-CN" sz="1600">
                <a:solidFill>
                  <a:srgbClr val="000000"/>
                </a:solidFill>
                <a:latin typeface="CMR12"/>
                <a:ea typeface="CMR12"/>
              </a:rPr>
              <a:t>6 /2900 </a:t>
            </a:r>
            <a:r>
              <a:rPr lang="en-US" altLang="zh-CN" sz="1600" i="1">
                <a:solidFill>
                  <a:srgbClr val="000000"/>
                </a:solidFill>
                <a:latin typeface="CMSY10"/>
                <a:ea typeface="CMSY10"/>
              </a:rPr>
              <a:t>× </a:t>
            </a:r>
            <a:r>
              <a:rPr lang="en-US" altLang="zh-CN" sz="1600">
                <a:solidFill>
                  <a:srgbClr val="000000"/>
                </a:solidFill>
                <a:latin typeface="CMR12"/>
                <a:ea typeface="CMR12"/>
              </a:rPr>
              <a:t>100</a:t>
            </a:r>
            <a:r>
              <a:rPr lang="en-US" altLang="zh-CN" sz="1600">
                <a:solidFill>
                  <a:srgbClr val="000000"/>
                </a:solidFill>
                <a:latin typeface="LMRoman12-Regular-Identity-H"/>
                <a:ea typeface="LMRoman12-Regular-Identity-H"/>
              </a:rPr>
              <a:t>% </a:t>
            </a:r>
            <a:r>
              <a:rPr lang="en-US" altLang="zh-CN" sz="1600">
                <a:solidFill>
                  <a:srgbClr val="000000"/>
                </a:solidFill>
                <a:latin typeface="CMR12"/>
                <a:ea typeface="CMR12"/>
              </a:rPr>
              <a:t>= </a:t>
            </a:r>
            <a:r>
              <a:rPr lang="en-US" altLang="zh-CN" sz="1600">
                <a:solidFill>
                  <a:srgbClr val="FF0000"/>
                </a:solidFill>
                <a:latin typeface="CMR12"/>
                <a:ea typeface="CMR12"/>
              </a:rPr>
              <a:t>28</a:t>
            </a:r>
            <a:r>
              <a:rPr lang="en-US" altLang="zh-CN" sz="1600" i="1">
                <a:solidFill>
                  <a:srgbClr val="FF0000"/>
                </a:solidFill>
                <a:latin typeface="CMMI12"/>
                <a:ea typeface="CMMI12"/>
              </a:rPr>
              <a:t>.</a:t>
            </a:r>
            <a:r>
              <a:rPr lang="en-US" altLang="zh-CN" sz="1600">
                <a:solidFill>
                  <a:srgbClr val="FF0000"/>
                </a:solidFill>
                <a:latin typeface="CMR12"/>
                <a:ea typeface="CMR12"/>
              </a:rPr>
              <a:t>0</a:t>
            </a:r>
            <a:r>
              <a:rPr lang="en-US" altLang="zh-CN" sz="1600">
                <a:solidFill>
                  <a:srgbClr val="FF0000"/>
                </a:solidFill>
                <a:latin typeface="LMRoman12-Regular-Identity-H"/>
                <a:ea typeface="LMRoman12-Regular-Identity-H"/>
              </a:rPr>
              <a:t>% </a:t>
            </a:r>
            <a:endParaRPr lang="en-US" altLang="zh-CN" sz="1600">
              <a:solidFill>
                <a:srgbClr val="000000"/>
              </a:solidFill>
              <a:latin typeface="LMRoman12-Regular-Identity-H"/>
              <a:ea typeface="LMRoman12-Regular-Identity-H"/>
            </a:endParaRPr>
          </a:p>
          <a:p>
            <a:r>
              <a:rPr lang="en-US" altLang="zh-CN" sz="1600">
                <a:solidFill>
                  <a:srgbClr val="000000"/>
                </a:solidFill>
                <a:latin typeface="LMRoman12-Regular-Identity-H"/>
                <a:ea typeface="LMRoman12-Regular-Identity-H"/>
              </a:rPr>
              <a:t>ROE</a:t>
            </a:r>
            <a:r>
              <a:rPr lang="en-US" altLang="zh-CN" sz="1600">
                <a:solidFill>
                  <a:srgbClr val="000000"/>
                </a:solidFill>
                <a:latin typeface="CMR12"/>
                <a:ea typeface="CMR12"/>
              </a:rPr>
              <a:t>= </a:t>
            </a:r>
            <a:r>
              <a:rPr lang="en-US" altLang="zh-CN" sz="1600">
                <a:solidFill>
                  <a:srgbClr val="000000"/>
                </a:solidFill>
                <a:latin typeface="LMRoman12-Regular-Identity-H"/>
                <a:ea typeface="LMRoman12-Regular-Identity-H"/>
              </a:rPr>
              <a:t>NP/EC </a:t>
            </a:r>
            <a:r>
              <a:rPr lang="en-US" altLang="zh-CN" sz="1600" i="1">
                <a:solidFill>
                  <a:srgbClr val="000000"/>
                </a:solidFill>
                <a:latin typeface="CMSY10"/>
                <a:ea typeface="CMSY10"/>
              </a:rPr>
              <a:t>× </a:t>
            </a:r>
            <a:r>
              <a:rPr lang="en-US" altLang="zh-CN" sz="1600">
                <a:solidFill>
                  <a:srgbClr val="000000"/>
                </a:solidFill>
                <a:latin typeface="CMR12"/>
                <a:ea typeface="CMR12"/>
              </a:rPr>
              <a:t>100</a:t>
            </a:r>
            <a:r>
              <a:rPr lang="en-US" altLang="zh-CN" sz="1600">
                <a:solidFill>
                  <a:srgbClr val="000000"/>
                </a:solidFill>
                <a:latin typeface="LMRoman12-Regular-Identity-H"/>
                <a:ea typeface="LMRoman12-Regular-Identity-H"/>
              </a:rPr>
              <a:t>% </a:t>
            </a:r>
            <a:endParaRPr lang="en-US" altLang="zh-CN" sz="1600">
              <a:solidFill>
                <a:srgbClr val="000000"/>
              </a:solidFill>
              <a:latin typeface="LMRoman12-Regular-Identity-H"/>
              <a:ea typeface="LMRoman12-Regular-Identity-H"/>
            </a:endParaRPr>
          </a:p>
          <a:p>
            <a:pPr indent="457200"/>
            <a:r>
              <a:rPr lang="en-US" altLang="zh-CN" sz="1600">
                <a:solidFill>
                  <a:srgbClr val="000000"/>
                </a:solidFill>
                <a:latin typeface="CMR12"/>
                <a:ea typeface="CMR12"/>
              </a:rPr>
              <a:t>= 634</a:t>
            </a:r>
            <a:r>
              <a:rPr lang="en-US" altLang="zh-CN" sz="1600" i="1">
                <a:solidFill>
                  <a:srgbClr val="000000"/>
                </a:solidFill>
                <a:latin typeface="CMMI12"/>
                <a:ea typeface="CMMI12"/>
              </a:rPr>
              <a:t>.</a:t>
            </a:r>
            <a:r>
              <a:rPr lang="en-US" altLang="zh-CN" sz="1600">
                <a:solidFill>
                  <a:srgbClr val="000000"/>
                </a:solidFill>
                <a:latin typeface="CMR12"/>
                <a:ea typeface="CMR12"/>
              </a:rPr>
              <a:t>7 /1900 </a:t>
            </a:r>
            <a:r>
              <a:rPr lang="en-US" altLang="zh-CN" sz="1600" i="1">
                <a:solidFill>
                  <a:srgbClr val="000000"/>
                </a:solidFill>
                <a:latin typeface="CMSY10"/>
                <a:ea typeface="CMSY10"/>
              </a:rPr>
              <a:t>× </a:t>
            </a:r>
            <a:r>
              <a:rPr lang="en-US" altLang="zh-CN" sz="1600">
                <a:solidFill>
                  <a:srgbClr val="000000"/>
                </a:solidFill>
                <a:latin typeface="CMR12"/>
                <a:ea typeface="CMR12"/>
              </a:rPr>
              <a:t>100</a:t>
            </a:r>
            <a:r>
              <a:rPr lang="en-US" altLang="zh-CN" sz="1600">
                <a:solidFill>
                  <a:srgbClr val="000000"/>
                </a:solidFill>
                <a:latin typeface="LMRoman12-Regular-Identity-H"/>
                <a:ea typeface="LMRoman12-Regular-Identity-H"/>
              </a:rPr>
              <a:t>% </a:t>
            </a:r>
            <a:r>
              <a:rPr lang="en-US" altLang="zh-CN" sz="1600">
                <a:solidFill>
                  <a:srgbClr val="000000"/>
                </a:solidFill>
                <a:latin typeface="CMR12"/>
                <a:ea typeface="CMR12"/>
              </a:rPr>
              <a:t>= </a:t>
            </a:r>
            <a:r>
              <a:rPr lang="en-US" altLang="zh-CN" sz="1600">
                <a:solidFill>
                  <a:srgbClr val="FF0000"/>
                </a:solidFill>
                <a:latin typeface="CMR12"/>
                <a:ea typeface="CMR12"/>
              </a:rPr>
              <a:t>33</a:t>
            </a:r>
            <a:r>
              <a:rPr lang="en-US" altLang="zh-CN" sz="1600" i="1">
                <a:solidFill>
                  <a:srgbClr val="FF0000"/>
                </a:solidFill>
                <a:latin typeface="CMMI12"/>
                <a:ea typeface="CMMI12"/>
              </a:rPr>
              <a:t>.</a:t>
            </a:r>
            <a:r>
              <a:rPr lang="en-US" altLang="zh-CN" sz="1600">
                <a:solidFill>
                  <a:srgbClr val="FF0000"/>
                </a:solidFill>
                <a:latin typeface="CMR12"/>
                <a:ea typeface="CMR12"/>
              </a:rPr>
              <a:t>5</a:t>
            </a:r>
            <a:r>
              <a:rPr lang="en-US" altLang="zh-CN" sz="1600">
                <a:solidFill>
                  <a:srgbClr val="FF0000"/>
                </a:solidFill>
                <a:latin typeface="LMRoman12-Regular-Identity-H"/>
                <a:ea typeface="LMRoman12-Regular-Identity-H"/>
              </a:rPr>
              <a:t>%</a:t>
            </a:r>
            <a:endParaRPr lang="en-US" altLang="zh-CN" sz="1600">
              <a:solidFill>
                <a:srgbClr val="FF0000"/>
              </a:solidFill>
              <a:latin typeface="LMRoman12-Regular-Identity-H"/>
              <a:ea typeface="LMRoman12-Regular-Identity-H"/>
            </a:endParaRPr>
          </a:p>
        </p:txBody>
      </p:sp>
      <p:sp>
        <p:nvSpPr>
          <p:cNvPr id="56" name="矩形 55"/>
          <p:cNvSpPr/>
          <p:nvPr/>
        </p:nvSpPr>
        <p:spPr>
          <a:xfrm>
            <a:off x="356235" y="2623820"/>
            <a:ext cx="4591050" cy="2329180"/>
          </a:xfrm>
          <a:prstGeom prst="rect">
            <a:avLst/>
          </a:prstGeom>
          <a:noFill/>
          <a:ln w="25400">
            <a:solidFill>
              <a:schemeClr val="accent2"/>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小李PPT1"/>
          <p:cNvSpPr/>
          <p:nvPr>
            <p:custDataLst>
              <p:tags r:id="rId1"/>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2"/>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3"/>
            </p:custDataLst>
          </p:nvPr>
        </p:nvSpPr>
        <p:spPr>
          <a:xfrm>
            <a:off x="4000500" y="-914400"/>
            <a:ext cx="635000" cy="635000"/>
          </a:xfrm>
          <a:prstGeom prst="rect">
            <a:avLst/>
          </a:prstGeom>
          <a:solidFill>
            <a:schemeClr val="dk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4"/>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5"/>
            </p:custDataLst>
          </p:nvPr>
        </p:nvSpPr>
        <p:spPr>
          <a:xfrm>
            <a:off x="5778500" y="-914400"/>
            <a:ext cx="635000" cy="6350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6"/>
            </p:custDataLst>
          </p:nvPr>
        </p:nvSpPr>
        <p:spPr>
          <a:xfrm>
            <a:off x="6540500" y="-914400"/>
            <a:ext cx="635000" cy="635000"/>
          </a:xfrm>
          <a:prstGeom prst="rect">
            <a:avLst/>
          </a:prstGeom>
          <a:solidFill>
            <a:schemeClr val="accen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7"/>
            </p:custDataLst>
          </p:nvPr>
        </p:nvSpPr>
        <p:spPr>
          <a:xfrm>
            <a:off x="7302500" y="-914400"/>
            <a:ext cx="635000" cy="635000"/>
          </a:xfrm>
          <a:prstGeom prst="rect">
            <a:avLst/>
          </a:prstGeom>
          <a:solidFill>
            <a:schemeClr val="accent3"/>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8"/>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9"/>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0"/>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grpSp>
        <p:nvGrpSpPr>
          <p:cNvPr id="2" name="小李PPT11"/>
          <p:cNvGrpSpPr/>
          <p:nvPr/>
        </p:nvGrpSpPr>
        <p:grpSpPr>
          <a:xfrm>
            <a:off x="279357" y="304810"/>
            <a:ext cx="11671385" cy="4737081"/>
            <a:chOff x="279357" y="304810"/>
            <a:chExt cx="11671385" cy="4737081"/>
          </a:xfrm>
          <a:solidFill>
            <a:srgbClr val="1D4223">
              <a:alpha val="2000"/>
            </a:srgbClr>
          </a:solidFill>
        </p:grpSpPr>
        <p:grpSp>
          <p:nvGrpSpPr>
            <p:cNvPr id="3" name="组合 2"/>
            <p:cNvGrpSpPr/>
            <p:nvPr/>
          </p:nvGrpSpPr>
          <p:grpSpPr>
            <a:xfrm>
              <a:off x="279357" y="304810"/>
              <a:ext cx="11671385" cy="609581"/>
              <a:chOff x="279357" y="304810"/>
              <a:chExt cx="11671385" cy="609581"/>
            </a:xfrm>
            <a:grpFill/>
          </p:grpSpPr>
          <p:sp>
            <p:nvSpPr>
              <p:cNvPr id="301" name="小李PPT11-1"/>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2" name="小李PPT11-2"/>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3" name="小李PPT11-3"/>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4" name="小李PPT11-4"/>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5" name="小李PPT11-5"/>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6" name="小李PPT11-6"/>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7" name="小李PPT11-7"/>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8" name="小李PPT11-8"/>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9" name="小李PPT11-9"/>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0" name="小李PPT11-10"/>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1" name="小李PPT11-11"/>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2" name="小李PPT11-12"/>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3" name="小李PPT11-13"/>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4" name="小李PPT11-14"/>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4" name="组合 3"/>
            <p:cNvGrpSpPr/>
            <p:nvPr/>
          </p:nvGrpSpPr>
          <p:grpSpPr>
            <a:xfrm>
              <a:off x="279357" y="1130310"/>
              <a:ext cx="11671385" cy="609581"/>
              <a:chOff x="279357" y="304810"/>
              <a:chExt cx="11671385" cy="609581"/>
            </a:xfrm>
            <a:grpFill/>
          </p:grpSpPr>
          <p:sp>
            <p:nvSpPr>
              <p:cNvPr id="287" name="小李PPT11-15"/>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8" name="小李PPT11-16"/>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9" name="小李PPT11-17"/>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0" name="小李PPT11-18"/>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1" name="小李PPT11-19"/>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2" name="小李PPT11-20"/>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3" name="小李PPT11-21"/>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4" name="小李PPT11-22"/>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5" name="小李PPT11-23"/>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6" name="小李PPT11-24"/>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7" name="小李PPT11-25"/>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8" name="小李PPT11-26"/>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9" name="小李PPT11-27"/>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0" name="小李PPT11-28"/>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6" name="组合 5"/>
            <p:cNvGrpSpPr/>
            <p:nvPr/>
          </p:nvGrpSpPr>
          <p:grpSpPr>
            <a:xfrm>
              <a:off x="279357" y="1955810"/>
              <a:ext cx="11671385" cy="609581"/>
              <a:chOff x="279357" y="304810"/>
              <a:chExt cx="11671385" cy="609581"/>
            </a:xfrm>
            <a:grpFill/>
          </p:grpSpPr>
          <p:sp>
            <p:nvSpPr>
              <p:cNvPr id="263" name="小李PPT11-29"/>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4" name="小李PPT11-30"/>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5" name="小李PPT11-31"/>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6" name="小李PPT11-32"/>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7" name="小李PPT11-33"/>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8" name="小李PPT11-34"/>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9" name="小李PPT11-35"/>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0" name="小李PPT11-36"/>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1" name="小李PPT11-37"/>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2" name="小李PPT11-38"/>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3" name="小李PPT11-39"/>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4" name="小李PPT11-40"/>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5" name="小李PPT11-41"/>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6" name="小李PPT11-42"/>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7" name="组合 6"/>
            <p:cNvGrpSpPr/>
            <p:nvPr/>
          </p:nvGrpSpPr>
          <p:grpSpPr>
            <a:xfrm>
              <a:off x="279357" y="2781310"/>
              <a:ext cx="11671385" cy="609581"/>
              <a:chOff x="279357" y="304810"/>
              <a:chExt cx="11671385" cy="609581"/>
            </a:xfrm>
            <a:grpFill/>
          </p:grpSpPr>
          <p:sp>
            <p:nvSpPr>
              <p:cNvPr id="57" name="小李PPT11-43"/>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8" name="小李PPT11-44"/>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9" name="小李PPT11-45"/>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0" name="小李PPT11-46"/>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1" name="小李PPT11-47"/>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2" name="小李PPT11-48"/>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3" name="小李PPT11-49"/>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6" name="小李PPT11-50"/>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7" name="小李PPT11-51"/>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8" name="小李PPT11-52"/>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9" name="小李PPT11-53"/>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0" name="小李PPT11-54"/>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1" name="小李PPT11-55"/>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2" name="小李PPT11-56"/>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10" name="组合 9"/>
            <p:cNvGrpSpPr/>
            <p:nvPr/>
          </p:nvGrpSpPr>
          <p:grpSpPr>
            <a:xfrm>
              <a:off x="279357" y="3606810"/>
              <a:ext cx="11671385" cy="609581"/>
              <a:chOff x="279357" y="304810"/>
              <a:chExt cx="11671385" cy="609581"/>
            </a:xfrm>
            <a:grpFill/>
          </p:grpSpPr>
          <p:sp>
            <p:nvSpPr>
              <p:cNvPr id="43" name="小李PPT11-57"/>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4" name="小李PPT11-58"/>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5" name="小李PPT11-59"/>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6" name="小李PPT11-60"/>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7" name="小李PPT11-61"/>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8" name="小李PPT11-62"/>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9" name="小李PPT11-63"/>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0" name="小李PPT11-64"/>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1" name="小李PPT11-65"/>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2" name="小李PPT11-66"/>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3" name="小李PPT11-67"/>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4" name="小李PPT11-68"/>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5" name="小李PPT11-69"/>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6" name="小李PPT11-70"/>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11" name="组合 10"/>
            <p:cNvGrpSpPr/>
            <p:nvPr/>
          </p:nvGrpSpPr>
          <p:grpSpPr>
            <a:xfrm>
              <a:off x="279357" y="4432310"/>
              <a:ext cx="11671385" cy="609581"/>
              <a:chOff x="279357" y="304810"/>
              <a:chExt cx="11671385" cy="609581"/>
            </a:xfrm>
            <a:grpFill/>
          </p:grpSpPr>
          <p:sp>
            <p:nvSpPr>
              <p:cNvPr id="14" name="小李PPT11-71"/>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19" name="小李PPT11-72"/>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0" name="小李PPT11-73"/>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1" name="小李PPT11-74"/>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4" name="小李PPT11-75"/>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4" name="小李PPT11-76"/>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5" name="小李PPT11-77"/>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6" name="小李PPT11-78"/>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7" name="小李PPT11-79"/>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8" name="小李PPT11-80"/>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9" name="小李PPT11-81"/>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0" name="小李PPT11-82"/>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1" name="小李PPT11-83"/>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2" name="小李PPT11-84"/>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sp>
        <p:nvSpPr>
          <p:cNvPr id="315" name="小李PPT12"/>
          <p:cNvSpPr/>
          <p:nvPr/>
        </p:nvSpPr>
        <p:spPr>
          <a:xfrm>
            <a:off x="0" y="4711700"/>
            <a:ext cx="12192000" cy="21463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FFFFFF"/>
              </a:solidFill>
              <a:latin typeface="Montserrat"/>
              <a:ea typeface="思源黑体 CN Normal"/>
            </a:endParaRPr>
          </a:p>
        </p:txBody>
      </p:sp>
      <p:sp>
        <p:nvSpPr>
          <p:cNvPr id="316" name="小李PPT13"/>
          <p:cNvSpPr txBox="1"/>
          <p:nvPr/>
        </p:nvSpPr>
        <p:spPr>
          <a:xfrm>
            <a:off x="4546600" y="-1476792"/>
            <a:ext cx="6642100" cy="9247505"/>
          </a:xfrm>
          <a:prstGeom prst="rect">
            <a:avLst/>
          </a:prstGeom>
          <a:noFill/>
        </p:spPr>
        <p:txBody>
          <a:bodyPr wrap="square" rtlCol="0">
            <a:spAutoFit/>
          </a:bodyPr>
          <a:lstStyle/>
          <a:p>
            <a:pPr algn="r">
              <a:defRPr/>
            </a:pPr>
            <a:r>
              <a:rPr lang="en-US" altLang="zh-CN" sz="59500" b="1" dirty="0">
                <a:ln>
                  <a:solidFill>
                    <a:schemeClr val="accent2">
                      <a:alpha val="50000"/>
                    </a:schemeClr>
                  </a:solidFill>
                  <a:prstDash val="dash"/>
                </a:ln>
                <a:solidFill>
                  <a:schemeClr val="bg1"/>
                </a:solidFill>
                <a:effectLst>
                  <a:outerShdw blurRad="101600" dist="38100" dir="5400000" algn="t" rotWithShape="0">
                    <a:srgbClr val="1D4223">
                      <a:alpha val="40000"/>
                    </a:srgbClr>
                  </a:outerShdw>
                </a:effectLst>
                <a:latin typeface="Bahnschrift SemiBold" panose="020B0502040204020203"/>
                <a:ea typeface="微软雅黑 Light" panose="020B0502040204020203" charset="-122"/>
              </a:rPr>
              <a:t>5</a:t>
            </a:r>
            <a:endParaRPr lang="en-US" altLang="zh-CN" sz="59500" b="1" dirty="0">
              <a:ln>
                <a:solidFill>
                  <a:schemeClr val="accent2">
                    <a:alpha val="50000"/>
                  </a:schemeClr>
                </a:solidFill>
                <a:prstDash val="dash"/>
              </a:ln>
              <a:solidFill>
                <a:schemeClr val="bg1"/>
              </a:solidFill>
              <a:effectLst>
                <a:outerShdw blurRad="101600" dist="38100" dir="5400000" algn="t" rotWithShape="0">
                  <a:srgbClr val="1D4223">
                    <a:alpha val="40000"/>
                  </a:srgbClr>
                </a:outerShdw>
              </a:effectLst>
              <a:latin typeface="Bahnschrift SemiBold" panose="020B0502040204020203"/>
              <a:ea typeface="微软雅黑 Light" panose="020B0502040204020203" charset="-122"/>
            </a:endParaRPr>
          </a:p>
        </p:txBody>
      </p:sp>
      <p:sp>
        <p:nvSpPr>
          <p:cNvPr id="317" name="小李PPT14"/>
          <p:cNvSpPr txBox="1"/>
          <p:nvPr/>
        </p:nvSpPr>
        <p:spPr>
          <a:xfrm>
            <a:off x="1066800" y="4953000"/>
            <a:ext cx="5791200" cy="1569660"/>
          </a:xfrm>
          <a:prstGeom prst="rect">
            <a:avLst/>
          </a:prstGeom>
          <a:noFill/>
        </p:spPr>
        <p:txBody>
          <a:bodyPr wrap="square" rtlCol="0">
            <a:spAutoFit/>
          </a:bodyPr>
          <a:lstStyle/>
          <a:p>
            <a:pPr>
              <a:defRPr/>
            </a:pPr>
            <a:r>
              <a:rPr lang="en-US" altLang="zh-CN" sz="9600" b="1" dirty="0">
                <a:gradFill>
                  <a:gsLst>
                    <a:gs pos="0">
                      <a:prstClr val="white">
                        <a:alpha val="43000"/>
                      </a:prstClr>
                    </a:gs>
                    <a:gs pos="98000">
                      <a:prstClr val="white">
                        <a:alpha val="21000"/>
                      </a:prstClr>
                    </a:gs>
                  </a:gsLst>
                  <a:lin ang="0" scaled="0"/>
                </a:gradFill>
                <a:latin typeface="Bahnschrift SemiBold" panose="020B0502040204020203"/>
                <a:ea typeface="微软雅黑 Light" panose="020B0502040204020203" charset="-122"/>
              </a:rPr>
              <a:t>CHAPTER</a:t>
            </a:r>
            <a:endParaRPr lang="zh-CN" altLang="en-US" sz="9600" b="1" dirty="0">
              <a:gradFill>
                <a:gsLst>
                  <a:gs pos="0">
                    <a:prstClr val="white">
                      <a:alpha val="43000"/>
                    </a:prstClr>
                  </a:gs>
                  <a:gs pos="98000">
                    <a:prstClr val="white">
                      <a:alpha val="21000"/>
                    </a:prstClr>
                  </a:gs>
                </a:gsLst>
                <a:lin ang="0" scaled="0"/>
              </a:gradFill>
              <a:latin typeface="Bahnschrift SemiBold" panose="020B0502040204020203"/>
              <a:ea typeface="微软雅黑 Light" panose="020B0502040204020203" charset="-122"/>
            </a:endParaRPr>
          </a:p>
        </p:txBody>
      </p:sp>
      <p:sp>
        <p:nvSpPr>
          <p:cNvPr id="318" name="小李PPT15"/>
          <p:cNvSpPr/>
          <p:nvPr/>
        </p:nvSpPr>
        <p:spPr>
          <a:xfrm>
            <a:off x="1409700" y="1422400"/>
            <a:ext cx="1498600" cy="546100"/>
          </a:xfrm>
          <a:prstGeom prst="round2DiagRect">
            <a:avLst/>
          </a:prstGeom>
          <a:solidFill>
            <a:schemeClr val="accent2"/>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第</a:t>
            </a:r>
            <a:r>
              <a:rPr kumimoji="0" lang="zh-CN" altLang="en-US" sz="2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五节</a:t>
            </a:r>
            <a:endParaRPr kumimoji="0" lang="zh-CN" altLang="en-US" sz="2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23" name="小李PPT20"/>
          <p:cNvSpPr txBox="1"/>
          <p:nvPr/>
        </p:nvSpPr>
        <p:spPr>
          <a:xfrm>
            <a:off x="1371600" y="2005965"/>
            <a:ext cx="5803265" cy="768350"/>
          </a:xfrm>
          <a:prstGeom prst="rect">
            <a:avLst/>
          </a:prstGeom>
          <a:noFill/>
        </p:spPr>
        <p:txBody>
          <a:bodyPr wrap="square" rtlCol="0">
            <a:spAutoFit/>
          </a:bodyPr>
          <a:lstStyle/>
          <a:p>
            <a:pPr defTabSz="913765">
              <a:defRPr/>
            </a:pPr>
            <a:r>
              <a:rPr lang="zh-CN" altLang="en-US" sz="4400" b="1" dirty="0">
                <a:solidFill>
                  <a:schemeClr val="accent1"/>
                </a:solidFill>
                <a:latin typeface="Arial Black" panose="020B0A04020102020204"/>
                <a:ea typeface="微软雅黑" panose="020B0503020204020204" charset="-122"/>
              </a:rPr>
              <a:t>不确定性</a:t>
            </a:r>
            <a:r>
              <a:rPr lang="zh-CN" altLang="en-US" sz="4400" b="1" dirty="0">
                <a:solidFill>
                  <a:schemeClr val="accent1"/>
                </a:solidFill>
                <a:latin typeface="Arial Black" panose="020B0A04020102020204"/>
                <a:ea typeface="微软雅黑" panose="020B0503020204020204" charset="-122"/>
              </a:rPr>
              <a:t>分析</a:t>
            </a:r>
            <a:endParaRPr lang="zh-CN" altLang="en-US" sz="4400" b="1" dirty="0">
              <a:solidFill>
                <a:schemeClr val="accent1"/>
              </a:solidFill>
              <a:latin typeface="Arial Black" panose="020B0A04020102020204"/>
              <a:ea typeface="微软雅黑" panose="020B0503020204020204" charset="-122"/>
            </a:endParaRPr>
          </a:p>
        </p:txBody>
      </p:sp>
      <p:cxnSp>
        <p:nvCxnSpPr>
          <p:cNvPr id="324" name="小李PPT21"/>
          <p:cNvCxnSpPr/>
          <p:nvPr/>
        </p:nvCxnSpPr>
        <p:spPr>
          <a:xfrm>
            <a:off x="1409700" y="2882900"/>
            <a:ext cx="4825957" cy="0"/>
          </a:xfrm>
          <a:prstGeom prst="line">
            <a:avLst/>
          </a:prstGeom>
          <a:noFill/>
          <a:ln w="19050" cap="flat" cmpd="sng" algn="ctr">
            <a:solidFill>
              <a:schemeClr val="accent6"/>
            </a:solidFill>
            <a:prstDash val="solid"/>
          </a:ln>
          <a:effectLst/>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小李PPT1"/>
          <p:cNvSpPr txBox="1"/>
          <p:nvPr/>
        </p:nvSpPr>
        <p:spPr>
          <a:xfrm>
            <a:off x="800099" y="265105"/>
            <a:ext cx="26212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prstClr val="black"/>
                </a:solidFill>
                <a:latin typeface="+mj-ea"/>
                <a:ea typeface="+mj-ea"/>
              </a:rPr>
              <a:t>不确定性</a:t>
            </a:r>
            <a:r>
              <a:rPr lang="zh-CN" altLang="en-US" sz="3200" dirty="0">
                <a:solidFill>
                  <a:prstClr val="black"/>
                </a:solidFill>
                <a:latin typeface="+mj-ea"/>
                <a:ea typeface="+mj-ea"/>
              </a:rPr>
              <a:t>分析</a:t>
            </a:r>
            <a:endParaRPr lang="zh-CN" altLang="en-US" sz="3200" dirty="0">
              <a:solidFill>
                <a:prstClr val="black"/>
              </a:solidFill>
              <a:latin typeface="+mj-ea"/>
              <a:ea typeface="+mj-ea"/>
            </a:endParaRPr>
          </a:p>
        </p:txBody>
      </p:sp>
      <p:sp>
        <p:nvSpPr>
          <p:cNvPr id="9" name="小李PPT2"/>
          <p:cNvSpPr/>
          <p:nvPr/>
        </p:nvSpPr>
        <p:spPr>
          <a:xfrm>
            <a:off x="695325" y="337281"/>
            <a:ext cx="79375" cy="40005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274" name="小李PPT3"/>
          <p:cNvSpPr/>
          <p:nvPr>
            <p:custDataLst>
              <p:tags r:id="rId1"/>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5" name="小李PPT4"/>
          <p:cNvSpPr/>
          <p:nvPr>
            <p:custDataLst>
              <p:tags r:id="rId2"/>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 name="小李PPT5"/>
          <p:cNvSpPr/>
          <p:nvPr>
            <p:custDataLst>
              <p:tags r:id="rId3"/>
            </p:custDataLst>
          </p:nvPr>
        </p:nvSpPr>
        <p:spPr>
          <a:xfrm>
            <a:off x="4000500" y="-914400"/>
            <a:ext cx="635000" cy="635000"/>
          </a:xfrm>
          <a:prstGeom prst="rect">
            <a:avLst/>
          </a:prstGeom>
          <a:solidFill>
            <a:schemeClr val="dk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7" name="小李PPT6"/>
          <p:cNvSpPr/>
          <p:nvPr>
            <p:custDataLst>
              <p:tags r:id="rId4"/>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8" name="小李PPT7"/>
          <p:cNvSpPr/>
          <p:nvPr>
            <p:custDataLst>
              <p:tags r:id="rId5"/>
            </p:custDataLst>
          </p:nvPr>
        </p:nvSpPr>
        <p:spPr>
          <a:xfrm>
            <a:off x="5778500" y="-914400"/>
            <a:ext cx="635000" cy="6350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1</a:t>
            </a:r>
            <a:endParaRPr lang="zh-CN" altLang="en-US" sz="2000">
              <a:solidFill>
                <a:srgbClr val="F2F2F2"/>
              </a:solidFill>
            </a:endParaRPr>
          </a:p>
        </p:txBody>
      </p:sp>
      <p:sp>
        <p:nvSpPr>
          <p:cNvPr id="279" name="小李PPT8"/>
          <p:cNvSpPr/>
          <p:nvPr>
            <p:custDataLst>
              <p:tags r:id="rId6"/>
            </p:custDataLst>
          </p:nvPr>
        </p:nvSpPr>
        <p:spPr>
          <a:xfrm>
            <a:off x="6540500" y="-914400"/>
            <a:ext cx="635000" cy="635000"/>
          </a:xfrm>
          <a:prstGeom prst="rect">
            <a:avLst/>
          </a:prstGeom>
          <a:solidFill>
            <a:schemeClr val="accen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2</a:t>
            </a:r>
            <a:endParaRPr lang="zh-CN" altLang="en-US" sz="2000">
              <a:solidFill>
                <a:srgbClr val="F2F2F2"/>
              </a:solidFill>
            </a:endParaRPr>
          </a:p>
        </p:txBody>
      </p:sp>
      <p:sp>
        <p:nvSpPr>
          <p:cNvPr id="280" name="小李PPT9"/>
          <p:cNvSpPr/>
          <p:nvPr>
            <p:custDataLst>
              <p:tags r:id="rId7"/>
            </p:custDataLst>
          </p:nvPr>
        </p:nvSpPr>
        <p:spPr>
          <a:xfrm>
            <a:off x="7302500" y="-914400"/>
            <a:ext cx="635000" cy="635000"/>
          </a:xfrm>
          <a:prstGeom prst="rect">
            <a:avLst/>
          </a:prstGeom>
          <a:solidFill>
            <a:schemeClr val="accent3"/>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3</a:t>
            </a:r>
            <a:endParaRPr lang="zh-CN" altLang="en-US" sz="2000">
              <a:solidFill>
                <a:srgbClr val="F2F2F2"/>
              </a:solidFill>
            </a:endParaRPr>
          </a:p>
        </p:txBody>
      </p:sp>
      <p:sp>
        <p:nvSpPr>
          <p:cNvPr id="281" name="小李PPT10"/>
          <p:cNvSpPr/>
          <p:nvPr>
            <p:custDataLst>
              <p:tags r:id="rId8"/>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4</a:t>
            </a:r>
            <a:endParaRPr lang="zh-CN" altLang="en-US" sz="2000">
              <a:solidFill>
                <a:srgbClr val="F2F2F2"/>
              </a:solidFill>
            </a:endParaRPr>
          </a:p>
        </p:txBody>
      </p:sp>
      <p:sp>
        <p:nvSpPr>
          <p:cNvPr id="282" name="小李PPT11"/>
          <p:cNvSpPr/>
          <p:nvPr>
            <p:custDataLst>
              <p:tags r:id="rId9"/>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5</a:t>
            </a:r>
            <a:endParaRPr lang="zh-CN" altLang="en-US" sz="2000">
              <a:solidFill>
                <a:srgbClr val="F2F2F2"/>
              </a:solidFill>
            </a:endParaRPr>
          </a:p>
        </p:txBody>
      </p:sp>
      <p:sp>
        <p:nvSpPr>
          <p:cNvPr id="283" name="小李PPT12"/>
          <p:cNvSpPr/>
          <p:nvPr>
            <p:custDataLst>
              <p:tags r:id="rId10"/>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6</a:t>
            </a:r>
            <a:endParaRPr lang="zh-CN" altLang="en-US" sz="2000">
              <a:solidFill>
                <a:srgbClr val="F2F2F2"/>
              </a:solidFill>
            </a:endParaRPr>
          </a:p>
        </p:txBody>
      </p:sp>
      <p:pic>
        <p:nvPicPr>
          <p:cNvPr id="10" name="图片 9"/>
          <p:cNvPicPr>
            <a:picLocks noChangeAspect="1"/>
          </p:cNvPicPr>
          <p:nvPr/>
        </p:nvPicPr>
        <p:blipFill>
          <a:blip r:embed="rId11"/>
          <a:stretch>
            <a:fillRect/>
          </a:stretch>
        </p:blipFill>
        <p:spPr>
          <a:xfrm>
            <a:off x="337185" y="2411095"/>
            <a:ext cx="5453380" cy="4087495"/>
          </a:xfrm>
          <a:prstGeom prst="rect">
            <a:avLst/>
          </a:prstGeom>
        </p:spPr>
      </p:pic>
      <p:sp>
        <p:nvSpPr>
          <p:cNvPr id="34" name="Rectangle: Rounded Corners 77"/>
          <p:cNvSpPr/>
          <p:nvPr/>
        </p:nvSpPr>
        <p:spPr>
          <a:xfrm>
            <a:off x="499110" y="972185"/>
            <a:ext cx="5278755" cy="1203960"/>
          </a:xfrm>
          <a:prstGeom prst="roundRect">
            <a:avLst>
              <a:gd name="adj" fmla="val 0"/>
            </a:avLst>
          </a:prstGeom>
          <a:noFill/>
          <a:ln w="19050">
            <a:solidFill>
              <a:srgbClr val="507596"/>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tIns="180000" rtlCol="0" anchor="t"/>
          <a:p>
            <a:pPr indent="457200"/>
            <a:r>
              <a:rPr lang="zh-CN" altLang="en-US" sz="1400" b="1" dirty="0">
                <a:solidFill>
                  <a:srgbClr val="015056"/>
                </a:solidFill>
                <a:latin typeface="微软雅黑" panose="020B0503020204020204" charset="-122"/>
                <a:ea typeface="微软雅黑" panose="020B0503020204020204" charset="-122"/>
              </a:rPr>
              <a:t>本可行性研究分析中，选取产品销售价格、建设投资以及经营成本为主要不确定性因素，采用单因素敏感性分析方法，观察其变动对项目财务内部收益率 (IRR)、财务净现值 (NPV) 和 投资回收期等指标的影响。分析结果见表 10。</a:t>
            </a:r>
            <a:endParaRPr lang="zh-CN" altLang="en-US" sz="1400" b="1" dirty="0">
              <a:solidFill>
                <a:srgbClr val="015056"/>
              </a:solidFill>
              <a:latin typeface="微软雅黑" panose="020B0503020204020204" charset="-122"/>
              <a:ea typeface="微软雅黑" panose="020B0503020204020204" charset="-122"/>
            </a:endParaRPr>
          </a:p>
          <a:p>
            <a:pPr indent="457200"/>
            <a:endParaRPr lang="en-US" altLang="zh-CN" sz="1400" b="1" dirty="0">
              <a:solidFill>
                <a:srgbClr val="015056"/>
              </a:solidFill>
              <a:latin typeface="微软雅黑" panose="020B0503020204020204" charset="-122"/>
              <a:ea typeface="微软雅黑" panose="020B0503020204020204" charset="-122"/>
            </a:endParaRPr>
          </a:p>
          <a:p>
            <a:endParaRPr lang="en-US" sz="1200" dirty="0">
              <a:solidFill>
                <a:srgbClr val="015056"/>
              </a:solidFill>
              <a:latin typeface="微软雅黑" panose="020B0503020204020204" charset="-122"/>
              <a:ea typeface="微软雅黑" panose="020B0503020204020204" charset="-122"/>
            </a:endParaRPr>
          </a:p>
        </p:txBody>
      </p:sp>
      <p:sp>
        <p:nvSpPr>
          <p:cNvPr id="14" name="Rectangle: Rounded Corners 77"/>
          <p:cNvSpPr/>
          <p:nvPr/>
        </p:nvSpPr>
        <p:spPr>
          <a:xfrm>
            <a:off x="6216650" y="972185"/>
            <a:ext cx="5292725" cy="1203960"/>
          </a:xfrm>
          <a:prstGeom prst="roundRect">
            <a:avLst>
              <a:gd name="adj" fmla="val 0"/>
            </a:avLst>
          </a:prstGeom>
          <a:noFill/>
          <a:ln w="19050">
            <a:solidFill>
              <a:srgbClr val="507596"/>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tIns="180000" rtlCol="0" anchor="t"/>
          <a:p>
            <a:r>
              <a:rPr lang="zh-CN" altLang="en-US" sz="1400" b="1" dirty="0">
                <a:solidFill>
                  <a:srgbClr val="015056"/>
                </a:solidFill>
                <a:latin typeface="微软雅黑" panose="020B0503020204020204" charset="-122"/>
                <a:ea typeface="微软雅黑" panose="020B0503020204020204" charset="-122"/>
              </a:rPr>
              <a:t>结论：</a:t>
            </a:r>
            <a:endParaRPr lang="zh-CN" altLang="en-US" sz="1400" b="1" dirty="0">
              <a:solidFill>
                <a:srgbClr val="015056"/>
              </a:solidFill>
              <a:latin typeface="微软雅黑" panose="020B0503020204020204" charset="-122"/>
              <a:ea typeface="微软雅黑" panose="020B0503020204020204" charset="-122"/>
            </a:endParaRPr>
          </a:p>
          <a:p>
            <a:pPr indent="457200"/>
            <a:r>
              <a:rPr lang="zh-CN" altLang="en-US" sz="1400" b="1" dirty="0">
                <a:solidFill>
                  <a:srgbClr val="015056"/>
                </a:solidFill>
                <a:latin typeface="微软雅黑" panose="020B0503020204020204" charset="-122"/>
                <a:ea typeface="微软雅黑" panose="020B0503020204020204" charset="-122"/>
              </a:rPr>
              <a:t>由表可知，</a:t>
            </a:r>
            <a:r>
              <a:rPr lang="zh-CN" altLang="en-US" sz="1400" b="1" dirty="0">
                <a:solidFill>
                  <a:srgbClr val="FF0000"/>
                </a:solidFill>
                <a:latin typeface="微软雅黑" panose="020B0503020204020204" charset="-122"/>
                <a:ea typeface="微软雅黑" panose="020B0503020204020204" charset="-122"/>
              </a:rPr>
              <a:t>销售价格</a:t>
            </a:r>
            <a:r>
              <a:rPr lang="zh-CN" altLang="en-US" sz="1400" b="1" dirty="0">
                <a:solidFill>
                  <a:srgbClr val="015056"/>
                </a:solidFill>
                <a:latin typeface="微软雅黑" panose="020B0503020204020204" charset="-122"/>
                <a:ea typeface="微软雅黑" panose="020B0503020204020204" charset="-122"/>
              </a:rPr>
              <a:t>变化对项目经济效益影响最大，其次为经营成本，而建设投资变动对项目影响最小。因此，企业在实施过程中应重点关注市场销售价格的波动风险。</a:t>
            </a:r>
            <a:endParaRPr lang="zh-CN" altLang="en-US" sz="1400" b="1" dirty="0">
              <a:solidFill>
                <a:srgbClr val="015056"/>
              </a:solidFill>
              <a:latin typeface="微软雅黑" panose="020B0503020204020204" charset="-122"/>
              <a:ea typeface="微软雅黑" panose="020B0503020204020204" charset="-122"/>
            </a:endParaRPr>
          </a:p>
        </p:txBody>
      </p:sp>
      <p:pic>
        <p:nvPicPr>
          <p:cNvPr id="32" name="图片 31" descr="untitled"/>
          <p:cNvPicPr>
            <a:picLocks noChangeAspect="1"/>
          </p:cNvPicPr>
          <p:nvPr/>
        </p:nvPicPr>
        <p:blipFill>
          <a:blip r:embed="rId12"/>
          <a:stretch>
            <a:fillRect/>
          </a:stretch>
        </p:blipFill>
        <p:spPr>
          <a:xfrm>
            <a:off x="5777865" y="2299970"/>
            <a:ext cx="6101080" cy="4471035"/>
          </a:xfrm>
          <a:prstGeom prst="rect">
            <a:avLst/>
          </a:prstGeom>
        </p:spPr>
      </p:pic>
      <p:cxnSp>
        <p:nvCxnSpPr>
          <p:cNvPr id="35" name="直接连接符 34"/>
          <p:cNvCxnSpPr/>
          <p:nvPr/>
        </p:nvCxnSpPr>
        <p:spPr>
          <a:xfrm>
            <a:off x="421341" y="828741"/>
            <a:ext cx="11349317" cy="0"/>
          </a:xfrm>
          <a:prstGeom prst="line">
            <a:avLst/>
          </a:prstGeom>
          <a:ln w="19050">
            <a:solidFill>
              <a:srgbClr val="51516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小李PPT1"/>
          <p:cNvSpPr/>
          <p:nvPr>
            <p:custDataLst>
              <p:tags r:id="rId1"/>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2"/>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3"/>
            </p:custDataLst>
          </p:nvPr>
        </p:nvSpPr>
        <p:spPr>
          <a:xfrm>
            <a:off x="4000500" y="-914400"/>
            <a:ext cx="635000" cy="635000"/>
          </a:xfrm>
          <a:prstGeom prst="rect">
            <a:avLst/>
          </a:prstGeom>
          <a:solidFill>
            <a:schemeClr val="dk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4"/>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5"/>
            </p:custDataLst>
          </p:nvPr>
        </p:nvSpPr>
        <p:spPr>
          <a:xfrm>
            <a:off x="5778500" y="-914400"/>
            <a:ext cx="635000" cy="6350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6"/>
            </p:custDataLst>
          </p:nvPr>
        </p:nvSpPr>
        <p:spPr>
          <a:xfrm>
            <a:off x="6540500" y="-914400"/>
            <a:ext cx="635000" cy="635000"/>
          </a:xfrm>
          <a:prstGeom prst="rect">
            <a:avLst/>
          </a:prstGeom>
          <a:solidFill>
            <a:schemeClr val="accen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7"/>
            </p:custDataLst>
          </p:nvPr>
        </p:nvSpPr>
        <p:spPr>
          <a:xfrm>
            <a:off x="7302500" y="-914400"/>
            <a:ext cx="635000" cy="635000"/>
          </a:xfrm>
          <a:prstGeom prst="rect">
            <a:avLst/>
          </a:prstGeom>
          <a:solidFill>
            <a:schemeClr val="accent3"/>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8"/>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9"/>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0"/>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grpSp>
        <p:nvGrpSpPr>
          <p:cNvPr id="2" name="小李PPT11"/>
          <p:cNvGrpSpPr/>
          <p:nvPr/>
        </p:nvGrpSpPr>
        <p:grpSpPr>
          <a:xfrm>
            <a:off x="279357" y="304810"/>
            <a:ext cx="11671385" cy="4737081"/>
            <a:chOff x="279357" y="304810"/>
            <a:chExt cx="11671385" cy="4737081"/>
          </a:xfrm>
          <a:solidFill>
            <a:srgbClr val="1D4223">
              <a:alpha val="2000"/>
            </a:srgbClr>
          </a:solidFill>
        </p:grpSpPr>
        <p:grpSp>
          <p:nvGrpSpPr>
            <p:cNvPr id="3" name="组合 2"/>
            <p:cNvGrpSpPr/>
            <p:nvPr/>
          </p:nvGrpSpPr>
          <p:grpSpPr>
            <a:xfrm>
              <a:off x="279357" y="304810"/>
              <a:ext cx="11671385" cy="609581"/>
              <a:chOff x="279357" y="304810"/>
              <a:chExt cx="11671385" cy="609581"/>
            </a:xfrm>
            <a:grpFill/>
          </p:grpSpPr>
          <p:sp>
            <p:nvSpPr>
              <p:cNvPr id="301" name="小李PPT11-1"/>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2" name="小李PPT11-2"/>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3" name="小李PPT11-3"/>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4" name="小李PPT11-4"/>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5" name="小李PPT11-5"/>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6" name="小李PPT11-6"/>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7" name="小李PPT11-7"/>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8" name="小李PPT11-8"/>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9" name="小李PPT11-9"/>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0" name="小李PPT11-10"/>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1" name="小李PPT11-11"/>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2" name="小李PPT11-12"/>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3" name="小李PPT11-13"/>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14" name="小李PPT11-14"/>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4" name="组合 3"/>
            <p:cNvGrpSpPr/>
            <p:nvPr/>
          </p:nvGrpSpPr>
          <p:grpSpPr>
            <a:xfrm>
              <a:off x="279357" y="1130310"/>
              <a:ext cx="11671385" cy="609581"/>
              <a:chOff x="279357" y="304810"/>
              <a:chExt cx="11671385" cy="609581"/>
            </a:xfrm>
            <a:grpFill/>
          </p:grpSpPr>
          <p:sp>
            <p:nvSpPr>
              <p:cNvPr id="287" name="小李PPT11-15"/>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8" name="小李PPT11-16"/>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9" name="小李PPT11-17"/>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0" name="小李PPT11-18"/>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1" name="小李PPT11-19"/>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2" name="小李PPT11-20"/>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3" name="小李PPT11-21"/>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4" name="小李PPT11-22"/>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5" name="小李PPT11-23"/>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6" name="小李PPT11-24"/>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7" name="小李PPT11-25"/>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8" name="小李PPT11-26"/>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99" name="小李PPT11-27"/>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00" name="小李PPT11-28"/>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6" name="组合 5"/>
            <p:cNvGrpSpPr/>
            <p:nvPr/>
          </p:nvGrpSpPr>
          <p:grpSpPr>
            <a:xfrm>
              <a:off x="279357" y="1955810"/>
              <a:ext cx="11671385" cy="609581"/>
              <a:chOff x="279357" y="304810"/>
              <a:chExt cx="11671385" cy="609581"/>
            </a:xfrm>
            <a:grpFill/>
          </p:grpSpPr>
          <p:sp>
            <p:nvSpPr>
              <p:cNvPr id="263" name="小李PPT11-29"/>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4" name="小李PPT11-30"/>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5" name="小李PPT11-31"/>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6" name="小李PPT11-32"/>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7" name="小李PPT11-33"/>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8" name="小李PPT11-34"/>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9" name="小李PPT11-35"/>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0" name="小李PPT11-36"/>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1" name="小李PPT11-37"/>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2" name="小李PPT11-38"/>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73" name="小李PPT11-39"/>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4" name="小李PPT11-40"/>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5" name="小李PPT11-41"/>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86" name="小李PPT11-42"/>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7" name="组合 6"/>
            <p:cNvGrpSpPr/>
            <p:nvPr/>
          </p:nvGrpSpPr>
          <p:grpSpPr>
            <a:xfrm>
              <a:off x="279357" y="2781310"/>
              <a:ext cx="11671385" cy="609581"/>
              <a:chOff x="279357" y="304810"/>
              <a:chExt cx="11671385" cy="609581"/>
            </a:xfrm>
            <a:grpFill/>
          </p:grpSpPr>
          <p:sp>
            <p:nvSpPr>
              <p:cNvPr id="57" name="小李PPT11-43"/>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8" name="小李PPT11-44"/>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9" name="小李PPT11-45"/>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0" name="小李PPT11-46"/>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1" name="小李PPT11-47"/>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2" name="小李PPT11-48"/>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63" name="小李PPT11-49"/>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6" name="小李PPT11-50"/>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7" name="小李PPT11-51"/>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8" name="小李PPT11-52"/>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59" name="小李PPT11-53"/>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0" name="小李PPT11-54"/>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1" name="小李PPT11-55"/>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62" name="小李PPT11-56"/>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10" name="组合 9"/>
            <p:cNvGrpSpPr/>
            <p:nvPr/>
          </p:nvGrpSpPr>
          <p:grpSpPr>
            <a:xfrm>
              <a:off x="279357" y="3606810"/>
              <a:ext cx="11671385" cy="609581"/>
              <a:chOff x="279357" y="304810"/>
              <a:chExt cx="11671385" cy="609581"/>
            </a:xfrm>
            <a:grpFill/>
          </p:grpSpPr>
          <p:sp>
            <p:nvSpPr>
              <p:cNvPr id="43" name="小李PPT11-57"/>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4" name="小李PPT11-58"/>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5" name="小李PPT11-59"/>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6" name="小李PPT11-60"/>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7" name="小李PPT11-61"/>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8" name="小李PPT11-62"/>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9" name="小李PPT11-63"/>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0" name="小李PPT11-64"/>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1" name="小李PPT11-65"/>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2" name="小李PPT11-66"/>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3" name="小李PPT11-67"/>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4" name="小李PPT11-68"/>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5" name="小李PPT11-69"/>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56" name="小李PPT11-70"/>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nvGrpSpPr>
            <p:cNvPr id="11" name="组合 10"/>
            <p:cNvGrpSpPr/>
            <p:nvPr/>
          </p:nvGrpSpPr>
          <p:grpSpPr>
            <a:xfrm>
              <a:off x="279357" y="4432310"/>
              <a:ext cx="11671385" cy="609581"/>
              <a:chOff x="279357" y="304810"/>
              <a:chExt cx="11671385" cy="609581"/>
            </a:xfrm>
            <a:grpFill/>
          </p:grpSpPr>
          <p:sp>
            <p:nvSpPr>
              <p:cNvPr id="14" name="小李PPT11-71"/>
              <p:cNvSpPr/>
              <p:nvPr/>
            </p:nvSpPr>
            <p:spPr>
              <a:xfrm>
                <a:off x="279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19" name="小李PPT11-72"/>
              <p:cNvSpPr/>
              <p:nvPr/>
            </p:nvSpPr>
            <p:spPr>
              <a:xfrm>
                <a:off x="1130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0" name="小李PPT11-73"/>
              <p:cNvSpPr/>
              <p:nvPr/>
            </p:nvSpPr>
            <p:spPr>
              <a:xfrm>
                <a:off x="1981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1" name="小李PPT11-74"/>
              <p:cNvSpPr/>
              <p:nvPr/>
            </p:nvSpPr>
            <p:spPr>
              <a:xfrm>
                <a:off x="2832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24" name="小李PPT11-75"/>
              <p:cNvSpPr/>
              <p:nvPr/>
            </p:nvSpPr>
            <p:spPr>
              <a:xfrm>
                <a:off x="36829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4" name="小李PPT11-76"/>
              <p:cNvSpPr/>
              <p:nvPr/>
            </p:nvSpPr>
            <p:spPr>
              <a:xfrm>
                <a:off x="45338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5" name="小李PPT11-77"/>
              <p:cNvSpPr/>
              <p:nvPr/>
            </p:nvSpPr>
            <p:spPr>
              <a:xfrm>
                <a:off x="53847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6" name="小李PPT11-78"/>
              <p:cNvSpPr/>
              <p:nvPr/>
            </p:nvSpPr>
            <p:spPr>
              <a:xfrm>
                <a:off x="62356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7" name="小李PPT11-79"/>
              <p:cNvSpPr/>
              <p:nvPr/>
            </p:nvSpPr>
            <p:spPr>
              <a:xfrm>
                <a:off x="70865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8" name="小李PPT11-80"/>
              <p:cNvSpPr/>
              <p:nvPr/>
            </p:nvSpPr>
            <p:spPr>
              <a:xfrm>
                <a:off x="79374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39" name="小李PPT11-81"/>
              <p:cNvSpPr/>
              <p:nvPr/>
            </p:nvSpPr>
            <p:spPr>
              <a:xfrm>
                <a:off x="87883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0" name="小李PPT11-82"/>
              <p:cNvSpPr/>
              <p:nvPr/>
            </p:nvSpPr>
            <p:spPr>
              <a:xfrm>
                <a:off x="96392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1" name="小李PPT11-83"/>
              <p:cNvSpPr/>
              <p:nvPr/>
            </p:nvSpPr>
            <p:spPr>
              <a:xfrm>
                <a:off x="104901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sp>
            <p:nvSpPr>
              <p:cNvPr id="42" name="小李PPT11-84"/>
              <p:cNvSpPr/>
              <p:nvPr/>
            </p:nvSpPr>
            <p:spPr>
              <a:xfrm>
                <a:off x="11341057" y="304810"/>
                <a:ext cx="609685" cy="609581"/>
              </a:xfrm>
              <a:custGeom>
                <a:avLst/>
                <a:gdLst>
                  <a:gd name="T0" fmla="*/ 12019 w 12219"/>
                  <a:gd name="T1" fmla="*/ 11322 h 12219"/>
                  <a:gd name="T2" fmla="*/ 10421 w 12219"/>
                  <a:gd name="T3" fmla="*/ 9956 h 12219"/>
                  <a:gd name="T4" fmla="*/ 9719 w 12219"/>
                  <a:gd name="T5" fmla="*/ 9949 h 12219"/>
                  <a:gd name="T6" fmla="*/ 9725 w 12219"/>
                  <a:gd name="T7" fmla="*/ 10652 h 12219"/>
                  <a:gd name="T8" fmla="*/ 11323 w 12219"/>
                  <a:gd name="T9" fmla="*/ 12018 h 12219"/>
                  <a:gd name="T10" fmla="*/ 12025 w 12219"/>
                  <a:gd name="T11" fmla="*/ 12024 h 12219"/>
                  <a:gd name="T12" fmla="*/ 12019 w 12219"/>
                  <a:gd name="T13" fmla="*/ 11322 h 12219"/>
                  <a:gd name="T14" fmla="*/ 5749 w 12219"/>
                  <a:gd name="T15" fmla="*/ 10513 h 12219"/>
                  <a:gd name="T16" fmla="*/ 9118 w 12219"/>
                  <a:gd name="T17" fmla="*/ 9118 h 12219"/>
                  <a:gd name="T18" fmla="*/ 10513 w 12219"/>
                  <a:gd name="T19" fmla="*/ 5749 h 12219"/>
                  <a:gd name="T20" fmla="*/ 9118 w 12219"/>
                  <a:gd name="T21" fmla="*/ 2380 h 12219"/>
                  <a:gd name="T22" fmla="*/ 5749 w 12219"/>
                  <a:gd name="T23" fmla="*/ 985 h 12219"/>
                  <a:gd name="T24" fmla="*/ 985 w 12219"/>
                  <a:gd name="T25" fmla="*/ 5749 h 12219"/>
                  <a:gd name="T26" fmla="*/ 2380 w 12219"/>
                  <a:gd name="T27" fmla="*/ 9118 h 12219"/>
                  <a:gd name="T28" fmla="*/ 5749 w 12219"/>
                  <a:gd name="T29" fmla="*/ 10513 h 12219"/>
                  <a:gd name="T30" fmla="*/ 5749 w 12219"/>
                  <a:gd name="T31" fmla="*/ 11497 h 12219"/>
                  <a:gd name="T32" fmla="*/ 1684 w 12219"/>
                  <a:gd name="T33" fmla="*/ 9814 h 12219"/>
                  <a:gd name="T34" fmla="*/ 0 w 12219"/>
                  <a:gd name="T35" fmla="*/ 5749 h 12219"/>
                  <a:gd name="T36" fmla="*/ 1684 w 12219"/>
                  <a:gd name="T37" fmla="*/ 1684 h 12219"/>
                  <a:gd name="T38" fmla="*/ 5749 w 12219"/>
                  <a:gd name="T39" fmla="*/ 0 h 12219"/>
                  <a:gd name="T40" fmla="*/ 9814 w 12219"/>
                  <a:gd name="T41" fmla="*/ 1684 h 12219"/>
                  <a:gd name="T42" fmla="*/ 11498 w 12219"/>
                  <a:gd name="T43" fmla="*/ 5749 h 12219"/>
                  <a:gd name="T44" fmla="*/ 9814 w 12219"/>
                  <a:gd name="T45" fmla="*/ 9814 h 12219"/>
                  <a:gd name="T46" fmla="*/ 5749 w 12219"/>
                  <a:gd name="T47" fmla="*/ 11497 h 12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9" h="12219">
                    <a:moveTo>
                      <a:pt x="12019" y="11322"/>
                    </a:moveTo>
                    <a:lnTo>
                      <a:pt x="10421" y="9956"/>
                    </a:lnTo>
                    <a:cubicBezTo>
                      <a:pt x="10230" y="9758"/>
                      <a:pt x="9913" y="9755"/>
                      <a:pt x="9719" y="9949"/>
                    </a:cubicBezTo>
                    <a:cubicBezTo>
                      <a:pt x="9524" y="10144"/>
                      <a:pt x="9527" y="10461"/>
                      <a:pt x="9725" y="10652"/>
                    </a:cubicBezTo>
                    <a:lnTo>
                      <a:pt x="11323" y="12018"/>
                    </a:lnTo>
                    <a:cubicBezTo>
                      <a:pt x="11514" y="12216"/>
                      <a:pt x="11830" y="12219"/>
                      <a:pt x="12025" y="12024"/>
                    </a:cubicBezTo>
                    <a:cubicBezTo>
                      <a:pt x="12219" y="11830"/>
                      <a:pt x="12217" y="11513"/>
                      <a:pt x="12019" y="11322"/>
                    </a:cubicBezTo>
                    <a:close/>
                    <a:moveTo>
                      <a:pt x="5749" y="10513"/>
                    </a:moveTo>
                    <a:cubicBezTo>
                      <a:pt x="7013" y="10513"/>
                      <a:pt x="8224" y="10011"/>
                      <a:pt x="9118" y="9118"/>
                    </a:cubicBezTo>
                    <a:cubicBezTo>
                      <a:pt x="10011" y="8224"/>
                      <a:pt x="10513" y="7012"/>
                      <a:pt x="10513" y="5749"/>
                    </a:cubicBezTo>
                    <a:cubicBezTo>
                      <a:pt x="10513" y="4485"/>
                      <a:pt x="10011" y="3273"/>
                      <a:pt x="9118" y="2380"/>
                    </a:cubicBezTo>
                    <a:cubicBezTo>
                      <a:pt x="8224" y="1486"/>
                      <a:pt x="7013" y="985"/>
                      <a:pt x="5749" y="985"/>
                    </a:cubicBezTo>
                    <a:cubicBezTo>
                      <a:pt x="3118" y="985"/>
                      <a:pt x="985" y="3118"/>
                      <a:pt x="985" y="5749"/>
                    </a:cubicBezTo>
                    <a:cubicBezTo>
                      <a:pt x="985" y="7012"/>
                      <a:pt x="1487" y="8224"/>
                      <a:pt x="2380" y="9118"/>
                    </a:cubicBezTo>
                    <a:cubicBezTo>
                      <a:pt x="3274" y="10011"/>
                      <a:pt x="4486" y="10513"/>
                      <a:pt x="5749" y="10513"/>
                    </a:cubicBezTo>
                    <a:close/>
                    <a:moveTo>
                      <a:pt x="5749" y="11497"/>
                    </a:moveTo>
                    <a:cubicBezTo>
                      <a:pt x="4224" y="11497"/>
                      <a:pt x="2762" y="10892"/>
                      <a:pt x="1684" y="9814"/>
                    </a:cubicBezTo>
                    <a:cubicBezTo>
                      <a:pt x="606" y="8736"/>
                      <a:pt x="0" y="7273"/>
                      <a:pt x="0" y="5749"/>
                    </a:cubicBezTo>
                    <a:cubicBezTo>
                      <a:pt x="0" y="4224"/>
                      <a:pt x="606" y="2762"/>
                      <a:pt x="1684" y="1684"/>
                    </a:cubicBezTo>
                    <a:cubicBezTo>
                      <a:pt x="2762" y="606"/>
                      <a:pt x="4224" y="0"/>
                      <a:pt x="5749" y="0"/>
                    </a:cubicBezTo>
                    <a:cubicBezTo>
                      <a:pt x="7274" y="0"/>
                      <a:pt x="8736" y="606"/>
                      <a:pt x="9814" y="1684"/>
                    </a:cubicBezTo>
                    <a:cubicBezTo>
                      <a:pt x="10892" y="2762"/>
                      <a:pt x="11498" y="4224"/>
                      <a:pt x="11498" y="5749"/>
                    </a:cubicBezTo>
                    <a:cubicBezTo>
                      <a:pt x="11498" y="7273"/>
                      <a:pt x="10892" y="8736"/>
                      <a:pt x="9814" y="9814"/>
                    </a:cubicBezTo>
                    <a:cubicBezTo>
                      <a:pt x="8736" y="10892"/>
                      <a:pt x="7274" y="11497"/>
                      <a:pt x="5749" y="11497"/>
                    </a:cubicBezTo>
                    <a:close/>
                  </a:path>
                </a:pathLst>
              </a:custGeom>
              <a:grp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prstClr val="white"/>
                  </a:solidFill>
                  <a:effectLst/>
                  <a:uLnTx/>
                  <a:uFillTx/>
                  <a:latin typeface="Bahnschrift Light" panose="020B0502040204020203"/>
                  <a:ea typeface="微软雅黑 Light" panose="020B0502040204020203" charset="-122"/>
                  <a:cs typeface="+mn-cs"/>
                </a:endParaRPr>
              </a:p>
            </p:txBody>
          </p:sp>
        </p:grpSp>
      </p:grpSp>
      <p:sp>
        <p:nvSpPr>
          <p:cNvPr id="315" name="小李PPT12"/>
          <p:cNvSpPr/>
          <p:nvPr/>
        </p:nvSpPr>
        <p:spPr>
          <a:xfrm>
            <a:off x="0" y="4711700"/>
            <a:ext cx="12192000" cy="21463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FFFFFF"/>
              </a:solidFill>
              <a:latin typeface="Montserrat"/>
              <a:ea typeface="思源黑体 CN Normal"/>
            </a:endParaRPr>
          </a:p>
        </p:txBody>
      </p:sp>
      <p:sp>
        <p:nvSpPr>
          <p:cNvPr id="316" name="小李PPT13"/>
          <p:cNvSpPr txBox="1"/>
          <p:nvPr/>
        </p:nvSpPr>
        <p:spPr>
          <a:xfrm>
            <a:off x="0" y="-1477010"/>
            <a:ext cx="11188700" cy="9247505"/>
          </a:xfrm>
          <a:prstGeom prst="rect">
            <a:avLst/>
          </a:prstGeom>
          <a:noFill/>
        </p:spPr>
        <p:txBody>
          <a:bodyPr wrap="square" rtlCol="0">
            <a:spAutoFit/>
          </a:bodyPr>
          <a:lstStyle/>
          <a:p>
            <a:pPr algn="l">
              <a:defRPr/>
            </a:pPr>
            <a:r>
              <a:rPr lang="en-US" altLang="zh-CN" sz="59500" b="1" dirty="0">
                <a:ln>
                  <a:solidFill>
                    <a:schemeClr val="accent2">
                      <a:alpha val="50000"/>
                    </a:schemeClr>
                  </a:solidFill>
                  <a:prstDash val="dash"/>
                </a:ln>
                <a:solidFill>
                  <a:schemeClr val="bg1"/>
                </a:solidFill>
                <a:effectLst>
                  <a:outerShdw blurRad="101600" dist="38100" dir="5400000" algn="t" rotWithShape="0">
                    <a:srgbClr val="1D4223">
                      <a:alpha val="40000"/>
                    </a:srgbClr>
                  </a:outerShdw>
                </a:effectLst>
                <a:latin typeface="Bahnschrift SemiBold" panose="020B0502040204020203"/>
                <a:ea typeface="微软雅黑 Light" panose="020B0502040204020203" charset="-122"/>
              </a:rPr>
              <a:t>6</a:t>
            </a:r>
            <a:endParaRPr lang="en-US" altLang="zh-CN" sz="59500" b="1" dirty="0">
              <a:ln>
                <a:solidFill>
                  <a:schemeClr val="accent2">
                    <a:alpha val="50000"/>
                  </a:schemeClr>
                </a:solidFill>
                <a:prstDash val="dash"/>
              </a:ln>
              <a:solidFill>
                <a:schemeClr val="bg1"/>
              </a:solidFill>
              <a:effectLst>
                <a:outerShdw blurRad="101600" dist="38100" dir="5400000" algn="t" rotWithShape="0">
                  <a:srgbClr val="1D4223">
                    <a:alpha val="40000"/>
                  </a:srgbClr>
                </a:outerShdw>
              </a:effectLst>
              <a:latin typeface="Bahnschrift SemiBold" panose="020B0502040204020203"/>
              <a:ea typeface="微软雅黑 Light" panose="020B0502040204020203" charset="-122"/>
            </a:endParaRPr>
          </a:p>
        </p:txBody>
      </p:sp>
      <p:sp>
        <p:nvSpPr>
          <p:cNvPr id="317" name="小李PPT14"/>
          <p:cNvSpPr txBox="1"/>
          <p:nvPr/>
        </p:nvSpPr>
        <p:spPr>
          <a:xfrm>
            <a:off x="1066800" y="4953000"/>
            <a:ext cx="5791200" cy="1569660"/>
          </a:xfrm>
          <a:prstGeom prst="rect">
            <a:avLst/>
          </a:prstGeom>
          <a:noFill/>
        </p:spPr>
        <p:txBody>
          <a:bodyPr wrap="square" rtlCol="0">
            <a:spAutoFit/>
          </a:bodyPr>
          <a:lstStyle/>
          <a:p>
            <a:pPr>
              <a:defRPr/>
            </a:pPr>
            <a:r>
              <a:rPr lang="en-US" altLang="zh-CN" sz="9600" b="1" dirty="0">
                <a:gradFill>
                  <a:gsLst>
                    <a:gs pos="0">
                      <a:prstClr val="white">
                        <a:alpha val="43000"/>
                      </a:prstClr>
                    </a:gs>
                    <a:gs pos="98000">
                      <a:prstClr val="white">
                        <a:alpha val="21000"/>
                      </a:prstClr>
                    </a:gs>
                  </a:gsLst>
                  <a:lin ang="0" scaled="0"/>
                </a:gradFill>
                <a:latin typeface="Bahnschrift SemiBold" panose="020B0502040204020203"/>
                <a:ea typeface="微软雅黑 Light" panose="020B0502040204020203" charset="-122"/>
              </a:rPr>
              <a:t>CHAPTER</a:t>
            </a:r>
            <a:endParaRPr lang="zh-CN" altLang="en-US" sz="9600" b="1" dirty="0">
              <a:gradFill>
                <a:gsLst>
                  <a:gs pos="0">
                    <a:prstClr val="white">
                      <a:alpha val="43000"/>
                    </a:prstClr>
                  </a:gs>
                  <a:gs pos="98000">
                    <a:prstClr val="white">
                      <a:alpha val="21000"/>
                    </a:prstClr>
                  </a:gs>
                </a:gsLst>
                <a:lin ang="0" scaled="0"/>
              </a:gradFill>
              <a:latin typeface="Bahnschrift SemiBold" panose="020B0502040204020203"/>
              <a:ea typeface="微软雅黑 Light" panose="020B0502040204020203" charset="-122"/>
            </a:endParaRPr>
          </a:p>
        </p:txBody>
      </p:sp>
      <p:sp>
        <p:nvSpPr>
          <p:cNvPr id="318" name="小李PPT15"/>
          <p:cNvSpPr/>
          <p:nvPr/>
        </p:nvSpPr>
        <p:spPr>
          <a:xfrm>
            <a:off x="5143500" y="1337945"/>
            <a:ext cx="1498600" cy="546100"/>
          </a:xfrm>
          <a:prstGeom prst="round2DiagRect">
            <a:avLst/>
          </a:prstGeom>
          <a:solidFill>
            <a:schemeClr val="accent2"/>
          </a:solidFill>
          <a:ln w="25400" cap="flat" cmpd="sng" algn="ctr">
            <a:noFill/>
            <a:prstDash val="solid"/>
          </a:ln>
          <a:effectLst/>
        </p:spPr>
        <p:txBody>
          <a:bodyPr rtlCol="0" anchor="ct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2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第</a:t>
            </a:r>
            <a:r>
              <a:rPr kumimoji="0" lang="zh-CN" altLang="en-US" sz="2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六节</a:t>
            </a:r>
            <a:endParaRPr kumimoji="0" lang="zh-CN" altLang="en-US" sz="2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endParaRPr>
          </a:p>
        </p:txBody>
      </p:sp>
      <p:sp>
        <p:nvSpPr>
          <p:cNvPr id="323" name="小李PPT20"/>
          <p:cNvSpPr txBox="1"/>
          <p:nvPr/>
        </p:nvSpPr>
        <p:spPr>
          <a:xfrm>
            <a:off x="5105400" y="1921510"/>
            <a:ext cx="5385435" cy="768350"/>
          </a:xfrm>
          <a:prstGeom prst="rect">
            <a:avLst/>
          </a:prstGeom>
          <a:noFill/>
        </p:spPr>
        <p:txBody>
          <a:bodyPr wrap="square" rtlCol="0">
            <a:spAutoFit/>
          </a:bodyPr>
          <a:lstStyle/>
          <a:p>
            <a:pPr algn="l" defTabSz="913765">
              <a:defRPr/>
            </a:pPr>
            <a:r>
              <a:rPr lang="zh-CN" altLang="en-US" sz="4400" b="1" dirty="0">
                <a:solidFill>
                  <a:schemeClr val="accent1"/>
                </a:solidFill>
                <a:latin typeface="Arial Black" panose="020B0A04020102020204"/>
                <a:ea typeface="微软雅黑" panose="020B0503020204020204" charset="-122"/>
              </a:rPr>
              <a:t>结论</a:t>
            </a:r>
            <a:endParaRPr lang="zh-CN" altLang="en-US" sz="4400" b="1" dirty="0">
              <a:solidFill>
                <a:schemeClr val="accent1"/>
              </a:solidFill>
              <a:latin typeface="Arial Black" panose="020B0A04020102020204"/>
              <a:ea typeface="微软雅黑" panose="020B0503020204020204" charset="-122"/>
            </a:endParaRPr>
          </a:p>
        </p:txBody>
      </p:sp>
      <p:cxnSp>
        <p:nvCxnSpPr>
          <p:cNvPr id="324" name="小李PPT21"/>
          <p:cNvCxnSpPr/>
          <p:nvPr/>
        </p:nvCxnSpPr>
        <p:spPr>
          <a:xfrm>
            <a:off x="5143500" y="2798445"/>
            <a:ext cx="4826000" cy="0"/>
          </a:xfrm>
          <a:prstGeom prst="line">
            <a:avLst/>
          </a:prstGeom>
          <a:noFill/>
          <a:ln w="19050" cap="flat" cmpd="sng" algn="ctr">
            <a:solidFill>
              <a:schemeClr val="accent6"/>
            </a:solidFill>
            <a:prstDash val="solid"/>
          </a:ln>
          <a:effectLst/>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小李PPT1"/>
          <p:cNvSpPr txBox="1"/>
          <p:nvPr/>
        </p:nvSpPr>
        <p:spPr>
          <a:xfrm>
            <a:off x="800099" y="265105"/>
            <a:ext cx="9956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olidFill>
                  <a:prstClr val="black"/>
                </a:solidFill>
                <a:latin typeface="+mj-ea"/>
                <a:ea typeface="+mj-ea"/>
              </a:rPr>
              <a:t>结论</a:t>
            </a:r>
            <a:endParaRPr lang="zh-CN" altLang="en-US" sz="3200" dirty="0">
              <a:solidFill>
                <a:prstClr val="black"/>
              </a:solidFill>
              <a:latin typeface="+mj-ea"/>
              <a:ea typeface="+mj-ea"/>
            </a:endParaRPr>
          </a:p>
        </p:txBody>
      </p:sp>
      <p:sp>
        <p:nvSpPr>
          <p:cNvPr id="9" name="小李PPT2"/>
          <p:cNvSpPr/>
          <p:nvPr/>
        </p:nvSpPr>
        <p:spPr>
          <a:xfrm>
            <a:off x="695325" y="337281"/>
            <a:ext cx="79375" cy="40005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274" name="小李PPT3"/>
          <p:cNvSpPr/>
          <p:nvPr>
            <p:custDataLst>
              <p:tags r:id="rId1"/>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5" name="小李PPT4"/>
          <p:cNvSpPr/>
          <p:nvPr>
            <p:custDataLst>
              <p:tags r:id="rId2"/>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 name="小李PPT5"/>
          <p:cNvSpPr/>
          <p:nvPr>
            <p:custDataLst>
              <p:tags r:id="rId3"/>
            </p:custDataLst>
          </p:nvPr>
        </p:nvSpPr>
        <p:spPr>
          <a:xfrm>
            <a:off x="4000500" y="-914400"/>
            <a:ext cx="635000" cy="635000"/>
          </a:xfrm>
          <a:prstGeom prst="rect">
            <a:avLst/>
          </a:prstGeom>
          <a:solidFill>
            <a:schemeClr val="dk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7" name="小李PPT6"/>
          <p:cNvSpPr/>
          <p:nvPr>
            <p:custDataLst>
              <p:tags r:id="rId4"/>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8" name="小李PPT7"/>
          <p:cNvSpPr/>
          <p:nvPr>
            <p:custDataLst>
              <p:tags r:id="rId5"/>
            </p:custDataLst>
          </p:nvPr>
        </p:nvSpPr>
        <p:spPr>
          <a:xfrm>
            <a:off x="5778500" y="-914400"/>
            <a:ext cx="635000" cy="6350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1</a:t>
            </a:r>
            <a:endParaRPr lang="zh-CN" altLang="en-US" sz="2000">
              <a:solidFill>
                <a:srgbClr val="F2F2F2"/>
              </a:solidFill>
            </a:endParaRPr>
          </a:p>
        </p:txBody>
      </p:sp>
      <p:sp>
        <p:nvSpPr>
          <p:cNvPr id="279" name="小李PPT8"/>
          <p:cNvSpPr/>
          <p:nvPr>
            <p:custDataLst>
              <p:tags r:id="rId6"/>
            </p:custDataLst>
          </p:nvPr>
        </p:nvSpPr>
        <p:spPr>
          <a:xfrm>
            <a:off x="6540500" y="-914400"/>
            <a:ext cx="635000" cy="635000"/>
          </a:xfrm>
          <a:prstGeom prst="rect">
            <a:avLst/>
          </a:prstGeom>
          <a:solidFill>
            <a:schemeClr val="accen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2</a:t>
            </a:r>
            <a:endParaRPr lang="zh-CN" altLang="en-US" sz="2000">
              <a:solidFill>
                <a:srgbClr val="F2F2F2"/>
              </a:solidFill>
            </a:endParaRPr>
          </a:p>
        </p:txBody>
      </p:sp>
      <p:sp>
        <p:nvSpPr>
          <p:cNvPr id="280" name="小李PPT9"/>
          <p:cNvSpPr/>
          <p:nvPr>
            <p:custDataLst>
              <p:tags r:id="rId7"/>
            </p:custDataLst>
          </p:nvPr>
        </p:nvSpPr>
        <p:spPr>
          <a:xfrm>
            <a:off x="7302500" y="-914400"/>
            <a:ext cx="635000" cy="635000"/>
          </a:xfrm>
          <a:prstGeom prst="rect">
            <a:avLst/>
          </a:prstGeom>
          <a:solidFill>
            <a:schemeClr val="accent3"/>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3</a:t>
            </a:r>
            <a:endParaRPr lang="zh-CN" altLang="en-US" sz="2000">
              <a:solidFill>
                <a:srgbClr val="F2F2F2"/>
              </a:solidFill>
            </a:endParaRPr>
          </a:p>
        </p:txBody>
      </p:sp>
      <p:sp>
        <p:nvSpPr>
          <p:cNvPr id="281" name="小李PPT10"/>
          <p:cNvSpPr/>
          <p:nvPr>
            <p:custDataLst>
              <p:tags r:id="rId8"/>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4</a:t>
            </a:r>
            <a:endParaRPr lang="zh-CN" altLang="en-US" sz="2000">
              <a:solidFill>
                <a:srgbClr val="F2F2F2"/>
              </a:solidFill>
            </a:endParaRPr>
          </a:p>
        </p:txBody>
      </p:sp>
      <p:sp>
        <p:nvSpPr>
          <p:cNvPr id="282" name="小李PPT11"/>
          <p:cNvSpPr/>
          <p:nvPr>
            <p:custDataLst>
              <p:tags r:id="rId9"/>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5</a:t>
            </a:r>
            <a:endParaRPr lang="zh-CN" altLang="en-US" sz="2000">
              <a:solidFill>
                <a:srgbClr val="F2F2F2"/>
              </a:solidFill>
            </a:endParaRPr>
          </a:p>
        </p:txBody>
      </p:sp>
      <p:sp>
        <p:nvSpPr>
          <p:cNvPr id="283" name="小李PPT12"/>
          <p:cNvSpPr/>
          <p:nvPr>
            <p:custDataLst>
              <p:tags r:id="rId10"/>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a:solidFill>
                  <a:srgbClr val="F2F2F2"/>
                </a:solidFill>
              </a:rPr>
              <a:t>6</a:t>
            </a:r>
            <a:endParaRPr lang="zh-CN" altLang="en-US" sz="2000">
              <a:solidFill>
                <a:srgbClr val="F2F2F2"/>
              </a:solidFill>
            </a:endParaRPr>
          </a:p>
        </p:txBody>
      </p:sp>
      <p:pic>
        <p:nvPicPr>
          <p:cNvPr id="3" name="图片 2"/>
          <p:cNvPicPr>
            <a:picLocks noChangeAspect="1"/>
          </p:cNvPicPr>
          <p:nvPr/>
        </p:nvPicPr>
        <p:blipFill>
          <a:blip r:embed="rId11"/>
          <a:stretch>
            <a:fillRect/>
          </a:stretch>
        </p:blipFill>
        <p:spPr>
          <a:xfrm>
            <a:off x="6998335" y="105410"/>
            <a:ext cx="4989195" cy="6647180"/>
          </a:xfrm>
          <a:prstGeom prst="rect">
            <a:avLst/>
          </a:prstGeom>
        </p:spPr>
      </p:pic>
      <p:grpSp>
        <p:nvGrpSpPr>
          <p:cNvPr id="15" name="组合 14"/>
          <p:cNvGrpSpPr/>
          <p:nvPr/>
        </p:nvGrpSpPr>
        <p:grpSpPr>
          <a:xfrm>
            <a:off x="391795" y="1647825"/>
            <a:ext cx="6459220" cy="3829050"/>
            <a:chOff x="786" y="1531"/>
            <a:chExt cx="8513" cy="5989"/>
          </a:xfrm>
        </p:grpSpPr>
        <p:sp>
          <p:nvSpPr>
            <p:cNvPr id="4" name="Rectangle: Rounded Corners 77"/>
            <p:cNvSpPr/>
            <p:nvPr/>
          </p:nvSpPr>
          <p:spPr>
            <a:xfrm>
              <a:off x="786" y="1531"/>
              <a:ext cx="8513" cy="5989"/>
            </a:xfrm>
            <a:prstGeom prst="roundRect">
              <a:avLst>
                <a:gd name="adj" fmla="val 0"/>
              </a:avLst>
            </a:prstGeom>
            <a:noFill/>
            <a:ln w="19050">
              <a:solidFill>
                <a:srgbClr val="507596"/>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tIns="180000" rtlCol="0" anchor="t"/>
            <a:p>
              <a:endParaRPr lang="en-US" sz="1200" dirty="0">
                <a:solidFill>
                  <a:srgbClr val="015056"/>
                </a:solidFill>
                <a:latin typeface="微软雅黑" panose="020B0503020204020204" charset="-122"/>
                <a:ea typeface="微软雅黑" panose="020B0503020204020204" charset="-122"/>
              </a:endParaRPr>
            </a:p>
          </p:txBody>
        </p:sp>
        <p:sp>
          <p:nvSpPr>
            <p:cNvPr id="7" name="文本框 6"/>
            <p:cNvSpPr txBox="1"/>
            <p:nvPr/>
          </p:nvSpPr>
          <p:spPr>
            <a:xfrm>
              <a:off x="1094" y="1919"/>
              <a:ext cx="7918" cy="5341"/>
            </a:xfrm>
            <a:prstGeom prst="rect">
              <a:avLst/>
            </a:prstGeom>
            <a:noFill/>
          </p:spPr>
          <p:txBody>
            <a:bodyPr wrap="square" rtlCol="0">
              <a:spAutoFit/>
            </a:bodyPr>
            <a:p>
              <a:r>
                <a:rPr lang="zh-CN" altLang="en-US"/>
                <a:t>结合以上分析可以看出，本项目建成投产后，年销售收入为 4000 万元。</a:t>
              </a:r>
              <a:endParaRPr lang="zh-CN" altLang="en-US"/>
            </a:p>
            <a:p>
              <a:endParaRPr lang="zh-CN" altLang="en-US"/>
            </a:p>
            <a:p>
              <a:r>
                <a:rPr lang="zh-CN" altLang="en-US"/>
                <a:t>所得税前财务内部收益率（全部投资）为 36%，税后为 33%，均大于行业基准收益率 19%；</a:t>
              </a:r>
              <a:endParaRPr lang="zh-CN" altLang="en-US"/>
            </a:p>
            <a:p>
              <a:endParaRPr lang="zh-CN" altLang="en-US"/>
            </a:p>
            <a:p>
              <a:r>
                <a:rPr lang="zh-CN" altLang="en-US"/>
                <a:t>静态投资回收期为 4.04 年（税前），小于行业基准回收期 7–8年；</a:t>
              </a:r>
              <a:endParaRPr lang="zh-CN" altLang="en-US"/>
            </a:p>
            <a:p>
              <a:endParaRPr lang="zh-CN" altLang="en-US"/>
            </a:p>
            <a:p>
              <a:r>
                <a:rPr lang="zh-CN" altLang="en-US"/>
                <a:t>项目的财务净现值（税前）为 4447.0 万元，税后为 3734.0 万元，均远大于 0；债务清偿能力以及财务生存能力均较强。</a:t>
              </a:r>
              <a:endParaRPr lang="zh-CN" altLang="en-US"/>
            </a:p>
          </p:txBody>
        </p:sp>
        <p:sp>
          <p:nvSpPr>
            <p:cNvPr id="12" name="文本框 11"/>
            <p:cNvSpPr txBox="1"/>
            <p:nvPr/>
          </p:nvSpPr>
          <p:spPr>
            <a:xfrm>
              <a:off x="1186" y="1799"/>
              <a:ext cx="7680" cy="5406"/>
            </a:xfrm>
            <a:prstGeom prst="rect">
              <a:avLst/>
            </a:prstGeom>
            <a:noFill/>
          </p:spPr>
          <p:txBody>
            <a:bodyPr wrap="square" rtlCol="0">
              <a:noAutofit/>
            </a:bodyPr>
            <a:p>
              <a:endParaRPr lang="en-US" altLang="zh-CN"/>
            </a:p>
          </p:txBody>
        </p:sp>
      </p:grpSp>
      <p:grpSp>
        <p:nvGrpSpPr>
          <p:cNvPr id="16" name="组合 15"/>
          <p:cNvGrpSpPr/>
          <p:nvPr/>
        </p:nvGrpSpPr>
        <p:grpSpPr>
          <a:xfrm>
            <a:off x="392430" y="869950"/>
            <a:ext cx="6489065" cy="554355"/>
            <a:chOff x="603" y="3788"/>
            <a:chExt cx="8997" cy="1018"/>
          </a:xfrm>
        </p:grpSpPr>
        <p:sp>
          <p:nvSpPr>
            <p:cNvPr id="21" name="矩形 20"/>
            <p:cNvSpPr/>
            <p:nvPr/>
          </p:nvSpPr>
          <p:spPr>
            <a:xfrm>
              <a:off x="603" y="3788"/>
              <a:ext cx="8997" cy="1018"/>
            </a:xfrm>
            <a:prstGeom prst="rect">
              <a:avLst/>
            </a:prstGeom>
            <a:gradFill flip="none" rotWithShape="1">
              <a:gsLst>
                <a:gs pos="0">
                  <a:schemeClr val="accent6">
                    <a:lumMod val="20000"/>
                    <a:lumOff val="80000"/>
                    <a:alpha val="33000"/>
                  </a:schemeClr>
                </a:gs>
                <a:gs pos="97248">
                  <a:schemeClr val="accent3">
                    <a:lumMod val="40000"/>
                    <a:lumOff val="6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25" name="文本框 24"/>
            <p:cNvSpPr txBox="1"/>
            <p:nvPr/>
          </p:nvSpPr>
          <p:spPr>
            <a:xfrm>
              <a:off x="811" y="3982"/>
              <a:ext cx="8088" cy="732"/>
            </a:xfrm>
            <a:prstGeom prst="rect">
              <a:avLst/>
            </a:prstGeom>
            <a:noFill/>
          </p:spPr>
          <p:txBody>
            <a:bodyPr wrap="square" rtlCol="0">
              <a:spAutoFit/>
            </a:bodyPr>
            <a:p>
              <a:pPr algn="ctr"/>
              <a:r>
                <a:rPr lang="zh-CN" altLang="en-US" sz="2000" b="1" dirty="0">
                  <a:gradFill>
                    <a:gsLst>
                      <a:gs pos="0">
                        <a:srgbClr val="01539D"/>
                      </a:gs>
                      <a:gs pos="97248">
                        <a:srgbClr val="2C8EA7"/>
                      </a:gs>
                    </a:gsLst>
                    <a:lin ang="2700000" scaled="1"/>
                  </a:gradFill>
                  <a:latin typeface="微软雅黑" panose="020B0503020204020204" charset="-122"/>
                  <a:ea typeface="微软雅黑" panose="020B0503020204020204" charset="-122"/>
                </a:rPr>
                <a:t>项目的主要财务指标如表 11 所示。</a:t>
              </a:r>
              <a:endParaRPr lang="zh-CN" altLang="en-US" sz="2000" b="1" dirty="0">
                <a:gradFill>
                  <a:gsLst>
                    <a:gs pos="0">
                      <a:srgbClr val="01539D"/>
                    </a:gs>
                    <a:gs pos="97248">
                      <a:srgbClr val="2C8EA7"/>
                    </a:gs>
                  </a:gsLst>
                  <a:lin ang="2700000" scaled="1"/>
                </a:gradFill>
                <a:latin typeface="微软雅黑" panose="020B0503020204020204" charset="-122"/>
                <a:ea typeface="微软雅黑" panose="020B0503020204020204" charset="-122"/>
              </a:endParaRPr>
            </a:p>
          </p:txBody>
        </p:sp>
      </p:grpSp>
      <p:sp>
        <p:nvSpPr>
          <p:cNvPr id="61" name="Rectangle: Rounded Corners 77"/>
          <p:cNvSpPr/>
          <p:nvPr/>
        </p:nvSpPr>
        <p:spPr>
          <a:xfrm>
            <a:off x="391795" y="5548630"/>
            <a:ext cx="6459220" cy="1203960"/>
          </a:xfrm>
          <a:prstGeom prst="roundRect">
            <a:avLst>
              <a:gd name="adj" fmla="val 0"/>
            </a:avLst>
          </a:prstGeom>
          <a:noFill/>
          <a:ln w="19050">
            <a:solidFill>
              <a:srgbClr val="507596"/>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tIns="180000" rtlCol="0" anchor="t"/>
          <a:p>
            <a:r>
              <a:rPr lang="zh-CN" altLang="en-US" sz="1400" b="1" dirty="0">
                <a:solidFill>
                  <a:srgbClr val="015056"/>
                </a:solidFill>
                <a:latin typeface="微软雅黑" panose="020B0503020204020204" charset="-122"/>
                <a:ea typeface="微软雅黑" panose="020B0503020204020204" charset="-122"/>
              </a:rPr>
              <a:t>结论：</a:t>
            </a:r>
            <a:endParaRPr lang="zh-CN" altLang="en-US" sz="1400" b="1" dirty="0">
              <a:solidFill>
                <a:srgbClr val="015056"/>
              </a:solidFill>
              <a:latin typeface="微软雅黑" panose="020B0503020204020204" charset="-122"/>
              <a:ea typeface="微软雅黑" panose="020B0503020204020204" charset="-122"/>
            </a:endParaRPr>
          </a:p>
          <a:p>
            <a:pPr indent="457200"/>
            <a:r>
              <a:rPr lang="zh-CN" altLang="en-US" sz="1400" b="1" dirty="0">
                <a:solidFill>
                  <a:srgbClr val="015056"/>
                </a:solidFill>
                <a:latin typeface="微软雅黑" panose="020B0503020204020204" charset="-122"/>
                <a:ea typeface="微软雅黑" panose="020B0503020204020204" charset="-122"/>
              </a:rPr>
              <a:t>综上所述，综合考虑本项目的盈利能力、偿债能力以及财务生存能力，可以得出结论：本项目在经济上是安全可行的。</a:t>
            </a:r>
            <a:endParaRPr lang="zh-CN" altLang="en-US" sz="1400" b="1" dirty="0">
              <a:solidFill>
                <a:srgbClr val="015056"/>
              </a:solidFill>
              <a:latin typeface="微软雅黑" panose="020B0503020204020204" charset="-122"/>
              <a:ea typeface="微软雅黑" panose="020B0503020204020204" charset="-122"/>
            </a:endParaRPr>
          </a:p>
        </p:txBody>
      </p:sp>
      <p:cxnSp>
        <p:nvCxnSpPr>
          <p:cNvPr id="63" name="直接连接符 62"/>
          <p:cNvCxnSpPr/>
          <p:nvPr/>
        </p:nvCxnSpPr>
        <p:spPr>
          <a:xfrm flipV="1">
            <a:off x="421341" y="803341"/>
            <a:ext cx="6427470" cy="25400"/>
          </a:xfrm>
          <a:prstGeom prst="line">
            <a:avLst/>
          </a:prstGeom>
          <a:ln w="19050">
            <a:solidFill>
              <a:srgbClr val="51516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小李PPT1"/>
          <p:cNvSpPr/>
          <p:nvPr>
            <p:custDataLst>
              <p:tags r:id="rId1"/>
            </p:custDataLst>
          </p:nvPr>
        </p:nvSpPr>
        <p:spPr>
          <a:xfrm>
            <a:off x="2476500" y="-914400"/>
            <a:ext cx="635000" cy="635000"/>
          </a:xfrm>
          <a:prstGeom prst="rect">
            <a:avLst/>
          </a:prstGeom>
          <a:solidFill>
            <a:schemeClr val="dk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5" name="小李PPT2"/>
          <p:cNvSpPr/>
          <p:nvPr>
            <p:custDataLst>
              <p:tags r:id="rId2"/>
            </p:custDataLst>
          </p:nvPr>
        </p:nvSpPr>
        <p:spPr>
          <a:xfrm>
            <a:off x="3238500" y="-914400"/>
            <a:ext cx="635000" cy="635000"/>
          </a:xfrm>
          <a:prstGeom prst="rect">
            <a:avLst/>
          </a:prstGeom>
          <a:solidFill>
            <a:schemeClr val="l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6" name="小李PPT3"/>
          <p:cNvSpPr/>
          <p:nvPr>
            <p:custDataLst>
              <p:tags r:id="rId3"/>
            </p:custDataLst>
          </p:nvPr>
        </p:nvSpPr>
        <p:spPr>
          <a:xfrm>
            <a:off x="4000500" y="-914400"/>
            <a:ext cx="635000" cy="635000"/>
          </a:xfrm>
          <a:prstGeom prst="rect">
            <a:avLst/>
          </a:prstGeom>
          <a:solidFill>
            <a:schemeClr val="dk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7" name="小李PPT4"/>
          <p:cNvSpPr/>
          <p:nvPr>
            <p:custDataLst>
              <p:tags r:id="rId4"/>
            </p:custDataLst>
          </p:nvPr>
        </p:nvSpPr>
        <p:spPr>
          <a:xfrm>
            <a:off x="4762500" y="-914400"/>
            <a:ext cx="635000" cy="635000"/>
          </a:xfrm>
          <a:prstGeom prst="rect">
            <a:avLst/>
          </a:prstGeom>
          <a:solidFill>
            <a:schemeClr val="l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OPPOSans R"/>
              <a:ea typeface="OPPOSans R"/>
              <a:cs typeface="+mn-cs"/>
            </a:endParaRPr>
          </a:p>
        </p:txBody>
      </p:sp>
      <p:sp>
        <p:nvSpPr>
          <p:cNvPr id="278" name="小李PPT5"/>
          <p:cNvSpPr/>
          <p:nvPr>
            <p:custDataLst>
              <p:tags r:id="rId5"/>
            </p:custDataLst>
          </p:nvPr>
        </p:nvSpPr>
        <p:spPr>
          <a:xfrm>
            <a:off x="5778500" y="-914400"/>
            <a:ext cx="635000" cy="635000"/>
          </a:xfrm>
          <a:prstGeom prst="rect">
            <a:avLst/>
          </a:prstGeom>
          <a:solidFill>
            <a:schemeClr val="accent1"/>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1</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79" name="小李PPT6"/>
          <p:cNvSpPr/>
          <p:nvPr>
            <p:custDataLst>
              <p:tags r:id="rId6"/>
            </p:custDataLst>
          </p:nvPr>
        </p:nvSpPr>
        <p:spPr>
          <a:xfrm>
            <a:off x="6540500" y="-914400"/>
            <a:ext cx="635000" cy="635000"/>
          </a:xfrm>
          <a:prstGeom prst="rect">
            <a:avLst/>
          </a:prstGeom>
          <a:solidFill>
            <a:schemeClr val="accent2"/>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2</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0" name="小李PPT7"/>
          <p:cNvSpPr/>
          <p:nvPr>
            <p:custDataLst>
              <p:tags r:id="rId7"/>
            </p:custDataLst>
          </p:nvPr>
        </p:nvSpPr>
        <p:spPr>
          <a:xfrm>
            <a:off x="7302500" y="-914400"/>
            <a:ext cx="635000" cy="635000"/>
          </a:xfrm>
          <a:prstGeom prst="rect">
            <a:avLst/>
          </a:prstGeom>
          <a:solidFill>
            <a:schemeClr val="accent3"/>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3</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1" name="小李PPT8"/>
          <p:cNvSpPr/>
          <p:nvPr>
            <p:custDataLst>
              <p:tags r:id="rId8"/>
            </p:custDataLst>
          </p:nvPr>
        </p:nvSpPr>
        <p:spPr>
          <a:xfrm>
            <a:off x="8064500" y="-914400"/>
            <a:ext cx="635000" cy="635000"/>
          </a:xfrm>
          <a:prstGeom prst="rect">
            <a:avLst/>
          </a:prstGeom>
          <a:solidFill>
            <a:schemeClr val="accent4"/>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4</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2" name="小李PPT9"/>
          <p:cNvSpPr/>
          <p:nvPr>
            <p:custDataLst>
              <p:tags r:id="rId9"/>
            </p:custDataLst>
          </p:nvPr>
        </p:nvSpPr>
        <p:spPr>
          <a:xfrm>
            <a:off x="8826500" y="-914400"/>
            <a:ext cx="635000" cy="635000"/>
          </a:xfrm>
          <a:prstGeom prst="rect">
            <a:avLst/>
          </a:prstGeom>
          <a:solidFill>
            <a:schemeClr val="accent5"/>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5</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283" name="小李PPT10"/>
          <p:cNvSpPr/>
          <p:nvPr>
            <p:custDataLst>
              <p:tags r:id="rId10"/>
            </p:custDataLst>
          </p:nvPr>
        </p:nvSpPr>
        <p:spPr>
          <a:xfrm>
            <a:off x="9588500" y="-914400"/>
            <a:ext cx="635000" cy="635000"/>
          </a:xfrm>
          <a:prstGeom prst="rect">
            <a:avLst/>
          </a:prstGeom>
          <a:solidFill>
            <a:schemeClr val="accent6"/>
          </a:solidFill>
          <a:ln w="6350">
            <a:solidFill>
              <a:srgbClr val="F2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srgbClr val="F2F2F2"/>
                </a:solidFill>
                <a:effectLst/>
                <a:uLnTx/>
                <a:uFillTx/>
                <a:latin typeface="OPPOSans R"/>
                <a:ea typeface="OPPOSans R"/>
                <a:cs typeface="+mn-cs"/>
              </a:rPr>
              <a:t>6</a:t>
            </a:r>
            <a:endParaRPr kumimoji="0" lang="zh-CN" altLang="en-US" sz="2000" b="0" i="0" u="none" strike="noStrike" kern="1200" cap="none" spc="0" normalizeH="0" baseline="0" noProof="0">
              <a:ln>
                <a:noFill/>
              </a:ln>
              <a:solidFill>
                <a:srgbClr val="F2F2F2"/>
              </a:solidFill>
              <a:effectLst/>
              <a:uLnTx/>
              <a:uFillTx/>
              <a:latin typeface="OPPOSans R"/>
              <a:ea typeface="OPPOSans R"/>
              <a:cs typeface="+mn-cs"/>
            </a:endParaRPr>
          </a:p>
        </p:txBody>
      </p:sp>
      <p:sp>
        <p:nvSpPr>
          <p:cNvPr id="4" name="小李PPT11"/>
          <p:cNvSpPr/>
          <p:nvPr/>
        </p:nvSpPr>
        <p:spPr>
          <a:xfrm>
            <a:off x="0" y="0"/>
            <a:ext cx="12192000" cy="5329238"/>
          </a:xfrm>
          <a:prstGeom prst="rect">
            <a:avLst/>
          </a:prstGeom>
          <a:solidFill>
            <a:schemeClr val="accent1"/>
          </a:solidFill>
          <a:ln w="12700" cap="flat" cmpd="sng" algn="ctr">
            <a:noFill/>
            <a:prstDash val="solid"/>
            <a:miter lim="800000"/>
          </a:ln>
          <a:effectLst/>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Montserrat"/>
              <a:ea typeface="思源黑体 CN Normal"/>
              <a:cs typeface="+mn-cs"/>
            </a:endParaRPr>
          </a:p>
        </p:txBody>
      </p:sp>
      <p:grpSp>
        <p:nvGrpSpPr>
          <p:cNvPr id="27" name="小李PPT15"/>
          <p:cNvGrpSpPr/>
          <p:nvPr/>
        </p:nvGrpSpPr>
        <p:grpSpPr>
          <a:xfrm>
            <a:off x="5739539" y="4972777"/>
            <a:ext cx="712922" cy="712922"/>
            <a:chOff x="5500999" y="4972777"/>
            <a:chExt cx="712922" cy="712922"/>
          </a:xfrm>
        </p:grpSpPr>
        <p:sp>
          <p:nvSpPr>
            <p:cNvPr id="5" name="小李PPT15-1"/>
            <p:cNvSpPr/>
            <p:nvPr/>
          </p:nvSpPr>
          <p:spPr>
            <a:xfrm>
              <a:off x="5500999" y="4972777"/>
              <a:ext cx="712922" cy="712922"/>
            </a:xfrm>
            <a:prstGeom prst="ellipse">
              <a:avLst/>
            </a:prstGeom>
            <a:solidFill>
              <a:schemeClr val="accent6"/>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pic>
          <p:nvPicPr>
            <p:cNvPr id="18" name="小李PPT15-2"/>
            <p:cNvPicPr>
              <a:picLocks noChangeAspect="1"/>
            </p:cNvPicPr>
            <p:nvPr/>
          </p:nvPicPr>
          <p:blipFill>
            <a:blip r:embed="rId11" cstate="email"/>
            <a:stretch>
              <a:fillRect/>
            </a:stretch>
          </p:blipFill>
          <p:spPr>
            <a:xfrm rot="5400000">
              <a:off x="5616580" y="5089605"/>
              <a:ext cx="481759" cy="481759"/>
            </a:xfrm>
            <a:prstGeom prst="rect">
              <a:avLst/>
            </a:prstGeom>
          </p:spPr>
        </p:pic>
      </p:grpSp>
      <p:sp>
        <p:nvSpPr>
          <p:cNvPr id="2" name="小李PPT17"/>
          <p:cNvSpPr txBox="1"/>
          <p:nvPr/>
        </p:nvSpPr>
        <p:spPr>
          <a:xfrm>
            <a:off x="1437323" y="1860993"/>
            <a:ext cx="9317355" cy="186118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15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THANK YOU</a:t>
            </a:r>
            <a:endParaRPr kumimoji="1" lang="zh-CN" altLang="en-US" sz="115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6" name="小李PPT18"/>
          <p:cNvSpPr/>
          <p:nvPr/>
        </p:nvSpPr>
        <p:spPr>
          <a:xfrm>
            <a:off x="3967483" y="788200"/>
            <a:ext cx="4257040" cy="1769745"/>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600"/>
              </a:spcBef>
              <a:spcAft>
                <a:spcPts val="0"/>
              </a:spcAft>
              <a:buClrTx/>
              <a:buSzTx/>
              <a:buFontTx/>
              <a:buNone/>
              <a:defRPr/>
            </a:pPr>
            <a:r>
              <a:rPr kumimoji="0" lang="en-US" altLang="zh-CN" sz="11500" b="1" i="0" u="none" strike="noStrike" kern="1200" cap="none" spc="0" normalizeH="0" baseline="0" noProof="0" dirty="0">
                <a:ln>
                  <a:gradFill>
                    <a:gsLst>
                      <a:gs pos="0">
                        <a:srgbClr val="FFFFFF"/>
                      </a:gs>
                      <a:gs pos="60000">
                        <a:srgbClr val="FFFFFF">
                          <a:alpha val="0"/>
                        </a:srgbClr>
                      </a:gs>
                    </a:gsLst>
                    <a:lin ang="5400000" scaled="1"/>
                  </a:gradFill>
                </a:ln>
                <a:gradFill>
                  <a:gsLst>
                    <a:gs pos="0">
                      <a:srgbClr val="FFFFFF">
                        <a:alpha val="30000"/>
                      </a:srgbClr>
                    </a:gs>
                    <a:gs pos="60000">
                      <a:srgbClr val="FFFFFF">
                        <a:alpha val="0"/>
                      </a:srgbClr>
                    </a:gs>
                  </a:gsLst>
                  <a:lin ang="5400000" scaled="0"/>
                </a:gradFill>
                <a:effectLst/>
                <a:uLnTx/>
                <a:uFillTx/>
                <a:latin typeface="Montserrat"/>
                <a:ea typeface="思源黑体 CN Bold"/>
                <a:cs typeface="阿里巴巴普惠体 Heavy" panose="00020600040101010101" pitchFamily="18" charset="-122"/>
              </a:rPr>
              <a:t>2025</a:t>
            </a:r>
            <a:endParaRPr kumimoji="0" lang="zh-CN" altLang="en-US" sz="11500" b="0" i="0" u="none" strike="noStrike" kern="1200" cap="none" spc="0" normalizeH="0" baseline="0" noProof="0" dirty="0">
              <a:ln>
                <a:gradFill>
                  <a:gsLst>
                    <a:gs pos="0">
                      <a:srgbClr val="FFFFFF"/>
                    </a:gs>
                    <a:gs pos="60000">
                      <a:srgbClr val="FFFFFF">
                        <a:alpha val="0"/>
                      </a:srgbClr>
                    </a:gs>
                  </a:gsLst>
                  <a:lin ang="5400000" scaled="1"/>
                </a:gradFill>
              </a:ln>
              <a:gradFill>
                <a:gsLst>
                  <a:gs pos="0">
                    <a:srgbClr val="FFFFFF">
                      <a:alpha val="30000"/>
                    </a:srgbClr>
                  </a:gs>
                  <a:gs pos="60000">
                    <a:srgbClr val="FFFFFF">
                      <a:alpha val="0"/>
                    </a:srgbClr>
                  </a:gs>
                </a:gsLst>
                <a:lin ang="5400000" scaled="0"/>
              </a:gradFill>
              <a:effectLst/>
              <a:uLnTx/>
              <a:uFillTx/>
              <a:latin typeface="思源黑体 CN Bold"/>
              <a:ea typeface="思源黑体 CN Bold"/>
              <a:cs typeface="阿里巴巴普惠体 Heavy" panose="00020600040101010101" pitchFamily="18" charset="-122"/>
            </a:endParaRPr>
          </a:p>
        </p:txBody>
      </p:sp>
      <p:sp>
        <p:nvSpPr>
          <p:cNvPr id="3" name="小李PPT12-1"/>
          <p:cNvSpPr/>
          <p:nvPr/>
        </p:nvSpPr>
        <p:spPr>
          <a:xfrm>
            <a:off x="10753725" y="6084829"/>
            <a:ext cx="127000" cy="127000"/>
          </a:xfrm>
          <a:prstGeom prst="ellipse">
            <a:avLst/>
          </a:prstGeom>
          <a:solidFill>
            <a:srgbClr val="FFFFFF"/>
          </a:solidFill>
          <a:ln w="12700"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8" name="小李PPT12-2"/>
          <p:cNvSpPr/>
          <p:nvPr/>
        </p:nvSpPr>
        <p:spPr>
          <a:xfrm>
            <a:off x="10932795" y="6084829"/>
            <a:ext cx="127000" cy="127000"/>
          </a:xfrm>
          <a:prstGeom prst="ellipse">
            <a:avLst/>
          </a:prstGeom>
          <a:solidFill>
            <a:schemeClr val="accent1"/>
          </a:solidFill>
          <a:ln w="12700" cap="flat" cmpd="sng" algn="ctr">
            <a:solidFill>
              <a:schemeClr val="accent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4" name="小李PPT13"/>
          <p:cNvSpPr/>
          <p:nvPr/>
        </p:nvSpPr>
        <p:spPr>
          <a:xfrm>
            <a:off x="11111865" y="6084829"/>
            <a:ext cx="127000" cy="127000"/>
          </a:xfrm>
          <a:prstGeom prst="ellipse">
            <a:avLst/>
          </a:prstGeom>
          <a:solidFill>
            <a:srgbClr val="FFFFFF"/>
          </a:solidFill>
          <a:ln w="12700"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5" name="小李PPT14"/>
          <p:cNvSpPr/>
          <p:nvPr/>
        </p:nvSpPr>
        <p:spPr>
          <a:xfrm>
            <a:off x="11290935" y="6084829"/>
            <a:ext cx="127000" cy="127000"/>
          </a:xfrm>
          <a:prstGeom prst="ellipse">
            <a:avLst/>
          </a:prstGeom>
          <a:solidFill>
            <a:schemeClr val="accent1"/>
          </a:solidFill>
          <a:ln w="12700" cap="flat" cmpd="sng" algn="ctr">
            <a:solidFill>
              <a:schemeClr val="accent1"/>
            </a:solidFill>
            <a:prstDash val="solid"/>
            <a:miter lim="800000"/>
          </a:ln>
          <a:effectLst/>
        </p:spPr>
        <p:txBody>
          <a:bodyPr rtlCol="0" anchor="ctr"/>
          <a:lstStyle/>
          <a:p>
            <a:pPr algn="ctr"/>
            <a:endParaRPr lang="zh-CN" altLang="en-US" kern="0" dirty="0">
              <a:solidFill>
                <a:srgbClr val="FFFFFF"/>
              </a:solidFill>
              <a:latin typeface="微软雅黑" panose="020B0503020204020204" charset="-122"/>
              <a:ea typeface="微软雅黑" panose="020B0503020204020204" charset="-122"/>
            </a:endParaRPr>
          </a:p>
        </p:txBody>
      </p:sp>
    </p:spTree>
  </p:cSld>
  <p:clrMapOvr>
    <a:masterClrMapping/>
  </p:clrMapOvr>
</p:sld>
</file>

<file path=ppt/tags/tag1.xml><?xml version="1.0" encoding="utf-8"?>
<p:tagLst xmlns:p="http://schemas.openxmlformats.org/presentationml/2006/main">
  <p:tag name="THEMECOLOR" val="1"/>
</p:tagLst>
</file>

<file path=ppt/tags/tag2.xml><?xml version="1.0" encoding="utf-8"?>
<p:tagLst xmlns:p="http://schemas.openxmlformats.org/presentationml/2006/main">
  <p:tag name="THEMECOLOR" val="2"/>
</p:tagLst>
</file>

<file path=ppt/tags/tag3.xml><?xml version="1.0" encoding="utf-8"?>
<p:tagLst xmlns:p="http://schemas.openxmlformats.org/presentationml/2006/main">
  <p:tag name="THEMECOLOR" val="3"/>
</p:tagLst>
</file>

<file path=ppt/tags/tag4.xml><?xml version="1.0" encoding="utf-8"?>
<p:tagLst xmlns:p="http://schemas.openxmlformats.org/presentationml/2006/main">
  <p:tag name="THEMECOLOR" val="4"/>
</p:tagLst>
</file>

<file path=ppt/tags/tag5.xml><?xml version="1.0" encoding="utf-8"?>
<p:tagLst xmlns:p="http://schemas.openxmlformats.org/presentationml/2006/main">
  <p:tag name="THEMECOLOR" val="5"/>
</p:tagLst>
</file>

<file path=ppt/tags/tag6.xml><?xml version="1.0" encoding="utf-8"?>
<p:tagLst xmlns:p="http://schemas.openxmlformats.org/presentationml/2006/main">
  <p:tag name="THEMECOLOR" val="6"/>
</p:tagLst>
</file>

<file path=ppt/tags/tag7.xml><?xml version="1.0" encoding="utf-8"?>
<p:tagLst xmlns:p="http://schemas.openxmlformats.org/presentationml/2006/main">
  <p:tag name="THEMECOLOR" val="7"/>
</p:tagLst>
</file>

<file path=ppt/tags/tag8.xml><?xml version="1.0" encoding="utf-8"?>
<p:tagLst xmlns:p="http://schemas.openxmlformats.org/presentationml/2006/main">
  <p:tag name="THEMECOLOR" val="8"/>
</p:tagLst>
</file>

<file path=ppt/tags/tag9.xml><?xml version="1.0" encoding="utf-8"?>
<p:tagLst xmlns:p="http://schemas.openxmlformats.org/presentationml/2006/main">
  <p:tag name="THEMECOLOR" val="9"/>
</p:tagLst>
</file>

<file path=ppt/tags/tag10.xml><?xml version="1.0" encoding="utf-8"?>
<p:tagLst xmlns:p="http://schemas.openxmlformats.org/presentationml/2006/main">
  <p:tag name="THEMECOLOR" val="10"/>
</p:tagLst>
</file>

<file path=ppt/tags/tag11.xml><?xml version="1.0" encoding="utf-8"?>
<p:tagLst xmlns:p="http://schemas.openxmlformats.org/presentationml/2006/main">
  <p:tag name="THEMECOLOR" val="1"/>
</p:tagLst>
</file>

<file path=ppt/tags/tag12.xml><?xml version="1.0" encoding="utf-8"?>
<p:tagLst xmlns:p="http://schemas.openxmlformats.org/presentationml/2006/main">
  <p:tag name="THEMECOLOR" val="2"/>
</p:tagLst>
</file>

<file path=ppt/tags/tag13.xml><?xml version="1.0" encoding="utf-8"?>
<p:tagLst xmlns:p="http://schemas.openxmlformats.org/presentationml/2006/main">
  <p:tag name="THEMECOLOR" val="3"/>
</p:tagLst>
</file>

<file path=ppt/tags/tag14.xml><?xml version="1.0" encoding="utf-8"?>
<p:tagLst xmlns:p="http://schemas.openxmlformats.org/presentationml/2006/main">
  <p:tag name="THEMECOLOR" val="4"/>
</p:tagLst>
</file>

<file path=ppt/tags/tag15.xml><?xml version="1.0" encoding="utf-8"?>
<p:tagLst xmlns:p="http://schemas.openxmlformats.org/presentationml/2006/main">
  <p:tag name="THEMECOLOR" val="5"/>
</p:tagLst>
</file>

<file path=ppt/tags/tag16.xml><?xml version="1.0" encoding="utf-8"?>
<p:tagLst xmlns:p="http://schemas.openxmlformats.org/presentationml/2006/main">
  <p:tag name="THEMECOLOR" val="6"/>
</p:tagLst>
</file>

<file path=ppt/tags/tag17.xml><?xml version="1.0" encoding="utf-8"?>
<p:tagLst xmlns:p="http://schemas.openxmlformats.org/presentationml/2006/main">
  <p:tag name="THEMECOLOR" val="7"/>
</p:tagLst>
</file>

<file path=ppt/tags/tag18.xml><?xml version="1.0" encoding="utf-8"?>
<p:tagLst xmlns:p="http://schemas.openxmlformats.org/presentationml/2006/main">
  <p:tag name="THEMECOLOR" val="8"/>
</p:tagLst>
</file>

<file path=ppt/tags/tag19.xml><?xml version="1.0" encoding="utf-8"?>
<p:tagLst xmlns:p="http://schemas.openxmlformats.org/presentationml/2006/main">
  <p:tag name="THEMECOLOR" val="9"/>
</p:tagLst>
</file>

<file path=ppt/tags/tag20.xml><?xml version="1.0" encoding="utf-8"?>
<p:tagLst xmlns:p="http://schemas.openxmlformats.org/presentationml/2006/main">
  <p:tag name="THEMECOLOR" val="10"/>
</p:tagLst>
</file>

<file path=ppt/tags/tag21.xml><?xml version="1.0" encoding="utf-8"?>
<p:tagLst xmlns:p="http://schemas.openxmlformats.org/presentationml/2006/main">
  <p:tag name="THEMECOLOR" val="1"/>
</p:tagLst>
</file>

<file path=ppt/tags/tag22.xml><?xml version="1.0" encoding="utf-8"?>
<p:tagLst xmlns:p="http://schemas.openxmlformats.org/presentationml/2006/main">
  <p:tag name="THEMECOLOR" val="2"/>
</p:tagLst>
</file>

<file path=ppt/tags/tag23.xml><?xml version="1.0" encoding="utf-8"?>
<p:tagLst xmlns:p="http://schemas.openxmlformats.org/presentationml/2006/main">
  <p:tag name="THEMECOLOR" val="3"/>
</p:tagLst>
</file>

<file path=ppt/tags/tag24.xml><?xml version="1.0" encoding="utf-8"?>
<p:tagLst xmlns:p="http://schemas.openxmlformats.org/presentationml/2006/main">
  <p:tag name="THEMECOLOR" val="4"/>
</p:tagLst>
</file>

<file path=ppt/tags/tag25.xml><?xml version="1.0" encoding="utf-8"?>
<p:tagLst xmlns:p="http://schemas.openxmlformats.org/presentationml/2006/main">
  <p:tag name="THEMECOLOR" val="5"/>
</p:tagLst>
</file>

<file path=ppt/tags/tag26.xml><?xml version="1.0" encoding="utf-8"?>
<p:tagLst xmlns:p="http://schemas.openxmlformats.org/presentationml/2006/main">
  <p:tag name="THEMECOLOR" val="6"/>
</p:tagLst>
</file>

<file path=ppt/tags/tag27.xml><?xml version="1.0" encoding="utf-8"?>
<p:tagLst xmlns:p="http://schemas.openxmlformats.org/presentationml/2006/main">
  <p:tag name="THEMECOLOR" val="7"/>
</p:tagLst>
</file>

<file path=ppt/tags/tag28.xml><?xml version="1.0" encoding="utf-8"?>
<p:tagLst xmlns:p="http://schemas.openxmlformats.org/presentationml/2006/main">
  <p:tag name="THEMECOLOR" val="8"/>
</p:tagLst>
</file>

<file path=ppt/tags/tag29.xml><?xml version="1.0" encoding="utf-8"?>
<p:tagLst xmlns:p="http://schemas.openxmlformats.org/presentationml/2006/main">
  <p:tag name="THEMECOLOR" val="9"/>
</p:tagLst>
</file>

<file path=ppt/tags/tag30.xml><?xml version="1.0" encoding="utf-8"?>
<p:tagLst xmlns:p="http://schemas.openxmlformats.org/presentationml/2006/main">
  <p:tag name="THEMECOLOR" val="10"/>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THEMECOLOR" val="1"/>
</p:tagLst>
</file>

<file path=ppt/tags/tag34.xml><?xml version="1.0" encoding="utf-8"?>
<p:tagLst xmlns:p="http://schemas.openxmlformats.org/presentationml/2006/main">
  <p:tag name="THEMECOLOR" val="2"/>
</p:tagLst>
</file>

<file path=ppt/tags/tag35.xml><?xml version="1.0" encoding="utf-8"?>
<p:tagLst xmlns:p="http://schemas.openxmlformats.org/presentationml/2006/main">
  <p:tag name="THEMECOLOR" val="3"/>
</p:tagLst>
</file>

<file path=ppt/tags/tag36.xml><?xml version="1.0" encoding="utf-8"?>
<p:tagLst xmlns:p="http://schemas.openxmlformats.org/presentationml/2006/main">
  <p:tag name="THEMECOLOR" val="4"/>
</p:tagLst>
</file>

<file path=ppt/tags/tag37.xml><?xml version="1.0" encoding="utf-8"?>
<p:tagLst xmlns:p="http://schemas.openxmlformats.org/presentationml/2006/main">
  <p:tag name="THEMECOLOR" val="5"/>
</p:tagLst>
</file>

<file path=ppt/tags/tag38.xml><?xml version="1.0" encoding="utf-8"?>
<p:tagLst xmlns:p="http://schemas.openxmlformats.org/presentationml/2006/main">
  <p:tag name="THEMECOLOR" val="6"/>
</p:tagLst>
</file>

<file path=ppt/tags/tag39.xml><?xml version="1.0" encoding="utf-8"?>
<p:tagLst xmlns:p="http://schemas.openxmlformats.org/presentationml/2006/main">
  <p:tag name="THEMECOLOR" val="7"/>
</p:tagLst>
</file>

<file path=ppt/tags/tag40.xml><?xml version="1.0" encoding="utf-8"?>
<p:tagLst xmlns:p="http://schemas.openxmlformats.org/presentationml/2006/main">
  <p:tag name="THEMECOLOR" val="8"/>
</p:tagLst>
</file>

<file path=ppt/tags/tag41.xml><?xml version="1.0" encoding="utf-8"?>
<p:tagLst xmlns:p="http://schemas.openxmlformats.org/presentationml/2006/main">
  <p:tag name="THEMECOLOR" val="9"/>
</p:tagLst>
</file>

<file path=ppt/tags/tag42.xml><?xml version="1.0" encoding="utf-8"?>
<p:tagLst xmlns:p="http://schemas.openxmlformats.org/presentationml/2006/main">
  <p:tag name="THEMECOLOR" val="10"/>
</p:tagLst>
</file>

<file path=ppt/tags/tag43.xml><?xml version="1.0" encoding="utf-8"?>
<p:tagLst xmlns:p="http://schemas.openxmlformats.org/presentationml/2006/main">
  <p:tag name="THEMECOLOR" val="1"/>
</p:tagLst>
</file>

<file path=ppt/tags/tag44.xml><?xml version="1.0" encoding="utf-8"?>
<p:tagLst xmlns:p="http://schemas.openxmlformats.org/presentationml/2006/main">
  <p:tag name="THEMECOLOR" val="2"/>
</p:tagLst>
</file>

<file path=ppt/tags/tag45.xml><?xml version="1.0" encoding="utf-8"?>
<p:tagLst xmlns:p="http://schemas.openxmlformats.org/presentationml/2006/main">
  <p:tag name="THEMECOLOR" val="3"/>
</p:tagLst>
</file>

<file path=ppt/tags/tag46.xml><?xml version="1.0" encoding="utf-8"?>
<p:tagLst xmlns:p="http://schemas.openxmlformats.org/presentationml/2006/main">
  <p:tag name="THEMECOLOR" val="4"/>
</p:tagLst>
</file>

<file path=ppt/tags/tag47.xml><?xml version="1.0" encoding="utf-8"?>
<p:tagLst xmlns:p="http://schemas.openxmlformats.org/presentationml/2006/main">
  <p:tag name="THEMECOLOR" val="5"/>
</p:tagLst>
</file>

<file path=ppt/tags/tag48.xml><?xml version="1.0" encoding="utf-8"?>
<p:tagLst xmlns:p="http://schemas.openxmlformats.org/presentationml/2006/main">
  <p:tag name="THEMECOLOR" val="6"/>
</p:tagLst>
</file>

<file path=ppt/tags/tag49.xml><?xml version="1.0" encoding="utf-8"?>
<p:tagLst xmlns:p="http://schemas.openxmlformats.org/presentationml/2006/main">
  <p:tag name="THEMECOLOR" val="7"/>
</p:tagLst>
</file>

<file path=ppt/tags/tag50.xml><?xml version="1.0" encoding="utf-8"?>
<p:tagLst xmlns:p="http://schemas.openxmlformats.org/presentationml/2006/main">
  <p:tag name="THEMECOLOR" val="8"/>
</p:tagLst>
</file>

<file path=ppt/tags/tag51.xml><?xml version="1.0" encoding="utf-8"?>
<p:tagLst xmlns:p="http://schemas.openxmlformats.org/presentationml/2006/main">
  <p:tag name="THEMECOLOR" val="9"/>
</p:tagLst>
</file>

<file path=ppt/tags/tag52.xml><?xml version="1.0" encoding="utf-8"?>
<p:tagLst xmlns:p="http://schemas.openxmlformats.org/presentationml/2006/main">
  <p:tag name="THEMECOLOR" val="10"/>
</p:tagLst>
</file>

<file path=ppt/tags/tag53.xml><?xml version="1.0" encoding="utf-8"?>
<p:tagLst xmlns:p="http://schemas.openxmlformats.org/presentationml/2006/main">
  <p:tag name="ADJUSTMENTS" val="4.022274"/>
  <p:tag name="SHADOWSIZE" val="100"/>
</p:tagLst>
</file>

<file path=ppt/tags/tag54.xml><?xml version="1.0" encoding="utf-8"?>
<p:tagLst xmlns:p="http://schemas.openxmlformats.org/presentationml/2006/main">
  <p:tag name="THEMECOLOR" val="1"/>
</p:tagLst>
</file>

<file path=ppt/tags/tag55.xml><?xml version="1.0" encoding="utf-8"?>
<p:tagLst xmlns:p="http://schemas.openxmlformats.org/presentationml/2006/main">
  <p:tag name="THEMECOLOR" val="2"/>
</p:tagLst>
</file>

<file path=ppt/tags/tag56.xml><?xml version="1.0" encoding="utf-8"?>
<p:tagLst xmlns:p="http://schemas.openxmlformats.org/presentationml/2006/main">
  <p:tag name="THEMECOLOR" val="3"/>
</p:tagLst>
</file>

<file path=ppt/tags/tag57.xml><?xml version="1.0" encoding="utf-8"?>
<p:tagLst xmlns:p="http://schemas.openxmlformats.org/presentationml/2006/main">
  <p:tag name="THEMECOLOR" val="4"/>
</p:tagLst>
</file>

<file path=ppt/tags/tag58.xml><?xml version="1.0" encoding="utf-8"?>
<p:tagLst xmlns:p="http://schemas.openxmlformats.org/presentationml/2006/main">
  <p:tag name="THEMECOLOR" val="5"/>
</p:tagLst>
</file>

<file path=ppt/tags/tag59.xml><?xml version="1.0" encoding="utf-8"?>
<p:tagLst xmlns:p="http://schemas.openxmlformats.org/presentationml/2006/main">
  <p:tag name="THEMECOLOR" val="6"/>
</p:tagLst>
</file>

<file path=ppt/tags/tag60.xml><?xml version="1.0" encoding="utf-8"?>
<p:tagLst xmlns:p="http://schemas.openxmlformats.org/presentationml/2006/main">
  <p:tag name="THEMECOLOR" val="7"/>
</p:tagLst>
</file>

<file path=ppt/tags/tag61.xml><?xml version="1.0" encoding="utf-8"?>
<p:tagLst xmlns:p="http://schemas.openxmlformats.org/presentationml/2006/main">
  <p:tag name="THEMECOLOR" val="8"/>
</p:tagLst>
</file>

<file path=ppt/tags/tag62.xml><?xml version="1.0" encoding="utf-8"?>
<p:tagLst xmlns:p="http://schemas.openxmlformats.org/presentationml/2006/main">
  <p:tag name="THEMECOLOR" val="9"/>
</p:tagLst>
</file>

<file path=ppt/tags/tag63.xml><?xml version="1.0" encoding="utf-8"?>
<p:tagLst xmlns:p="http://schemas.openxmlformats.org/presentationml/2006/main">
  <p:tag name="THEMECOLOR" val="10"/>
</p:tagLst>
</file>

<file path=ppt/tags/tag64.xml><?xml version="1.0" encoding="utf-8"?>
<p:tagLst xmlns:p="http://schemas.openxmlformats.org/presentationml/2006/main">
  <p:tag name="TABLE_ENDDRAG_ORIGIN_RECT" val="579*350"/>
  <p:tag name="TABLE_ENDDRAG_RECT" val="36*187*579*350"/>
</p:tagLst>
</file>

<file path=ppt/tags/tag65.xml><?xml version="1.0" encoding="utf-8"?>
<p:tagLst xmlns:p="http://schemas.openxmlformats.org/presentationml/2006/main">
  <p:tag name="THEMECOLOR" val="1"/>
</p:tagLst>
</file>

<file path=ppt/tags/tag66.xml><?xml version="1.0" encoding="utf-8"?>
<p:tagLst xmlns:p="http://schemas.openxmlformats.org/presentationml/2006/main">
  <p:tag name="THEMECOLOR" val="2"/>
</p:tagLst>
</file>

<file path=ppt/tags/tag67.xml><?xml version="1.0" encoding="utf-8"?>
<p:tagLst xmlns:p="http://schemas.openxmlformats.org/presentationml/2006/main">
  <p:tag name="THEMECOLOR" val="3"/>
</p:tagLst>
</file>

<file path=ppt/tags/tag68.xml><?xml version="1.0" encoding="utf-8"?>
<p:tagLst xmlns:p="http://schemas.openxmlformats.org/presentationml/2006/main">
  <p:tag name="THEMECOLOR" val="4"/>
</p:tagLst>
</file>

<file path=ppt/tags/tag69.xml><?xml version="1.0" encoding="utf-8"?>
<p:tagLst xmlns:p="http://schemas.openxmlformats.org/presentationml/2006/main">
  <p:tag name="THEMECOLOR" val="5"/>
</p:tagLst>
</file>

<file path=ppt/tags/tag70.xml><?xml version="1.0" encoding="utf-8"?>
<p:tagLst xmlns:p="http://schemas.openxmlformats.org/presentationml/2006/main">
  <p:tag name="THEMECOLOR" val="6"/>
</p:tagLst>
</file>

<file path=ppt/tags/tag71.xml><?xml version="1.0" encoding="utf-8"?>
<p:tagLst xmlns:p="http://schemas.openxmlformats.org/presentationml/2006/main">
  <p:tag name="THEMECOLOR" val="7"/>
</p:tagLst>
</file>

<file path=ppt/tags/tag72.xml><?xml version="1.0" encoding="utf-8"?>
<p:tagLst xmlns:p="http://schemas.openxmlformats.org/presentationml/2006/main">
  <p:tag name="THEMECOLOR" val="8"/>
</p:tagLst>
</file>

<file path=ppt/tags/tag73.xml><?xml version="1.0" encoding="utf-8"?>
<p:tagLst xmlns:p="http://schemas.openxmlformats.org/presentationml/2006/main">
  <p:tag name="THEMECOLOR" val="9"/>
</p:tagLst>
</file>

<file path=ppt/tags/tag74.xml><?xml version="1.0" encoding="utf-8"?>
<p:tagLst xmlns:p="http://schemas.openxmlformats.org/presentationml/2006/main">
  <p:tag name="THEMECOLOR" val="10"/>
</p:tagLst>
</file>

<file path=ppt/tags/tag75.xml><?xml version="1.0" encoding="utf-8"?>
<p:tagLst xmlns:p="http://schemas.openxmlformats.org/presentationml/2006/main">
  <p:tag name="THEMECOLOR" val="1"/>
</p:tagLst>
</file>

<file path=ppt/tags/tag76.xml><?xml version="1.0" encoding="utf-8"?>
<p:tagLst xmlns:p="http://schemas.openxmlformats.org/presentationml/2006/main">
  <p:tag name="THEMECOLOR" val="2"/>
</p:tagLst>
</file>

<file path=ppt/tags/tag77.xml><?xml version="1.0" encoding="utf-8"?>
<p:tagLst xmlns:p="http://schemas.openxmlformats.org/presentationml/2006/main">
  <p:tag name="THEMECOLOR" val="3"/>
</p:tagLst>
</file>

<file path=ppt/tags/tag78.xml><?xml version="1.0" encoding="utf-8"?>
<p:tagLst xmlns:p="http://schemas.openxmlformats.org/presentationml/2006/main">
  <p:tag name="THEMECOLOR" val="4"/>
</p:tagLst>
</file>

<file path=ppt/tags/tag79.xml><?xml version="1.0" encoding="utf-8"?>
<p:tagLst xmlns:p="http://schemas.openxmlformats.org/presentationml/2006/main">
  <p:tag name="THEMECOLOR" val="5"/>
</p:tagLst>
</file>

<file path=ppt/tags/tag80.xml><?xml version="1.0" encoding="utf-8"?>
<p:tagLst xmlns:p="http://schemas.openxmlformats.org/presentationml/2006/main">
  <p:tag name="THEMECOLOR" val="6"/>
</p:tagLst>
</file>

<file path=ppt/tags/tag81.xml><?xml version="1.0" encoding="utf-8"?>
<p:tagLst xmlns:p="http://schemas.openxmlformats.org/presentationml/2006/main">
  <p:tag name="THEMECOLOR" val="7"/>
</p:tagLst>
</file>

<file path=ppt/tags/tag82.xml><?xml version="1.0" encoding="utf-8"?>
<p:tagLst xmlns:p="http://schemas.openxmlformats.org/presentationml/2006/main">
  <p:tag name="THEMECOLOR" val="8"/>
</p:tagLst>
</file>

<file path=ppt/tags/tag83.xml><?xml version="1.0" encoding="utf-8"?>
<p:tagLst xmlns:p="http://schemas.openxmlformats.org/presentationml/2006/main">
  <p:tag name="THEMECOLOR" val="9"/>
</p:tagLst>
</file>

<file path=ppt/tags/tag84.xml><?xml version="1.0" encoding="utf-8"?>
<p:tagLst xmlns:p="http://schemas.openxmlformats.org/presentationml/2006/main">
  <p:tag name="THEMECOLOR" val="10"/>
</p:tagLst>
</file>

<file path=ppt/tags/tag85.xml><?xml version="1.0" encoding="utf-8"?>
<p:tagLst xmlns:p="http://schemas.openxmlformats.org/presentationml/2006/main">
  <p:tag name="THEMECOLOR" val="1"/>
</p:tagLst>
</file>

<file path=ppt/tags/tag86.xml><?xml version="1.0" encoding="utf-8"?>
<p:tagLst xmlns:p="http://schemas.openxmlformats.org/presentationml/2006/main">
  <p:tag name="THEMECOLOR" val="2"/>
</p:tagLst>
</file>

<file path=ppt/tags/tag87.xml><?xml version="1.0" encoding="utf-8"?>
<p:tagLst xmlns:p="http://schemas.openxmlformats.org/presentationml/2006/main">
  <p:tag name="THEMECOLOR" val="3"/>
</p:tagLst>
</file>

<file path=ppt/tags/tag88.xml><?xml version="1.0" encoding="utf-8"?>
<p:tagLst xmlns:p="http://schemas.openxmlformats.org/presentationml/2006/main">
  <p:tag name="THEMECOLOR" val="4"/>
</p:tagLst>
</file>

<file path=ppt/tags/tag89.xml><?xml version="1.0" encoding="utf-8"?>
<p:tagLst xmlns:p="http://schemas.openxmlformats.org/presentationml/2006/main">
  <p:tag name="THEMECOLOR" val="5"/>
</p:tagLst>
</file>

<file path=ppt/tags/tag90.xml><?xml version="1.0" encoding="utf-8"?>
<p:tagLst xmlns:p="http://schemas.openxmlformats.org/presentationml/2006/main">
  <p:tag name="THEMECOLOR" val="6"/>
</p:tagLst>
</file>

<file path=ppt/tags/tag91.xml><?xml version="1.0" encoding="utf-8"?>
<p:tagLst xmlns:p="http://schemas.openxmlformats.org/presentationml/2006/main">
  <p:tag name="THEMECOLOR" val="7"/>
</p:tagLst>
</file>

<file path=ppt/tags/tag92.xml><?xml version="1.0" encoding="utf-8"?>
<p:tagLst xmlns:p="http://schemas.openxmlformats.org/presentationml/2006/main">
  <p:tag name="THEMECOLOR" val="8"/>
</p:tagLst>
</file>

<file path=ppt/tags/tag93.xml><?xml version="1.0" encoding="utf-8"?>
<p:tagLst xmlns:p="http://schemas.openxmlformats.org/presentationml/2006/main">
  <p:tag name="THEMECOLOR" val="9"/>
</p:tagLst>
</file>

<file path=ppt/tags/tag94.xml><?xml version="1.0" encoding="utf-8"?>
<p:tagLst xmlns:p="http://schemas.openxmlformats.org/presentationml/2006/main">
  <p:tag name="THEMECOLOR" val="10"/>
</p:tagLst>
</file>

<file path=ppt/tags/tag95.xml><?xml version="1.0" encoding="utf-8"?>
<p:tagLst xmlns:p="http://schemas.openxmlformats.org/presentationml/2006/main">
  <p:tag name="THEMECOLOR" val="1"/>
</p:tagLst>
</file>

<file path=ppt/tags/tag96.xml><?xml version="1.0" encoding="utf-8"?>
<p:tagLst xmlns:p="http://schemas.openxmlformats.org/presentationml/2006/main">
  <p:tag name="THEMECOLOR" val="2"/>
</p:tagLst>
</file>

<file path=ppt/tags/tag97.xml><?xml version="1.0" encoding="utf-8"?>
<p:tagLst xmlns:p="http://schemas.openxmlformats.org/presentationml/2006/main">
  <p:tag name="THEMECOLOR" val="3"/>
</p:tagLst>
</file>

<file path=ppt/tags/tag98.xml><?xml version="1.0" encoding="utf-8"?>
<p:tagLst xmlns:p="http://schemas.openxmlformats.org/presentationml/2006/main">
  <p:tag name="THEMECOLOR" val="4"/>
</p:tagLst>
</file>

<file path=ppt/tags/tag99.xml><?xml version="1.0" encoding="utf-8"?>
<p:tagLst xmlns:p="http://schemas.openxmlformats.org/presentationml/2006/main">
  <p:tag name="THEMECOLOR" val="5"/>
</p:tagLst>
</file>

<file path=ppt/tags/tag100.xml><?xml version="1.0" encoding="utf-8"?>
<p:tagLst xmlns:p="http://schemas.openxmlformats.org/presentationml/2006/main">
  <p:tag name="THEMECOLOR" val="6"/>
</p:tagLst>
</file>

<file path=ppt/tags/tag101.xml><?xml version="1.0" encoding="utf-8"?>
<p:tagLst xmlns:p="http://schemas.openxmlformats.org/presentationml/2006/main">
  <p:tag name="THEMECOLOR" val="7"/>
</p:tagLst>
</file>

<file path=ppt/tags/tag102.xml><?xml version="1.0" encoding="utf-8"?>
<p:tagLst xmlns:p="http://schemas.openxmlformats.org/presentationml/2006/main">
  <p:tag name="THEMECOLOR" val="8"/>
</p:tagLst>
</file>

<file path=ppt/tags/tag103.xml><?xml version="1.0" encoding="utf-8"?>
<p:tagLst xmlns:p="http://schemas.openxmlformats.org/presentationml/2006/main">
  <p:tag name="THEMECOLOR" val="9"/>
</p:tagLst>
</file>

<file path=ppt/tags/tag104.xml><?xml version="1.0" encoding="utf-8"?>
<p:tagLst xmlns:p="http://schemas.openxmlformats.org/presentationml/2006/main">
  <p:tag name="THEMECOLOR" val="10"/>
</p:tagLst>
</file>

<file path=ppt/tags/tag105.xml><?xml version="1.0" encoding="utf-8"?>
<p:tagLst xmlns:p="http://schemas.openxmlformats.org/presentationml/2006/main">
  <p:tag name="ADJUSTMENTS" val="0"/>
</p:tagLst>
</file>

<file path=ppt/tags/tag106.xml><?xml version="1.0" encoding="utf-8"?>
<p:tagLst xmlns:p="http://schemas.openxmlformats.org/presentationml/2006/main">
  <p:tag name="TABLE_ENDDRAG_ORIGIN_RECT" val="836*301"/>
  <p:tag name="TABLE_ENDDRAG_RECT" val="61*128*836*301"/>
</p:tagLst>
</file>

<file path=ppt/tags/tag107.xml><?xml version="1.0" encoding="utf-8"?>
<p:tagLst xmlns:p="http://schemas.openxmlformats.org/presentationml/2006/main">
  <p:tag name="THEMECOLOR" val="1"/>
</p:tagLst>
</file>

<file path=ppt/tags/tag108.xml><?xml version="1.0" encoding="utf-8"?>
<p:tagLst xmlns:p="http://schemas.openxmlformats.org/presentationml/2006/main">
  <p:tag name="THEMECOLOR" val="2"/>
</p:tagLst>
</file>

<file path=ppt/tags/tag109.xml><?xml version="1.0" encoding="utf-8"?>
<p:tagLst xmlns:p="http://schemas.openxmlformats.org/presentationml/2006/main">
  <p:tag name="THEMECOLOR" val="3"/>
</p:tagLst>
</file>

<file path=ppt/tags/tag110.xml><?xml version="1.0" encoding="utf-8"?>
<p:tagLst xmlns:p="http://schemas.openxmlformats.org/presentationml/2006/main">
  <p:tag name="THEMECOLOR" val="4"/>
</p:tagLst>
</file>

<file path=ppt/tags/tag111.xml><?xml version="1.0" encoding="utf-8"?>
<p:tagLst xmlns:p="http://schemas.openxmlformats.org/presentationml/2006/main">
  <p:tag name="THEMECOLOR" val="5"/>
</p:tagLst>
</file>

<file path=ppt/tags/tag112.xml><?xml version="1.0" encoding="utf-8"?>
<p:tagLst xmlns:p="http://schemas.openxmlformats.org/presentationml/2006/main">
  <p:tag name="THEMECOLOR" val="6"/>
</p:tagLst>
</file>

<file path=ppt/tags/tag113.xml><?xml version="1.0" encoding="utf-8"?>
<p:tagLst xmlns:p="http://schemas.openxmlformats.org/presentationml/2006/main">
  <p:tag name="THEMECOLOR" val="7"/>
</p:tagLst>
</file>

<file path=ppt/tags/tag114.xml><?xml version="1.0" encoding="utf-8"?>
<p:tagLst xmlns:p="http://schemas.openxmlformats.org/presentationml/2006/main">
  <p:tag name="THEMECOLOR" val="8"/>
</p:tagLst>
</file>

<file path=ppt/tags/tag115.xml><?xml version="1.0" encoding="utf-8"?>
<p:tagLst xmlns:p="http://schemas.openxmlformats.org/presentationml/2006/main">
  <p:tag name="THEMECOLOR" val="9"/>
</p:tagLst>
</file>

<file path=ppt/tags/tag116.xml><?xml version="1.0" encoding="utf-8"?>
<p:tagLst xmlns:p="http://schemas.openxmlformats.org/presentationml/2006/main">
  <p:tag name="THEMECOLOR" val="10"/>
</p:tagLst>
</file>

<file path=ppt/tags/tag117.xml><?xml version="1.0" encoding="utf-8"?>
<p:tagLst xmlns:p="http://schemas.openxmlformats.org/presentationml/2006/main">
  <p:tag name="THEMECOLOR" val="1"/>
</p:tagLst>
</file>

<file path=ppt/tags/tag118.xml><?xml version="1.0" encoding="utf-8"?>
<p:tagLst xmlns:p="http://schemas.openxmlformats.org/presentationml/2006/main">
  <p:tag name="THEMECOLOR" val="2"/>
</p:tagLst>
</file>

<file path=ppt/tags/tag119.xml><?xml version="1.0" encoding="utf-8"?>
<p:tagLst xmlns:p="http://schemas.openxmlformats.org/presentationml/2006/main">
  <p:tag name="THEMECOLOR" val="3"/>
</p:tagLst>
</file>

<file path=ppt/tags/tag120.xml><?xml version="1.0" encoding="utf-8"?>
<p:tagLst xmlns:p="http://schemas.openxmlformats.org/presentationml/2006/main">
  <p:tag name="THEMECOLOR" val="4"/>
</p:tagLst>
</file>

<file path=ppt/tags/tag121.xml><?xml version="1.0" encoding="utf-8"?>
<p:tagLst xmlns:p="http://schemas.openxmlformats.org/presentationml/2006/main">
  <p:tag name="THEMECOLOR" val="5"/>
</p:tagLst>
</file>

<file path=ppt/tags/tag122.xml><?xml version="1.0" encoding="utf-8"?>
<p:tagLst xmlns:p="http://schemas.openxmlformats.org/presentationml/2006/main">
  <p:tag name="THEMECOLOR" val="6"/>
</p:tagLst>
</file>

<file path=ppt/tags/tag123.xml><?xml version="1.0" encoding="utf-8"?>
<p:tagLst xmlns:p="http://schemas.openxmlformats.org/presentationml/2006/main">
  <p:tag name="THEMECOLOR" val="7"/>
</p:tagLst>
</file>

<file path=ppt/tags/tag124.xml><?xml version="1.0" encoding="utf-8"?>
<p:tagLst xmlns:p="http://schemas.openxmlformats.org/presentationml/2006/main">
  <p:tag name="THEMECOLOR" val="8"/>
</p:tagLst>
</file>

<file path=ppt/tags/tag125.xml><?xml version="1.0" encoding="utf-8"?>
<p:tagLst xmlns:p="http://schemas.openxmlformats.org/presentationml/2006/main">
  <p:tag name="THEMECOLOR" val="9"/>
</p:tagLst>
</file>

<file path=ppt/tags/tag126.xml><?xml version="1.0" encoding="utf-8"?>
<p:tagLst xmlns:p="http://schemas.openxmlformats.org/presentationml/2006/main">
  <p:tag name="THEMECOLOR" val="10"/>
</p:tagLst>
</file>

<file path=ppt/tags/tag127.xml><?xml version="1.0" encoding="utf-8"?>
<p:tagLst xmlns:p="http://schemas.openxmlformats.org/presentationml/2006/main">
  <p:tag name="THEMECOLOR" val="1"/>
</p:tagLst>
</file>

<file path=ppt/tags/tag128.xml><?xml version="1.0" encoding="utf-8"?>
<p:tagLst xmlns:p="http://schemas.openxmlformats.org/presentationml/2006/main">
  <p:tag name="THEMECOLOR" val="2"/>
</p:tagLst>
</file>

<file path=ppt/tags/tag129.xml><?xml version="1.0" encoding="utf-8"?>
<p:tagLst xmlns:p="http://schemas.openxmlformats.org/presentationml/2006/main">
  <p:tag name="THEMECOLOR" val="3"/>
</p:tagLst>
</file>

<file path=ppt/tags/tag130.xml><?xml version="1.0" encoding="utf-8"?>
<p:tagLst xmlns:p="http://schemas.openxmlformats.org/presentationml/2006/main">
  <p:tag name="THEMECOLOR" val="4"/>
</p:tagLst>
</file>

<file path=ppt/tags/tag131.xml><?xml version="1.0" encoding="utf-8"?>
<p:tagLst xmlns:p="http://schemas.openxmlformats.org/presentationml/2006/main">
  <p:tag name="THEMECOLOR" val="5"/>
</p:tagLst>
</file>

<file path=ppt/tags/tag132.xml><?xml version="1.0" encoding="utf-8"?>
<p:tagLst xmlns:p="http://schemas.openxmlformats.org/presentationml/2006/main">
  <p:tag name="THEMECOLOR" val="6"/>
</p:tagLst>
</file>

<file path=ppt/tags/tag133.xml><?xml version="1.0" encoding="utf-8"?>
<p:tagLst xmlns:p="http://schemas.openxmlformats.org/presentationml/2006/main">
  <p:tag name="THEMECOLOR" val="7"/>
</p:tagLst>
</file>

<file path=ppt/tags/tag134.xml><?xml version="1.0" encoding="utf-8"?>
<p:tagLst xmlns:p="http://schemas.openxmlformats.org/presentationml/2006/main">
  <p:tag name="THEMECOLOR" val="8"/>
</p:tagLst>
</file>

<file path=ppt/tags/tag135.xml><?xml version="1.0" encoding="utf-8"?>
<p:tagLst xmlns:p="http://schemas.openxmlformats.org/presentationml/2006/main">
  <p:tag name="THEMECOLOR" val="9"/>
</p:tagLst>
</file>

<file path=ppt/tags/tag136.xml><?xml version="1.0" encoding="utf-8"?>
<p:tagLst xmlns:p="http://schemas.openxmlformats.org/presentationml/2006/main">
  <p:tag name="THEMECOLOR" val="10"/>
</p:tagLst>
</file>

<file path=ppt/tags/tag137.xml><?xml version="1.0" encoding="utf-8"?>
<p:tagLst xmlns:p="http://schemas.openxmlformats.org/presentationml/2006/main">
  <p:tag name="THEMECOLOR" val="1"/>
</p:tagLst>
</file>

<file path=ppt/tags/tag138.xml><?xml version="1.0" encoding="utf-8"?>
<p:tagLst xmlns:p="http://schemas.openxmlformats.org/presentationml/2006/main">
  <p:tag name="THEMECOLOR" val="2"/>
</p:tagLst>
</file>

<file path=ppt/tags/tag139.xml><?xml version="1.0" encoding="utf-8"?>
<p:tagLst xmlns:p="http://schemas.openxmlformats.org/presentationml/2006/main">
  <p:tag name="THEMECOLOR" val="3"/>
</p:tagLst>
</file>

<file path=ppt/tags/tag140.xml><?xml version="1.0" encoding="utf-8"?>
<p:tagLst xmlns:p="http://schemas.openxmlformats.org/presentationml/2006/main">
  <p:tag name="THEMECOLOR" val="4"/>
</p:tagLst>
</file>

<file path=ppt/tags/tag141.xml><?xml version="1.0" encoding="utf-8"?>
<p:tagLst xmlns:p="http://schemas.openxmlformats.org/presentationml/2006/main">
  <p:tag name="THEMECOLOR" val="5"/>
</p:tagLst>
</file>

<file path=ppt/tags/tag142.xml><?xml version="1.0" encoding="utf-8"?>
<p:tagLst xmlns:p="http://schemas.openxmlformats.org/presentationml/2006/main">
  <p:tag name="THEMECOLOR" val="6"/>
</p:tagLst>
</file>

<file path=ppt/tags/tag143.xml><?xml version="1.0" encoding="utf-8"?>
<p:tagLst xmlns:p="http://schemas.openxmlformats.org/presentationml/2006/main">
  <p:tag name="THEMECOLOR" val="7"/>
</p:tagLst>
</file>

<file path=ppt/tags/tag144.xml><?xml version="1.0" encoding="utf-8"?>
<p:tagLst xmlns:p="http://schemas.openxmlformats.org/presentationml/2006/main">
  <p:tag name="THEMECOLOR" val="8"/>
</p:tagLst>
</file>

<file path=ppt/tags/tag145.xml><?xml version="1.0" encoding="utf-8"?>
<p:tagLst xmlns:p="http://schemas.openxmlformats.org/presentationml/2006/main">
  <p:tag name="THEMECOLOR" val="9"/>
</p:tagLst>
</file>

<file path=ppt/tags/tag146.xml><?xml version="1.0" encoding="utf-8"?>
<p:tagLst xmlns:p="http://schemas.openxmlformats.org/presentationml/2006/main">
  <p:tag name="THEMECOLOR" val="10"/>
</p:tagLst>
</file>

<file path=ppt/tags/tag147.xml><?xml version="1.0" encoding="utf-8"?>
<p:tagLst xmlns:p="http://schemas.openxmlformats.org/presentationml/2006/main">
  <p:tag name="THEMECOLOR" val="1"/>
</p:tagLst>
</file>

<file path=ppt/tags/tag148.xml><?xml version="1.0" encoding="utf-8"?>
<p:tagLst xmlns:p="http://schemas.openxmlformats.org/presentationml/2006/main">
  <p:tag name="THEMECOLOR" val="2"/>
</p:tagLst>
</file>

<file path=ppt/tags/tag149.xml><?xml version="1.0" encoding="utf-8"?>
<p:tagLst xmlns:p="http://schemas.openxmlformats.org/presentationml/2006/main">
  <p:tag name="THEMECOLOR" val="3"/>
</p:tagLst>
</file>

<file path=ppt/tags/tag150.xml><?xml version="1.0" encoding="utf-8"?>
<p:tagLst xmlns:p="http://schemas.openxmlformats.org/presentationml/2006/main">
  <p:tag name="THEMECOLOR" val="4"/>
</p:tagLst>
</file>

<file path=ppt/tags/tag151.xml><?xml version="1.0" encoding="utf-8"?>
<p:tagLst xmlns:p="http://schemas.openxmlformats.org/presentationml/2006/main">
  <p:tag name="THEMECOLOR" val="5"/>
</p:tagLst>
</file>

<file path=ppt/tags/tag152.xml><?xml version="1.0" encoding="utf-8"?>
<p:tagLst xmlns:p="http://schemas.openxmlformats.org/presentationml/2006/main">
  <p:tag name="THEMECOLOR" val="6"/>
</p:tagLst>
</file>

<file path=ppt/tags/tag153.xml><?xml version="1.0" encoding="utf-8"?>
<p:tagLst xmlns:p="http://schemas.openxmlformats.org/presentationml/2006/main">
  <p:tag name="THEMECOLOR" val="7"/>
</p:tagLst>
</file>

<file path=ppt/tags/tag154.xml><?xml version="1.0" encoding="utf-8"?>
<p:tagLst xmlns:p="http://schemas.openxmlformats.org/presentationml/2006/main">
  <p:tag name="THEMECOLOR" val="8"/>
</p:tagLst>
</file>

<file path=ppt/tags/tag155.xml><?xml version="1.0" encoding="utf-8"?>
<p:tagLst xmlns:p="http://schemas.openxmlformats.org/presentationml/2006/main">
  <p:tag name="THEMECOLOR" val="9"/>
</p:tagLst>
</file>

<file path=ppt/tags/tag156.xml><?xml version="1.0" encoding="utf-8"?>
<p:tagLst xmlns:p="http://schemas.openxmlformats.org/presentationml/2006/main">
  <p:tag name="THEMECOLOR" val="10"/>
</p:tagLst>
</file>

<file path=ppt/tags/tag157.xml><?xml version="1.0" encoding="utf-8"?>
<p:tagLst xmlns:p="http://schemas.openxmlformats.org/presentationml/2006/main">
  <p:tag name="THEMECOLOR" val="1"/>
</p:tagLst>
</file>

<file path=ppt/tags/tag158.xml><?xml version="1.0" encoding="utf-8"?>
<p:tagLst xmlns:p="http://schemas.openxmlformats.org/presentationml/2006/main">
  <p:tag name="THEMECOLOR" val="2"/>
</p:tagLst>
</file>

<file path=ppt/tags/tag159.xml><?xml version="1.0" encoding="utf-8"?>
<p:tagLst xmlns:p="http://schemas.openxmlformats.org/presentationml/2006/main">
  <p:tag name="THEMECOLOR" val="3"/>
</p:tagLst>
</file>

<file path=ppt/tags/tag160.xml><?xml version="1.0" encoding="utf-8"?>
<p:tagLst xmlns:p="http://schemas.openxmlformats.org/presentationml/2006/main">
  <p:tag name="THEMECOLOR" val="4"/>
</p:tagLst>
</file>

<file path=ppt/tags/tag161.xml><?xml version="1.0" encoding="utf-8"?>
<p:tagLst xmlns:p="http://schemas.openxmlformats.org/presentationml/2006/main">
  <p:tag name="THEMECOLOR" val="5"/>
</p:tagLst>
</file>

<file path=ppt/tags/tag162.xml><?xml version="1.0" encoding="utf-8"?>
<p:tagLst xmlns:p="http://schemas.openxmlformats.org/presentationml/2006/main">
  <p:tag name="THEMECOLOR" val="6"/>
</p:tagLst>
</file>

<file path=ppt/tags/tag163.xml><?xml version="1.0" encoding="utf-8"?>
<p:tagLst xmlns:p="http://schemas.openxmlformats.org/presentationml/2006/main">
  <p:tag name="THEMECOLOR" val="7"/>
</p:tagLst>
</file>

<file path=ppt/tags/tag164.xml><?xml version="1.0" encoding="utf-8"?>
<p:tagLst xmlns:p="http://schemas.openxmlformats.org/presentationml/2006/main">
  <p:tag name="THEMECOLOR" val="8"/>
</p:tagLst>
</file>

<file path=ppt/tags/tag165.xml><?xml version="1.0" encoding="utf-8"?>
<p:tagLst xmlns:p="http://schemas.openxmlformats.org/presentationml/2006/main">
  <p:tag name="THEMECOLOR" val="9"/>
</p:tagLst>
</file>

<file path=ppt/tags/tag166.xml><?xml version="1.0" encoding="utf-8"?>
<p:tagLst xmlns:p="http://schemas.openxmlformats.org/presentationml/2006/main">
  <p:tag name="THEMECOLOR" val="10"/>
</p:tagLst>
</file>

<file path=ppt/tags/tag167.xml><?xml version="1.0" encoding="utf-8"?>
<p:tagLst xmlns:p="http://schemas.openxmlformats.org/presentationml/2006/main">
  <p:tag name="THEMECOLOR" val="1"/>
</p:tagLst>
</file>

<file path=ppt/tags/tag168.xml><?xml version="1.0" encoding="utf-8"?>
<p:tagLst xmlns:p="http://schemas.openxmlformats.org/presentationml/2006/main">
  <p:tag name="THEMECOLOR" val="2"/>
</p:tagLst>
</file>

<file path=ppt/tags/tag169.xml><?xml version="1.0" encoding="utf-8"?>
<p:tagLst xmlns:p="http://schemas.openxmlformats.org/presentationml/2006/main">
  <p:tag name="THEMECOLOR" val="3"/>
</p:tagLst>
</file>

<file path=ppt/tags/tag170.xml><?xml version="1.0" encoding="utf-8"?>
<p:tagLst xmlns:p="http://schemas.openxmlformats.org/presentationml/2006/main">
  <p:tag name="THEMECOLOR" val="4"/>
</p:tagLst>
</file>

<file path=ppt/tags/tag171.xml><?xml version="1.0" encoding="utf-8"?>
<p:tagLst xmlns:p="http://schemas.openxmlformats.org/presentationml/2006/main">
  <p:tag name="THEMECOLOR" val="5"/>
</p:tagLst>
</file>

<file path=ppt/tags/tag172.xml><?xml version="1.0" encoding="utf-8"?>
<p:tagLst xmlns:p="http://schemas.openxmlformats.org/presentationml/2006/main">
  <p:tag name="THEMECOLOR" val="6"/>
</p:tagLst>
</file>

<file path=ppt/tags/tag173.xml><?xml version="1.0" encoding="utf-8"?>
<p:tagLst xmlns:p="http://schemas.openxmlformats.org/presentationml/2006/main">
  <p:tag name="THEMECOLOR" val="7"/>
</p:tagLst>
</file>

<file path=ppt/tags/tag174.xml><?xml version="1.0" encoding="utf-8"?>
<p:tagLst xmlns:p="http://schemas.openxmlformats.org/presentationml/2006/main">
  <p:tag name="THEMECOLOR" val="8"/>
</p:tagLst>
</file>

<file path=ppt/tags/tag175.xml><?xml version="1.0" encoding="utf-8"?>
<p:tagLst xmlns:p="http://schemas.openxmlformats.org/presentationml/2006/main">
  <p:tag name="THEMECOLOR" val="9"/>
</p:tagLst>
</file>

<file path=ppt/tags/tag176.xml><?xml version="1.0" encoding="utf-8"?>
<p:tagLst xmlns:p="http://schemas.openxmlformats.org/presentationml/2006/main">
  <p:tag name="THEMECOLOR" val="10"/>
</p:tagLst>
</file>

<file path=ppt/theme/theme1.xml><?xml version="1.0" encoding="utf-8"?>
<a:theme xmlns:a="http://schemas.openxmlformats.org/drawingml/2006/main" name="Office 主题​​">
  <a:themeElements>
    <a:clrScheme name="自定义 39">
      <a:dk1>
        <a:srgbClr val="000000"/>
      </a:dk1>
      <a:lt1>
        <a:srgbClr val="FFFFFF"/>
      </a:lt1>
      <a:dk2>
        <a:srgbClr val="44546A"/>
      </a:dk2>
      <a:lt2>
        <a:srgbClr val="E7E6E6"/>
      </a:lt2>
      <a:accent1>
        <a:srgbClr val="132D86"/>
      </a:accent1>
      <a:accent2>
        <a:srgbClr val="4C81B7"/>
      </a:accent2>
      <a:accent3>
        <a:srgbClr val="242424"/>
      </a:accent3>
      <a:accent4>
        <a:srgbClr val="E6E7E8"/>
      </a:accent4>
      <a:accent5>
        <a:srgbClr val="A2B9CC"/>
      </a:accent5>
      <a:accent6>
        <a:srgbClr val="274DA6"/>
      </a:accent6>
      <a:hlink>
        <a:srgbClr val="A5A5A5"/>
      </a:hlink>
      <a:folHlink>
        <a:srgbClr val="D8D8D8"/>
      </a:folHlink>
    </a:clrScheme>
    <a:fontScheme name="自定义 2">
      <a:majorFont>
        <a:latin typeface="OPPOSans B"/>
        <a:ea typeface="OPPOSans B"/>
        <a:cs typeface=""/>
      </a:majorFont>
      <a:minorFont>
        <a:latin typeface="OPPOSans R"/>
        <a:ea typeface="OPPOSans 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39">
    <a:dk1>
      <a:srgbClr val="000000"/>
    </a:dk1>
    <a:lt1>
      <a:srgbClr val="FFFFFF"/>
    </a:lt1>
    <a:dk2>
      <a:srgbClr val="44546A"/>
    </a:dk2>
    <a:lt2>
      <a:srgbClr val="E7E6E6"/>
    </a:lt2>
    <a:accent1>
      <a:srgbClr val="132D86"/>
    </a:accent1>
    <a:accent2>
      <a:srgbClr val="4C81B7"/>
    </a:accent2>
    <a:accent3>
      <a:srgbClr val="242424"/>
    </a:accent3>
    <a:accent4>
      <a:srgbClr val="E6E7E8"/>
    </a:accent4>
    <a:accent5>
      <a:srgbClr val="A2B9CC"/>
    </a:accent5>
    <a:accent6>
      <a:srgbClr val="274DA6"/>
    </a:accent6>
    <a:hlink>
      <a:srgbClr val="A5A5A5"/>
    </a:hlink>
    <a:folHlink>
      <a:srgbClr val="D8D8D8"/>
    </a:folHlink>
  </a:clrScheme>
</a:themeOverride>
</file>

<file path=docProps/app.xml><?xml version="1.0" encoding="utf-8"?>
<Properties xmlns="http://schemas.openxmlformats.org/officeDocument/2006/extended-properties" xmlns:vt="http://schemas.openxmlformats.org/officeDocument/2006/docPropsVTypes">
  <TotalTime>0</TotalTime>
  <Words>4487</Words>
  <Application>WPS 演示</Application>
  <PresentationFormat>宽屏</PresentationFormat>
  <Paragraphs>954</Paragraphs>
  <Slides>22</Slides>
  <Notes>0</Notes>
  <HiddenSlides>0</HiddenSlides>
  <MMClips>0</MMClips>
  <ScaleCrop>false</ScaleCrop>
  <HeadingPairs>
    <vt:vector size="6" baseType="variant">
      <vt:variant>
        <vt:lpstr>已用的字体</vt:lpstr>
      </vt:variant>
      <vt:variant>
        <vt:i4>57</vt:i4>
      </vt:variant>
      <vt:variant>
        <vt:lpstr>主题</vt:lpstr>
      </vt:variant>
      <vt:variant>
        <vt:i4>1</vt:i4>
      </vt:variant>
      <vt:variant>
        <vt:lpstr>幻灯片标题</vt:lpstr>
      </vt:variant>
      <vt:variant>
        <vt:i4>22</vt:i4>
      </vt:variant>
    </vt:vector>
  </HeadingPairs>
  <TitlesOfParts>
    <vt:vector size="80" baseType="lpstr">
      <vt:lpstr>Arial</vt:lpstr>
      <vt:lpstr>宋体</vt:lpstr>
      <vt:lpstr>Wingdings</vt:lpstr>
      <vt:lpstr>Arial Unicode MS</vt:lpstr>
      <vt:lpstr>Arial Black</vt:lpstr>
      <vt:lpstr>微软雅黑</vt:lpstr>
      <vt:lpstr>黑体</vt:lpstr>
      <vt:lpstr>FandolHei-Regular-Identity-H</vt:lpstr>
      <vt:lpstr>LMRoman17-Regular-Identity-H</vt:lpstr>
      <vt:lpstr>Segoe Print</vt:lpstr>
      <vt:lpstr>OPPOSans R</vt:lpstr>
      <vt:lpstr>Montserrat</vt:lpstr>
      <vt:lpstr>思源黑体 CN Normal</vt:lpstr>
      <vt:lpstr>思源黑体 CN Bold</vt:lpstr>
      <vt:lpstr>思源黑体 CN Bold</vt:lpstr>
      <vt:lpstr>阿里巴巴普惠体 Heavy</vt:lpstr>
      <vt:lpstr>OPPOSans B</vt:lpstr>
      <vt:lpstr>思源黑体 Normal</vt:lpstr>
      <vt:lpstr>苹方 特粗</vt:lpstr>
      <vt:lpstr>Bahnschrift Light</vt:lpstr>
      <vt:lpstr>微软雅黑 Light</vt:lpstr>
      <vt:lpstr>Bahnschrift SemiBold</vt:lpstr>
      <vt:lpstr>Arial Black</vt:lpstr>
      <vt:lpstr>Arial Nova Light</vt:lpstr>
      <vt:lpstr>HarmonyOS Sans SC</vt:lpstr>
      <vt:lpstr>阿里巴巴普惠体 R</vt:lpstr>
      <vt:lpstr>OPPOSans R</vt:lpstr>
      <vt:lpstr>OPPOSans R</vt:lpstr>
      <vt:lpstr>华文行楷</vt:lpstr>
      <vt:lpstr>DM Sans Regular</vt:lpstr>
      <vt:lpstr>Montserrat</vt:lpstr>
      <vt:lpstr>HarmonyOS Sans SC Black</vt:lpstr>
      <vt:lpstr>Poppins</vt:lpstr>
      <vt:lpstr>HarmonyOS Sans SC Light</vt:lpstr>
      <vt:lpstr>Montserrat</vt:lpstr>
      <vt:lpstr>思源宋体 CN Heavy</vt:lpstr>
      <vt:lpstr>OPPOSans H</vt:lpstr>
      <vt:lpstr>Calibri</vt:lpstr>
      <vt:lpstr>等线</vt:lpstr>
      <vt:lpstr>Source Han Sans CN Bold</vt:lpstr>
      <vt:lpstr>Yu Gothic UI</vt:lpstr>
      <vt:lpstr>Arial</vt:lpstr>
      <vt:lpstr>vivo type 简 Regular</vt:lpstr>
      <vt:lpstr>FandolSong-Regular-Identity-H</vt:lpstr>
      <vt:lpstr>LMRoman12-Regular-Identity-H</vt:lpstr>
      <vt:lpstr>思源黑体 Bold</vt:lpstr>
      <vt:lpstr>Alibaba PuHuiTi Medium</vt:lpstr>
      <vt:lpstr>方正楷体简体</vt:lpstr>
      <vt:lpstr>Adobe 黑体 Std R</vt:lpstr>
      <vt:lpstr>Gill Sans</vt:lpstr>
      <vt:lpstr>CMR12</vt:lpstr>
      <vt:lpstr>CMSY10</vt:lpstr>
      <vt:lpstr>CMMI12</vt:lpstr>
      <vt:lpstr>FandolSong-Bold-Identity-H</vt:lpstr>
      <vt:lpstr>LMRoman12-Bold-Identity-H</vt:lpstr>
      <vt:lpstr>Source Han Sans CN Light</vt:lpstr>
      <vt:lpstr>Source Han Sans CN Regular</vt:lpstr>
      <vt:lpstr>Office 主题​​</vt:lpstr>
      <vt:lpstr>单击此处编辑母版标题样式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笑应动人</cp:lastModifiedBy>
  <cp:revision>5</cp:revision>
  <dcterms:created xsi:type="dcterms:W3CDTF">2023-07-11T07:43:00Z</dcterms:created>
  <dcterms:modified xsi:type="dcterms:W3CDTF">2025-10-30T18:17:06Z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2052-12.8.2.17838</vt:lpwstr>
  </property>
  <property fmtid="{D5CDD505-2E9C-101B-9397-08002B2CF9AE}" pid="3" name="ICV">
    <vt:lpwstr>455D59911C6B42198F070CFFF9DBB87C_11</vt:lpwstr>
  </property>
</Properties>
</file>