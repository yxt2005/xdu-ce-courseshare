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784" r:id="rId2"/>
    <p:sldId id="11089484" r:id="rId3"/>
    <p:sldId id="904" r:id="rId4"/>
    <p:sldId id="903" r:id="rId5"/>
    <p:sldId id="11089474" r:id="rId6"/>
    <p:sldId id="11089473" r:id="rId7"/>
    <p:sldId id="11089493" r:id="rId8"/>
    <p:sldId id="11089492" r:id="rId9"/>
    <p:sldId id="4382" r:id="rId10"/>
    <p:sldId id="11089494" r:id="rId11"/>
    <p:sldId id="11089495" r:id="rId12"/>
    <p:sldId id="11089496" r:id="rId13"/>
    <p:sldId id="11089497" r:id="rId14"/>
    <p:sldId id="2084" r:id="rId15"/>
    <p:sldId id="521"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F4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737" autoAdjust="0"/>
  </p:normalViewPr>
  <p:slideViewPr>
    <p:cSldViewPr snapToGrid="0">
      <p:cViewPr>
        <p:scale>
          <a:sx n="70" d="100"/>
          <a:sy n="70" d="100"/>
        </p:scale>
        <p:origin x="207" y="29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346621309536146"/>
          <c:y val="6.1962034942684589E-2"/>
          <c:w val="0.82498441934578426"/>
          <c:h val="0.5365969500084532"/>
        </c:manualLayout>
      </c:layout>
      <c:barChart>
        <c:barDir val="col"/>
        <c:grouping val="clustered"/>
        <c:varyColors val="0"/>
        <c:ser>
          <c:idx val="2"/>
          <c:order val="1"/>
          <c:tx>
            <c:strRef>
              <c:f>Sheet1!$D$1</c:f>
              <c:strCache>
                <c:ptCount val="1"/>
                <c:pt idx="0">
                  <c:v>同期数</c:v>
                </c:pt>
              </c:strCache>
            </c:strRef>
          </c:tx>
          <c:spPr>
            <a:solidFill>
              <a:schemeClr val="accent3">
                <a:alpha val="14000"/>
              </a:schemeClr>
            </a:solidFill>
            <a:ln>
              <a:noFill/>
            </a:ln>
            <a:effectLst/>
          </c:spPr>
          <c:invertIfNegative val="0"/>
          <c:cat>
            <c:multiLvlStrRef>
              <c:f>Sheet1!$A$2:$B$11</c:f>
              <c:multiLvlStrCache>
                <c:ptCount val="10"/>
                <c:lvl>
                  <c:pt idx="0">
                    <c:v>收入</c:v>
                  </c:pt>
                  <c:pt idx="1">
                    <c:v>利润</c:v>
                  </c:pt>
                  <c:pt idx="2">
                    <c:v>收入</c:v>
                  </c:pt>
                  <c:pt idx="3">
                    <c:v>利润</c:v>
                  </c:pt>
                  <c:pt idx="4">
                    <c:v>收入</c:v>
                  </c:pt>
                  <c:pt idx="5">
                    <c:v>利润</c:v>
                  </c:pt>
                  <c:pt idx="6">
                    <c:v>收入</c:v>
                  </c:pt>
                  <c:pt idx="7">
                    <c:v>利润</c:v>
                  </c:pt>
                  <c:pt idx="8">
                    <c:v>收入</c:v>
                  </c:pt>
                  <c:pt idx="9">
                    <c:v>利润</c:v>
                  </c:pt>
                </c:lvl>
                <c:lvl>
                  <c:pt idx="0">
                    <c:v>项目1</c:v>
                  </c:pt>
                  <c:pt idx="2">
                    <c:v>项目2</c:v>
                  </c:pt>
                  <c:pt idx="4">
                    <c:v>项目3</c:v>
                  </c:pt>
                  <c:pt idx="6">
                    <c:v>项目4</c:v>
                  </c:pt>
                  <c:pt idx="8">
                    <c:v>项目5</c:v>
                  </c:pt>
                </c:lvl>
              </c:multiLvlStrCache>
            </c:multiLvlStrRef>
          </c:cat>
          <c:val>
            <c:numRef>
              <c:f>Sheet1!$D$2:$D$11</c:f>
              <c:numCache>
                <c:formatCode>0\.0,;\-0\.0,;\-</c:formatCode>
                <c:ptCount val="10"/>
                <c:pt idx="0">
                  <c:v>29628064.975000001</c:v>
                </c:pt>
                <c:pt idx="1">
                  <c:v>5268889.97072032</c:v>
                </c:pt>
                <c:pt idx="2">
                  <c:v>19727057.269000005</c:v>
                </c:pt>
                <c:pt idx="3">
                  <c:v>5342701.9123803759</c:v>
                </c:pt>
                <c:pt idx="4">
                  <c:v>22113450.021000002</c:v>
                </c:pt>
                <c:pt idx="5">
                  <c:v>3241416.54720364</c:v>
                </c:pt>
                <c:pt idx="6">
                  <c:v>20240454.879000001</c:v>
                </c:pt>
                <c:pt idx="7">
                  <c:v>3914043.0228062901</c:v>
                </c:pt>
                <c:pt idx="8">
                  <c:v>10827660.856000001</c:v>
                </c:pt>
                <c:pt idx="9">
                  <c:v>2659483.3992227102</c:v>
                </c:pt>
              </c:numCache>
            </c:numRef>
          </c:val>
          <c:extLst>
            <c:ext xmlns:c16="http://schemas.microsoft.com/office/drawing/2014/chart" uri="{C3380CC4-5D6E-409C-BE32-E72D297353CC}">
              <c16:uniqueId val="{00000002-DB2A-41BD-9201-448B8310020C}"/>
            </c:ext>
          </c:extLst>
        </c:ser>
        <c:ser>
          <c:idx val="4"/>
          <c:order val="3"/>
          <c:tx>
            <c:strRef>
              <c:f>Sheet1!$F$1</c:f>
              <c:strCache>
                <c:ptCount val="1"/>
                <c:pt idx="0">
                  <c:v>全年预算</c:v>
                </c:pt>
              </c:strCache>
            </c:strRef>
          </c:tx>
          <c:spPr>
            <a:noFill/>
            <a:ln w="50800">
              <a:solidFill>
                <a:schemeClr val="accent1"/>
              </a:solidFill>
            </a:ln>
            <a:effectLst/>
          </c:spPr>
          <c:invertIfNegative val="0"/>
          <c:cat>
            <c:multiLvlStrRef>
              <c:f>Sheet1!$A$2:$B$11</c:f>
              <c:multiLvlStrCache>
                <c:ptCount val="10"/>
                <c:lvl>
                  <c:pt idx="0">
                    <c:v>收入</c:v>
                  </c:pt>
                  <c:pt idx="1">
                    <c:v>利润</c:v>
                  </c:pt>
                  <c:pt idx="2">
                    <c:v>收入</c:v>
                  </c:pt>
                  <c:pt idx="3">
                    <c:v>利润</c:v>
                  </c:pt>
                  <c:pt idx="4">
                    <c:v>收入</c:v>
                  </c:pt>
                  <c:pt idx="5">
                    <c:v>利润</c:v>
                  </c:pt>
                  <c:pt idx="6">
                    <c:v>收入</c:v>
                  </c:pt>
                  <c:pt idx="7">
                    <c:v>利润</c:v>
                  </c:pt>
                  <c:pt idx="8">
                    <c:v>收入</c:v>
                  </c:pt>
                  <c:pt idx="9">
                    <c:v>利润</c:v>
                  </c:pt>
                </c:lvl>
                <c:lvl>
                  <c:pt idx="0">
                    <c:v>项目1</c:v>
                  </c:pt>
                  <c:pt idx="2">
                    <c:v>项目2</c:v>
                  </c:pt>
                  <c:pt idx="4">
                    <c:v>项目3</c:v>
                  </c:pt>
                  <c:pt idx="6">
                    <c:v>项目4</c:v>
                  </c:pt>
                  <c:pt idx="8">
                    <c:v>项目5</c:v>
                  </c:pt>
                </c:lvl>
              </c:multiLvlStrCache>
            </c:multiLvlStrRef>
          </c:cat>
          <c:val>
            <c:numRef>
              <c:f>Sheet1!$F$2:$F$11</c:f>
              <c:numCache>
                <c:formatCode>0\.0,;\-0\.0,;\-</c:formatCode>
                <c:ptCount val="10"/>
                <c:pt idx="0">
                  <c:v>33405748.873500001</c:v>
                </c:pt>
                <c:pt idx="1">
                  <c:v>6185023.3689635396</c:v>
                </c:pt>
                <c:pt idx="2">
                  <c:v>28910680.705139998</c:v>
                </c:pt>
                <c:pt idx="3">
                  <c:v>7363264.0271231998</c:v>
                </c:pt>
                <c:pt idx="4">
                  <c:v>25440257.022259999</c:v>
                </c:pt>
                <c:pt idx="5">
                  <c:v>4135901.5400358601</c:v>
                </c:pt>
                <c:pt idx="6">
                  <c:v>21265992.891740002</c:v>
                </c:pt>
                <c:pt idx="7">
                  <c:v>3879825.2337802909</c:v>
                </c:pt>
                <c:pt idx="8">
                  <c:v>14477320.50736</c:v>
                </c:pt>
                <c:pt idx="9">
                  <c:v>3519052.4031760702</c:v>
                </c:pt>
              </c:numCache>
            </c:numRef>
          </c:val>
          <c:extLst>
            <c:ext xmlns:c16="http://schemas.microsoft.com/office/drawing/2014/chart" uri="{C3380CC4-5D6E-409C-BE32-E72D297353CC}">
              <c16:uniqueId val="{00000004-DB2A-41BD-9201-448B8310020C}"/>
            </c:ext>
          </c:extLst>
        </c:ser>
        <c:dLbls>
          <c:showLegendKey val="0"/>
          <c:showVal val="0"/>
          <c:showCatName val="0"/>
          <c:showSerName val="0"/>
          <c:showPercent val="0"/>
          <c:showBubbleSize val="0"/>
        </c:dLbls>
        <c:gapWidth val="150"/>
        <c:overlap val="100"/>
        <c:axId val="1732554815"/>
        <c:axId val="1732549535"/>
      </c:barChart>
      <c:lineChart>
        <c:grouping val="standard"/>
        <c:varyColors val="0"/>
        <c:ser>
          <c:idx val="1"/>
          <c:order val="0"/>
          <c:tx>
            <c:strRef>
              <c:f>Sheet1!$C$1</c:f>
              <c:strCache>
                <c:ptCount val="1"/>
                <c:pt idx="0">
                  <c:v>2025E</c:v>
                </c:pt>
              </c:strCache>
            </c:strRef>
          </c:tx>
          <c:spPr>
            <a:ln w="28575" cap="rnd">
              <a:noFill/>
              <a:round/>
            </a:ln>
            <a:effectLst/>
          </c:spPr>
          <c:marker>
            <c:symbol val="none"/>
          </c:marker>
          <c:cat>
            <c:multiLvlStrRef>
              <c:f>Sheet1!$A$2:$B$11</c:f>
              <c:multiLvlStrCache>
                <c:ptCount val="10"/>
                <c:lvl>
                  <c:pt idx="0">
                    <c:v>收入</c:v>
                  </c:pt>
                  <c:pt idx="1">
                    <c:v>利润</c:v>
                  </c:pt>
                  <c:pt idx="2">
                    <c:v>收入</c:v>
                  </c:pt>
                  <c:pt idx="3">
                    <c:v>利润</c:v>
                  </c:pt>
                  <c:pt idx="4">
                    <c:v>收入</c:v>
                  </c:pt>
                  <c:pt idx="5">
                    <c:v>利润</c:v>
                  </c:pt>
                  <c:pt idx="6">
                    <c:v>收入</c:v>
                  </c:pt>
                  <c:pt idx="7">
                    <c:v>利润</c:v>
                  </c:pt>
                  <c:pt idx="8">
                    <c:v>收入</c:v>
                  </c:pt>
                  <c:pt idx="9">
                    <c:v>利润</c:v>
                  </c:pt>
                </c:lvl>
                <c:lvl>
                  <c:pt idx="0">
                    <c:v>项目1</c:v>
                  </c:pt>
                  <c:pt idx="2">
                    <c:v>项目2</c:v>
                  </c:pt>
                  <c:pt idx="4">
                    <c:v>项目3</c:v>
                  </c:pt>
                  <c:pt idx="6">
                    <c:v>项目4</c:v>
                  </c:pt>
                  <c:pt idx="8">
                    <c:v>项目5</c:v>
                  </c:pt>
                </c:lvl>
              </c:multiLvlStrCache>
            </c:multiLvlStrRef>
          </c:cat>
          <c:val>
            <c:numRef>
              <c:f>Sheet1!$C$2:$C$11</c:f>
              <c:numCache>
                <c:formatCode>0\.0,;\-0\.0,;\-</c:formatCode>
                <c:ptCount val="10"/>
                <c:pt idx="0">
                  <c:v>28475627.75</c:v>
                </c:pt>
                <c:pt idx="1">
                  <c:v>5632099.9674670212</c:v>
                </c:pt>
                <c:pt idx="2">
                  <c:v>26271178.809999995</c:v>
                </c:pt>
                <c:pt idx="3">
                  <c:v>7341244.4878300279</c:v>
                </c:pt>
                <c:pt idx="4">
                  <c:v>23237166.690000001</c:v>
                </c:pt>
                <c:pt idx="5">
                  <c:v>3762685.0524484916</c:v>
                </c:pt>
                <c:pt idx="6">
                  <c:v>22489394.310000002</c:v>
                </c:pt>
                <c:pt idx="7">
                  <c:v>4115603.3586736564</c:v>
                </c:pt>
                <c:pt idx="8">
                  <c:v>11186289.840000005</c:v>
                </c:pt>
                <c:pt idx="9">
                  <c:v>2843870.4435807918</c:v>
                </c:pt>
              </c:numCache>
            </c:numRef>
          </c:val>
          <c:smooth val="0"/>
          <c:extLst>
            <c:ext xmlns:c16="http://schemas.microsoft.com/office/drawing/2014/chart" uri="{C3380CC4-5D6E-409C-BE32-E72D297353CC}">
              <c16:uniqueId val="{00000001-DB2A-41BD-9201-448B8310020C}"/>
            </c:ext>
          </c:extLst>
        </c:ser>
        <c:dLbls>
          <c:showLegendKey val="0"/>
          <c:showVal val="0"/>
          <c:showCatName val="0"/>
          <c:showSerName val="0"/>
          <c:showPercent val="0"/>
          <c:showBubbleSize val="0"/>
        </c:dLbls>
        <c:dropLines>
          <c:spPr>
            <a:ln w="104775" cap="flat" cmpd="sng" algn="ctr">
              <a:solidFill>
                <a:schemeClr val="accent2"/>
              </a:solidFill>
              <a:round/>
            </a:ln>
            <a:effectLst/>
          </c:spPr>
        </c:dropLines>
        <c:marker val="1"/>
        <c:smooth val="0"/>
        <c:axId val="1732554815"/>
        <c:axId val="1732549535"/>
      </c:lineChart>
      <c:lineChart>
        <c:grouping val="standard"/>
        <c:varyColors val="0"/>
        <c:ser>
          <c:idx val="3"/>
          <c:order val="2"/>
          <c:tx>
            <c:strRef>
              <c:f>Sheet1!$E$1</c:f>
              <c:strCache>
                <c:ptCount val="1"/>
                <c:pt idx="0">
                  <c:v>增长率</c:v>
                </c:pt>
              </c:strCache>
            </c:strRef>
          </c:tx>
          <c:spPr>
            <a:ln w="28575" cap="rnd">
              <a:solidFill>
                <a:schemeClr val="accent1">
                  <a:lumMod val="20000"/>
                  <a:lumOff val="80000"/>
                </a:schemeClr>
              </a:solidFill>
              <a:round/>
            </a:ln>
            <a:effectLst/>
          </c:spPr>
          <c:marker>
            <c:symbol val="none"/>
          </c:marker>
          <c:dLbls>
            <c:spPr>
              <a:noFill/>
              <a:ln>
                <a:noFill/>
              </a:ln>
              <a:effectLst/>
            </c:spPr>
            <c:txPr>
              <a:bodyPr rot="0" spcFirstLastPara="1" vertOverflow="ellipsis" vert="horz" wrap="square" lIns="38100" tIns="19050" rIns="38100" bIns="19050" anchor="ctr" anchorCtr="0">
                <a:spAutoFit/>
              </a:bodyPr>
              <a:lstStyle/>
              <a:p>
                <a:pPr algn="ctr">
                  <a:defRPr lang="en-US" altLang="zh-CN" sz="900" b="1" i="0" u="none" strike="noStrike" kern="1200" baseline="0">
                    <a:solidFill>
                      <a:schemeClr val="accent3"/>
                    </a:solidFill>
                    <a:latin typeface="+mn-ea"/>
                    <a:ea typeface="+mn-ea"/>
                    <a:cs typeface="+mn-cs"/>
                  </a:defRPr>
                </a:pPr>
                <a:endParaRPr lang="zh-CN"/>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Sheet1!$A$2:$B$11</c:f>
              <c:multiLvlStrCache>
                <c:ptCount val="10"/>
                <c:lvl>
                  <c:pt idx="0">
                    <c:v>收入</c:v>
                  </c:pt>
                  <c:pt idx="1">
                    <c:v>利润</c:v>
                  </c:pt>
                  <c:pt idx="2">
                    <c:v>收入</c:v>
                  </c:pt>
                  <c:pt idx="3">
                    <c:v>利润</c:v>
                  </c:pt>
                  <c:pt idx="4">
                    <c:v>收入</c:v>
                  </c:pt>
                  <c:pt idx="5">
                    <c:v>利润</c:v>
                  </c:pt>
                  <c:pt idx="6">
                    <c:v>收入</c:v>
                  </c:pt>
                  <c:pt idx="7">
                    <c:v>利润</c:v>
                  </c:pt>
                  <c:pt idx="8">
                    <c:v>收入</c:v>
                  </c:pt>
                  <c:pt idx="9">
                    <c:v>利润</c:v>
                  </c:pt>
                </c:lvl>
                <c:lvl>
                  <c:pt idx="0">
                    <c:v>项目1</c:v>
                  </c:pt>
                  <c:pt idx="2">
                    <c:v>项目2</c:v>
                  </c:pt>
                  <c:pt idx="4">
                    <c:v>项目3</c:v>
                  </c:pt>
                  <c:pt idx="6">
                    <c:v>项目4</c:v>
                  </c:pt>
                  <c:pt idx="8">
                    <c:v>项目5</c:v>
                  </c:pt>
                </c:lvl>
              </c:multiLvlStrCache>
            </c:multiLvlStrRef>
          </c:cat>
          <c:val>
            <c:numRef>
              <c:f>Sheet1!$E$2:$E$11</c:f>
              <c:numCache>
                <c:formatCode>0%</c:formatCode>
                <c:ptCount val="10"/>
                <c:pt idx="0">
                  <c:v>-3.8896810371261914E-2</c:v>
                </c:pt>
                <c:pt idx="1">
                  <c:v>6.8934822849801458E-2</c:v>
                </c:pt>
                <c:pt idx="2">
                  <c:v>0.33173328650917044</c:v>
                </c:pt>
                <c:pt idx="3">
                  <c:v>0.37406963896273715</c:v>
                </c:pt>
                <c:pt idx="4">
                  <c:v>5.0815981582831515E-2</c:v>
                </c:pt>
                <c:pt idx="5">
                  <c:v>0.16081503183987511</c:v>
                </c:pt>
                <c:pt idx="6">
                  <c:v>0.11111111111111116</c:v>
                </c:pt>
                <c:pt idx="7">
                  <c:v>5.1496709334291291E-2</c:v>
                </c:pt>
                <c:pt idx="8">
                  <c:v>3.3121556795092655E-2</c:v>
                </c:pt>
                <c:pt idx="9">
                  <c:v>6.9331902734182327E-2</c:v>
                </c:pt>
              </c:numCache>
            </c:numRef>
          </c:val>
          <c:smooth val="0"/>
          <c:extLst>
            <c:ext xmlns:c16="http://schemas.microsoft.com/office/drawing/2014/chart" uri="{C3380CC4-5D6E-409C-BE32-E72D297353CC}">
              <c16:uniqueId val="{00000003-DB2A-41BD-9201-448B8310020C}"/>
            </c:ext>
          </c:extLst>
        </c:ser>
        <c:ser>
          <c:idx val="5"/>
          <c:order val="4"/>
          <c:tx>
            <c:strRef>
              <c:f>Sheet1!$G$1</c:f>
              <c:strCache>
                <c:ptCount val="1"/>
                <c:pt idx="0">
                  <c:v>全年完成率</c:v>
                </c:pt>
              </c:strCache>
            </c:strRef>
          </c:tx>
          <c:spPr>
            <a:ln w="28575" cap="rnd">
              <a:solidFill>
                <a:schemeClr val="accent2">
                  <a:lumMod val="60000"/>
                  <a:lumOff val="40000"/>
                </a:schemeClr>
              </a:solidFill>
              <a:round/>
            </a:ln>
            <a:effectLst/>
          </c:spPr>
          <c:marker>
            <c:symbol val="none"/>
          </c:marker>
          <c:dLbls>
            <c:spPr>
              <a:solidFill>
                <a:schemeClr val="bg1"/>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lumMod val="75000"/>
                      </a:schemeClr>
                    </a:solidFill>
                    <a:latin typeface="+mn-ea"/>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Sheet1!$A$2:$B$11</c:f>
              <c:multiLvlStrCache>
                <c:ptCount val="10"/>
                <c:lvl>
                  <c:pt idx="0">
                    <c:v>收入</c:v>
                  </c:pt>
                  <c:pt idx="1">
                    <c:v>利润</c:v>
                  </c:pt>
                  <c:pt idx="2">
                    <c:v>收入</c:v>
                  </c:pt>
                  <c:pt idx="3">
                    <c:v>利润</c:v>
                  </c:pt>
                  <c:pt idx="4">
                    <c:v>收入</c:v>
                  </c:pt>
                  <c:pt idx="5">
                    <c:v>利润</c:v>
                  </c:pt>
                  <c:pt idx="6">
                    <c:v>收入</c:v>
                  </c:pt>
                  <c:pt idx="7">
                    <c:v>利润</c:v>
                  </c:pt>
                  <c:pt idx="8">
                    <c:v>收入</c:v>
                  </c:pt>
                  <c:pt idx="9">
                    <c:v>利润</c:v>
                  </c:pt>
                </c:lvl>
                <c:lvl>
                  <c:pt idx="0">
                    <c:v>项目1</c:v>
                  </c:pt>
                  <c:pt idx="2">
                    <c:v>项目2</c:v>
                  </c:pt>
                  <c:pt idx="4">
                    <c:v>项目3</c:v>
                  </c:pt>
                  <c:pt idx="6">
                    <c:v>项目4</c:v>
                  </c:pt>
                  <c:pt idx="8">
                    <c:v>项目5</c:v>
                  </c:pt>
                </c:lvl>
              </c:multiLvlStrCache>
            </c:multiLvlStrRef>
          </c:cat>
          <c:val>
            <c:numRef>
              <c:f>Sheet1!$G$2:$G$11</c:f>
              <c:numCache>
                <c:formatCode>0%</c:formatCode>
                <c:ptCount val="10"/>
                <c:pt idx="0">
                  <c:v>0.85241698540663613</c:v>
                </c:pt>
                <c:pt idx="1">
                  <c:v>0.9106028597610335</c:v>
                </c:pt>
                <c:pt idx="2">
                  <c:v>0.90870149609895801</c:v>
                </c:pt>
                <c:pt idx="3">
                  <c:v>0.99700954098453332</c:v>
                </c:pt>
                <c:pt idx="4">
                  <c:v>0.91340141216606763</c:v>
                </c:pt>
                <c:pt idx="5">
                  <c:v>0.90976175714663343</c:v>
                </c:pt>
                <c:pt idx="6">
                  <c:v>1.0575285350882999</c:v>
                </c:pt>
                <c:pt idx="7">
                  <c:v>1.0607702952289002</c:v>
                </c:pt>
                <c:pt idx="8">
                  <c:v>0.77267681089971751</c:v>
                </c:pt>
                <c:pt idx="9">
                  <c:v>0.80813529261857464</c:v>
                </c:pt>
              </c:numCache>
            </c:numRef>
          </c:val>
          <c:smooth val="0"/>
          <c:extLst>
            <c:ext xmlns:c16="http://schemas.microsoft.com/office/drawing/2014/chart" uri="{C3380CC4-5D6E-409C-BE32-E72D297353CC}">
              <c16:uniqueId val="{00000005-DB2A-41BD-9201-448B8310020C}"/>
            </c:ext>
          </c:extLst>
        </c:ser>
        <c:dLbls>
          <c:showLegendKey val="0"/>
          <c:showVal val="0"/>
          <c:showCatName val="0"/>
          <c:showSerName val="0"/>
          <c:showPercent val="0"/>
          <c:showBubbleSize val="0"/>
        </c:dLbls>
        <c:marker val="1"/>
        <c:smooth val="0"/>
        <c:axId val="1732556255"/>
        <c:axId val="1732564415"/>
      </c:lineChart>
      <c:catAx>
        <c:axId val="1732554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ea"/>
                <a:ea typeface="+mn-ea"/>
                <a:cs typeface="+mn-cs"/>
              </a:defRPr>
            </a:pPr>
            <a:endParaRPr lang="zh-CN"/>
          </a:p>
        </c:txPr>
        <c:crossAx val="1732549535"/>
        <c:crosses val="autoZero"/>
        <c:auto val="1"/>
        <c:lblAlgn val="ctr"/>
        <c:lblOffset val="100"/>
        <c:noMultiLvlLbl val="0"/>
      </c:catAx>
      <c:valAx>
        <c:axId val="1732549535"/>
        <c:scaling>
          <c:orientation val="minMax"/>
          <c:max val="50000000"/>
        </c:scaling>
        <c:delete val="0"/>
        <c:axPos val="l"/>
        <c:numFmt formatCode="0\.0,;\-0\.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ea"/>
                <a:ea typeface="+mn-ea"/>
                <a:cs typeface="+mn-cs"/>
              </a:defRPr>
            </a:pPr>
            <a:endParaRPr lang="zh-CN"/>
          </a:p>
        </c:txPr>
        <c:crossAx val="1732554815"/>
        <c:crosses val="autoZero"/>
        <c:crossBetween val="between"/>
      </c:valAx>
      <c:valAx>
        <c:axId val="1732564415"/>
        <c:scaling>
          <c:orientation val="minMax"/>
          <c:min val="-5"/>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ea"/>
                <a:ea typeface="+mn-ea"/>
                <a:cs typeface="+mn-cs"/>
              </a:defRPr>
            </a:pPr>
            <a:endParaRPr lang="zh-CN"/>
          </a:p>
        </c:txPr>
        <c:crossAx val="1732556255"/>
        <c:crosses val="max"/>
        <c:crossBetween val="between"/>
      </c:valAx>
      <c:catAx>
        <c:axId val="1732556255"/>
        <c:scaling>
          <c:orientation val="minMax"/>
        </c:scaling>
        <c:delete val="1"/>
        <c:axPos val="b"/>
        <c:numFmt formatCode="General" sourceLinked="1"/>
        <c:majorTickMark val="out"/>
        <c:minorTickMark val="none"/>
        <c:tickLblPos val="nextTo"/>
        <c:crossAx val="1732564415"/>
        <c:crosses val="autoZero"/>
        <c:auto val="1"/>
        <c:lblAlgn val="ctr"/>
        <c:lblOffset val="100"/>
        <c:noMultiLvlLbl val="0"/>
      </c:cat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000" b="0" i="0" u="none" strike="noStrike" kern="1200" baseline="0">
                <a:solidFill>
                  <a:schemeClr val="tx1">
                    <a:lumMod val="65000"/>
                    <a:lumOff val="35000"/>
                  </a:schemeClr>
                </a:solidFill>
                <a:latin typeface="+mn-ea"/>
                <a:ea typeface="+mn-ea"/>
                <a:cs typeface="+mn-cs"/>
              </a:defRPr>
            </a:pPr>
            <a:endParaRPr lang="zh-CN"/>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5875">
      <a:noFill/>
      <a:prstDash val="sysDash"/>
    </a:ln>
    <a:effectLst/>
  </c:spPr>
  <c:txPr>
    <a:bodyPr/>
    <a:lstStyle/>
    <a:p>
      <a:pPr>
        <a:defRPr sz="1000">
          <a:latin typeface="+mn-ea"/>
          <a:ea typeface="+mn-ea"/>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936467931253805E-2"/>
          <c:y val="8.1911637015352784E-2"/>
          <c:w val="0.96906353206874618"/>
          <c:h val="0.88013489621166763"/>
        </c:manualLayout>
      </c:layout>
      <c:areaChart>
        <c:grouping val="standard"/>
        <c:varyColors val="0"/>
        <c:ser>
          <c:idx val="1"/>
          <c:order val="1"/>
          <c:tx>
            <c:strRef>
              <c:f>Sheet1!$C$1</c:f>
              <c:strCache>
                <c:ptCount val="1"/>
                <c:pt idx="0">
                  <c:v>历史数据2</c:v>
                </c:pt>
              </c:strCache>
            </c:strRef>
          </c:tx>
          <c:spPr>
            <a:gradFill>
              <a:gsLst>
                <a:gs pos="0">
                  <a:schemeClr val="bg1">
                    <a:alpha val="0"/>
                  </a:schemeClr>
                </a:gs>
                <a:gs pos="100000">
                  <a:schemeClr val="accent1">
                    <a:lumMod val="40000"/>
                    <a:lumOff val="60000"/>
                    <a:alpha val="61000"/>
                  </a:schemeClr>
                </a:gs>
              </a:gsLst>
              <a:lin ang="16200000" scaled="1"/>
            </a:gradFill>
            <a:ln>
              <a:noFill/>
            </a:ln>
            <a:effectLst/>
          </c:spPr>
          <c:cat>
            <c:numRef>
              <c:f>Sheet1!$A$2:$A$6</c:f>
              <c:numCache>
                <c:formatCode>General</c:formatCode>
                <c:ptCount val="5"/>
                <c:pt idx="0">
                  <c:v>21</c:v>
                </c:pt>
                <c:pt idx="1">
                  <c:v>22</c:v>
                </c:pt>
                <c:pt idx="2">
                  <c:v>23</c:v>
                </c:pt>
                <c:pt idx="3">
                  <c:v>24</c:v>
                </c:pt>
                <c:pt idx="4">
                  <c:v>25</c:v>
                </c:pt>
              </c:numCache>
            </c:numRef>
          </c:cat>
          <c:val>
            <c:numRef>
              <c:f>Sheet1!$C$2:$C$6</c:f>
              <c:numCache>
                <c:formatCode>General</c:formatCode>
                <c:ptCount val="5"/>
                <c:pt idx="0">
                  <c:v>1.3</c:v>
                </c:pt>
                <c:pt idx="1">
                  <c:v>1.6</c:v>
                </c:pt>
                <c:pt idx="2">
                  <c:v>1.9</c:v>
                </c:pt>
                <c:pt idx="3">
                  <c:v>1.4</c:v>
                </c:pt>
                <c:pt idx="4">
                  <c:v>1.2</c:v>
                </c:pt>
              </c:numCache>
            </c:numRef>
          </c:val>
          <c:extLst>
            <c:ext xmlns:c16="http://schemas.microsoft.com/office/drawing/2014/chart" uri="{C3380CC4-5D6E-409C-BE32-E72D297353CC}">
              <c16:uniqueId val="{00000003-7A07-49E5-9286-E530B148F330}"/>
            </c:ext>
          </c:extLst>
        </c:ser>
        <c:dLbls>
          <c:showLegendKey val="0"/>
          <c:showVal val="0"/>
          <c:showCatName val="0"/>
          <c:showSerName val="0"/>
          <c:showPercent val="0"/>
          <c:showBubbleSize val="0"/>
        </c:dLbls>
        <c:axId val="417830703"/>
        <c:axId val="417825903"/>
      </c:areaChart>
      <c:lineChart>
        <c:grouping val="standard"/>
        <c:varyColors val="0"/>
        <c:ser>
          <c:idx val="0"/>
          <c:order val="0"/>
          <c:tx>
            <c:strRef>
              <c:f>Sheet1!$B$1</c:f>
              <c:strCache>
                <c:ptCount val="1"/>
                <c:pt idx="0">
                  <c:v>历史数据</c:v>
                </c:pt>
              </c:strCache>
            </c:strRef>
          </c:tx>
          <c:spPr>
            <a:ln w="28575" cap="rnd">
              <a:solidFill>
                <a:schemeClr val="accent1">
                  <a:lumMod val="40000"/>
                  <a:lumOff val="60000"/>
                </a:schemeClr>
              </a:solidFill>
              <a:round/>
            </a:ln>
            <a:effectLst/>
          </c:spPr>
          <c:marker>
            <c:symbol val="none"/>
          </c:marker>
          <c:cat>
            <c:numRef>
              <c:f>Sheet1!$A$2:$A$6</c:f>
              <c:numCache>
                <c:formatCode>General</c:formatCode>
                <c:ptCount val="5"/>
                <c:pt idx="0">
                  <c:v>21</c:v>
                </c:pt>
                <c:pt idx="1">
                  <c:v>22</c:v>
                </c:pt>
                <c:pt idx="2">
                  <c:v>23</c:v>
                </c:pt>
                <c:pt idx="3">
                  <c:v>24</c:v>
                </c:pt>
                <c:pt idx="4">
                  <c:v>25</c:v>
                </c:pt>
              </c:numCache>
            </c:numRef>
          </c:cat>
          <c:val>
            <c:numRef>
              <c:f>Sheet1!$B$2:$B$6</c:f>
              <c:numCache>
                <c:formatCode>General</c:formatCode>
                <c:ptCount val="5"/>
                <c:pt idx="0">
                  <c:v>1.3</c:v>
                </c:pt>
                <c:pt idx="1">
                  <c:v>1.6</c:v>
                </c:pt>
                <c:pt idx="2">
                  <c:v>1.9</c:v>
                </c:pt>
                <c:pt idx="3">
                  <c:v>1.4</c:v>
                </c:pt>
                <c:pt idx="4">
                  <c:v>1.2</c:v>
                </c:pt>
              </c:numCache>
            </c:numRef>
          </c:val>
          <c:smooth val="0"/>
          <c:extLst>
            <c:ext xmlns:c16="http://schemas.microsoft.com/office/drawing/2014/chart" uri="{C3380CC4-5D6E-409C-BE32-E72D297353CC}">
              <c16:uniqueId val="{00000000-7A07-49E5-9286-E530B148F330}"/>
            </c:ext>
          </c:extLst>
        </c:ser>
        <c:dLbls>
          <c:showLegendKey val="0"/>
          <c:showVal val="0"/>
          <c:showCatName val="0"/>
          <c:showSerName val="0"/>
          <c:showPercent val="0"/>
          <c:showBubbleSize val="0"/>
        </c:dLbls>
        <c:marker val="1"/>
        <c:smooth val="0"/>
        <c:axId val="417830703"/>
        <c:axId val="417825903"/>
      </c:lineChart>
      <c:catAx>
        <c:axId val="417830703"/>
        <c:scaling>
          <c:orientation val="minMax"/>
        </c:scaling>
        <c:delete val="1"/>
        <c:axPos val="b"/>
        <c:numFmt formatCode="General" sourceLinked="1"/>
        <c:majorTickMark val="none"/>
        <c:minorTickMark val="none"/>
        <c:tickLblPos val="nextTo"/>
        <c:crossAx val="417825903"/>
        <c:crosses val="autoZero"/>
        <c:auto val="1"/>
        <c:lblAlgn val="ctr"/>
        <c:lblOffset val="100"/>
        <c:noMultiLvlLbl val="0"/>
      </c:catAx>
      <c:valAx>
        <c:axId val="417825903"/>
        <c:scaling>
          <c:orientation val="minMax"/>
        </c:scaling>
        <c:delete val="1"/>
        <c:axPos val="l"/>
        <c:numFmt formatCode="General" sourceLinked="1"/>
        <c:majorTickMark val="out"/>
        <c:minorTickMark val="none"/>
        <c:tickLblPos val="nextTo"/>
        <c:crossAx val="4178307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2771385866731551E-2"/>
          <c:y val="8.1911637015352784E-2"/>
          <c:w val="0.91722861413326862"/>
          <c:h val="0.88013489621166763"/>
        </c:manualLayout>
      </c:layout>
      <c:areaChart>
        <c:grouping val="standard"/>
        <c:varyColors val="0"/>
        <c:ser>
          <c:idx val="1"/>
          <c:order val="1"/>
          <c:tx>
            <c:strRef>
              <c:f>Sheet1!$C$1</c:f>
              <c:strCache>
                <c:ptCount val="1"/>
                <c:pt idx="0">
                  <c:v>历史数据2</c:v>
                </c:pt>
              </c:strCache>
            </c:strRef>
          </c:tx>
          <c:spPr>
            <a:gradFill>
              <a:gsLst>
                <a:gs pos="0">
                  <a:schemeClr val="bg1">
                    <a:alpha val="0"/>
                  </a:schemeClr>
                </a:gs>
                <a:gs pos="100000">
                  <a:schemeClr val="accent2">
                    <a:lumMod val="60000"/>
                    <a:lumOff val="40000"/>
                  </a:schemeClr>
                </a:gs>
              </a:gsLst>
              <a:lin ang="16200000" scaled="1"/>
            </a:gradFill>
            <a:ln>
              <a:noFill/>
            </a:ln>
            <a:effectLst/>
          </c:spPr>
          <c:cat>
            <c:numRef>
              <c:f>Sheet1!$A$2:$A$6</c:f>
              <c:numCache>
                <c:formatCode>General</c:formatCode>
                <c:ptCount val="5"/>
                <c:pt idx="0">
                  <c:v>21</c:v>
                </c:pt>
                <c:pt idx="1">
                  <c:v>22</c:v>
                </c:pt>
                <c:pt idx="2">
                  <c:v>23</c:v>
                </c:pt>
                <c:pt idx="3">
                  <c:v>24</c:v>
                </c:pt>
                <c:pt idx="4">
                  <c:v>25</c:v>
                </c:pt>
              </c:numCache>
            </c:numRef>
          </c:cat>
          <c:val>
            <c:numRef>
              <c:f>Sheet1!$C$2:$C$6</c:f>
              <c:numCache>
                <c:formatCode>General</c:formatCode>
                <c:ptCount val="5"/>
                <c:pt idx="0">
                  <c:v>0.8</c:v>
                </c:pt>
                <c:pt idx="1">
                  <c:v>1.1000000000000001</c:v>
                </c:pt>
                <c:pt idx="2">
                  <c:v>1.5</c:v>
                </c:pt>
                <c:pt idx="3">
                  <c:v>1</c:v>
                </c:pt>
                <c:pt idx="4">
                  <c:v>1.2</c:v>
                </c:pt>
              </c:numCache>
            </c:numRef>
          </c:val>
          <c:extLst>
            <c:ext xmlns:c16="http://schemas.microsoft.com/office/drawing/2014/chart" uri="{C3380CC4-5D6E-409C-BE32-E72D297353CC}">
              <c16:uniqueId val="{00000000-65F1-4926-906A-7A647D1DCA8E}"/>
            </c:ext>
          </c:extLst>
        </c:ser>
        <c:dLbls>
          <c:showLegendKey val="0"/>
          <c:showVal val="0"/>
          <c:showCatName val="0"/>
          <c:showSerName val="0"/>
          <c:showPercent val="0"/>
          <c:showBubbleSize val="0"/>
        </c:dLbls>
        <c:axId val="417830703"/>
        <c:axId val="417825903"/>
      </c:areaChart>
      <c:lineChart>
        <c:grouping val="standard"/>
        <c:varyColors val="0"/>
        <c:ser>
          <c:idx val="0"/>
          <c:order val="0"/>
          <c:tx>
            <c:strRef>
              <c:f>Sheet1!$B$1</c:f>
              <c:strCache>
                <c:ptCount val="1"/>
                <c:pt idx="0">
                  <c:v>历史数据</c:v>
                </c:pt>
              </c:strCache>
            </c:strRef>
          </c:tx>
          <c:spPr>
            <a:ln w="28575" cap="rnd">
              <a:solidFill>
                <a:schemeClr val="accent2"/>
              </a:solidFill>
              <a:round/>
            </a:ln>
            <a:effectLst/>
          </c:spPr>
          <c:marker>
            <c:symbol val="none"/>
          </c:marker>
          <c:cat>
            <c:numRef>
              <c:f>Sheet1!$A$2:$A$6</c:f>
              <c:numCache>
                <c:formatCode>General</c:formatCode>
                <c:ptCount val="5"/>
                <c:pt idx="0">
                  <c:v>21</c:v>
                </c:pt>
                <c:pt idx="1">
                  <c:v>22</c:v>
                </c:pt>
                <c:pt idx="2">
                  <c:v>23</c:v>
                </c:pt>
                <c:pt idx="3">
                  <c:v>24</c:v>
                </c:pt>
                <c:pt idx="4">
                  <c:v>25</c:v>
                </c:pt>
              </c:numCache>
            </c:numRef>
          </c:cat>
          <c:val>
            <c:numRef>
              <c:f>Sheet1!$B$2:$B$6</c:f>
              <c:numCache>
                <c:formatCode>General</c:formatCode>
                <c:ptCount val="5"/>
                <c:pt idx="0">
                  <c:v>0.8</c:v>
                </c:pt>
                <c:pt idx="1">
                  <c:v>1.1000000000000001</c:v>
                </c:pt>
                <c:pt idx="2">
                  <c:v>1.5</c:v>
                </c:pt>
                <c:pt idx="3">
                  <c:v>1</c:v>
                </c:pt>
                <c:pt idx="4">
                  <c:v>1.2</c:v>
                </c:pt>
              </c:numCache>
            </c:numRef>
          </c:val>
          <c:smooth val="0"/>
          <c:extLst>
            <c:ext xmlns:c16="http://schemas.microsoft.com/office/drawing/2014/chart" uri="{C3380CC4-5D6E-409C-BE32-E72D297353CC}">
              <c16:uniqueId val="{00000001-65F1-4926-906A-7A647D1DCA8E}"/>
            </c:ext>
          </c:extLst>
        </c:ser>
        <c:dLbls>
          <c:showLegendKey val="0"/>
          <c:showVal val="0"/>
          <c:showCatName val="0"/>
          <c:showSerName val="0"/>
          <c:showPercent val="0"/>
          <c:showBubbleSize val="0"/>
        </c:dLbls>
        <c:marker val="1"/>
        <c:smooth val="0"/>
        <c:axId val="417830703"/>
        <c:axId val="417825903"/>
      </c:lineChart>
      <c:catAx>
        <c:axId val="417830703"/>
        <c:scaling>
          <c:orientation val="minMax"/>
        </c:scaling>
        <c:delete val="1"/>
        <c:axPos val="b"/>
        <c:numFmt formatCode="General" sourceLinked="1"/>
        <c:majorTickMark val="none"/>
        <c:minorTickMark val="none"/>
        <c:tickLblPos val="nextTo"/>
        <c:crossAx val="417825903"/>
        <c:crosses val="autoZero"/>
        <c:auto val="1"/>
        <c:lblAlgn val="ctr"/>
        <c:lblOffset val="100"/>
        <c:noMultiLvlLbl val="0"/>
      </c:catAx>
      <c:valAx>
        <c:axId val="417825903"/>
        <c:scaling>
          <c:orientation val="minMax"/>
        </c:scaling>
        <c:delete val="1"/>
        <c:axPos val="l"/>
        <c:numFmt formatCode="General" sourceLinked="1"/>
        <c:majorTickMark val="out"/>
        <c:minorTickMark val="none"/>
        <c:tickLblPos val="nextTo"/>
        <c:crossAx val="4178307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2771385866731551E-2"/>
          <c:y val="8.1911637015352784E-2"/>
          <c:w val="0.91722861413326862"/>
          <c:h val="0.88013489621166763"/>
        </c:manualLayout>
      </c:layout>
      <c:areaChart>
        <c:grouping val="standard"/>
        <c:varyColors val="0"/>
        <c:ser>
          <c:idx val="1"/>
          <c:order val="1"/>
          <c:tx>
            <c:strRef>
              <c:f>Sheet1!$C$1</c:f>
              <c:strCache>
                <c:ptCount val="1"/>
                <c:pt idx="0">
                  <c:v>历史数据2</c:v>
                </c:pt>
              </c:strCache>
            </c:strRef>
          </c:tx>
          <c:spPr>
            <a:gradFill>
              <a:gsLst>
                <a:gs pos="0">
                  <a:schemeClr val="bg1">
                    <a:alpha val="0"/>
                  </a:schemeClr>
                </a:gs>
                <a:gs pos="100000">
                  <a:schemeClr val="accent4">
                    <a:lumMod val="60000"/>
                    <a:lumOff val="40000"/>
                    <a:alpha val="64000"/>
                  </a:schemeClr>
                </a:gs>
              </a:gsLst>
              <a:lin ang="16200000" scaled="1"/>
            </a:gradFill>
            <a:ln>
              <a:noFill/>
            </a:ln>
            <a:effectLst/>
          </c:spPr>
          <c:cat>
            <c:numRef>
              <c:f>Sheet1!$A$2:$A$6</c:f>
              <c:numCache>
                <c:formatCode>General</c:formatCode>
                <c:ptCount val="5"/>
                <c:pt idx="0">
                  <c:v>21</c:v>
                </c:pt>
                <c:pt idx="1">
                  <c:v>22</c:v>
                </c:pt>
                <c:pt idx="2">
                  <c:v>23</c:v>
                </c:pt>
                <c:pt idx="3">
                  <c:v>24</c:v>
                </c:pt>
                <c:pt idx="4">
                  <c:v>25</c:v>
                </c:pt>
              </c:numCache>
            </c:numRef>
          </c:cat>
          <c:val>
            <c:numRef>
              <c:f>Sheet1!$C$2:$C$6</c:f>
              <c:numCache>
                <c:formatCode>General</c:formatCode>
                <c:ptCount val="5"/>
                <c:pt idx="0">
                  <c:v>0.19</c:v>
                </c:pt>
                <c:pt idx="1">
                  <c:v>0.18</c:v>
                </c:pt>
                <c:pt idx="2">
                  <c:v>0.15</c:v>
                </c:pt>
                <c:pt idx="3">
                  <c:v>0.14000000000000001</c:v>
                </c:pt>
                <c:pt idx="4">
                  <c:v>0.14000000000000001</c:v>
                </c:pt>
              </c:numCache>
            </c:numRef>
          </c:val>
          <c:extLst>
            <c:ext xmlns:c16="http://schemas.microsoft.com/office/drawing/2014/chart" uri="{C3380CC4-5D6E-409C-BE32-E72D297353CC}">
              <c16:uniqueId val="{00000000-5886-4428-A8C2-5601E03D5975}"/>
            </c:ext>
          </c:extLst>
        </c:ser>
        <c:dLbls>
          <c:showLegendKey val="0"/>
          <c:showVal val="0"/>
          <c:showCatName val="0"/>
          <c:showSerName val="0"/>
          <c:showPercent val="0"/>
          <c:showBubbleSize val="0"/>
        </c:dLbls>
        <c:axId val="417830703"/>
        <c:axId val="417825903"/>
      </c:areaChart>
      <c:lineChart>
        <c:grouping val="standard"/>
        <c:varyColors val="0"/>
        <c:ser>
          <c:idx val="0"/>
          <c:order val="0"/>
          <c:tx>
            <c:strRef>
              <c:f>Sheet1!$B$1</c:f>
              <c:strCache>
                <c:ptCount val="1"/>
                <c:pt idx="0">
                  <c:v>历史数据</c:v>
                </c:pt>
              </c:strCache>
            </c:strRef>
          </c:tx>
          <c:spPr>
            <a:ln w="28575" cap="rnd">
              <a:solidFill>
                <a:schemeClr val="accent4"/>
              </a:solidFill>
              <a:round/>
            </a:ln>
            <a:effectLst/>
          </c:spPr>
          <c:marker>
            <c:symbol val="none"/>
          </c:marker>
          <c:cat>
            <c:numRef>
              <c:f>Sheet1!$A$2:$A$6</c:f>
              <c:numCache>
                <c:formatCode>General</c:formatCode>
                <c:ptCount val="5"/>
                <c:pt idx="0">
                  <c:v>21</c:v>
                </c:pt>
                <c:pt idx="1">
                  <c:v>22</c:v>
                </c:pt>
                <c:pt idx="2">
                  <c:v>23</c:v>
                </c:pt>
                <c:pt idx="3">
                  <c:v>24</c:v>
                </c:pt>
                <c:pt idx="4">
                  <c:v>25</c:v>
                </c:pt>
              </c:numCache>
            </c:numRef>
          </c:cat>
          <c:val>
            <c:numRef>
              <c:f>Sheet1!$B$2:$B$6</c:f>
              <c:numCache>
                <c:formatCode>0%</c:formatCode>
                <c:ptCount val="5"/>
                <c:pt idx="0">
                  <c:v>0.19</c:v>
                </c:pt>
                <c:pt idx="1">
                  <c:v>0.18</c:v>
                </c:pt>
                <c:pt idx="2">
                  <c:v>0.15</c:v>
                </c:pt>
                <c:pt idx="3">
                  <c:v>0.14000000000000001</c:v>
                </c:pt>
                <c:pt idx="4">
                  <c:v>0.14000000000000001</c:v>
                </c:pt>
              </c:numCache>
            </c:numRef>
          </c:val>
          <c:smooth val="0"/>
          <c:extLst>
            <c:ext xmlns:c16="http://schemas.microsoft.com/office/drawing/2014/chart" uri="{C3380CC4-5D6E-409C-BE32-E72D297353CC}">
              <c16:uniqueId val="{00000001-5886-4428-A8C2-5601E03D5975}"/>
            </c:ext>
          </c:extLst>
        </c:ser>
        <c:dLbls>
          <c:showLegendKey val="0"/>
          <c:showVal val="0"/>
          <c:showCatName val="0"/>
          <c:showSerName val="0"/>
          <c:showPercent val="0"/>
          <c:showBubbleSize val="0"/>
        </c:dLbls>
        <c:marker val="1"/>
        <c:smooth val="0"/>
        <c:axId val="417830703"/>
        <c:axId val="417825903"/>
      </c:lineChart>
      <c:catAx>
        <c:axId val="417830703"/>
        <c:scaling>
          <c:orientation val="minMax"/>
        </c:scaling>
        <c:delete val="1"/>
        <c:axPos val="b"/>
        <c:numFmt formatCode="General" sourceLinked="1"/>
        <c:majorTickMark val="none"/>
        <c:minorTickMark val="none"/>
        <c:tickLblPos val="nextTo"/>
        <c:crossAx val="417825903"/>
        <c:crosses val="autoZero"/>
        <c:auto val="1"/>
        <c:lblAlgn val="ctr"/>
        <c:lblOffset val="100"/>
        <c:noMultiLvlLbl val="0"/>
      </c:catAx>
      <c:valAx>
        <c:axId val="417825903"/>
        <c:scaling>
          <c:orientation val="minMax"/>
        </c:scaling>
        <c:delete val="1"/>
        <c:axPos val="l"/>
        <c:numFmt formatCode="General" sourceLinked="1"/>
        <c:majorTickMark val="out"/>
        <c:minorTickMark val="none"/>
        <c:tickLblPos val="nextTo"/>
        <c:crossAx val="4178307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2771385866731551E-2"/>
          <c:y val="8.1911637015352784E-2"/>
          <c:w val="0.91722861413326862"/>
          <c:h val="0.88013489621166763"/>
        </c:manualLayout>
      </c:layout>
      <c:areaChart>
        <c:grouping val="standard"/>
        <c:varyColors val="0"/>
        <c:ser>
          <c:idx val="1"/>
          <c:order val="1"/>
          <c:tx>
            <c:strRef>
              <c:f>Sheet1!$C$1</c:f>
              <c:strCache>
                <c:ptCount val="1"/>
                <c:pt idx="0">
                  <c:v>历史数据2</c:v>
                </c:pt>
              </c:strCache>
            </c:strRef>
          </c:tx>
          <c:spPr>
            <a:gradFill>
              <a:gsLst>
                <a:gs pos="0">
                  <a:schemeClr val="bg1">
                    <a:alpha val="0"/>
                  </a:schemeClr>
                </a:gs>
                <a:gs pos="100000">
                  <a:schemeClr val="accent1">
                    <a:lumMod val="40000"/>
                    <a:lumOff val="60000"/>
                    <a:alpha val="61000"/>
                  </a:schemeClr>
                </a:gs>
              </a:gsLst>
              <a:lin ang="16200000" scaled="1"/>
            </a:gradFill>
            <a:ln>
              <a:noFill/>
            </a:ln>
            <a:effectLst/>
          </c:spPr>
          <c:cat>
            <c:numRef>
              <c:f>Sheet1!$A$2:$A$6</c:f>
              <c:numCache>
                <c:formatCode>General</c:formatCode>
                <c:ptCount val="5"/>
                <c:pt idx="0">
                  <c:v>21</c:v>
                </c:pt>
                <c:pt idx="1">
                  <c:v>22</c:v>
                </c:pt>
                <c:pt idx="2">
                  <c:v>23</c:v>
                </c:pt>
                <c:pt idx="3">
                  <c:v>24</c:v>
                </c:pt>
                <c:pt idx="4">
                  <c:v>25</c:v>
                </c:pt>
              </c:numCache>
            </c:numRef>
          </c:cat>
          <c:val>
            <c:numRef>
              <c:f>Sheet1!$C$2:$C$6</c:f>
              <c:numCache>
                <c:formatCode>General</c:formatCode>
                <c:ptCount val="5"/>
                <c:pt idx="0">
                  <c:v>600</c:v>
                </c:pt>
                <c:pt idx="1">
                  <c:v>700</c:v>
                </c:pt>
                <c:pt idx="2">
                  <c:v>200</c:v>
                </c:pt>
                <c:pt idx="3">
                  <c:v>500</c:v>
                </c:pt>
                <c:pt idx="4">
                  <c:v>600</c:v>
                </c:pt>
              </c:numCache>
            </c:numRef>
          </c:val>
          <c:extLst>
            <c:ext xmlns:c16="http://schemas.microsoft.com/office/drawing/2014/chart" uri="{C3380CC4-5D6E-409C-BE32-E72D297353CC}">
              <c16:uniqueId val="{00000000-D778-4869-A4CD-324852CE7B3A}"/>
            </c:ext>
          </c:extLst>
        </c:ser>
        <c:dLbls>
          <c:showLegendKey val="0"/>
          <c:showVal val="0"/>
          <c:showCatName val="0"/>
          <c:showSerName val="0"/>
          <c:showPercent val="0"/>
          <c:showBubbleSize val="0"/>
        </c:dLbls>
        <c:axId val="417830703"/>
        <c:axId val="417825903"/>
      </c:areaChart>
      <c:lineChart>
        <c:grouping val="standard"/>
        <c:varyColors val="0"/>
        <c:ser>
          <c:idx val="0"/>
          <c:order val="0"/>
          <c:tx>
            <c:strRef>
              <c:f>Sheet1!$B$1</c:f>
              <c:strCache>
                <c:ptCount val="1"/>
                <c:pt idx="0">
                  <c:v>历史数据</c:v>
                </c:pt>
              </c:strCache>
            </c:strRef>
          </c:tx>
          <c:spPr>
            <a:ln w="28575" cap="rnd">
              <a:solidFill>
                <a:schemeClr val="accent1">
                  <a:lumMod val="40000"/>
                  <a:lumOff val="60000"/>
                </a:schemeClr>
              </a:solidFill>
              <a:round/>
            </a:ln>
            <a:effectLst/>
          </c:spPr>
          <c:marker>
            <c:symbol val="none"/>
          </c:marker>
          <c:cat>
            <c:numRef>
              <c:f>Sheet1!$A$2:$A$6</c:f>
              <c:numCache>
                <c:formatCode>General</c:formatCode>
                <c:ptCount val="5"/>
                <c:pt idx="0">
                  <c:v>21</c:v>
                </c:pt>
                <c:pt idx="1">
                  <c:v>22</c:v>
                </c:pt>
                <c:pt idx="2">
                  <c:v>23</c:v>
                </c:pt>
                <c:pt idx="3">
                  <c:v>24</c:v>
                </c:pt>
                <c:pt idx="4">
                  <c:v>25</c:v>
                </c:pt>
              </c:numCache>
            </c:numRef>
          </c:cat>
          <c:val>
            <c:numRef>
              <c:f>Sheet1!$B$2:$B$6</c:f>
              <c:numCache>
                <c:formatCode>General</c:formatCode>
                <c:ptCount val="5"/>
                <c:pt idx="0">
                  <c:v>600</c:v>
                </c:pt>
                <c:pt idx="1">
                  <c:v>700</c:v>
                </c:pt>
                <c:pt idx="2">
                  <c:v>200</c:v>
                </c:pt>
                <c:pt idx="3">
                  <c:v>500</c:v>
                </c:pt>
                <c:pt idx="4">
                  <c:v>600</c:v>
                </c:pt>
              </c:numCache>
            </c:numRef>
          </c:val>
          <c:smooth val="0"/>
          <c:extLst>
            <c:ext xmlns:c16="http://schemas.microsoft.com/office/drawing/2014/chart" uri="{C3380CC4-5D6E-409C-BE32-E72D297353CC}">
              <c16:uniqueId val="{00000001-D778-4869-A4CD-324852CE7B3A}"/>
            </c:ext>
          </c:extLst>
        </c:ser>
        <c:dLbls>
          <c:showLegendKey val="0"/>
          <c:showVal val="0"/>
          <c:showCatName val="0"/>
          <c:showSerName val="0"/>
          <c:showPercent val="0"/>
          <c:showBubbleSize val="0"/>
        </c:dLbls>
        <c:marker val="1"/>
        <c:smooth val="0"/>
        <c:axId val="417830703"/>
        <c:axId val="417825903"/>
      </c:lineChart>
      <c:catAx>
        <c:axId val="417830703"/>
        <c:scaling>
          <c:orientation val="minMax"/>
        </c:scaling>
        <c:delete val="1"/>
        <c:axPos val="b"/>
        <c:numFmt formatCode="General" sourceLinked="1"/>
        <c:majorTickMark val="none"/>
        <c:minorTickMark val="none"/>
        <c:tickLblPos val="nextTo"/>
        <c:crossAx val="417825903"/>
        <c:crosses val="autoZero"/>
        <c:auto val="1"/>
        <c:lblAlgn val="ctr"/>
        <c:lblOffset val="100"/>
        <c:noMultiLvlLbl val="0"/>
      </c:catAx>
      <c:valAx>
        <c:axId val="417825903"/>
        <c:scaling>
          <c:orientation val="minMax"/>
        </c:scaling>
        <c:delete val="1"/>
        <c:axPos val="l"/>
        <c:numFmt formatCode="General" sourceLinked="1"/>
        <c:majorTickMark val="out"/>
        <c:minorTickMark val="none"/>
        <c:tickLblPos val="nextTo"/>
        <c:crossAx val="4178307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2771385866731551E-2"/>
          <c:y val="8.1911637015352784E-2"/>
          <c:w val="0.91722861413326862"/>
          <c:h val="0.88013489621166763"/>
        </c:manualLayout>
      </c:layout>
      <c:areaChart>
        <c:grouping val="standard"/>
        <c:varyColors val="0"/>
        <c:ser>
          <c:idx val="1"/>
          <c:order val="1"/>
          <c:tx>
            <c:strRef>
              <c:f>Sheet1!$C$1</c:f>
              <c:strCache>
                <c:ptCount val="1"/>
                <c:pt idx="0">
                  <c:v>历史数据2</c:v>
                </c:pt>
              </c:strCache>
            </c:strRef>
          </c:tx>
          <c:spPr>
            <a:gradFill>
              <a:gsLst>
                <a:gs pos="0">
                  <a:schemeClr val="bg1">
                    <a:alpha val="0"/>
                  </a:schemeClr>
                </a:gs>
                <a:gs pos="100000">
                  <a:schemeClr val="accent2">
                    <a:lumMod val="60000"/>
                    <a:lumOff val="40000"/>
                  </a:schemeClr>
                </a:gs>
              </a:gsLst>
              <a:lin ang="16200000" scaled="1"/>
            </a:gradFill>
            <a:ln>
              <a:noFill/>
            </a:ln>
            <a:effectLst/>
          </c:spPr>
          <c:cat>
            <c:numRef>
              <c:f>Sheet1!$A$2:$A$6</c:f>
              <c:numCache>
                <c:formatCode>General</c:formatCode>
                <c:ptCount val="5"/>
                <c:pt idx="0">
                  <c:v>21</c:v>
                </c:pt>
                <c:pt idx="1">
                  <c:v>22</c:v>
                </c:pt>
                <c:pt idx="2">
                  <c:v>23</c:v>
                </c:pt>
                <c:pt idx="3">
                  <c:v>24</c:v>
                </c:pt>
                <c:pt idx="4">
                  <c:v>25</c:v>
                </c:pt>
              </c:numCache>
            </c:numRef>
          </c:cat>
          <c:val>
            <c:numRef>
              <c:f>Sheet1!$C$2:$C$6</c:f>
              <c:numCache>
                <c:formatCode>General</c:formatCode>
                <c:ptCount val="5"/>
                <c:pt idx="0">
                  <c:v>0.86</c:v>
                </c:pt>
                <c:pt idx="1">
                  <c:v>0.82</c:v>
                </c:pt>
                <c:pt idx="2">
                  <c:v>0.85</c:v>
                </c:pt>
                <c:pt idx="3">
                  <c:v>0.85</c:v>
                </c:pt>
                <c:pt idx="4">
                  <c:v>0.86</c:v>
                </c:pt>
              </c:numCache>
            </c:numRef>
          </c:val>
          <c:extLst>
            <c:ext xmlns:c16="http://schemas.microsoft.com/office/drawing/2014/chart" uri="{C3380CC4-5D6E-409C-BE32-E72D297353CC}">
              <c16:uniqueId val="{00000000-B739-4921-B01F-9D98B1B7BA3A}"/>
            </c:ext>
          </c:extLst>
        </c:ser>
        <c:dLbls>
          <c:showLegendKey val="0"/>
          <c:showVal val="0"/>
          <c:showCatName val="0"/>
          <c:showSerName val="0"/>
          <c:showPercent val="0"/>
          <c:showBubbleSize val="0"/>
        </c:dLbls>
        <c:axId val="417830703"/>
        <c:axId val="417825903"/>
      </c:areaChart>
      <c:lineChart>
        <c:grouping val="standard"/>
        <c:varyColors val="0"/>
        <c:ser>
          <c:idx val="0"/>
          <c:order val="0"/>
          <c:tx>
            <c:strRef>
              <c:f>Sheet1!$B$1</c:f>
              <c:strCache>
                <c:ptCount val="1"/>
                <c:pt idx="0">
                  <c:v>历史数据</c:v>
                </c:pt>
              </c:strCache>
            </c:strRef>
          </c:tx>
          <c:spPr>
            <a:ln w="28575" cap="rnd">
              <a:solidFill>
                <a:schemeClr val="accent2"/>
              </a:solidFill>
              <a:round/>
            </a:ln>
            <a:effectLst/>
          </c:spPr>
          <c:marker>
            <c:symbol val="none"/>
          </c:marker>
          <c:cat>
            <c:numRef>
              <c:f>Sheet1!$A$2:$A$6</c:f>
              <c:numCache>
                <c:formatCode>General</c:formatCode>
                <c:ptCount val="5"/>
                <c:pt idx="0">
                  <c:v>21</c:v>
                </c:pt>
                <c:pt idx="1">
                  <c:v>22</c:v>
                </c:pt>
                <c:pt idx="2">
                  <c:v>23</c:v>
                </c:pt>
                <c:pt idx="3">
                  <c:v>24</c:v>
                </c:pt>
                <c:pt idx="4">
                  <c:v>25</c:v>
                </c:pt>
              </c:numCache>
            </c:numRef>
          </c:cat>
          <c:val>
            <c:numRef>
              <c:f>Sheet1!$B$2:$B$6</c:f>
              <c:numCache>
                <c:formatCode>0%</c:formatCode>
                <c:ptCount val="5"/>
                <c:pt idx="0">
                  <c:v>0.86</c:v>
                </c:pt>
                <c:pt idx="1">
                  <c:v>0.82</c:v>
                </c:pt>
                <c:pt idx="2">
                  <c:v>0.85</c:v>
                </c:pt>
                <c:pt idx="3">
                  <c:v>0.85</c:v>
                </c:pt>
                <c:pt idx="4">
                  <c:v>0.86</c:v>
                </c:pt>
              </c:numCache>
            </c:numRef>
          </c:val>
          <c:smooth val="0"/>
          <c:extLst>
            <c:ext xmlns:c16="http://schemas.microsoft.com/office/drawing/2014/chart" uri="{C3380CC4-5D6E-409C-BE32-E72D297353CC}">
              <c16:uniqueId val="{00000001-B739-4921-B01F-9D98B1B7BA3A}"/>
            </c:ext>
          </c:extLst>
        </c:ser>
        <c:dLbls>
          <c:showLegendKey val="0"/>
          <c:showVal val="0"/>
          <c:showCatName val="0"/>
          <c:showSerName val="0"/>
          <c:showPercent val="0"/>
          <c:showBubbleSize val="0"/>
        </c:dLbls>
        <c:marker val="1"/>
        <c:smooth val="0"/>
        <c:axId val="417830703"/>
        <c:axId val="417825903"/>
      </c:lineChart>
      <c:catAx>
        <c:axId val="417830703"/>
        <c:scaling>
          <c:orientation val="minMax"/>
        </c:scaling>
        <c:delete val="1"/>
        <c:axPos val="b"/>
        <c:numFmt formatCode="General" sourceLinked="1"/>
        <c:majorTickMark val="none"/>
        <c:minorTickMark val="none"/>
        <c:tickLblPos val="nextTo"/>
        <c:crossAx val="417825903"/>
        <c:crosses val="autoZero"/>
        <c:auto val="1"/>
        <c:lblAlgn val="ctr"/>
        <c:lblOffset val="100"/>
        <c:noMultiLvlLbl val="0"/>
      </c:catAx>
      <c:valAx>
        <c:axId val="417825903"/>
        <c:scaling>
          <c:orientation val="minMax"/>
        </c:scaling>
        <c:delete val="1"/>
        <c:axPos val="l"/>
        <c:numFmt formatCode="General" sourceLinked="1"/>
        <c:majorTickMark val="out"/>
        <c:minorTickMark val="none"/>
        <c:tickLblPos val="nextTo"/>
        <c:crossAx val="4178307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2771385866731551E-2"/>
          <c:y val="8.1911637015352784E-2"/>
          <c:w val="0.91722861413326862"/>
          <c:h val="0.88013489621166763"/>
        </c:manualLayout>
      </c:layout>
      <c:areaChart>
        <c:grouping val="standard"/>
        <c:varyColors val="0"/>
        <c:ser>
          <c:idx val="1"/>
          <c:order val="1"/>
          <c:tx>
            <c:strRef>
              <c:f>Sheet1!$C$1</c:f>
              <c:strCache>
                <c:ptCount val="1"/>
                <c:pt idx="0">
                  <c:v>历史数据2</c:v>
                </c:pt>
              </c:strCache>
            </c:strRef>
          </c:tx>
          <c:spPr>
            <a:gradFill>
              <a:gsLst>
                <a:gs pos="0">
                  <a:schemeClr val="bg1">
                    <a:alpha val="0"/>
                  </a:schemeClr>
                </a:gs>
                <a:gs pos="100000">
                  <a:schemeClr val="accent4">
                    <a:lumMod val="60000"/>
                    <a:lumOff val="40000"/>
                    <a:alpha val="64000"/>
                  </a:schemeClr>
                </a:gs>
              </a:gsLst>
              <a:lin ang="16200000" scaled="1"/>
            </a:gradFill>
            <a:ln>
              <a:noFill/>
            </a:ln>
            <a:effectLst/>
          </c:spPr>
          <c:cat>
            <c:numRef>
              <c:f>Sheet1!$A$2:$A$6</c:f>
              <c:numCache>
                <c:formatCode>General</c:formatCode>
                <c:ptCount val="5"/>
                <c:pt idx="0">
                  <c:v>21</c:v>
                </c:pt>
                <c:pt idx="1">
                  <c:v>22</c:v>
                </c:pt>
                <c:pt idx="2">
                  <c:v>23</c:v>
                </c:pt>
                <c:pt idx="3">
                  <c:v>24</c:v>
                </c:pt>
                <c:pt idx="4">
                  <c:v>25</c:v>
                </c:pt>
              </c:numCache>
            </c:numRef>
          </c:cat>
          <c:val>
            <c:numRef>
              <c:f>Sheet1!$C$2:$C$6</c:f>
              <c:numCache>
                <c:formatCode>General</c:formatCode>
                <c:ptCount val="5"/>
                <c:pt idx="0">
                  <c:v>0.75</c:v>
                </c:pt>
                <c:pt idx="1">
                  <c:v>0.65</c:v>
                </c:pt>
                <c:pt idx="2">
                  <c:v>0.8</c:v>
                </c:pt>
                <c:pt idx="3">
                  <c:v>0.79</c:v>
                </c:pt>
                <c:pt idx="4">
                  <c:v>0.77</c:v>
                </c:pt>
              </c:numCache>
            </c:numRef>
          </c:val>
          <c:extLst>
            <c:ext xmlns:c16="http://schemas.microsoft.com/office/drawing/2014/chart" uri="{C3380CC4-5D6E-409C-BE32-E72D297353CC}">
              <c16:uniqueId val="{00000000-E3B4-45CC-80AD-0E20570D29DE}"/>
            </c:ext>
          </c:extLst>
        </c:ser>
        <c:dLbls>
          <c:showLegendKey val="0"/>
          <c:showVal val="0"/>
          <c:showCatName val="0"/>
          <c:showSerName val="0"/>
          <c:showPercent val="0"/>
          <c:showBubbleSize val="0"/>
        </c:dLbls>
        <c:axId val="417830703"/>
        <c:axId val="417825903"/>
      </c:areaChart>
      <c:lineChart>
        <c:grouping val="standard"/>
        <c:varyColors val="0"/>
        <c:ser>
          <c:idx val="0"/>
          <c:order val="0"/>
          <c:tx>
            <c:strRef>
              <c:f>Sheet1!$B$1</c:f>
              <c:strCache>
                <c:ptCount val="1"/>
                <c:pt idx="0">
                  <c:v>历史数据</c:v>
                </c:pt>
              </c:strCache>
            </c:strRef>
          </c:tx>
          <c:spPr>
            <a:ln w="28575" cap="rnd">
              <a:solidFill>
                <a:schemeClr val="accent4"/>
              </a:solidFill>
              <a:round/>
            </a:ln>
            <a:effectLst/>
          </c:spPr>
          <c:marker>
            <c:symbol val="none"/>
          </c:marker>
          <c:cat>
            <c:numRef>
              <c:f>Sheet1!$A$2:$A$6</c:f>
              <c:numCache>
                <c:formatCode>General</c:formatCode>
                <c:ptCount val="5"/>
                <c:pt idx="0">
                  <c:v>21</c:v>
                </c:pt>
                <c:pt idx="1">
                  <c:v>22</c:v>
                </c:pt>
                <c:pt idx="2">
                  <c:v>23</c:v>
                </c:pt>
                <c:pt idx="3">
                  <c:v>24</c:v>
                </c:pt>
                <c:pt idx="4">
                  <c:v>25</c:v>
                </c:pt>
              </c:numCache>
            </c:numRef>
          </c:cat>
          <c:val>
            <c:numRef>
              <c:f>Sheet1!$B$2:$B$6</c:f>
              <c:numCache>
                <c:formatCode>0%</c:formatCode>
                <c:ptCount val="5"/>
                <c:pt idx="0">
                  <c:v>0.75</c:v>
                </c:pt>
                <c:pt idx="1">
                  <c:v>0.65</c:v>
                </c:pt>
                <c:pt idx="2">
                  <c:v>0.8</c:v>
                </c:pt>
                <c:pt idx="3">
                  <c:v>0.79</c:v>
                </c:pt>
                <c:pt idx="4">
                  <c:v>0.77</c:v>
                </c:pt>
              </c:numCache>
            </c:numRef>
          </c:val>
          <c:smooth val="0"/>
          <c:extLst>
            <c:ext xmlns:c16="http://schemas.microsoft.com/office/drawing/2014/chart" uri="{C3380CC4-5D6E-409C-BE32-E72D297353CC}">
              <c16:uniqueId val="{00000001-E3B4-45CC-80AD-0E20570D29DE}"/>
            </c:ext>
          </c:extLst>
        </c:ser>
        <c:dLbls>
          <c:showLegendKey val="0"/>
          <c:showVal val="0"/>
          <c:showCatName val="0"/>
          <c:showSerName val="0"/>
          <c:showPercent val="0"/>
          <c:showBubbleSize val="0"/>
        </c:dLbls>
        <c:marker val="1"/>
        <c:smooth val="0"/>
        <c:axId val="417830703"/>
        <c:axId val="417825903"/>
      </c:lineChart>
      <c:catAx>
        <c:axId val="417830703"/>
        <c:scaling>
          <c:orientation val="minMax"/>
        </c:scaling>
        <c:delete val="1"/>
        <c:axPos val="b"/>
        <c:numFmt formatCode="General" sourceLinked="1"/>
        <c:majorTickMark val="none"/>
        <c:minorTickMark val="none"/>
        <c:tickLblPos val="nextTo"/>
        <c:crossAx val="417825903"/>
        <c:crosses val="autoZero"/>
        <c:auto val="1"/>
        <c:lblAlgn val="ctr"/>
        <c:lblOffset val="100"/>
        <c:noMultiLvlLbl val="0"/>
      </c:catAx>
      <c:valAx>
        <c:axId val="417825903"/>
        <c:scaling>
          <c:orientation val="minMax"/>
        </c:scaling>
        <c:delete val="1"/>
        <c:axPos val="l"/>
        <c:numFmt formatCode="General" sourceLinked="1"/>
        <c:majorTickMark val="out"/>
        <c:minorTickMark val="none"/>
        <c:tickLblPos val="nextTo"/>
        <c:crossAx val="4178307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8BB365-6861-4087-9310-EBAEE6F53765}" type="datetimeFigureOut">
              <a:rPr lang="zh-CN" altLang="en-US" smtClean="0"/>
              <a:t>2025/9/13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3147CB-87DA-4596-B792-5552788D8052}" type="slidenum">
              <a:rPr lang="zh-CN" altLang="en-US" smtClean="0"/>
              <a:t>‹#›</a:t>
            </a:fld>
            <a:endParaRPr lang="zh-CN" altLang="en-US"/>
          </a:p>
        </p:txBody>
      </p:sp>
    </p:spTree>
    <p:extLst>
      <p:ext uri="{BB962C8B-B14F-4D97-AF65-F5344CB8AC3E}">
        <p14:creationId xmlns:p14="http://schemas.microsoft.com/office/powerpoint/2010/main" val="4103891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F9E1B693-632D-4080-9CF6-EA28B66DC801}" type="slidenum">
              <a:rPr lang="zh-CN" altLang="en-US" smtClean="0"/>
              <a:t>4</a:t>
            </a:fld>
            <a:endParaRPr lang="zh-CN" altLang="en-US"/>
          </a:p>
        </p:txBody>
      </p:sp>
    </p:spTree>
    <p:extLst>
      <p:ext uri="{BB962C8B-B14F-4D97-AF65-F5344CB8AC3E}">
        <p14:creationId xmlns:p14="http://schemas.microsoft.com/office/powerpoint/2010/main" val="29893762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EC0D08F-9AAF-4B9E-AA1D-041E5B6F0D61}" type="slidenum">
              <a:rPr lang="zh-CN" altLang="en-US" smtClean="0"/>
              <a:t>5</a:t>
            </a:fld>
            <a:endParaRPr lang="zh-CN" altLang="en-US"/>
          </a:p>
        </p:txBody>
      </p:sp>
    </p:spTree>
    <p:extLst>
      <p:ext uri="{BB962C8B-B14F-4D97-AF65-F5344CB8AC3E}">
        <p14:creationId xmlns:p14="http://schemas.microsoft.com/office/powerpoint/2010/main" val="3821575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EC0D08F-9AAF-4B9E-AA1D-041E5B6F0D61}" type="slidenum">
              <a:rPr lang="zh-CN" altLang="en-US" smtClean="0"/>
              <a:t>6</a:t>
            </a:fld>
            <a:endParaRPr lang="zh-CN" altLang="en-US"/>
          </a:p>
        </p:txBody>
      </p:sp>
    </p:spTree>
    <p:extLst>
      <p:ext uri="{BB962C8B-B14F-4D97-AF65-F5344CB8AC3E}">
        <p14:creationId xmlns:p14="http://schemas.microsoft.com/office/powerpoint/2010/main" val="2431111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10954F8-11AE-445D-8361-1F90E3539DE0}" type="slidenum">
              <a:rPr lang="zh-CN" altLang="en-US" smtClean="0"/>
              <a:t>9</a:t>
            </a:fld>
            <a:endParaRPr lang="zh-CN" altLang="en-US"/>
          </a:p>
        </p:txBody>
      </p:sp>
    </p:spTree>
    <p:extLst>
      <p:ext uri="{BB962C8B-B14F-4D97-AF65-F5344CB8AC3E}">
        <p14:creationId xmlns:p14="http://schemas.microsoft.com/office/powerpoint/2010/main" val="693219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spcAft>
                <a:spcPts val="600"/>
              </a:spcAft>
              <a:buNone/>
            </a:pPr>
            <a:r>
              <a:rPr lang="en-US" altLang="zh-CN" sz="1400" b="1" i="0">
                <a:solidFill>
                  <a:srgbClr val="0F1115"/>
                </a:solidFill>
                <a:effectLst/>
                <a:latin typeface="quote-cjk-patch"/>
              </a:rPr>
              <a:t>2025</a:t>
            </a:r>
            <a:r>
              <a:rPr lang="zh-CN" altLang="en-US" sz="1400" b="1" i="0">
                <a:solidFill>
                  <a:srgbClr val="0F1115"/>
                </a:solidFill>
                <a:effectLst/>
                <a:latin typeface="quote-cjk-patch"/>
              </a:rPr>
              <a:t>年回顾与绩效分析 </a:t>
            </a:r>
            <a:r>
              <a:rPr lang="en-US" altLang="zh-CN" sz="1400" b="1" i="0">
                <a:solidFill>
                  <a:srgbClr val="0F1115"/>
                </a:solidFill>
                <a:effectLst/>
                <a:latin typeface="quote-cjk-patch"/>
              </a:rPr>
              <a:t>(</a:t>
            </a:r>
            <a:r>
              <a:rPr lang="zh-CN" altLang="en-US" sz="1400" b="1" i="0">
                <a:solidFill>
                  <a:srgbClr val="0F1115"/>
                </a:solidFill>
                <a:effectLst/>
                <a:latin typeface="quote-cjk-patch"/>
              </a:rPr>
              <a:t>立足现在</a:t>
            </a:r>
            <a:r>
              <a:rPr lang="en-US" altLang="zh-CN" sz="1400" b="1" i="0">
                <a:solidFill>
                  <a:srgbClr val="0F1115"/>
                </a:solidFill>
                <a:effectLst/>
                <a:latin typeface="quote-cjk-patch"/>
              </a:rPr>
              <a:t>)</a:t>
            </a:r>
            <a:endParaRPr lang="zh-CN" altLang="en-US" sz="1400" b="0" i="0">
              <a:solidFill>
                <a:srgbClr val="0F1115"/>
              </a:solidFill>
              <a:effectLst/>
              <a:latin typeface="quote-cjk-patch"/>
            </a:endParaRPr>
          </a:p>
          <a:p>
            <a:pPr algn="l">
              <a:spcBef>
                <a:spcPts val="300"/>
              </a:spcBef>
              <a:buFont typeface="Arial" panose="020B0604020202020204" pitchFamily="34" charset="0"/>
              <a:buChar char="•"/>
            </a:pPr>
            <a:r>
              <a:rPr lang="zh-CN" altLang="en-US" sz="1400" b="1" i="0">
                <a:solidFill>
                  <a:srgbClr val="0F1115"/>
                </a:solidFill>
                <a:effectLst/>
                <a:latin typeface="quote-cjk-patch"/>
              </a:rPr>
              <a:t>目的：</a:t>
            </a:r>
            <a:r>
              <a:rPr lang="zh-CN" altLang="en-US" sz="1400" b="0" i="0">
                <a:solidFill>
                  <a:srgbClr val="0F1115"/>
                </a:solidFill>
                <a:effectLst/>
                <a:latin typeface="quote-cjk-patch"/>
              </a:rPr>
              <a:t> 展示历史业绩，为</a:t>
            </a:r>
            <a:r>
              <a:rPr lang="en-US" altLang="zh-CN" sz="1400" b="0" i="0">
                <a:solidFill>
                  <a:srgbClr val="0F1115"/>
                </a:solidFill>
                <a:effectLst/>
                <a:latin typeface="quote-cjk-patch"/>
              </a:rPr>
              <a:t>2026</a:t>
            </a:r>
            <a:r>
              <a:rPr lang="zh-CN" altLang="en-US" sz="1400" b="0" i="0">
                <a:solidFill>
                  <a:srgbClr val="0F1115"/>
                </a:solidFill>
                <a:effectLst/>
                <a:latin typeface="quote-cjk-patch"/>
              </a:rPr>
              <a:t>年预算提供基准和依据。</a:t>
            </a:r>
          </a:p>
          <a:p>
            <a:pPr algn="l">
              <a:spcBef>
                <a:spcPts val="450"/>
              </a:spcBef>
              <a:spcAft>
                <a:spcPts val="600"/>
              </a:spcAft>
              <a:buFont typeface="Arial" panose="020B0604020202020204" pitchFamily="34" charset="0"/>
              <a:buChar char="•"/>
            </a:pPr>
            <a:r>
              <a:rPr lang="zh-CN" altLang="en-US" sz="1400" b="1" i="0">
                <a:solidFill>
                  <a:srgbClr val="0F1115"/>
                </a:solidFill>
                <a:effectLst/>
                <a:latin typeface="quote-cjk-patch"/>
              </a:rPr>
              <a:t>关键内容：</a:t>
            </a:r>
            <a:endParaRPr lang="zh-CN" altLang="en-US" sz="1400" b="0" i="0">
              <a:solidFill>
                <a:srgbClr val="0F1115"/>
              </a:solidFill>
              <a:effectLst/>
              <a:latin typeface="quote-cjk-patch"/>
            </a:endParaRPr>
          </a:p>
          <a:p>
            <a:pPr marL="742950" lvl="1" indent="-285750" algn="l">
              <a:spcBef>
                <a:spcPts val="300"/>
              </a:spcBef>
              <a:buFont typeface="Arial" panose="020B0604020202020204" pitchFamily="34" charset="0"/>
              <a:buChar char="•"/>
            </a:pPr>
            <a:r>
              <a:rPr lang="zh-CN" altLang="en-US" sz="1400" b="1" i="0">
                <a:solidFill>
                  <a:srgbClr val="0F1115"/>
                </a:solidFill>
                <a:effectLst/>
                <a:latin typeface="quote-cjk-patch"/>
              </a:rPr>
              <a:t>财务业绩</a:t>
            </a:r>
            <a:r>
              <a:rPr lang="en-US" altLang="zh-CN" sz="1400" b="1" i="0">
                <a:solidFill>
                  <a:srgbClr val="0F1115"/>
                </a:solidFill>
                <a:effectLst/>
                <a:latin typeface="quote-cjk-patch"/>
              </a:rPr>
              <a:t>vs.</a:t>
            </a:r>
            <a:r>
              <a:rPr lang="zh-CN" altLang="en-US" sz="1400" b="1" i="0">
                <a:solidFill>
                  <a:srgbClr val="0F1115"/>
                </a:solidFill>
                <a:effectLst/>
                <a:latin typeface="quote-cjk-patch"/>
              </a:rPr>
              <a:t>预算：</a:t>
            </a:r>
            <a:r>
              <a:rPr lang="zh-CN" altLang="en-US" sz="1400" b="0" i="0">
                <a:solidFill>
                  <a:srgbClr val="0F1115"/>
                </a:solidFill>
                <a:effectLst/>
                <a:latin typeface="quote-cjk-patch"/>
              </a:rPr>
              <a:t> 对比</a:t>
            </a:r>
            <a:r>
              <a:rPr lang="en-US" altLang="zh-CN" sz="1400" b="0" i="0">
                <a:solidFill>
                  <a:srgbClr val="0F1115"/>
                </a:solidFill>
                <a:effectLst/>
                <a:latin typeface="quote-cjk-patch"/>
              </a:rPr>
              <a:t>2025</a:t>
            </a:r>
            <a:r>
              <a:rPr lang="zh-CN" altLang="en-US" sz="1400" b="0" i="0">
                <a:solidFill>
                  <a:srgbClr val="0F1115"/>
                </a:solidFill>
                <a:effectLst/>
                <a:latin typeface="quote-cjk-patch"/>
              </a:rPr>
              <a:t>年实际收入、利润、各项费用与预算的差异（可用图表清晰展示）。</a:t>
            </a:r>
          </a:p>
          <a:p>
            <a:pPr marL="742950" lvl="1" indent="-285750" algn="l">
              <a:spcBef>
                <a:spcPts val="450"/>
              </a:spcBef>
              <a:buFont typeface="Arial" panose="020B0604020202020204" pitchFamily="34" charset="0"/>
              <a:buChar char="•"/>
            </a:pPr>
            <a:r>
              <a:rPr lang="zh-CN" altLang="en-US" sz="1400" b="1" i="0">
                <a:solidFill>
                  <a:srgbClr val="0F1115"/>
                </a:solidFill>
                <a:effectLst/>
                <a:latin typeface="quote-cjk-patch"/>
              </a:rPr>
              <a:t>亮点分析：</a:t>
            </a:r>
            <a:r>
              <a:rPr lang="zh-CN" altLang="en-US" sz="1400" b="0" i="0">
                <a:solidFill>
                  <a:srgbClr val="0F1115"/>
                </a:solidFill>
                <a:effectLst/>
                <a:latin typeface="quote-cjk-patch"/>
              </a:rPr>
              <a:t> 哪些方面做得好？为什么？（如：某产品线超预期、成本控制有效）</a:t>
            </a:r>
          </a:p>
          <a:p>
            <a:pPr marL="742950" lvl="1" indent="-285750" algn="l">
              <a:spcBef>
                <a:spcPts val="450"/>
              </a:spcBef>
              <a:buFont typeface="Arial" panose="020B0604020202020204" pitchFamily="34" charset="0"/>
              <a:buChar char="•"/>
            </a:pPr>
            <a:r>
              <a:rPr lang="zh-CN" altLang="en-US" sz="1400" b="1" i="0">
                <a:solidFill>
                  <a:srgbClr val="0F1115"/>
                </a:solidFill>
                <a:effectLst/>
                <a:latin typeface="quote-cjk-patch"/>
              </a:rPr>
              <a:t>不足分析：</a:t>
            </a:r>
            <a:r>
              <a:rPr lang="zh-CN" altLang="en-US" sz="1400" b="0" i="0">
                <a:solidFill>
                  <a:srgbClr val="0F1115"/>
                </a:solidFill>
                <a:effectLst/>
                <a:latin typeface="quote-cjk-patch"/>
              </a:rPr>
              <a:t> 哪些方面未达预期？根本原因是什么？（如：市场费用效率低、项目延期导致成本超支）</a:t>
            </a:r>
          </a:p>
          <a:p>
            <a:pPr marL="742950" lvl="1" indent="-285750" algn="l">
              <a:spcBef>
                <a:spcPts val="450"/>
              </a:spcBef>
              <a:buFont typeface="Arial" panose="020B0604020202020204" pitchFamily="34" charset="0"/>
              <a:buChar char="•"/>
            </a:pPr>
            <a:r>
              <a:rPr lang="zh-CN" altLang="en-US" sz="1400" b="1" i="0">
                <a:solidFill>
                  <a:srgbClr val="0F1115"/>
                </a:solidFill>
                <a:effectLst/>
                <a:latin typeface="quote-cjk-patch"/>
              </a:rPr>
              <a:t>经验教训：</a:t>
            </a:r>
            <a:r>
              <a:rPr lang="zh-CN" altLang="en-US" sz="1400" b="0" i="0">
                <a:solidFill>
                  <a:srgbClr val="0F1115"/>
                </a:solidFill>
                <a:effectLst/>
                <a:latin typeface="quote-cjk-patch"/>
              </a:rPr>
              <a:t> 从</a:t>
            </a:r>
            <a:r>
              <a:rPr lang="en-US" altLang="zh-CN" sz="1400" b="0" i="0">
                <a:solidFill>
                  <a:srgbClr val="0F1115"/>
                </a:solidFill>
                <a:effectLst/>
                <a:latin typeface="quote-cjk-patch"/>
              </a:rPr>
              <a:t>2025</a:t>
            </a:r>
            <a:r>
              <a:rPr lang="zh-CN" altLang="en-US" sz="1400" b="0" i="0">
                <a:solidFill>
                  <a:srgbClr val="0F1115"/>
                </a:solidFill>
                <a:effectLst/>
                <a:latin typeface="quote-cjk-patch"/>
              </a:rPr>
              <a:t>年运营中得出的，对</a:t>
            </a:r>
            <a:r>
              <a:rPr lang="en-US" altLang="zh-CN" sz="1400" b="0" i="0">
                <a:solidFill>
                  <a:srgbClr val="0F1115"/>
                </a:solidFill>
                <a:effectLst/>
                <a:latin typeface="quote-cjk-patch"/>
              </a:rPr>
              <a:t>2026</a:t>
            </a:r>
            <a:r>
              <a:rPr lang="zh-CN" altLang="en-US" sz="1400" b="0" i="0">
                <a:solidFill>
                  <a:srgbClr val="0F1115"/>
                </a:solidFill>
                <a:effectLst/>
                <a:latin typeface="quote-cjk-patch"/>
              </a:rPr>
              <a:t>年预算编制的启示。</a:t>
            </a:r>
          </a:p>
          <a:p>
            <a:endParaRPr lang="zh-CN" altLang="en-US"/>
          </a:p>
        </p:txBody>
      </p:sp>
      <p:sp>
        <p:nvSpPr>
          <p:cNvPr id="4" name="灯片编号占位符 3"/>
          <p:cNvSpPr>
            <a:spLocks noGrp="1"/>
          </p:cNvSpPr>
          <p:nvPr>
            <p:ph type="sldNum" sz="quarter" idx="5"/>
          </p:nvPr>
        </p:nvSpPr>
        <p:spPr/>
        <p:txBody>
          <a:bodyPr/>
          <a:lstStyle/>
          <a:p>
            <a:fld id="{293147CB-87DA-4596-B792-5552788D8052}" type="slidenum">
              <a:rPr lang="zh-CN" altLang="en-US" smtClean="0"/>
              <a:t>11</a:t>
            </a:fld>
            <a:endParaRPr lang="zh-CN" altLang="en-US"/>
          </a:p>
        </p:txBody>
      </p:sp>
    </p:spTree>
    <p:extLst>
      <p:ext uri="{BB962C8B-B14F-4D97-AF65-F5344CB8AC3E}">
        <p14:creationId xmlns:p14="http://schemas.microsoft.com/office/powerpoint/2010/main" val="845787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spcAft>
                <a:spcPts val="600"/>
              </a:spcAft>
              <a:buNone/>
            </a:pPr>
            <a:r>
              <a:rPr lang="en-US" altLang="zh-CN" sz="1600" b="1" i="0">
                <a:solidFill>
                  <a:srgbClr val="0F1115"/>
                </a:solidFill>
                <a:effectLst/>
                <a:latin typeface="quote-cjk-patch"/>
              </a:rPr>
              <a:t>2026</a:t>
            </a:r>
            <a:r>
              <a:rPr lang="zh-CN" altLang="en-US" sz="1600" b="1" i="0">
                <a:solidFill>
                  <a:srgbClr val="0F1115"/>
                </a:solidFill>
                <a:effectLst/>
                <a:latin typeface="quote-cjk-patch"/>
              </a:rPr>
              <a:t>年战略目标与预算原则 </a:t>
            </a:r>
            <a:r>
              <a:rPr lang="en-US" altLang="zh-CN" sz="1600" b="1" i="0">
                <a:solidFill>
                  <a:srgbClr val="0F1115"/>
                </a:solidFill>
                <a:effectLst/>
                <a:latin typeface="quote-cjk-patch"/>
              </a:rPr>
              <a:t>(</a:t>
            </a:r>
            <a:r>
              <a:rPr lang="zh-CN" altLang="en-US" sz="1600" b="1" i="0">
                <a:solidFill>
                  <a:srgbClr val="0F1115"/>
                </a:solidFill>
                <a:effectLst/>
                <a:latin typeface="quote-cjk-patch"/>
              </a:rPr>
              <a:t>展望未来</a:t>
            </a:r>
            <a:r>
              <a:rPr lang="en-US" altLang="zh-CN" sz="1600" b="1" i="0">
                <a:solidFill>
                  <a:srgbClr val="0F1115"/>
                </a:solidFill>
                <a:effectLst/>
                <a:latin typeface="quote-cjk-patch"/>
              </a:rPr>
              <a:t>)</a:t>
            </a:r>
            <a:endParaRPr lang="zh-CN" altLang="en-US" sz="1600" b="0" i="0">
              <a:solidFill>
                <a:srgbClr val="0F1115"/>
              </a:solidFill>
              <a:effectLst/>
              <a:latin typeface="quote-cjk-patch"/>
            </a:endParaRPr>
          </a:p>
          <a:p>
            <a:pPr algn="l">
              <a:spcBef>
                <a:spcPts val="300"/>
              </a:spcBef>
              <a:buFont typeface="Arial" panose="020B0604020202020204" pitchFamily="34" charset="0"/>
              <a:buChar char="•"/>
            </a:pPr>
            <a:r>
              <a:rPr lang="zh-CN" altLang="en-US" sz="1600" b="1" i="0">
                <a:solidFill>
                  <a:srgbClr val="0F1115"/>
                </a:solidFill>
                <a:effectLst/>
                <a:latin typeface="quote-cjk-patch"/>
              </a:rPr>
              <a:t>目的：</a:t>
            </a:r>
            <a:r>
              <a:rPr lang="zh-CN" altLang="en-US" sz="1600" b="0" i="0">
                <a:solidFill>
                  <a:srgbClr val="0F1115"/>
                </a:solidFill>
                <a:effectLst/>
                <a:latin typeface="quote-cjk-patch"/>
              </a:rPr>
              <a:t> 明确预算如何支撑公司战略，体现预算的战略导向性。</a:t>
            </a:r>
          </a:p>
          <a:p>
            <a:pPr algn="l">
              <a:spcBef>
                <a:spcPts val="450"/>
              </a:spcBef>
              <a:spcAft>
                <a:spcPts val="600"/>
              </a:spcAft>
              <a:buFont typeface="Arial" panose="020B0604020202020204" pitchFamily="34" charset="0"/>
              <a:buChar char="•"/>
            </a:pPr>
            <a:r>
              <a:rPr lang="zh-CN" altLang="en-US" sz="1600" b="1" i="0">
                <a:solidFill>
                  <a:srgbClr val="0F1115"/>
                </a:solidFill>
                <a:effectLst/>
                <a:latin typeface="quote-cjk-patch"/>
              </a:rPr>
              <a:t>关键内容：</a:t>
            </a:r>
            <a:endParaRPr lang="zh-CN" altLang="en-US" sz="1600" b="0" i="0">
              <a:solidFill>
                <a:srgbClr val="0F1115"/>
              </a:solidFill>
              <a:effectLst/>
              <a:latin typeface="quote-cjk-patch"/>
            </a:endParaRPr>
          </a:p>
          <a:p>
            <a:pPr marL="742950" lvl="1" indent="-285750" algn="l">
              <a:spcBef>
                <a:spcPts val="300"/>
              </a:spcBef>
              <a:buFont typeface="Arial" panose="020B0604020202020204" pitchFamily="34" charset="0"/>
              <a:buChar char="•"/>
            </a:pPr>
            <a:r>
              <a:rPr lang="zh-CN" altLang="en-US" sz="1600" b="1" i="0">
                <a:solidFill>
                  <a:srgbClr val="0F1115"/>
                </a:solidFill>
                <a:effectLst/>
                <a:latin typeface="quote-cjk-patch"/>
              </a:rPr>
              <a:t>公司</a:t>
            </a:r>
            <a:r>
              <a:rPr lang="en-US" altLang="zh-CN" sz="1600" b="1" i="0">
                <a:solidFill>
                  <a:srgbClr val="0F1115"/>
                </a:solidFill>
                <a:effectLst/>
                <a:latin typeface="quote-cjk-patch"/>
              </a:rPr>
              <a:t>2026</a:t>
            </a:r>
            <a:r>
              <a:rPr lang="zh-CN" altLang="en-US" sz="1600" b="1" i="0">
                <a:solidFill>
                  <a:srgbClr val="0F1115"/>
                </a:solidFill>
                <a:effectLst/>
                <a:latin typeface="quote-cjk-patch"/>
              </a:rPr>
              <a:t>年战略重点：</a:t>
            </a:r>
            <a:r>
              <a:rPr lang="zh-CN" altLang="en-US" sz="1600" b="0" i="0">
                <a:solidFill>
                  <a:srgbClr val="0F1115"/>
                </a:solidFill>
                <a:effectLst/>
                <a:latin typeface="quote-cjk-patch"/>
              </a:rPr>
              <a:t> （例如：市场份额提升至</a:t>
            </a:r>
            <a:r>
              <a:rPr lang="en-US" altLang="zh-CN" sz="1600" b="0" i="0">
                <a:solidFill>
                  <a:srgbClr val="0F1115"/>
                </a:solidFill>
                <a:effectLst/>
                <a:latin typeface="quote-cjk-patch"/>
              </a:rPr>
              <a:t>X%</a:t>
            </a:r>
            <a:r>
              <a:rPr lang="zh-CN" altLang="en-US" sz="1600" b="0" i="0">
                <a:solidFill>
                  <a:srgbClr val="0F1115"/>
                </a:solidFill>
                <a:effectLst/>
                <a:latin typeface="quote-cjk-patch"/>
              </a:rPr>
              <a:t>、推出</a:t>
            </a:r>
            <a:r>
              <a:rPr lang="en-US" altLang="zh-CN" sz="1600" b="0" i="0">
                <a:solidFill>
                  <a:srgbClr val="0F1115"/>
                </a:solidFill>
                <a:effectLst/>
                <a:latin typeface="quote-cjk-patch"/>
              </a:rPr>
              <a:t>X</a:t>
            </a:r>
            <a:r>
              <a:rPr lang="zh-CN" altLang="en-US" sz="1600" b="0" i="0">
                <a:solidFill>
                  <a:srgbClr val="0F1115"/>
                </a:solidFill>
                <a:effectLst/>
                <a:latin typeface="quote-cjk-patch"/>
              </a:rPr>
              <a:t>款新产品、客户满意度达到</a:t>
            </a:r>
            <a:r>
              <a:rPr lang="en-US" altLang="zh-CN" sz="1600" b="0" i="0">
                <a:solidFill>
                  <a:srgbClr val="0F1115"/>
                </a:solidFill>
                <a:effectLst/>
                <a:latin typeface="quote-cjk-patch"/>
              </a:rPr>
              <a:t>X</a:t>
            </a:r>
            <a:r>
              <a:rPr lang="zh-CN" altLang="en-US" sz="1600" b="0" i="0">
                <a:solidFill>
                  <a:srgbClr val="0F1115"/>
                </a:solidFill>
                <a:effectLst/>
                <a:latin typeface="quote-cjk-patch"/>
              </a:rPr>
              <a:t>分）</a:t>
            </a:r>
          </a:p>
          <a:p>
            <a:pPr marL="742950" lvl="1" indent="-285750" algn="l">
              <a:spcBef>
                <a:spcPts val="450"/>
              </a:spcBef>
              <a:spcAft>
                <a:spcPts val="600"/>
              </a:spcAft>
              <a:buFont typeface="Arial" panose="020B0604020202020204" pitchFamily="34" charset="0"/>
              <a:buChar char="•"/>
            </a:pPr>
            <a:r>
              <a:rPr lang="zh-CN" altLang="en-US" sz="1600" b="1" i="0">
                <a:solidFill>
                  <a:srgbClr val="0F1115"/>
                </a:solidFill>
                <a:effectLst/>
                <a:latin typeface="quote-cjk-patch"/>
              </a:rPr>
              <a:t>预算编制总体原则：</a:t>
            </a:r>
            <a:endParaRPr lang="zh-CN" altLang="en-US" sz="1600" b="0" i="0">
              <a:solidFill>
                <a:srgbClr val="0F1115"/>
              </a:solidFill>
              <a:effectLst/>
              <a:latin typeface="quote-cjk-patch"/>
            </a:endParaRPr>
          </a:p>
          <a:p>
            <a:pPr marL="1143000" lvl="2" indent="-228600" algn="l">
              <a:spcBef>
                <a:spcPts val="300"/>
              </a:spcBef>
              <a:buFont typeface="Arial" panose="020B0604020202020204" pitchFamily="34" charset="0"/>
              <a:buChar char="•"/>
            </a:pPr>
            <a:r>
              <a:rPr lang="zh-CN" altLang="en-US" sz="1600" b="1" i="0">
                <a:solidFill>
                  <a:srgbClr val="0F1115"/>
                </a:solidFill>
                <a:effectLst/>
                <a:latin typeface="quote-cjk-patch"/>
              </a:rPr>
              <a:t>战略性投入：</a:t>
            </a:r>
            <a:r>
              <a:rPr lang="zh-CN" altLang="en-US" sz="1600" b="0" i="0">
                <a:solidFill>
                  <a:srgbClr val="0F1115"/>
                </a:solidFill>
                <a:effectLst/>
                <a:latin typeface="quote-cjk-patch"/>
              </a:rPr>
              <a:t> 资源向重点战略项目倾斜。</a:t>
            </a:r>
          </a:p>
          <a:p>
            <a:pPr marL="1143000" lvl="2" indent="-228600" algn="l">
              <a:spcBef>
                <a:spcPts val="450"/>
              </a:spcBef>
              <a:buFont typeface="Arial" panose="020B0604020202020204" pitchFamily="34" charset="0"/>
              <a:buChar char="•"/>
            </a:pPr>
            <a:r>
              <a:rPr lang="zh-CN" altLang="en-US" sz="1600" b="1" i="0">
                <a:solidFill>
                  <a:srgbClr val="0F1115"/>
                </a:solidFill>
                <a:effectLst/>
                <a:latin typeface="quote-cjk-patch"/>
              </a:rPr>
              <a:t>稳健务实：</a:t>
            </a:r>
            <a:r>
              <a:rPr lang="zh-CN" altLang="en-US" sz="1600" b="0" i="0">
                <a:solidFill>
                  <a:srgbClr val="0F1115"/>
                </a:solidFill>
                <a:effectLst/>
                <a:latin typeface="quote-cjk-patch"/>
              </a:rPr>
              <a:t> 收入预测有理有据，成本费用可控。</a:t>
            </a:r>
          </a:p>
          <a:p>
            <a:pPr marL="1143000" lvl="2" indent="-228600" algn="l">
              <a:spcBef>
                <a:spcPts val="450"/>
              </a:spcBef>
              <a:buFont typeface="Arial" panose="020B0604020202020204" pitchFamily="34" charset="0"/>
              <a:buChar char="•"/>
            </a:pPr>
            <a:r>
              <a:rPr lang="zh-CN" altLang="en-US" sz="1600" b="1" i="0">
                <a:solidFill>
                  <a:srgbClr val="0F1115"/>
                </a:solidFill>
                <a:effectLst/>
                <a:latin typeface="quote-cjk-patch"/>
              </a:rPr>
              <a:t>精细化管控：</a:t>
            </a:r>
            <a:r>
              <a:rPr lang="zh-CN" altLang="en-US" sz="1600" b="0" i="0">
                <a:solidFill>
                  <a:srgbClr val="0F1115"/>
                </a:solidFill>
                <a:effectLst/>
                <a:latin typeface="quote-cjk-patch"/>
              </a:rPr>
              <a:t> 强调投入产出比（</a:t>
            </a:r>
            <a:r>
              <a:rPr lang="en-US" altLang="zh-CN" sz="1600" b="0" i="0">
                <a:solidFill>
                  <a:srgbClr val="0F1115"/>
                </a:solidFill>
                <a:effectLst/>
                <a:latin typeface="quote-cjk-patch"/>
              </a:rPr>
              <a:t>ROI</a:t>
            </a:r>
            <a:r>
              <a:rPr lang="zh-CN" altLang="en-US" sz="1600" b="0" i="0">
                <a:solidFill>
                  <a:srgbClr val="0F1115"/>
                </a:solidFill>
                <a:effectLst/>
                <a:latin typeface="quote-cjk-patch"/>
              </a:rPr>
              <a:t>）。</a:t>
            </a:r>
          </a:p>
          <a:p>
            <a:pPr marL="742950" lvl="1" indent="-285750" algn="l">
              <a:spcBef>
                <a:spcPts val="450"/>
              </a:spcBef>
              <a:spcAft>
                <a:spcPts val="600"/>
              </a:spcAft>
              <a:buFont typeface="Arial" panose="020B0604020202020204" pitchFamily="34" charset="0"/>
              <a:buChar char="•"/>
            </a:pPr>
            <a:r>
              <a:rPr lang="zh-CN" altLang="en-US" sz="1600" b="1" i="0">
                <a:solidFill>
                  <a:srgbClr val="0F1115"/>
                </a:solidFill>
                <a:effectLst/>
                <a:latin typeface="quote-cjk-patch"/>
              </a:rPr>
              <a:t>核心假设：</a:t>
            </a:r>
            <a:endParaRPr lang="zh-CN" altLang="en-US" sz="1600" b="0" i="0">
              <a:solidFill>
                <a:srgbClr val="0F1115"/>
              </a:solidFill>
              <a:effectLst/>
              <a:latin typeface="quote-cjk-patch"/>
            </a:endParaRPr>
          </a:p>
          <a:p>
            <a:pPr marL="1143000" lvl="2" indent="-228600" algn="l">
              <a:spcBef>
                <a:spcPts val="300"/>
              </a:spcBef>
              <a:buFont typeface="Arial" panose="020B0604020202020204" pitchFamily="34" charset="0"/>
              <a:buChar char="•"/>
            </a:pPr>
            <a:r>
              <a:rPr lang="zh-CN" altLang="en-US" sz="1600" b="0" i="0">
                <a:solidFill>
                  <a:srgbClr val="0F1115"/>
                </a:solidFill>
                <a:effectLst/>
                <a:latin typeface="quote-cjk-patch"/>
              </a:rPr>
              <a:t>市场增长率预测：</a:t>
            </a:r>
            <a:r>
              <a:rPr lang="en-US" altLang="zh-CN" sz="1600" b="0" i="0">
                <a:solidFill>
                  <a:srgbClr val="0F1115"/>
                </a:solidFill>
                <a:effectLst/>
                <a:latin typeface="quote-cjk-patch"/>
              </a:rPr>
              <a:t>X%</a:t>
            </a:r>
            <a:r>
              <a:rPr lang="zh-CN" altLang="en-US" sz="1600" b="0" i="0">
                <a:solidFill>
                  <a:srgbClr val="0F1115"/>
                </a:solidFill>
                <a:effectLst/>
                <a:latin typeface="quote-cjk-patch"/>
              </a:rPr>
              <a:t>。</a:t>
            </a:r>
          </a:p>
          <a:p>
            <a:pPr marL="1143000" lvl="2" indent="-228600" algn="l">
              <a:spcBef>
                <a:spcPts val="450"/>
              </a:spcBef>
              <a:buFont typeface="Arial" panose="020B0604020202020204" pitchFamily="34" charset="0"/>
              <a:buChar char="•"/>
            </a:pPr>
            <a:r>
              <a:rPr lang="zh-CN" altLang="en-US" sz="1600" b="0" i="0">
                <a:solidFill>
                  <a:srgbClr val="0F1115"/>
                </a:solidFill>
                <a:effectLst/>
                <a:latin typeface="quote-cjk-patch"/>
              </a:rPr>
              <a:t>通货膨胀率假设：</a:t>
            </a:r>
            <a:r>
              <a:rPr lang="en-US" altLang="zh-CN" sz="1600" b="0" i="0">
                <a:solidFill>
                  <a:srgbClr val="0F1115"/>
                </a:solidFill>
                <a:effectLst/>
                <a:latin typeface="quote-cjk-patch"/>
              </a:rPr>
              <a:t>X%</a:t>
            </a:r>
            <a:r>
              <a:rPr lang="zh-CN" altLang="en-US" sz="1600" b="0" i="0">
                <a:solidFill>
                  <a:srgbClr val="0F1115"/>
                </a:solidFill>
                <a:effectLst/>
                <a:latin typeface="quote-cjk-patch"/>
              </a:rPr>
              <a:t>。</a:t>
            </a:r>
          </a:p>
          <a:p>
            <a:pPr marL="1143000" lvl="2" indent="-228600" algn="l">
              <a:spcBef>
                <a:spcPts val="450"/>
              </a:spcBef>
              <a:buFont typeface="Arial" panose="020B0604020202020204" pitchFamily="34" charset="0"/>
              <a:buChar char="•"/>
            </a:pPr>
            <a:r>
              <a:rPr lang="zh-CN" altLang="en-US" sz="1600" b="0" i="0">
                <a:solidFill>
                  <a:srgbClr val="0F1115"/>
                </a:solidFill>
                <a:effectLst/>
                <a:latin typeface="quote-cjk-patch"/>
              </a:rPr>
              <a:t>汇率假设（如适用）。</a:t>
            </a:r>
            <a:endParaRPr lang="zh-CN" altLang="en-US"/>
          </a:p>
        </p:txBody>
      </p:sp>
      <p:sp>
        <p:nvSpPr>
          <p:cNvPr id="4" name="灯片编号占位符 3"/>
          <p:cNvSpPr>
            <a:spLocks noGrp="1"/>
          </p:cNvSpPr>
          <p:nvPr>
            <p:ph type="sldNum" sz="quarter" idx="5"/>
          </p:nvPr>
        </p:nvSpPr>
        <p:spPr/>
        <p:txBody>
          <a:bodyPr/>
          <a:lstStyle/>
          <a:p>
            <a:fld id="{293147CB-87DA-4596-B792-5552788D8052}" type="slidenum">
              <a:rPr lang="zh-CN" altLang="en-US" smtClean="0"/>
              <a:t>12</a:t>
            </a:fld>
            <a:endParaRPr lang="zh-CN" altLang="en-US"/>
          </a:p>
        </p:txBody>
      </p:sp>
    </p:spTree>
    <p:extLst>
      <p:ext uri="{BB962C8B-B14F-4D97-AF65-F5344CB8AC3E}">
        <p14:creationId xmlns:p14="http://schemas.microsoft.com/office/powerpoint/2010/main" val="14287915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93147CB-87DA-4596-B792-5552788D8052}" type="slidenum">
              <a:rPr lang="zh-CN" altLang="en-US" smtClean="0"/>
              <a:t>13</a:t>
            </a:fld>
            <a:endParaRPr lang="zh-CN" altLang="en-US"/>
          </a:p>
        </p:txBody>
      </p:sp>
    </p:spTree>
    <p:extLst>
      <p:ext uri="{BB962C8B-B14F-4D97-AF65-F5344CB8AC3E}">
        <p14:creationId xmlns:p14="http://schemas.microsoft.com/office/powerpoint/2010/main" val="2983007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9E1B693-632D-4080-9CF6-EA28B66DC801}" type="slidenum">
              <a:rPr lang="zh-CN" altLang="en-US" smtClean="0"/>
              <a:t>14</a:t>
            </a:fld>
            <a:endParaRPr lang="zh-CN" altLang="en-US"/>
          </a:p>
        </p:txBody>
      </p:sp>
    </p:spTree>
    <p:extLst>
      <p:ext uri="{BB962C8B-B14F-4D97-AF65-F5344CB8AC3E}">
        <p14:creationId xmlns:p14="http://schemas.microsoft.com/office/powerpoint/2010/main" val="22825513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C800F1-FDF8-8980-44A6-4E3161098FB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6409CDC-A434-7646-4EDB-60B7EF2A31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D7B82C1-7731-6F15-FD9F-EC7B08E24725}"/>
              </a:ext>
            </a:extLst>
          </p:cNvPr>
          <p:cNvSpPr>
            <a:spLocks noGrp="1"/>
          </p:cNvSpPr>
          <p:nvPr>
            <p:ph type="dt" sz="half" idx="10"/>
          </p:nvPr>
        </p:nvSpPr>
        <p:spPr/>
        <p:txBody>
          <a:bodyPr/>
          <a:lstStyle/>
          <a:p>
            <a:fld id="{CB0AD320-954C-4AA8-A6D9-980EB811B4B3}" type="datetimeFigureOut">
              <a:rPr lang="zh-CN" altLang="en-US" smtClean="0"/>
              <a:t>2025/9/13</a:t>
            </a:fld>
            <a:endParaRPr lang="zh-CN" altLang="en-US"/>
          </a:p>
        </p:txBody>
      </p:sp>
      <p:sp>
        <p:nvSpPr>
          <p:cNvPr id="5" name="页脚占位符 4">
            <a:extLst>
              <a:ext uri="{FF2B5EF4-FFF2-40B4-BE49-F238E27FC236}">
                <a16:creationId xmlns:a16="http://schemas.microsoft.com/office/drawing/2014/main" id="{D898285E-1B15-B198-2D68-A266C93718B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4694E7F-61D2-D56A-399D-632083833A19}"/>
              </a:ext>
            </a:extLst>
          </p:cNvPr>
          <p:cNvSpPr>
            <a:spLocks noGrp="1"/>
          </p:cNvSpPr>
          <p:nvPr>
            <p:ph type="sldNum" sz="quarter" idx="12"/>
          </p:nvPr>
        </p:nvSpPr>
        <p:spPr/>
        <p:txBody>
          <a:bodyPr/>
          <a:lstStyle/>
          <a:p>
            <a:fld id="{3A4207EA-55A4-4207-98FF-B0A08DE6405A}" type="slidenum">
              <a:rPr lang="zh-CN" altLang="en-US" smtClean="0"/>
              <a:t>‹#›</a:t>
            </a:fld>
            <a:endParaRPr lang="zh-CN" altLang="en-US"/>
          </a:p>
        </p:txBody>
      </p:sp>
    </p:spTree>
    <p:extLst>
      <p:ext uri="{BB962C8B-B14F-4D97-AF65-F5344CB8AC3E}">
        <p14:creationId xmlns:p14="http://schemas.microsoft.com/office/powerpoint/2010/main" val="1417388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63A08-CFFE-EA5D-5349-659947C108E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EC8EF5E-4F2D-77CC-6457-A59DDC512A8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D2386D1-7494-5A80-AA3E-37D6D4AB6B79}"/>
              </a:ext>
            </a:extLst>
          </p:cNvPr>
          <p:cNvSpPr>
            <a:spLocks noGrp="1"/>
          </p:cNvSpPr>
          <p:nvPr>
            <p:ph type="dt" sz="half" idx="10"/>
          </p:nvPr>
        </p:nvSpPr>
        <p:spPr/>
        <p:txBody>
          <a:bodyPr/>
          <a:lstStyle/>
          <a:p>
            <a:fld id="{CB0AD320-954C-4AA8-A6D9-980EB811B4B3}" type="datetimeFigureOut">
              <a:rPr lang="zh-CN" altLang="en-US" smtClean="0"/>
              <a:t>2025/9/13</a:t>
            </a:fld>
            <a:endParaRPr lang="zh-CN" altLang="en-US"/>
          </a:p>
        </p:txBody>
      </p:sp>
      <p:sp>
        <p:nvSpPr>
          <p:cNvPr id="5" name="页脚占位符 4">
            <a:extLst>
              <a:ext uri="{FF2B5EF4-FFF2-40B4-BE49-F238E27FC236}">
                <a16:creationId xmlns:a16="http://schemas.microsoft.com/office/drawing/2014/main" id="{90D12B6B-5212-4FEF-7507-5B3876F1652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C9298D5-D2FF-7B5D-58E2-FC43C7035F68}"/>
              </a:ext>
            </a:extLst>
          </p:cNvPr>
          <p:cNvSpPr>
            <a:spLocks noGrp="1"/>
          </p:cNvSpPr>
          <p:nvPr>
            <p:ph type="sldNum" sz="quarter" idx="12"/>
          </p:nvPr>
        </p:nvSpPr>
        <p:spPr/>
        <p:txBody>
          <a:bodyPr/>
          <a:lstStyle/>
          <a:p>
            <a:fld id="{3A4207EA-55A4-4207-98FF-B0A08DE6405A}" type="slidenum">
              <a:rPr lang="zh-CN" altLang="en-US" smtClean="0"/>
              <a:t>‹#›</a:t>
            </a:fld>
            <a:endParaRPr lang="zh-CN" altLang="en-US"/>
          </a:p>
        </p:txBody>
      </p:sp>
    </p:spTree>
    <p:extLst>
      <p:ext uri="{BB962C8B-B14F-4D97-AF65-F5344CB8AC3E}">
        <p14:creationId xmlns:p14="http://schemas.microsoft.com/office/powerpoint/2010/main" val="3183518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84C548-A2A9-A2B4-74AF-7A1FDA54949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C76C4FE-5439-5760-B437-79107F4256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48F4864-45E3-BF32-406C-4506D28A8E00}"/>
              </a:ext>
            </a:extLst>
          </p:cNvPr>
          <p:cNvSpPr>
            <a:spLocks noGrp="1"/>
          </p:cNvSpPr>
          <p:nvPr>
            <p:ph type="dt" sz="half" idx="10"/>
          </p:nvPr>
        </p:nvSpPr>
        <p:spPr/>
        <p:txBody>
          <a:bodyPr/>
          <a:lstStyle/>
          <a:p>
            <a:fld id="{CB0AD320-954C-4AA8-A6D9-980EB811B4B3}" type="datetimeFigureOut">
              <a:rPr lang="zh-CN" altLang="en-US" smtClean="0"/>
              <a:t>2025/9/13</a:t>
            </a:fld>
            <a:endParaRPr lang="zh-CN" altLang="en-US"/>
          </a:p>
        </p:txBody>
      </p:sp>
      <p:sp>
        <p:nvSpPr>
          <p:cNvPr id="5" name="页脚占位符 4">
            <a:extLst>
              <a:ext uri="{FF2B5EF4-FFF2-40B4-BE49-F238E27FC236}">
                <a16:creationId xmlns:a16="http://schemas.microsoft.com/office/drawing/2014/main" id="{876481C7-F90B-72B8-04EE-4F82E9E326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73BC1F9-E8C2-C21D-05C3-412B0E27AA23}"/>
              </a:ext>
            </a:extLst>
          </p:cNvPr>
          <p:cNvSpPr>
            <a:spLocks noGrp="1"/>
          </p:cNvSpPr>
          <p:nvPr>
            <p:ph type="sldNum" sz="quarter" idx="12"/>
          </p:nvPr>
        </p:nvSpPr>
        <p:spPr/>
        <p:txBody>
          <a:bodyPr/>
          <a:lstStyle/>
          <a:p>
            <a:fld id="{3A4207EA-55A4-4207-98FF-B0A08DE6405A}" type="slidenum">
              <a:rPr lang="zh-CN" altLang="en-US" smtClean="0"/>
              <a:t>‹#›</a:t>
            </a:fld>
            <a:endParaRPr lang="zh-CN" altLang="en-US"/>
          </a:p>
        </p:txBody>
      </p:sp>
    </p:spTree>
    <p:extLst>
      <p:ext uri="{BB962C8B-B14F-4D97-AF65-F5344CB8AC3E}">
        <p14:creationId xmlns:p14="http://schemas.microsoft.com/office/powerpoint/2010/main" val="1870224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2A116D-9E5D-CF1F-85A4-E88D5366A3E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861DD0-5533-9524-9085-26D44B8755D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637163B-6225-18EC-F812-CC0E8369E0E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4C8AB3B-3404-2F38-55F3-CE8750F1E07D}"/>
              </a:ext>
            </a:extLst>
          </p:cNvPr>
          <p:cNvSpPr>
            <a:spLocks noGrp="1"/>
          </p:cNvSpPr>
          <p:nvPr>
            <p:ph type="dt" sz="half" idx="10"/>
          </p:nvPr>
        </p:nvSpPr>
        <p:spPr/>
        <p:txBody>
          <a:bodyPr/>
          <a:lstStyle/>
          <a:p>
            <a:fld id="{CB0AD320-954C-4AA8-A6D9-980EB811B4B3}" type="datetimeFigureOut">
              <a:rPr lang="zh-CN" altLang="en-US" smtClean="0"/>
              <a:t>2025/9/13</a:t>
            </a:fld>
            <a:endParaRPr lang="zh-CN" altLang="en-US"/>
          </a:p>
        </p:txBody>
      </p:sp>
      <p:sp>
        <p:nvSpPr>
          <p:cNvPr id="6" name="页脚占位符 5">
            <a:extLst>
              <a:ext uri="{FF2B5EF4-FFF2-40B4-BE49-F238E27FC236}">
                <a16:creationId xmlns:a16="http://schemas.microsoft.com/office/drawing/2014/main" id="{0C25FB2C-98B9-7010-DEB8-2EA2D3F0C14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31A3896-26EE-5DF2-5B75-A2C4D17E4740}"/>
              </a:ext>
            </a:extLst>
          </p:cNvPr>
          <p:cNvSpPr>
            <a:spLocks noGrp="1"/>
          </p:cNvSpPr>
          <p:nvPr>
            <p:ph type="sldNum" sz="quarter" idx="12"/>
          </p:nvPr>
        </p:nvSpPr>
        <p:spPr/>
        <p:txBody>
          <a:bodyPr/>
          <a:lstStyle/>
          <a:p>
            <a:fld id="{3A4207EA-55A4-4207-98FF-B0A08DE6405A}" type="slidenum">
              <a:rPr lang="zh-CN" altLang="en-US" smtClean="0"/>
              <a:t>‹#›</a:t>
            </a:fld>
            <a:endParaRPr lang="zh-CN" altLang="en-US"/>
          </a:p>
        </p:txBody>
      </p:sp>
    </p:spTree>
    <p:extLst>
      <p:ext uri="{BB962C8B-B14F-4D97-AF65-F5344CB8AC3E}">
        <p14:creationId xmlns:p14="http://schemas.microsoft.com/office/powerpoint/2010/main" val="1914140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10F388-7DB6-CDF4-60FD-DC4F7F4A62C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0399845-BF16-3231-0DEA-60AED4A67A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FF6DF29-0481-DDC0-2155-F021DFDD8399}"/>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700252E-D391-C1A4-5D7F-D5D366637B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0BEA80C-2EB7-3B5F-66E7-43E9967648C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929ADE0-D261-5EC8-6DA6-EF911127630D}"/>
              </a:ext>
            </a:extLst>
          </p:cNvPr>
          <p:cNvSpPr>
            <a:spLocks noGrp="1"/>
          </p:cNvSpPr>
          <p:nvPr>
            <p:ph type="dt" sz="half" idx="10"/>
          </p:nvPr>
        </p:nvSpPr>
        <p:spPr/>
        <p:txBody>
          <a:bodyPr/>
          <a:lstStyle/>
          <a:p>
            <a:fld id="{CB0AD320-954C-4AA8-A6D9-980EB811B4B3}" type="datetimeFigureOut">
              <a:rPr lang="zh-CN" altLang="en-US" smtClean="0"/>
              <a:t>2025/9/13</a:t>
            </a:fld>
            <a:endParaRPr lang="zh-CN" altLang="en-US"/>
          </a:p>
        </p:txBody>
      </p:sp>
      <p:sp>
        <p:nvSpPr>
          <p:cNvPr id="8" name="页脚占位符 7">
            <a:extLst>
              <a:ext uri="{FF2B5EF4-FFF2-40B4-BE49-F238E27FC236}">
                <a16:creationId xmlns:a16="http://schemas.microsoft.com/office/drawing/2014/main" id="{9F92793B-DE38-539E-355E-4EF0D64EBD8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2B75578-3806-5AF6-072C-C87ACC2136D9}"/>
              </a:ext>
            </a:extLst>
          </p:cNvPr>
          <p:cNvSpPr>
            <a:spLocks noGrp="1"/>
          </p:cNvSpPr>
          <p:nvPr>
            <p:ph type="sldNum" sz="quarter" idx="12"/>
          </p:nvPr>
        </p:nvSpPr>
        <p:spPr/>
        <p:txBody>
          <a:bodyPr/>
          <a:lstStyle/>
          <a:p>
            <a:fld id="{3A4207EA-55A4-4207-98FF-B0A08DE6405A}" type="slidenum">
              <a:rPr lang="zh-CN" altLang="en-US" smtClean="0"/>
              <a:t>‹#›</a:t>
            </a:fld>
            <a:endParaRPr lang="zh-CN" altLang="en-US"/>
          </a:p>
        </p:txBody>
      </p:sp>
    </p:spTree>
    <p:extLst>
      <p:ext uri="{BB962C8B-B14F-4D97-AF65-F5344CB8AC3E}">
        <p14:creationId xmlns:p14="http://schemas.microsoft.com/office/powerpoint/2010/main" val="2938848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24DD89-79A8-55E1-940D-E68F780684D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156EE86-1F18-6310-A142-7A3CAB4422E9}"/>
              </a:ext>
            </a:extLst>
          </p:cNvPr>
          <p:cNvSpPr>
            <a:spLocks noGrp="1"/>
          </p:cNvSpPr>
          <p:nvPr>
            <p:ph type="dt" sz="half" idx="10"/>
          </p:nvPr>
        </p:nvSpPr>
        <p:spPr/>
        <p:txBody>
          <a:bodyPr/>
          <a:lstStyle/>
          <a:p>
            <a:fld id="{CB0AD320-954C-4AA8-A6D9-980EB811B4B3}" type="datetimeFigureOut">
              <a:rPr lang="zh-CN" altLang="en-US" smtClean="0"/>
              <a:t>2025/9/13</a:t>
            </a:fld>
            <a:endParaRPr lang="zh-CN" altLang="en-US"/>
          </a:p>
        </p:txBody>
      </p:sp>
      <p:sp>
        <p:nvSpPr>
          <p:cNvPr id="4" name="页脚占位符 3">
            <a:extLst>
              <a:ext uri="{FF2B5EF4-FFF2-40B4-BE49-F238E27FC236}">
                <a16:creationId xmlns:a16="http://schemas.microsoft.com/office/drawing/2014/main" id="{3D7EED6F-3E3F-65F8-8710-F9AC6EE3905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68F8037-AA13-D308-9DA3-86550550AA40}"/>
              </a:ext>
            </a:extLst>
          </p:cNvPr>
          <p:cNvSpPr>
            <a:spLocks noGrp="1"/>
          </p:cNvSpPr>
          <p:nvPr>
            <p:ph type="sldNum" sz="quarter" idx="12"/>
          </p:nvPr>
        </p:nvSpPr>
        <p:spPr/>
        <p:txBody>
          <a:bodyPr/>
          <a:lstStyle/>
          <a:p>
            <a:fld id="{3A4207EA-55A4-4207-98FF-B0A08DE6405A}" type="slidenum">
              <a:rPr lang="zh-CN" altLang="en-US" smtClean="0"/>
              <a:t>‹#›</a:t>
            </a:fld>
            <a:endParaRPr lang="zh-CN" altLang="en-US"/>
          </a:p>
        </p:txBody>
      </p:sp>
    </p:spTree>
    <p:extLst>
      <p:ext uri="{BB962C8B-B14F-4D97-AF65-F5344CB8AC3E}">
        <p14:creationId xmlns:p14="http://schemas.microsoft.com/office/powerpoint/2010/main" val="38166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D31AC8B-D77B-C3ED-7668-E99F71A5631D}"/>
              </a:ext>
            </a:extLst>
          </p:cNvPr>
          <p:cNvSpPr>
            <a:spLocks noGrp="1"/>
          </p:cNvSpPr>
          <p:nvPr>
            <p:ph type="dt" sz="half" idx="10"/>
          </p:nvPr>
        </p:nvSpPr>
        <p:spPr/>
        <p:txBody>
          <a:bodyPr/>
          <a:lstStyle/>
          <a:p>
            <a:fld id="{CB0AD320-954C-4AA8-A6D9-980EB811B4B3}" type="datetimeFigureOut">
              <a:rPr lang="zh-CN" altLang="en-US" smtClean="0"/>
              <a:t>2025/9/13</a:t>
            </a:fld>
            <a:endParaRPr lang="zh-CN" altLang="en-US"/>
          </a:p>
        </p:txBody>
      </p:sp>
      <p:sp>
        <p:nvSpPr>
          <p:cNvPr id="3" name="页脚占位符 2">
            <a:extLst>
              <a:ext uri="{FF2B5EF4-FFF2-40B4-BE49-F238E27FC236}">
                <a16:creationId xmlns:a16="http://schemas.microsoft.com/office/drawing/2014/main" id="{FB91B843-FF78-F552-3F8E-AC7ACD5374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CF5A9F1-500B-E59C-8290-3F2EDE236EB8}"/>
              </a:ext>
            </a:extLst>
          </p:cNvPr>
          <p:cNvSpPr>
            <a:spLocks noGrp="1"/>
          </p:cNvSpPr>
          <p:nvPr>
            <p:ph type="sldNum" sz="quarter" idx="12"/>
          </p:nvPr>
        </p:nvSpPr>
        <p:spPr/>
        <p:txBody>
          <a:bodyPr/>
          <a:lstStyle/>
          <a:p>
            <a:fld id="{3A4207EA-55A4-4207-98FF-B0A08DE6405A}" type="slidenum">
              <a:rPr lang="zh-CN" altLang="en-US" smtClean="0"/>
              <a:t>‹#›</a:t>
            </a:fld>
            <a:endParaRPr lang="zh-CN" altLang="en-US"/>
          </a:p>
        </p:txBody>
      </p:sp>
    </p:spTree>
    <p:extLst>
      <p:ext uri="{BB962C8B-B14F-4D97-AF65-F5344CB8AC3E}">
        <p14:creationId xmlns:p14="http://schemas.microsoft.com/office/powerpoint/2010/main" val="1746184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F64047-1C84-3BD1-1800-A4066A89141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9E0A9AD-323E-2ECD-ACBD-80320B3A8F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23F8614-56C4-901A-07AB-3B2B5141FA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7C456DD-CCBC-F98E-A93D-D18C62104363}"/>
              </a:ext>
            </a:extLst>
          </p:cNvPr>
          <p:cNvSpPr>
            <a:spLocks noGrp="1"/>
          </p:cNvSpPr>
          <p:nvPr>
            <p:ph type="dt" sz="half" idx="10"/>
          </p:nvPr>
        </p:nvSpPr>
        <p:spPr/>
        <p:txBody>
          <a:bodyPr/>
          <a:lstStyle/>
          <a:p>
            <a:fld id="{CB0AD320-954C-4AA8-A6D9-980EB811B4B3}" type="datetimeFigureOut">
              <a:rPr lang="zh-CN" altLang="en-US" smtClean="0"/>
              <a:t>2025/9/13</a:t>
            </a:fld>
            <a:endParaRPr lang="zh-CN" altLang="en-US"/>
          </a:p>
        </p:txBody>
      </p:sp>
      <p:sp>
        <p:nvSpPr>
          <p:cNvPr id="6" name="页脚占位符 5">
            <a:extLst>
              <a:ext uri="{FF2B5EF4-FFF2-40B4-BE49-F238E27FC236}">
                <a16:creationId xmlns:a16="http://schemas.microsoft.com/office/drawing/2014/main" id="{B7F8BA92-43BB-42B2-2998-742EAAEA1C0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DCA78A7-11DF-26D2-DF9B-0BFB8AD73474}"/>
              </a:ext>
            </a:extLst>
          </p:cNvPr>
          <p:cNvSpPr>
            <a:spLocks noGrp="1"/>
          </p:cNvSpPr>
          <p:nvPr>
            <p:ph type="sldNum" sz="quarter" idx="12"/>
          </p:nvPr>
        </p:nvSpPr>
        <p:spPr/>
        <p:txBody>
          <a:bodyPr/>
          <a:lstStyle/>
          <a:p>
            <a:fld id="{3A4207EA-55A4-4207-98FF-B0A08DE6405A}" type="slidenum">
              <a:rPr lang="zh-CN" altLang="en-US" smtClean="0"/>
              <a:t>‹#›</a:t>
            </a:fld>
            <a:endParaRPr lang="zh-CN" altLang="en-US"/>
          </a:p>
        </p:txBody>
      </p:sp>
    </p:spTree>
    <p:extLst>
      <p:ext uri="{BB962C8B-B14F-4D97-AF65-F5344CB8AC3E}">
        <p14:creationId xmlns:p14="http://schemas.microsoft.com/office/powerpoint/2010/main" val="1295434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E6784E-6B2A-4E4E-42FE-FB40921A88B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49B5ED5-6F5B-3A46-CED3-AFFD935062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3C3A284-0E5E-E196-F95C-E1C7508DD5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96A058C-0365-E437-B8F8-74D9DEA08B49}"/>
              </a:ext>
            </a:extLst>
          </p:cNvPr>
          <p:cNvSpPr>
            <a:spLocks noGrp="1"/>
          </p:cNvSpPr>
          <p:nvPr>
            <p:ph type="dt" sz="half" idx="10"/>
          </p:nvPr>
        </p:nvSpPr>
        <p:spPr/>
        <p:txBody>
          <a:bodyPr/>
          <a:lstStyle/>
          <a:p>
            <a:fld id="{CB0AD320-954C-4AA8-A6D9-980EB811B4B3}" type="datetimeFigureOut">
              <a:rPr lang="zh-CN" altLang="en-US" smtClean="0"/>
              <a:t>2025/9/13</a:t>
            </a:fld>
            <a:endParaRPr lang="zh-CN" altLang="en-US"/>
          </a:p>
        </p:txBody>
      </p:sp>
      <p:sp>
        <p:nvSpPr>
          <p:cNvPr id="6" name="页脚占位符 5">
            <a:extLst>
              <a:ext uri="{FF2B5EF4-FFF2-40B4-BE49-F238E27FC236}">
                <a16:creationId xmlns:a16="http://schemas.microsoft.com/office/drawing/2014/main" id="{850E7893-9642-CA1B-6AA9-E320BB2E930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EC51FAC-4462-40A4-A145-CFF30507A72E}"/>
              </a:ext>
            </a:extLst>
          </p:cNvPr>
          <p:cNvSpPr>
            <a:spLocks noGrp="1"/>
          </p:cNvSpPr>
          <p:nvPr>
            <p:ph type="sldNum" sz="quarter" idx="12"/>
          </p:nvPr>
        </p:nvSpPr>
        <p:spPr/>
        <p:txBody>
          <a:bodyPr/>
          <a:lstStyle/>
          <a:p>
            <a:fld id="{3A4207EA-55A4-4207-98FF-B0A08DE6405A}" type="slidenum">
              <a:rPr lang="zh-CN" altLang="en-US" smtClean="0"/>
              <a:t>‹#›</a:t>
            </a:fld>
            <a:endParaRPr lang="zh-CN" altLang="en-US"/>
          </a:p>
        </p:txBody>
      </p:sp>
    </p:spTree>
    <p:extLst>
      <p:ext uri="{BB962C8B-B14F-4D97-AF65-F5344CB8AC3E}">
        <p14:creationId xmlns:p14="http://schemas.microsoft.com/office/powerpoint/2010/main" val="2512304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DCFB99-EDC9-48C7-36BD-A870842FFD9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F8D0F5F-0FDC-ED55-3A98-BF9F99D37F0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95590F6-425B-788B-FEA6-F4C144AE8ED5}"/>
              </a:ext>
            </a:extLst>
          </p:cNvPr>
          <p:cNvSpPr>
            <a:spLocks noGrp="1"/>
          </p:cNvSpPr>
          <p:nvPr>
            <p:ph type="dt" sz="half" idx="10"/>
          </p:nvPr>
        </p:nvSpPr>
        <p:spPr/>
        <p:txBody>
          <a:bodyPr/>
          <a:lstStyle/>
          <a:p>
            <a:fld id="{CB0AD320-954C-4AA8-A6D9-980EB811B4B3}" type="datetimeFigureOut">
              <a:rPr lang="zh-CN" altLang="en-US" smtClean="0"/>
              <a:t>2025/9/13</a:t>
            </a:fld>
            <a:endParaRPr lang="zh-CN" altLang="en-US"/>
          </a:p>
        </p:txBody>
      </p:sp>
      <p:sp>
        <p:nvSpPr>
          <p:cNvPr id="5" name="页脚占位符 4">
            <a:extLst>
              <a:ext uri="{FF2B5EF4-FFF2-40B4-BE49-F238E27FC236}">
                <a16:creationId xmlns:a16="http://schemas.microsoft.com/office/drawing/2014/main" id="{CA9A0B68-5C83-4597-4183-E5CAFAE7E39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D2BA16-E7F9-0C64-7858-131A56137382}"/>
              </a:ext>
            </a:extLst>
          </p:cNvPr>
          <p:cNvSpPr>
            <a:spLocks noGrp="1"/>
          </p:cNvSpPr>
          <p:nvPr>
            <p:ph type="sldNum" sz="quarter" idx="12"/>
          </p:nvPr>
        </p:nvSpPr>
        <p:spPr/>
        <p:txBody>
          <a:bodyPr/>
          <a:lstStyle/>
          <a:p>
            <a:fld id="{3A4207EA-55A4-4207-98FF-B0A08DE6405A}" type="slidenum">
              <a:rPr lang="zh-CN" altLang="en-US" smtClean="0"/>
              <a:t>‹#›</a:t>
            </a:fld>
            <a:endParaRPr lang="zh-CN" altLang="en-US"/>
          </a:p>
        </p:txBody>
      </p:sp>
    </p:spTree>
    <p:extLst>
      <p:ext uri="{BB962C8B-B14F-4D97-AF65-F5344CB8AC3E}">
        <p14:creationId xmlns:p14="http://schemas.microsoft.com/office/powerpoint/2010/main" val="1481379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774FB81-D721-CF94-31F5-4094783E171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A83AF91-5C2C-E93D-5BC7-8A47D666EFE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0D03802-437E-AF54-A49E-49E2A136E559}"/>
              </a:ext>
            </a:extLst>
          </p:cNvPr>
          <p:cNvSpPr>
            <a:spLocks noGrp="1"/>
          </p:cNvSpPr>
          <p:nvPr>
            <p:ph type="dt" sz="half" idx="10"/>
          </p:nvPr>
        </p:nvSpPr>
        <p:spPr/>
        <p:txBody>
          <a:bodyPr/>
          <a:lstStyle/>
          <a:p>
            <a:fld id="{CB0AD320-954C-4AA8-A6D9-980EB811B4B3}" type="datetimeFigureOut">
              <a:rPr lang="zh-CN" altLang="en-US" smtClean="0"/>
              <a:t>2025/9/13</a:t>
            </a:fld>
            <a:endParaRPr lang="zh-CN" altLang="en-US"/>
          </a:p>
        </p:txBody>
      </p:sp>
      <p:sp>
        <p:nvSpPr>
          <p:cNvPr id="5" name="页脚占位符 4">
            <a:extLst>
              <a:ext uri="{FF2B5EF4-FFF2-40B4-BE49-F238E27FC236}">
                <a16:creationId xmlns:a16="http://schemas.microsoft.com/office/drawing/2014/main" id="{68C7FC28-04DD-5786-26F2-55D5329D83B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AB9F489-7060-3B15-3813-9C159A897FF5}"/>
              </a:ext>
            </a:extLst>
          </p:cNvPr>
          <p:cNvSpPr>
            <a:spLocks noGrp="1"/>
          </p:cNvSpPr>
          <p:nvPr>
            <p:ph type="sldNum" sz="quarter" idx="12"/>
          </p:nvPr>
        </p:nvSpPr>
        <p:spPr/>
        <p:txBody>
          <a:bodyPr/>
          <a:lstStyle/>
          <a:p>
            <a:fld id="{3A4207EA-55A4-4207-98FF-B0A08DE6405A}" type="slidenum">
              <a:rPr lang="zh-CN" altLang="en-US" smtClean="0"/>
              <a:t>‹#›</a:t>
            </a:fld>
            <a:endParaRPr lang="zh-CN" altLang="en-US"/>
          </a:p>
        </p:txBody>
      </p:sp>
    </p:spTree>
    <p:extLst>
      <p:ext uri="{BB962C8B-B14F-4D97-AF65-F5344CB8AC3E}">
        <p14:creationId xmlns:p14="http://schemas.microsoft.com/office/powerpoint/2010/main" val="12463406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602728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590377-9AEB-323B-C307-F64E9A98B98E}"/>
              </a:ext>
            </a:extLst>
          </p:cNvPr>
          <p:cNvSpPr>
            <a:spLocks noGrp="1"/>
          </p:cNvSpPr>
          <p:nvPr>
            <p:ph type="ctrTitle" hasCustomPrompt="1"/>
          </p:nvPr>
        </p:nvSpPr>
        <p:spPr>
          <a:xfrm>
            <a:off x="1440488" y="304272"/>
            <a:ext cx="6510815" cy="253980"/>
          </a:xfrm>
          <a:noFill/>
        </p:spPr>
        <p:txBody>
          <a:bodyPr vert="horz" wrap="square" lIns="0" tIns="0" rIns="0" bIns="0" rtlCol="0" anchor="ctr">
            <a:spAutoFit/>
          </a:bodyPr>
          <a:lstStyle>
            <a:lvl1pPr>
              <a:defRPr lang="zh-CN" altLang="en-US" dirty="0"/>
            </a:lvl1pPr>
          </a:lstStyle>
          <a:p>
            <a:pPr marL="0" lvl="0"/>
            <a:r>
              <a:rPr kumimoji="1" lang="zh-CN" altLang="en-US" dirty="0"/>
              <a:t>单击此处编辑标题样式</a:t>
            </a:r>
          </a:p>
        </p:txBody>
      </p:sp>
      <p:sp>
        <p:nvSpPr>
          <p:cNvPr id="3" name="副标题 2">
            <a:extLst>
              <a:ext uri="{FF2B5EF4-FFF2-40B4-BE49-F238E27FC236}">
                <a16:creationId xmlns:a16="http://schemas.microsoft.com/office/drawing/2014/main" id="{E5A386BC-38E5-2313-E8C7-95CEAF564497}"/>
              </a:ext>
            </a:extLst>
          </p:cNvPr>
          <p:cNvSpPr>
            <a:spLocks noGrp="1"/>
          </p:cNvSpPr>
          <p:nvPr>
            <p:ph type="subTitle" idx="1" hasCustomPrompt="1"/>
          </p:nvPr>
        </p:nvSpPr>
        <p:spPr>
          <a:xfrm>
            <a:off x="1440488" y="581209"/>
            <a:ext cx="2786955" cy="138499"/>
          </a:xfrm>
          <a:noFill/>
        </p:spPr>
        <p:txBody>
          <a:bodyPr wrap="square" lIns="0" tIns="0" rIns="0" bIns="0">
            <a:spAutoFit/>
          </a:bodyPr>
          <a:lstStyle>
            <a:lvl1pPr marL="0" indent="0">
              <a:lnSpc>
                <a:spcPct val="100000"/>
              </a:lnSpc>
              <a:buNone/>
              <a:defRPr kumimoji="0" lang="zh-CN" altLang="en-US" sz="900" u="none" strike="noStrike" cap="all" spc="0" normalizeH="0">
                <a:ln>
                  <a:noFill/>
                </a:ln>
                <a:effectLst/>
                <a:uLnTx/>
                <a:uFillTx/>
                <a:latin typeface="OPPOSans M" pitchFamily="18" charset="-122"/>
                <a:ea typeface="OPPOSans M" pitchFamily="18" charset="-122"/>
                <a:cs typeface="OPPOSans M" pitchFamily="18" charset="-122"/>
              </a:defRPr>
            </a:lvl1pPr>
          </a:lstStyle>
          <a:p>
            <a:r>
              <a:rPr lang="en-US" altLang="zh-CN" dirty="0"/>
              <a:t>Current problems</a:t>
            </a:r>
          </a:p>
        </p:txBody>
      </p:sp>
      <p:sp>
        <p:nvSpPr>
          <p:cNvPr id="6" name="灯片编号占位符 5">
            <a:extLst>
              <a:ext uri="{FF2B5EF4-FFF2-40B4-BE49-F238E27FC236}">
                <a16:creationId xmlns:a16="http://schemas.microsoft.com/office/drawing/2014/main" id="{AADC5235-DA08-4430-F922-C891D2B741DE}"/>
              </a:ext>
            </a:extLst>
          </p:cNvPr>
          <p:cNvSpPr>
            <a:spLocks noGrp="1"/>
          </p:cNvSpPr>
          <p:nvPr>
            <p:ph type="sldNum" sz="quarter" idx="12"/>
          </p:nvPr>
        </p:nvSpPr>
        <p:spPr>
          <a:xfrm>
            <a:off x="346015" y="270311"/>
            <a:ext cx="1005688" cy="523220"/>
          </a:xfrm>
          <a:prstGeom prst="rect">
            <a:avLst/>
          </a:prstGeom>
          <a:noFill/>
        </p:spPr>
        <p:txBody>
          <a:bodyPr vert="horz" wrap="square" lIns="0" tIns="0" rIns="0" bIns="0" rtlCol="0" anchor="ctr">
            <a:spAutoFit/>
          </a:bodyPr>
          <a:lstStyle>
            <a:lvl1pPr>
              <a:defRPr lang="en-US" altLang="zh-CN" sz="3400" smtClean="0">
                <a:solidFill>
                  <a:schemeClr val="bg1"/>
                </a:solidFill>
                <a:latin typeface="OPPOSans H" pitchFamily="18" charset="-122"/>
                <a:ea typeface="OPPOSans H" pitchFamily="18" charset="-122"/>
                <a:cs typeface="OPPOSans H" pitchFamily="18" charset="-122"/>
              </a:defRPr>
            </a:lvl1pPr>
          </a:lstStyle>
          <a:p>
            <a:r>
              <a:rPr lang="en-US" altLang="zh-CN" dirty="0"/>
              <a:t>001</a:t>
            </a:r>
            <a:endParaRPr lang="zh-CN" altLang="en-US" dirty="0"/>
          </a:p>
        </p:txBody>
      </p:sp>
    </p:spTree>
    <p:extLst>
      <p:ext uri="{BB962C8B-B14F-4D97-AF65-F5344CB8AC3E}">
        <p14:creationId xmlns:p14="http://schemas.microsoft.com/office/powerpoint/2010/main" val="1635756772"/>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73027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B456D13-4152-D4B6-7ADB-CCE53D1B06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BDCBEAA-B85C-A4F6-E3C3-147E641C2A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98DBC70-FC99-3153-5F59-C2EE225F46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0AD320-954C-4AA8-A6D9-980EB811B4B3}" type="datetimeFigureOut">
              <a:rPr lang="zh-CN" altLang="en-US" smtClean="0"/>
              <a:t>2025/9/13</a:t>
            </a:fld>
            <a:endParaRPr lang="zh-CN" altLang="en-US"/>
          </a:p>
        </p:txBody>
      </p:sp>
      <p:sp>
        <p:nvSpPr>
          <p:cNvPr id="5" name="页脚占位符 4">
            <a:extLst>
              <a:ext uri="{FF2B5EF4-FFF2-40B4-BE49-F238E27FC236}">
                <a16:creationId xmlns:a16="http://schemas.microsoft.com/office/drawing/2014/main" id="{FFA75032-8B02-B882-3639-97BDCD5B5B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3718C95-3B70-71B9-5A49-948E17F2F2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4207EA-55A4-4207-98FF-B0A08DE6405A}" type="slidenum">
              <a:rPr lang="zh-CN" altLang="en-US" smtClean="0"/>
              <a:t>‹#›</a:t>
            </a:fld>
            <a:endParaRPr lang="zh-CN" altLang="en-US"/>
          </a:p>
        </p:txBody>
      </p:sp>
    </p:spTree>
    <p:extLst>
      <p:ext uri="{BB962C8B-B14F-4D97-AF65-F5344CB8AC3E}">
        <p14:creationId xmlns:p14="http://schemas.microsoft.com/office/powerpoint/2010/main" val="1809097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3.xml"/><Relationship Id="rId5" Type="http://schemas.openxmlformats.org/officeDocument/2006/relationships/slideLayout" Target="../slideLayouts/slideLayout7.xml"/><Relationship Id="rId4" Type="http://schemas.openxmlformats.org/officeDocument/2006/relationships/tags" Target="../tags/tag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chart" Target="../charts/chart7.xml"/><Relationship Id="rId3" Type="http://schemas.openxmlformats.org/officeDocument/2006/relationships/chart" Target="../charts/chart2.xml"/><Relationship Id="rId7"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14.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18" Type="http://schemas.openxmlformats.org/officeDocument/2006/relationships/slideLayout" Target="../slideLayouts/slideLayout12.xml"/><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tags" Target="../tags/tag22.xml"/><Relationship Id="rId2" Type="http://schemas.openxmlformats.org/officeDocument/2006/relationships/tags" Target="../tags/tag7.xml"/><Relationship Id="rId16" Type="http://schemas.openxmlformats.org/officeDocument/2006/relationships/tags" Target="../tags/tag21.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5" Type="http://schemas.openxmlformats.org/officeDocument/2006/relationships/tags" Target="../tags/tag10.xml"/><Relationship Id="rId15" Type="http://schemas.openxmlformats.org/officeDocument/2006/relationships/tags" Target="../tags/tag20.xml"/><Relationship Id="rId10" Type="http://schemas.openxmlformats.org/officeDocument/2006/relationships/tags" Target="../tags/tag15.xml"/><Relationship Id="rId19" Type="http://schemas.openxmlformats.org/officeDocument/2006/relationships/notesSlide" Target="../notesSlides/notesSlide8.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Box 7"/>
          <p:cNvSpPr>
            <a:spLocks noChangeArrowheads="1"/>
          </p:cNvSpPr>
          <p:nvPr/>
        </p:nvSpPr>
        <p:spPr bwMode="auto">
          <a:xfrm>
            <a:off x="143933" y="3068638"/>
            <a:ext cx="12192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en-US" sz="1600" b="1">
              <a:solidFill>
                <a:srgbClr val="7F7F7F"/>
              </a:solidFill>
              <a:latin typeface="微软雅黑" panose="020B0503020204020204" charset="-122"/>
              <a:ea typeface="微软雅黑" panose="020B0503020204020204" charset="-122"/>
              <a:sym typeface="微软雅黑" panose="020B0503020204020204" charset="-122"/>
            </a:endParaRPr>
          </a:p>
        </p:txBody>
      </p:sp>
      <p:sp>
        <p:nvSpPr>
          <p:cNvPr id="4101" name="左中括号 5"/>
          <p:cNvSpPr/>
          <p:nvPr/>
        </p:nvSpPr>
        <p:spPr bwMode="auto">
          <a:xfrm>
            <a:off x="2095501" y="2071688"/>
            <a:ext cx="285751" cy="857250"/>
          </a:xfrm>
          <a:prstGeom prst="leftBracket">
            <a:avLst>
              <a:gd name="adj" fmla="val 33333"/>
            </a:avLst>
          </a:prstGeom>
          <a:noFill/>
          <a:ln w="57150">
            <a:solidFill>
              <a:srgbClr val="FFFFFF">
                <a:alpha val="76862"/>
              </a:srgbClr>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00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4102" name="左中括号 7"/>
          <p:cNvSpPr/>
          <p:nvPr/>
        </p:nvSpPr>
        <p:spPr bwMode="auto">
          <a:xfrm flipH="1">
            <a:off x="9810751" y="2071688"/>
            <a:ext cx="285749" cy="857250"/>
          </a:xfrm>
          <a:prstGeom prst="leftBracket">
            <a:avLst>
              <a:gd name="adj" fmla="val 33333"/>
            </a:avLst>
          </a:prstGeom>
          <a:noFill/>
          <a:ln w="57150">
            <a:solidFill>
              <a:srgbClr val="FFFFFF">
                <a:alpha val="76862"/>
              </a:srgbClr>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zh-CN">
              <a:solidFill>
                <a:srgbClr val="000000"/>
              </a:solidFill>
              <a:latin typeface="黑体" panose="02010609060101010101" pitchFamily="49" charset="-122"/>
              <a:ea typeface="黑体" panose="02010609060101010101" pitchFamily="49" charset="-122"/>
              <a:sym typeface="黑体" panose="02010609060101010101" pitchFamily="49" charset="-122"/>
            </a:endParaRPr>
          </a:p>
        </p:txBody>
      </p:sp>
      <p:sp>
        <p:nvSpPr>
          <p:cNvPr id="3" name="矩形 2"/>
          <p:cNvSpPr/>
          <p:nvPr/>
        </p:nvSpPr>
        <p:spPr>
          <a:xfrm>
            <a:off x="659804" y="2339569"/>
            <a:ext cx="5598436" cy="785215"/>
          </a:xfrm>
          <a:prstGeom prst="rect">
            <a:avLst/>
          </a:prstGeom>
        </p:spPr>
        <p:txBody>
          <a:bodyPr wrap="square">
            <a:spAutoFit/>
          </a:bodyPr>
          <a:lstStyle/>
          <a:p>
            <a:pPr algn="ctr">
              <a:lnSpc>
                <a:spcPct val="110000"/>
              </a:lnSpc>
            </a:pPr>
            <a:r>
              <a:rPr lang="en-US" altLang="zh-CN" sz="4400" b="1">
                <a:solidFill>
                  <a:schemeClr val="accent1"/>
                </a:solidFill>
                <a:latin typeface="微软雅黑" panose="020B0503020204020204" pitchFamily="34" charset="-122"/>
                <a:ea typeface="微软雅黑" panose="020B0503020204020204" pitchFamily="34" charset="-122"/>
              </a:rPr>
              <a:t>2026</a:t>
            </a:r>
            <a:r>
              <a:rPr lang="zh-CN" altLang="zh-CN" sz="4400" b="1">
                <a:solidFill>
                  <a:schemeClr val="accent1"/>
                </a:solidFill>
                <a:latin typeface="微软雅黑" panose="020B0503020204020204" pitchFamily="34" charset="-122"/>
                <a:ea typeface="微软雅黑" panose="020B0503020204020204" pitchFamily="34" charset="-122"/>
              </a:rPr>
              <a:t>年预算</a:t>
            </a:r>
            <a:r>
              <a:rPr lang="zh-CN" altLang="en-US" sz="4400" b="1">
                <a:solidFill>
                  <a:schemeClr val="accent1"/>
                </a:solidFill>
                <a:latin typeface="微软雅黑" panose="020B0503020204020204" pitchFamily="34" charset="-122"/>
                <a:ea typeface="微软雅黑" panose="020B0503020204020204" pitchFamily="34" charset="-122"/>
              </a:rPr>
              <a:t>启动</a:t>
            </a:r>
            <a:r>
              <a:rPr lang="zh-CN" altLang="zh-CN" sz="4400" b="1">
                <a:solidFill>
                  <a:schemeClr val="accent1"/>
                </a:solidFill>
                <a:latin typeface="微软雅黑" panose="020B0503020204020204" pitchFamily="34" charset="-122"/>
                <a:ea typeface="微软雅黑" panose="020B0503020204020204" pitchFamily="34" charset="-122"/>
              </a:rPr>
              <a:t>会议</a:t>
            </a:r>
            <a:endParaRPr lang="zh-CN" altLang="en-US" sz="4400" b="1" spc="300" dirty="0">
              <a:solidFill>
                <a:schemeClr val="accent1"/>
              </a:solidFill>
              <a:latin typeface="微软雅黑" panose="020B0503020204020204" pitchFamily="34" charset="-122"/>
              <a:ea typeface="微软雅黑" panose="020B0503020204020204" pitchFamily="34" charset="-122"/>
            </a:endParaRPr>
          </a:p>
        </p:txBody>
      </p:sp>
      <p:grpSp>
        <p:nvGrpSpPr>
          <p:cNvPr id="4" name="组合 3">
            <a:extLst>
              <a:ext uri="{FF2B5EF4-FFF2-40B4-BE49-F238E27FC236}">
                <a16:creationId xmlns:a16="http://schemas.microsoft.com/office/drawing/2014/main" id="{58EFCC00-1DD9-FE17-78C4-5522779BAC75}"/>
              </a:ext>
            </a:extLst>
          </p:cNvPr>
          <p:cNvGrpSpPr/>
          <p:nvPr/>
        </p:nvGrpSpPr>
        <p:grpSpPr>
          <a:xfrm>
            <a:off x="4253126" y="5493198"/>
            <a:ext cx="3685750" cy="317452"/>
            <a:chOff x="3685268" y="5670344"/>
            <a:chExt cx="4821465" cy="415269"/>
          </a:xfrm>
        </p:grpSpPr>
        <p:grpSp>
          <p:nvGrpSpPr>
            <p:cNvPr id="5" name="组合 4">
              <a:extLst>
                <a:ext uri="{FF2B5EF4-FFF2-40B4-BE49-F238E27FC236}">
                  <a16:creationId xmlns:a16="http://schemas.microsoft.com/office/drawing/2014/main" id="{12A23242-DB1F-F739-BB29-5C95AFCE39E4}"/>
                </a:ext>
              </a:extLst>
            </p:cNvPr>
            <p:cNvGrpSpPr/>
            <p:nvPr/>
          </p:nvGrpSpPr>
          <p:grpSpPr>
            <a:xfrm>
              <a:off x="3685268" y="5681169"/>
              <a:ext cx="4821465" cy="404444"/>
              <a:chOff x="4343317" y="5681169"/>
              <a:chExt cx="4821465" cy="404444"/>
            </a:xfrm>
          </p:grpSpPr>
          <p:pic>
            <p:nvPicPr>
              <p:cNvPr id="10" name="图形 9">
                <a:extLst>
                  <a:ext uri="{FF2B5EF4-FFF2-40B4-BE49-F238E27FC236}">
                    <a16:creationId xmlns:a16="http://schemas.microsoft.com/office/drawing/2014/main" id="{42EB03A6-C3CE-0E13-D3BA-FC9D9E19E16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343317" y="5681169"/>
                <a:ext cx="424455" cy="404444"/>
              </a:xfrm>
              <a:prstGeom prst="rect">
                <a:avLst/>
              </a:prstGeom>
            </p:spPr>
          </p:pic>
          <p:pic>
            <p:nvPicPr>
              <p:cNvPr id="11" name="图形 10">
                <a:extLst>
                  <a:ext uri="{FF2B5EF4-FFF2-40B4-BE49-F238E27FC236}">
                    <a16:creationId xmlns:a16="http://schemas.microsoft.com/office/drawing/2014/main" id="{121F286C-A981-B8E9-0533-BBF631A5CCBE}"/>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462581" y="5681169"/>
                <a:ext cx="404444" cy="404444"/>
              </a:xfrm>
              <a:prstGeom prst="rect">
                <a:avLst/>
              </a:prstGeom>
            </p:spPr>
          </p:pic>
          <p:pic>
            <p:nvPicPr>
              <p:cNvPr id="12" name="图形 11">
                <a:extLst>
                  <a:ext uri="{FF2B5EF4-FFF2-40B4-BE49-F238E27FC236}">
                    <a16:creationId xmlns:a16="http://schemas.microsoft.com/office/drawing/2014/main" id="{34B4193D-4928-50C7-737C-12AF62A83A39}"/>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561834" y="5681169"/>
                <a:ext cx="404444" cy="404444"/>
              </a:xfrm>
              <a:prstGeom prst="rect">
                <a:avLst/>
              </a:prstGeom>
            </p:spPr>
          </p:pic>
          <p:pic>
            <p:nvPicPr>
              <p:cNvPr id="13" name="图形 12">
                <a:extLst>
                  <a:ext uri="{FF2B5EF4-FFF2-40B4-BE49-F238E27FC236}">
                    <a16:creationId xmlns:a16="http://schemas.microsoft.com/office/drawing/2014/main" id="{77E316C3-D759-1124-FF63-D29F16611ED6}"/>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8760338" y="5681169"/>
                <a:ext cx="404444" cy="404444"/>
              </a:xfrm>
              <a:prstGeom prst="rect">
                <a:avLst/>
              </a:prstGeom>
            </p:spPr>
          </p:pic>
          <p:pic>
            <p:nvPicPr>
              <p:cNvPr id="14" name="图形 13">
                <a:extLst>
                  <a:ext uri="{FF2B5EF4-FFF2-40B4-BE49-F238E27FC236}">
                    <a16:creationId xmlns:a16="http://schemas.microsoft.com/office/drawing/2014/main" id="{9C4DD41A-7EAA-E5BA-C98D-20F38F3CAFA7}"/>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661087" y="5681169"/>
                <a:ext cx="404444" cy="404444"/>
              </a:xfrm>
              <a:prstGeom prst="rect">
                <a:avLst/>
              </a:prstGeom>
            </p:spPr>
          </p:pic>
        </p:grpSp>
        <p:cxnSp>
          <p:nvCxnSpPr>
            <p:cNvPr id="6" name="直线连接符 21">
              <a:extLst>
                <a:ext uri="{FF2B5EF4-FFF2-40B4-BE49-F238E27FC236}">
                  <a16:creationId xmlns:a16="http://schemas.microsoft.com/office/drawing/2014/main" id="{71DBAB80-8165-79B9-2A05-D83F78D7BF1E}"/>
                </a:ext>
              </a:extLst>
            </p:cNvPr>
            <p:cNvCxnSpPr>
              <a:cxnSpLocks/>
            </p:cNvCxnSpPr>
            <p:nvPr/>
          </p:nvCxnSpPr>
          <p:spPr>
            <a:xfrm>
              <a:off x="4397582" y="5670344"/>
              <a:ext cx="0" cy="415269"/>
            </a:xfrm>
            <a:prstGeom prst="line">
              <a:avLst/>
            </a:prstGeom>
            <a:ln w="12700">
              <a:solidFill>
                <a:schemeClr val="accent6">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直线连接符 23">
              <a:extLst>
                <a:ext uri="{FF2B5EF4-FFF2-40B4-BE49-F238E27FC236}">
                  <a16:creationId xmlns:a16="http://schemas.microsoft.com/office/drawing/2014/main" id="{89C0479E-C2D7-4F16-D814-3F0D53283AB7}"/>
                </a:ext>
              </a:extLst>
            </p:cNvPr>
            <p:cNvCxnSpPr>
              <a:cxnSpLocks/>
            </p:cNvCxnSpPr>
            <p:nvPr/>
          </p:nvCxnSpPr>
          <p:spPr>
            <a:xfrm>
              <a:off x="5519505" y="5670344"/>
              <a:ext cx="0" cy="415269"/>
            </a:xfrm>
            <a:prstGeom prst="line">
              <a:avLst/>
            </a:prstGeom>
            <a:ln w="12700">
              <a:solidFill>
                <a:schemeClr val="accent6">
                  <a:alpha val="50000"/>
                </a:schemeClr>
              </a:solidFill>
            </a:ln>
          </p:spPr>
          <p:style>
            <a:lnRef idx="1">
              <a:schemeClr val="accent1"/>
            </a:lnRef>
            <a:fillRef idx="0">
              <a:schemeClr val="accent1"/>
            </a:fillRef>
            <a:effectRef idx="0">
              <a:schemeClr val="accent1"/>
            </a:effectRef>
            <a:fontRef idx="minor">
              <a:schemeClr val="tx1"/>
            </a:fontRef>
          </p:style>
        </p:cxnSp>
        <p:cxnSp>
          <p:nvCxnSpPr>
            <p:cNvPr id="8" name="直线连接符 27">
              <a:extLst>
                <a:ext uri="{FF2B5EF4-FFF2-40B4-BE49-F238E27FC236}">
                  <a16:creationId xmlns:a16="http://schemas.microsoft.com/office/drawing/2014/main" id="{2449EC24-8AE9-8C79-4AB6-F941D70FF823}"/>
                </a:ext>
              </a:extLst>
            </p:cNvPr>
            <p:cNvCxnSpPr>
              <a:cxnSpLocks/>
            </p:cNvCxnSpPr>
            <p:nvPr/>
          </p:nvCxnSpPr>
          <p:spPr>
            <a:xfrm>
              <a:off x="6641428" y="5670344"/>
              <a:ext cx="0" cy="415269"/>
            </a:xfrm>
            <a:prstGeom prst="line">
              <a:avLst/>
            </a:prstGeom>
            <a:ln w="12700">
              <a:solidFill>
                <a:schemeClr val="accent6">
                  <a:alpha val="50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符 29">
              <a:extLst>
                <a:ext uri="{FF2B5EF4-FFF2-40B4-BE49-F238E27FC236}">
                  <a16:creationId xmlns:a16="http://schemas.microsoft.com/office/drawing/2014/main" id="{DA18624A-8D3F-543A-B3A0-59BCD671323B}"/>
                </a:ext>
              </a:extLst>
            </p:cNvPr>
            <p:cNvCxnSpPr>
              <a:cxnSpLocks/>
            </p:cNvCxnSpPr>
            <p:nvPr/>
          </p:nvCxnSpPr>
          <p:spPr>
            <a:xfrm>
              <a:off x="7763352" y="5670344"/>
              <a:ext cx="0" cy="415269"/>
            </a:xfrm>
            <a:prstGeom prst="line">
              <a:avLst/>
            </a:prstGeom>
            <a:ln w="12700">
              <a:solidFill>
                <a:schemeClr val="accent6">
                  <a:alpha val="50000"/>
                </a:schemeClr>
              </a:solidFill>
            </a:ln>
          </p:spPr>
          <p:style>
            <a:lnRef idx="1">
              <a:schemeClr val="accent1"/>
            </a:lnRef>
            <a:fillRef idx="0">
              <a:schemeClr val="accent1"/>
            </a:fillRef>
            <a:effectRef idx="0">
              <a:schemeClr val="accent1"/>
            </a:effectRef>
            <a:fontRef idx="minor">
              <a:schemeClr val="tx1"/>
            </a:fontRef>
          </p:style>
        </p:cxnSp>
      </p:grpSp>
      <p:cxnSp>
        <p:nvCxnSpPr>
          <p:cNvPr id="15" name="Straight Connector 17">
            <a:extLst>
              <a:ext uri="{FF2B5EF4-FFF2-40B4-BE49-F238E27FC236}">
                <a16:creationId xmlns:a16="http://schemas.microsoft.com/office/drawing/2014/main" id="{7ED2B643-885C-D388-A7F1-92CE62869526}"/>
              </a:ext>
            </a:extLst>
          </p:cNvPr>
          <p:cNvCxnSpPr>
            <a:cxnSpLocks/>
          </p:cNvCxnSpPr>
          <p:nvPr/>
        </p:nvCxnSpPr>
        <p:spPr>
          <a:xfrm>
            <a:off x="872109" y="3463177"/>
            <a:ext cx="0" cy="426244"/>
          </a:xfrm>
          <a:prstGeom prst="line">
            <a:avLst/>
          </a:prstGeom>
          <a:ln/>
        </p:spPr>
        <p:style>
          <a:lnRef idx="3">
            <a:schemeClr val="accent2"/>
          </a:lnRef>
          <a:fillRef idx="0">
            <a:schemeClr val="accent2"/>
          </a:fillRef>
          <a:effectRef idx="2">
            <a:schemeClr val="accent2"/>
          </a:effectRef>
          <a:fontRef idx="minor">
            <a:schemeClr val="tx1"/>
          </a:fontRef>
        </p:style>
      </p:cxnSp>
      <p:sp>
        <p:nvSpPr>
          <p:cNvPr id="16" name="TextBox 21">
            <a:extLst>
              <a:ext uri="{FF2B5EF4-FFF2-40B4-BE49-F238E27FC236}">
                <a16:creationId xmlns:a16="http://schemas.microsoft.com/office/drawing/2014/main" id="{4EF97837-6157-8810-9C79-34849F383320}"/>
              </a:ext>
            </a:extLst>
          </p:cNvPr>
          <p:cNvSpPr txBox="1"/>
          <p:nvPr/>
        </p:nvSpPr>
        <p:spPr>
          <a:xfrm>
            <a:off x="1047751" y="3404993"/>
            <a:ext cx="4286248" cy="525465"/>
          </a:xfrm>
          <a:prstGeom prst="rect">
            <a:avLst/>
          </a:prstGeom>
          <a:noFill/>
        </p:spPr>
        <p:txBody>
          <a:bodyPr wrap="square">
            <a:spAutoFit/>
          </a:bodyPr>
          <a:lstStyle/>
          <a:p>
            <a:pPr>
              <a:lnSpc>
                <a:spcPct val="150000"/>
              </a:lnSpc>
            </a:pPr>
            <a:r>
              <a:rPr lang="en-ID" sz="1000" dirty="0">
                <a:latin typeface="+mj-ea"/>
                <a:ea typeface="+mj-ea"/>
              </a:rPr>
              <a:t>XX</a:t>
            </a:r>
            <a:r>
              <a:rPr lang="zh-CN" altLang="en-US" sz="1000" dirty="0">
                <a:latin typeface="+mj-ea"/>
                <a:ea typeface="+mj-ea"/>
              </a:rPr>
              <a:t>年</a:t>
            </a:r>
            <a:r>
              <a:rPr lang="en-US" altLang="zh-CN" sz="1000" dirty="0">
                <a:latin typeface="+mj-ea"/>
                <a:ea typeface="+mj-ea"/>
              </a:rPr>
              <a:t>XX</a:t>
            </a:r>
            <a:r>
              <a:rPr lang="zh-CN" altLang="en-US" sz="1000" dirty="0">
                <a:latin typeface="+mj-ea"/>
                <a:ea typeface="+mj-ea"/>
              </a:rPr>
              <a:t>月</a:t>
            </a:r>
            <a:r>
              <a:rPr lang="en-US" altLang="zh-CN" sz="1000" dirty="0">
                <a:latin typeface="+mj-ea"/>
                <a:ea typeface="+mj-ea"/>
              </a:rPr>
              <a:t>XX</a:t>
            </a:r>
            <a:r>
              <a:rPr lang="zh-CN" altLang="en-US" sz="1000" dirty="0">
                <a:latin typeface="+mj-ea"/>
                <a:ea typeface="+mj-ea"/>
              </a:rPr>
              <a:t>日</a:t>
            </a:r>
            <a:endParaRPr lang="en-US" altLang="zh-CN" sz="1000" dirty="0">
              <a:latin typeface="+mj-ea"/>
              <a:ea typeface="+mj-ea"/>
            </a:endParaRPr>
          </a:p>
          <a:p>
            <a:pPr>
              <a:lnSpc>
                <a:spcPct val="150000"/>
              </a:lnSpc>
            </a:pPr>
            <a:r>
              <a:rPr lang="zh-CN" altLang="en-US" sz="1000">
                <a:latin typeface="+mj-ea"/>
                <a:ea typeface="+mj-ea"/>
              </a:rPr>
              <a:t>财务部</a:t>
            </a:r>
            <a:endParaRPr lang="en-ID" sz="1000" dirty="0">
              <a:latin typeface="+mj-ea"/>
              <a:ea typeface="+mj-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6C25385-F311-E16A-BE7D-5F12E16B8A83}"/>
              </a:ext>
            </a:extLst>
          </p:cNvPr>
          <p:cNvSpPr/>
          <p:nvPr/>
        </p:nvSpPr>
        <p:spPr>
          <a:xfrm>
            <a:off x="522612" y="1043016"/>
            <a:ext cx="11193138" cy="4214956"/>
          </a:xfrm>
          <a:prstGeom prst="rect">
            <a:avLst/>
          </a:prstGeom>
          <a:solidFill>
            <a:srgbClr val="F3F4F7"/>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sp>
        <p:nvSpPr>
          <p:cNvPr id="8" name="文本框 7">
            <a:extLst>
              <a:ext uri="{FF2B5EF4-FFF2-40B4-BE49-F238E27FC236}">
                <a16:creationId xmlns:a16="http://schemas.microsoft.com/office/drawing/2014/main" id="{92151D83-27F6-4946-A505-7E2235B4F714}"/>
              </a:ext>
            </a:extLst>
          </p:cNvPr>
          <p:cNvSpPr txBox="1"/>
          <p:nvPr/>
        </p:nvSpPr>
        <p:spPr>
          <a:xfrm>
            <a:off x="466941" y="193450"/>
            <a:ext cx="5583806" cy="523220"/>
          </a:xfrm>
          <a:prstGeom prst="rect">
            <a:avLst/>
          </a:prstGeom>
          <a:noFill/>
        </p:spPr>
        <p:txBody>
          <a:bodyPr wrap="square" rtlCol="0">
            <a:spAutoFit/>
          </a:bodyPr>
          <a:lstStyle/>
          <a:p>
            <a:r>
              <a:rPr lang="zh-CN" altLang="en-US" sz="2800" b="1" dirty="0">
                <a:solidFill>
                  <a:schemeClr val="tx2"/>
                </a:solidFill>
                <a:latin typeface="微软雅黑" panose="020B0503020204020204" pitchFamily="34" charset="-122"/>
                <a:ea typeface="微软雅黑" panose="020B0503020204020204" pitchFamily="34" charset="-122"/>
              </a:rPr>
              <a:t>预算是企业管理中的核心力量</a:t>
            </a:r>
          </a:p>
        </p:txBody>
      </p:sp>
      <p:cxnSp>
        <p:nvCxnSpPr>
          <p:cNvPr id="9" name="直线连接符 7">
            <a:extLst>
              <a:ext uri="{FF2B5EF4-FFF2-40B4-BE49-F238E27FC236}">
                <a16:creationId xmlns:a16="http://schemas.microsoft.com/office/drawing/2014/main" id="{042AD208-91A9-41CB-B4A7-BC037CD8D5E1}"/>
              </a:ext>
            </a:extLst>
          </p:cNvPr>
          <p:cNvCxnSpPr>
            <a:cxnSpLocks/>
          </p:cNvCxnSpPr>
          <p:nvPr/>
        </p:nvCxnSpPr>
        <p:spPr>
          <a:xfrm>
            <a:off x="522611" y="791094"/>
            <a:ext cx="11056273"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CA5482ED-BADC-BC24-3EC3-8B24926B88BF}"/>
              </a:ext>
            </a:extLst>
          </p:cNvPr>
          <p:cNvSpPr txBox="1"/>
          <p:nvPr/>
        </p:nvSpPr>
        <p:spPr>
          <a:xfrm>
            <a:off x="2779230" y="1556173"/>
            <a:ext cx="8222241" cy="3336426"/>
          </a:xfrm>
          <a:prstGeom prst="rect">
            <a:avLst/>
          </a:prstGeom>
          <a:noFill/>
        </p:spPr>
        <p:txBody>
          <a:bodyPr wrap="square" rtlCol="0">
            <a:spAutoFit/>
          </a:bodyPr>
          <a:lstStyle/>
          <a:p>
            <a:pPr>
              <a:lnSpc>
                <a:spcPct val="150000"/>
              </a:lnSpc>
            </a:pPr>
            <a:r>
              <a:rPr lang="zh-CN" altLang="en-US" sz="2400" b="1">
                <a:solidFill>
                  <a:schemeClr val="tx2"/>
                </a:solidFill>
              </a:rPr>
              <a:t>目标：保守稳健、战略聚焦、现金为王、弹性灵活</a:t>
            </a:r>
            <a:endParaRPr lang="en-US" altLang="zh-CN" sz="2400" b="1">
              <a:solidFill>
                <a:schemeClr val="tx2"/>
              </a:solidFill>
            </a:endParaRPr>
          </a:p>
          <a:p>
            <a:pPr>
              <a:lnSpc>
                <a:spcPct val="150000"/>
              </a:lnSpc>
            </a:pPr>
            <a:endParaRPr lang="en-US" altLang="zh-CN" sz="100" b="1">
              <a:solidFill>
                <a:schemeClr val="tx2"/>
              </a:solidFill>
            </a:endParaRPr>
          </a:p>
          <a:p>
            <a:pPr>
              <a:lnSpc>
                <a:spcPct val="150000"/>
              </a:lnSpc>
            </a:pPr>
            <a:r>
              <a:rPr lang="zh-CN" altLang="en-US" sz="2400" b="1">
                <a:solidFill>
                  <a:schemeClr val="tx2"/>
                </a:solidFill>
              </a:rPr>
              <a:t>预算</a:t>
            </a:r>
            <a:r>
              <a:rPr lang="zh-CN" altLang="en-US" sz="2400" b="1" dirty="0">
                <a:solidFill>
                  <a:schemeClr val="tx2"/>
                </a:solidFill>
              </a:rPr>
              <a:t>作为科学管理工具，帮助企业干盈之前先算赢</a:t>
            </a:r>
            <a:endParaRPr lang="en-US" altLang="zh-CN" sz="1600" b="1" dirty="0">
              <a:solidFill>
                <a:schemeClr val="accent2"/>
              </a:solidFill>
            </a:endParaRPr>
          </a:p>
          <a:p>
            <a:pPr marL="285750" indent="-285750">
              <a:lnSpc>
                <a:spcPct val="150000"/>
              </a:lnSpc>
              <a:buFont typeface="Wingdings" panose="05000000000000000000" pitchFamily="2" charset="2"/>
              <a:buChar char="p"/>
            </a:pPr>
            <a:endParaRPr lang="en-US" altLang="zh-CN" sz="1400" b="1" dirty="0">
              <a:solidFill>
                <a:schemeClr val="accent2"/>
              </a:solidFill>
            </a:endParaRPr>
          </a:p>
          <a:p>
            <a:pPr>
              <a:lnSpc>
                <a:spcPct val="150000"/>
              </a:lnSpc>
            </a:pPr>
            <a:r>
              <a:rPr lang="zh-CN" altLang="en-US" sz="2400" b="1" dirty="0">
                <a:solidFill>
                  <a:schemeClr val="accent2"/>
                </a:solidFill>
              </a:rPr>
              <a:t>算赢的两个关键时间节点</a:t>
            </a:r>
            <a:endParaRPr lang="en-US" altLang="zh-CN" sz="2400" b="1" dirty="0">
              <a:solidFill>
                <a:schemeClr val="accent2"/>
              </a:solidFill>
            </a:endParaRPr>
          </a:p>
          <a:p>
            <a:pPr marL="800100" lvl="1" indent="-342900">
              <a:lnSpc>
                <a:spcPct val="200000"/>
              </a:lnSpc>
              <a:buFont typeface="Wingdings" panose="05000000000000000000" pitchFamily="2" charset="2"/>
              <a:buChar char="ü"/>
            </a:pPr>
            <a:r>
              <a:rPr lang="zh-CN" altLang="en-US" sz="2000" b="1" dirty="0">
                <a:solidFill>
                  <a:schemeClr val="accent3">
                    <a:lumMod val="50000"/>
                  </a:schemeClr>
                </a:solidFill>
              </a:rPr>
              <a:t>生命周期投资测算：面向整个经营周期的全面测算</a:t>
            </a:r>
            <a:endParaRPr lang="en-US" altLang="zh-CN" sz="2000" b="1" dirty="0">
              <a:solidFill>
                <a:schemeClr val="accent3">
                  <a:lumMod val="50000"/>
                </a:schemeClr>
              </a:solidFill>
            </a:endParaRPr>
          </a:p>
          <a:p>
            <a:pPr marL="800100" lvl="1" indent="-342900">
              <a:lnSpc>
                <a:spcPct val="200000"/>
              </a:lnSpc>
              <a:buFont typeface="Wingdings" panose="05000000000000000000" pitchFamily="2" charset="2"/>
              <a:buChar char="ü"/>
            </a:pPr>
            <a:r>
              <a:rPr lang="zh-CN" altLang="en-US" sz="2000" b="1" dirty="0">
                <a:solidFill>
                  <a:schemeClr val="accent3">
                    <a:lumMod val="50000"/>
                  </a:schemeClr>
                </a:solidFill>
              </a:rPr>
              <a:t>年度预算：阶段性的预测</a:t>
            </a:r>
            <a:r>
              <a:rPr lang="zh-CN" altLang="en-US" sz="2000" b="1">
                <a:solidFill>
                  <a:schemeClr val="accent3">
                    <a:lumMod val="50000"/>
                  </a:schemeClr>
                </a:solidFill>
              </a:rPr>
              <a:t>及改善</a:t>
            </a:r>
            <a:endParaRPr lang="en-US" altLang="zh-CN" sz="2000" b="1" dirty="0">
              <a:solidFill>
                <a:schemeClr val="accent3">
                  <a:lumMod val="50000"/>
                </a:schemeClr>
              </a:solidFill>
            </a:endParaRPr>
          </a:p>
        </p:txBody>
      </p:sp>
      <p:sp>
        <p:nvSpPr>
          <p:cNvPr id="10" name="Oval 80">
            <a:extLst>
              <a:ext uri="{FF2B5EF4-FFF2-40B4-BE49-F238E27FC236}">
                <a16:creationId xmlns:a16="http://schemas.microsoft.com/office/drawing/2014/main" id="{5D3EED70-B087-4F11-8AAB-FA724CA5D914}"/>
              </a:ext>
            </a:extLst>
          </p:cNvPr>
          <p:cNvSpPr/>
          <p:nvPr/>
        </p:nvSpPr>
        <p:spPr>
          <a:xfrm>
            <a:off x="1613582" y="1600028"/>
            <a:ext cx="829969" cy="81731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ontserrat"/>
              <a:ea typeface="+mn-ea"/>
              <a:cs typeface="+mn-cs"/>
            </a:endParaRPr>
          </a:p>
        </p:txBody>
      </p:sp>
      <p:grpSp>
        <p:nvGrpSpPr>
          <p:cNvPr id="11" name="Group 83">
            <a:extLst>
              <a:ext uri="{FF2B5EF4-FFF2-40B4-BE49-F238E27FC236}">
                <a16:creationId xmlns:a16="http://schemas.microsoft.com/office/drawing/2014/main" id="{98BA19E6-FFBC-4A5A-8AAB-14E16D442A45}"/>
              </a:ext>
            </a:extLst>
          </p:cNvPr>
          <p:cNvGrpSpPr/>
          <p:nvPr/>
        </p:nvGrpSpPr>
        <p:grpSpPr>
          <a:xfrm>
            <a:off x="1840019" y="1840115"/>
            <a:ext cx="373428" cy="286174"/>
            <a:chOff x="-331788" y="6584950"/>
            <a:chExt cx="407988" cy="349251"/>
          </a:xfrm>
          <a:solidFill>
            <a:schemeClr val="bg1"/>
          </a:solidFill>
        </p:grpSpPr>
        <p:sp>
          <p:nvSpPr>
            <p:cNvPr id="12" name="Freeform 225">
              <a:extLst>
                <a:ext uri="{FF2B5EF4-FFF2-40B4-BE49-F238E27FC236}">
                  <a16:creationId xmlns:a16="http://schemas.microsoft.com/office/drawing/2014/main" id="{F1E8FC41-3397-4B25-B155-DE3DD1B9075E}"/>
                </a:ext>
              </a:extLst>
            </p:cNvPr>
            <p:cNvSpPr>
              <a:spLocks noEditPoints="1"/>
            </p:cNvSpPr>
            <p:nvPr/>
          </p:nvSpPr>
          <p:spPr bwMode="auto">
            <a:xfrm>
              <a:off x="-331788" y="6584950"/>
              <a:ext cx="407988" cy="300038"/>
            </a:xfrm>
            <a:custGeom>
              <a:avLst/>
              <a:gdLst>
                <a:gd name="T0" fmla="*/ 6 w 71"/>
                <a:gd name="T1" fmla="*/ 49 h 49"/>
                <a:gd name="T2" fmla="*/ 66 w 71"/>
                <a:gd name="T3" fmla="*/ 49 h 49"/>
                <a:gd name="T4" fmla="*/ 71 w 71"/>
                <a:gd name="T5" fmla="*/ 43 h 49"/>
                <a:gd name="T6" fmla="*/ 71 w 71"/>
                <a:gd name="T7" fmla="*/ 6 h 49"/>
                <a:gd name="T8" fmla="*/ 66 w 71"/>
                <a:gd name="T9" fmla="*/ 0 h 49"/>
                <a:gd name="T10" fmla="*/ 6 w 71"/>
                <a:gd name="T11" fmla="*/ 0 h 49"/>
                <a:gd name="T12" fmla="*/ 0 w 71"/>
                <a:gd name="T13" fmla="*/ 6 h 49"/>
                <a:gd name="T14" fmla="*/ 0 w 71"/>
                <a:gd name="T15" fmla="*/ 43 h 49"/>
                <a:gd name="T16" fmla="*/ 6 w 71"/>
                <a:gd name="T17" fmla="*/ 49 h 49"/>
                <a:gd name="T18" fmla="*/ 5 w 71"/>
                <a:gd name="T19" fmla="*/ 6 h 49"/>
                <a:gd name="T20" fmla="*/ 6 w 71"/>
                <a:gd name="T21" fmla="*/ 5 h 49"/>
                <a:gd name="T22" fmla="*/ 66 w 71"/>
                <a:gd name="T23" fmla="*/ 5 h 49"/>
                <a:gd name="T24" fmla="*/ 66 w 71"/>
                <a:gd name="T25" fmla="*/ 6 h 49"/>
                <a:gd name="T26" fmla="*/ 66 w 71"/>
                <a:gd name="T27" fmla="*/ 43 h 49"/>
                <a:gd name="T28" fmla="*/ 66 w 71"/>
                <a:gd name="T29" fmla="*/ 44 h 49"/>
                <a:gd name="T30" fmla="*/ 6 w 71"/>
                <a:gd name="T31" fmla="*/ 44 h 49"/>
                <a:gd name="T32" fmla="*/ 5 w 71"/>
                <a:gd name="T33" fmla="*/ 43 h 49"/>
                <a:gd name="T34" fmla="*/ 5 w 71"/>
                <a:gd name="T35" fmla="*/ 6 h 49"/>
                <a:gd name="T36" fmla="*/ 5 w 71"/>
                <a:gd name="T37" fmla="*/ 6 h 49"/>
                <a:gd name="T38" fmla="*/ 5 w 71"/>
                <a:gd name="T39" fmla="*/ 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1" h="49">
                  <a:moveTo>
                    <a:pt x="6" y="49"/>
                  </a:moveTo>
                  <a:cubicBezTo>
                    <a:pt x="66" y="49"/>
                    <a:pt x="66" y="49"/>
                    <a:pt x="66" y="49"/>
                  </a:cubicBezTo>
                  <a:cubicBezTo>
                    <a:pt x="68" y="49"/>
                    <a:pt x="71" y="46"/>
                    <a:pt x="71" y="43"/>
                  </a:cubicBezTo>
                  <a:cubicBezTo>
                    <a:pt x="71" y="6"/>
                    <a:pt x="71" y="6"/>
                    <a:pt x="71" y="6"/>
                  </a:cubicBezTo>
                  <a:cubicBezTo>
                    <a:pt x="71" y="3"/>
                    <a:pt x="68" y="0"/>
                    <a:pt x="66" y="0"/>
                  </a:cubicBezTo>
                  <a:cubicBezTo>
                    <a:pt x="6" y="0"/>
                    <a:pt x="6" y="0"/>
                    <a:pt x="6" y="0"/>
                  </a:cubicBezTo>
                  <a:cubicBezTo>
                    <a:pt x="3" y="0"/>
                    <a:pt x="0" y="3"/>
                    <a:pt x="0" y="6"/>
                  </a:cubicBezTo>
                  <a:cubicBezTo>
                    <a:pt x="0" y="43"/>
                    <a:pt x="0" y="43"/>
                    <a:pt x="0" y="43"/>
                  </a:cubicBezTo>
                  <a:cubicBezTo>
                    <a:pt x="0" y="46"/>
                    <a:pt x="3" y="49"/>
                    <a:pt x="6" y="49"/>
                  </a:cubicBezTo>
                  <a:close/>
                  <a:moveTo>
                    <a:pt x="5" y="6"/>
                  </a:moveTo>
                  <a:cubicBezTo>
                    <a:pt x="5" y="5"/>
                    <a:pt x="5" y="5"/>
                    <a:pt x="6" y="5"/>
                  </a:cubicBezTo>
                  <a:cubicBezTo>
                    <a:pt x="66" y="5"/>
                    <a:pt x="66" y="5"/>
                    <a:pt x="66" y="5"/>
                  </a:cubicBezTo>
                  <a:cubicBezTo>
                    <a:pt x="66" y="5"/>
                    <a:pt x="66" y="5"/>
                    <a:pt x="66" y="6"/>
                  </a:cubicBezTo>
                  <a:cubicBezTo>
                    <a:pt x="66" y="43"/>
                    <a:pt x="66" y="43"/>
                    <a:pt x="66" y="43"/>
                  </a:cubicBezTo>
                  <a:cubicBezTo>
                    <a:pt x="66" y="44"/>
                    <a:pt x="66" y="44"/>
                    <a:pt x="66" y="44"/>
                  </a:cubicBezTo>
                  <a:cubicBezTo>
                    <a:pt x="6" y="44"/>
                    <a:pt x="6" y="44"/>
                    <a:pt x="6" y="44"/>
                  </a:cubicBezTo>
                  <a:cubicBezTo>
                    <a:pt x="5" y="44"/>
                    <a:pt x="5" y="44"/>
                    <a:pt x="5" y="43"/>
                  </a:cubicBezTo>
                  <a:lnTo>
                    <a:pt x="5" y="6"/>
                  </a:lnTo>
                  <a:close/>
                  <a:moveTo>
                    <a:pt x="5" y="6"/>
                  </a:moveTo>
                  <a:cubicBezTo>
                    <a:pt x="5" y="6"/>
                    <a:pt x="5" y="6"/>
                    <a:pt x="5" y="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Montserrat"/>
                <a:ea typeface="+mn-ea"/>
                <a:cs typeface="+mn-cs"/>
              </a:endParaRPr>
            </a:p>
          </p:txBody>
        </p:sp>
        <p:sp>
          <p:nvSpPr>
            <p:cNvPr id="13" name="Freeform 226">
              <a:extLst>
                <a:ext uri="{FF2B5EF4-FFF2-40B4-BE49-F238E27FC236}">
                  <a16:creationId xmlns:a16="http://schemas.microsoft.com/office/drawing/2014/main" id="{8E6A937B-EB40-424C-9A4D-6D293B06CE97}"/>
                </a:ext>
              </a:extLst>
            </p:cNvPr>
            <p:cNvSpPr>
              <a:spLocks noEditPoints="1"/>
            </p:cNvSpPr>
            <p:nvPr/>
          </p:nvSpPr>
          <p:spPr bwMode="auto">
            <a:xfrm>
              <a:off x="-331788" y="6891338"/>
              <a:ext cx="407988" cy="42863"/>
            </a:xfrm>
            <a:custGeom>
              <a:avLst/>
              <a:gdLst>
                <a:gd name="T0" fmla="*/ 67 w 71"/>
                <a:gd name="T1" fmla="*/ 0 h 7"/>
                <a:gd name="T2" fmla="*/ 4 w 71"/>
                <a:gd name="T3" fmla="*/ 0 h 7"/>
                <a:gd name="T4" fmla="*/ 0 w 71"/>
                <a:gd name="T5" fmla="*/ 4 h 7"/>
                <a:gd name="T6" fmla="*/ 4 w 71"/>
                <a:gd name="T7" fmla="*/ 7 h 7"/>
                <a:gd name="T8" fmla="*/ 67 w 71"/>
                <a:gd name="T9" fmla="*/ 7 h 7"/>
                <a:gd name="T10" fmla="*/ 71 w 71"/>
                <a:gd name="T11" fmla="*/ 4 h 7"/>
                <a:gd name="T12" fmla="*/ 67 w 71"/>
                <a:gd name="T13" fmla="*/ 0 h 7"/>
                <a:gd name="T14" fmla="*/ 67 w 71"/>
                <a:gd name="T15" fmla="*/ 0 h 7"/>
                <a:gd name="T16" fmla="*/ 67 w 71"/>
                <a:gd name="T17"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7">
                  <a:moveTo>
                    <a:pt x="67" y="0"/>
                  </a:moveTo>
                  <a:cubicBezTo>
                    <a:pt x="4" y="0"/>
                    <a:pt x="4" y="0"/>
                    <a:pt x="4" y="0"/>
                  </a:cubicBezTo>
                  <a:cubicBezTo>
                    <a:pt x="2" y="0"/>
                    <a:pt x="0" y="2"/>
                    <a:pt x="0" y="4"/>
                  </a:cubicBezTo>
                  <a:cubicBezTo>
                    <a:pt x="0" y="6"/>
                    <a:pt x="2" y="7"/>
                    <a:pt x="4" y="7"/>
                  </a:cubicBezTo>
                  <a:cubicBezTo>
                    <a:pt x="67" y="7"/>
                    <a:pt x="67" y="7"/>
                    <a:pt x="67" y="7"/>
                  </a:cubicBezTo>
                  <a:cubicBezTo>
                    <a:pt x="69" y="7"/>
                    <a:pt x="71" y="6"/>
                    <a:pt x="71" y="4"/>
                  </a:cubicBezTo>
                  <a:cubicBezTo>
                    <a:pt x="71" y="2"/>
                    <a:pt x="69" y="0"/>
                    <a:pt x="67" y="0"/>
                  </a:cubicBezTo>
                  <a:close/>
                  <a:moveTo>
                    <a:pt x="67" y="0"/>
                  </a:moveTo>
                  <a:cubicBezTo>
                    <a:pt x="67" y="0"/>
                    <a:pt x="67" y="0"/>
                    <a:pt x="67"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Montserrat"/>
                <a:ea typeface="+mn-ea"/>
                <a:cs typeface="+mn-cs"/>
              </a:endParaRPr>
            </a:p>
          </p:txBody>
        </p:sp>
        <p:sp>
          <p:nvSpPr>
            <p:cNvPr id="14" name="Freeform 227">
              <a:extLst>
                <a:ext uri="{FF2B5EF4-FFF2-40B4-BE49-F238E27FC236}">
                  <a16:creationId xmlns:a16="http://schemas.microsoft.com/office/drawing/2014/main" id="{B95377A5-16BF-43F9-8A63-1453DEB17D73}"/>
                </a:ext>
              </a:extLst>
            </p:cNvPr>
            <p:cNvSpPr>
              <a:spLocks noEditPoints="1"/>
            </p:cNvSpPr>
            <p:nvPr/>
          </p:nvSpPr>
          <p:spPr bwMode="auto">
            <a:xfrm>
              <a:off x="-217488" y="6640513"/>
              <a:ext cx="177800" cy="190500"/>
            </a:xfrm>
            <a:custGeom>
              <a:avLst/>
              <a:gdLst>
                <a:gd name="T0" fmla="*/ 16 w 31"/>
                <a:gd name="T1" fmla="*/ 31 h 31"/>
                <a:gd name="T2" fmla="*/ 31 w 31"/>
                <a:gd name="T3" fmla="*/ 15 h 31"/>
                <a:gd name="T4" fmla="*/ 16 w 31"/>
                <a:gd name="T5" fmla="*/ 0 h 31"/>
                <a:gd name="T6" fmla="*/ 0 w 31"/>
                <a:gd name="T7" fmla="*/ 15 h 31"/>
                <a:gd name="T8" fmla="*/ 16 w 31"/>
                <a:gd name="T9" fmla="*/ 31 h 31"/>
                <a:gd name="T10" fmla="*/ 14 w 31"/>
                <a:gd name="T11" fmla="*/ 7 h 31"/>
                <a:gd name="T12" fmla="*/ 14 w 31"/>
                <a:gd name="T13" fmla="*/ 6 h 31"/>
                <a:gd name="T14" fmla="*/ 15 w 31"/>
                <a:gd name="T15" fmla="*/ 5 h 31"/>
                <a:gd name="T16" fmla="*/ 17 w 31"/>
                <a:gd name="T17" fmla="*/ 6 h 31"/>
                <a:gd name="T18" fmla="*/ 17 w 31"/>
                <a:gd name="T19" fmla="*/ 7 h 31"/>
                <a:gd name="T20" fmla="*/ 19 w 31"/>
                <a:gd name="T21" fmla="*/ 8 h 31"/>
                <a:gd name="T22" fmla="*/ 20 w 31"/>
                <a:gd name="T23" fmla="*/ 9 h 31"/>
                <a:gd name="T24" fmla="*/ 20 w 31"/>
                <a:gd name="T25" fmla="*/ 9 h 31"/>
                <a:gd name="T26" fmla="*/ 19 w 31"/>
                <a:gd name="T27" fmla="*/ 10 h 31"/>
                <a:gd name="T28" fmla="*/ 18 w 31"/>
                <a:gd name="T29" fmla="*/ 10 h 31"/>
                <a:gd name="T30" fmla="*/ 16 w 31"/>
                <a:gd name="T31" fmla="*/ 10 h 31"/>
                <a:gd name="T32" fmla="*/ 14 w 31"/>
                <a:gd name="T33" fmla="*/ 11 h 31"/>
                <a:gd name="T34" fmla="*/ 17 w 31"/>
                <a:gd name="T35" fmla="*/ 14 h 31"/>
                <a:gd name="T36" fmla="*/ 21 w 31"/>
                <a:gd name="T37" fmla="*/ 18 h 31"/>
                <a:gd name="T38" fmla="*/ 17 w 31"/>
                <a:gd name="T39" fmla="*/ 23 h 31"/>
                <a:gd name="T40" fmla="*/ 17 w 31"/>
                <a:gd name="T41" fmla="*/ 25 h 31"/>
                <a:gd name="T42" fmla="*/ 15 w 31"/>
                <a:gd name="T43" fmla="*/ 26 h 31"/>
                <a:gd name="T44" fmla="*/ 14 w 31"/>
                <a:gd name="T45" fmla="*/ 25 h 31"/>
                <a:gd name="T46" fmla="*/ 14 w 31"/>
                <a:gd name="T47" fmla="*/ 23 h 31"/>
                <a:gd name="T48" fmla="*/ 11 w 31"/>
                <a:gd name="T49" fmla="*/ 23 h 31"/>
                <a:gd name="T50" fmla="*/ 10 w 31"/>
                <a:gd name="T51" fmla="*/ 21 h 31"/>
                <a:gd name="T52" fmla="*/ 10 w 31"/>
                <a:gd name="T53" fmla="*/ 21 h 31"/>
                <a:gd name="T54" fmla="*/ 11 w 31"/>
                <a:gd name="T55" fmla="*/ 20 h 31"/>
                <a:gd name="T56" fmla="*/ 12 w 31"/>
                <a:gd name="T57" fmla="*/ 20 h 31"/>
                <a:gd name="T58" fmla="*/ 15 w 31"/>
                <a:gd name="T59" fmla="*/ 20 h 31"/>
                <a:gd name="T60" fmla="*/ 17 w 31"/>
                <a:gd name="T61" fmla="*/ 19 h 31"/>
                <a:gd name="T62" fmla="*/ 15 w 31"/>
                <a:gd name="T63" fmla="*/ 17 h 31"/>
                <a:gd name="T64" fmla="*/ 10 w 31"/>
                <a:gd name="T65" fmla="*/ 12 h 31"/>
                <a:gd name="T66" fmla="*/ 14 w 31"/>
                <a:gd name="T67" fmla="*/ 7 h 31"/>
                <a:gd name="T68" fmla="*/ 14 w 31"/>
                <a:gd name="T69" fmla="*/ 7 h 31"/>
                <a:gd name="T70" fmla="*/ 14 w 31"/>
                <a:gd name="T71" fmla="*/ 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1" h="31">
                  <a:moveTo>
                    <a:pt x="16" y="31"/>
                  </a:moveTo>
                  <a:cubicBezTo>
                    <a:pt x="24" y="31"/>
                    <a:pt x="31" y="24"/>
                    <a:pt x="31" y="15"/>
                  </a:cubicBezTo>
                  <a:cubicBezTo>
                    <a:pt x="31" y="7"/>
                    <a:pt x="24" y="0"/>
                    <a:pt x="16" y="0"/>
                  </a:cubicBezTo>
                  <a:cubicBezTo>
                    <a:pt x="7" y="0"/>
                    <a:pt x="0" y="7"/>
                    <a:pt x="0" y="15"/>
                  </a:cubicBezTo>
                  <a:cubicBezTo>
                    <a:pt x="0" y="24"/>
                    <a:pt x="7" y="31"/>
                    <a:pt x="16" y="31"/>
                  </a:cubicBezTo>
                  <a:close/>
                  <a:moveTo>
                    <a:pt x="14" y="7"/>
                  </a:moveTo>
                  <a:cubicBezTo>
                    <a:pt x="14" y="6"/>
                    <a:pt x="14" y="6"/>
                    <a:pt x="14" y="6"/>
                  </a:cubicBezTo>
                  <a:cubicBezTo>
                    <a:pt x="14" y="6"/>
                    <a:pt x="15" y="5"/>
                    <a:pt x="15" y="5"/>
                  </a:cubicBezTo>
                  <a:cubicBezTo>
                    <a:pt x="16" y="5"/>
                    <a:pt x="17" y="6"/>
                    <a:pt x="17" y="6"/>
                  </a:cubicBezTo>
                  <a:cubicBezTo>
                    <a:pt x="17" y="7"/>
                    <a:pt x="17" y="7"/>
                    <a:pt x="17" y="7"/>
                  </a:cubicBezTo>
                  <a:cubicBezTo>
                    <a:pt x="18" y="7"/>
                    <a:pt x="18" y="7"/>
                    <a:pt x="19" y="8"/>
                  </a:cubicBezTo>
                  <a:cubicBezTo>
                    <a:pt x="20" y="8"/>
                    <a:pt x="20" y="9"/>
                    <a:pt x="20" y="9"/>
                  </a:cubicBezTo>
                  <a:cubicBezTo>
                    <a:pt x="20" y="9"/>
                    <a:pt x="20" y="9"/>
                    <a:pt x="20" y="9"/>
                  </a:cubicBezTo>
                  <a:cubicBezTo>
                    <a:pt x="20" y="10"/>
                    <a:pt x="20" y="10"/>
                    <a:pt x="19" y="10"/>
                  </a:cubicBezTo>
                  <a:cubicBezTo>
                    <a:pt x="19" y="10"/>
                    <a:pt x="19" y="11"/>
                    <a:pt x="18" y="10"/>
                  </a:cubicBezTo>
                  <a:cubicBezTo>
                    <a:pt x="18" y="10"/>
                    <a:pt x="17" y="10"/>
                    <a:pt x="16" y="10"/>
                  </a:cubicBezTo>
                  <a:cubicBezTo>
                    <a:pt x="14" y="10"/>
                    <a:pt x="14" y="11"/>
                    <a:pt x="14" y="11"/>
                  </a:cubicBezTo>
                  <a:cubicBezTo>
                    <a:pt x="14" y="12"/>
                    <a:pt x="15" y="13"/>
                    <a:pt x="17" y="14"/>
                  </a:cubicBezTo>
                  <a:cubicBezTo>
                    <a:pt x="20" y="15"/>
                    <a:pt x="21" y="16"/>
                    <a:pt x="21" y="18"/>
                  </a:cubicBezTo>
                  <a:cubicBezTo>
                    <a:pt x="21" y="21"/>
                    <a:pt x="20" y="23"/>
                    <a:pt x="17" y="23"/>
                  </a:cubicBezTo>
                  <a:cubicBezTo>
                    <a:pt x="17" y="25"/>
                    <a:pt x="17" y="25"/>
                    <a:pt x="17" y="25"/>
                  </a:cubicBezTo>
                  <a:cubicBezTo>
                    <a:pt x="17" y="25"/>
                    <a:pt x="16" y="26"/>
                    <a:pt x="15" y="26"/>
                  </a:cubicBezTo>
                  <a:cubicBezTo>
                    <a:pt x="15" y="26"/>
                    <a:pt x="14" y="25"/>
                    <a:pt x="14" y="25"/>
                  </a:cubicBezTo>
                  <a:cubicBezTo>
                    <a:pt x="14" y="23"/>
                    <a:pt x="14" y="23"/>
                    <a:pt x="14" y="23"/>
                  </a:cubicBezTo>
                  <a:cubicBezTo>
                    <a:pt x="13" y="23"/>
                    <a:pt x="12" y="23"/>
                    <a:pt x="11" y="23"/>
                  </a:cubicBezTo>
                  <a:cubicBezTo>
                    <a:pt x="10" y="23"/>
                    <a:pt x="10" y="22"/>
                    <a:pt x="10" y="21"/>
                  </a:cubicBezTo>
                  <a:cubicBezTo>
                    <a:pt x="10" y="21"/>
                    <a:pt x="10" y="21"/>
                    <a:pt x="10" y="21"/>
                  </a:cubicBezTo>
                  <a:cubicBezTo>
                    <a:pt x="10" y="20"/>
                    <a:pt x="11" y="20"/>
                    <a:pt x="11" y="20"/>
                  </a:cubicBezTo>
                  <a:cubicBezTo>
                    <a:pt x="11" y="20"/>
                    <a:pt x="12" y="20"/>
                    <a:pt x="12" y="20"/>
                  </a:cubicBezTo>
                  <a:cubicBezTo>
                    <a:pt x="13" y="20"/>
                    <a:pt x="14" y="20"/>
                    <a:pt x="15" y="20"/>
                  </a:cubicBezTo>
                  <a:cubicBezTo>
                    <a:pt x="16" y="20"/>
                    <a:pt x="17" y="20"/>
                    <a:pt x="17" y="19"/>
                  </a:cubicBezTo>
                  <a:cubicBezTo>
                    <a:pt x="17" y="18"/>
                    <a:pt x="16" y="17"/>
                    <a:pt x="15" y="17"/>
                  </a:cubicBezTo>
                  <a:cubicBezTo>
                    <a:pt x="12" y="16"/>
                    <a:pt x="10" y="14"/>
                    <a:pt x="10" y="12"/>
                  </a:cubicBezTo>
                  <a:cubicBezTo>
                    <a:pt x="10" y="10"/>
                    <a:pt x="12" y="8"/>
                    <a:pt x="14" y="7"/>
                  </a:cubicBezTo>
                  <a:close/>
                  <a:moveTo>
                    <a:pt x="14" y="7"/>
                  </a:moveTo>
                  <a:cubicBezTo>
                    <a:pt x="14" y="7"/>
                    <a:pt x="14" y="7"/>
                    <a:pt x="14"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Montserrat"/>
                <a:ea typeface="+mn-ea"/>
                <a:cs typeface="+mn-cs"/>
              </a:endParaRPr>
            </a:p>
          </p:txBody>
        </p:sp>
      </p:grpSp>
      <p:sp>
        <p:nvSpPr>
          <p:cNvPr id="15" name="Oval 92">
            <a:extLst>
              <a:ext uri="{FF2B5EF4-FFF2-40B4-BE49-F238E27FC236}">
                <a16:creationId xmlns:a16="http://schemas.microsoft.com/office/drawing/2014/main" id="{3FF06CC3-474C-4519-B4CB-82639688F91E}"/>
              </a:ext>
            </a:extLst>
          </p:cNvPr>
          <p:cNvSpPr/>
          <p:nvPr/>
        </p:nvSpPr>
        <p:spPr>
          <a:xfrm>
            <a:off x="1657085" y="3156818"/>
            <a:ext cx="829969" cy="8173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Montserrat"/>
              <a:ea typeface="+mn-ea"/>
              <a:cs typeface="+mn-cs"/>
            </a:endParaRPr>
          </a:p>
        </p:txBody>
      </p:sp>
      <p:grpSp>
        <p:nvGrpSpPr>
          <p:cNvPr id="16" name="Group 95">
            <a:extLst>
              <a:ext uri="{FF2B5EF4-FFF2-40B4-BE49-F238E27FC236}">
                <a16:creationId xmlns:a16="http://schemas.microsoft.com/office/drawing/2014/main" id="{A1AB7E1D-F92F-450B-A5F3-91F72531BA80}"/>
              </a:ext>
            </a:extLst>
          </p:cNvPr>
          <p:cNvGrpSpPr/>
          <p:nvPr/>
        </p:nvGrpSpPr>
        <p:grpSpPr>
          <a:xfrm>
            <a:off x="1849023" y="3462133"/>
            <a:ext cx="440972" cy="206681"/>
            <a:chOff x="18083213" y="9961563"/>
            <a:chExt cx="573087" cy="300038"/>
          </a:xfrm>
          <a:solidFill>
            <a:schemeClr val="bg1"/>
          </a:solidFill>
        </p:grpSpPr>
        <p:sp>
          <p:nvSpPr>
            <p:cNvPr id="17" name="Freeform 214">
              <a:extLst>
                <a:ext uri="{FF2B5EF4-FFF2-40B4-BE49-F238E27FC236}">
                  <a16:creationId xmlns:a16="http://schemas.microsoft.com/office/drawing/2014/main" id="{B912DE75-57B9-4265-99CB-C1F425D6F905}"/>
                </a:ext>
              </a:extLst>
            </p:cNvPr>
            <p:cNvSpPr>
              <a:spLocks noEditPoints="1"/>
            </p:cNvSpPr>
            <p:nvPr/>
          </p:nvSpPr>
          <p:spPr bwMode="auto">
            <a:xfrm>
              <a:off x="18083213" y="9961563"/>
              <a:ext cx="269875" cy="300038"/>
            </a:xfrm>
            <a:custGeom>
              <a:avLst/>
              <a:gdLst>
                <a:gd name="T0" fmla="*/ 44 w 47"/>
                <a:gd name="T1" fmla="*/ 32 h 49"/>
                <a:gd name="T2" fmla="*/ 40 w 47"/>
                <a:gd name="T3" fmla="*/ 33 h 49"/>
                <a:gd name="T4" fmla="*/ 24 w 47"/>
                <a:gd name="T5" fmla="*/ 43 h 49"/>
                <a:gd name="T6" fmla="*/ 5 w 47"/>
                <a:gd name="T7" fmla="*/ 25 h 49"/>
                <a:gd name="T8" fmla="*/ 24 w 47"/>
                <a:gd name="T9" fmla="*/ 6 h 49"/>
                <a:gd name="T10" fmla="*/ 41 w 47"/>
                <a:gd name="T11" fmla="*/ 18 h 49"/>
                <a:gd name="T12" fmla="*/ 44 w 47"/>
                <a:gd name="T13" fmla="*/ 19 h 49"/>
                <a:gd name="T14" fmla="*/ 46 w 47"/>
                <a:gd name="T15" fmla="*/ 16 h 49"/>
                <a:gd name="T16" fmla="*/ 24 w 47"/>
                <a:gd name="T17" fmla="*/ 0 h 49"/>
                <a:gd name="T18" fmla="*/ 0 w 47"/>
                <a:gd name="T19" fmla="*/ 25 h 49"/>
                <a:gd name="T20" fmla="*/ 24 w 47"/>
                <a:gd name="T21" fmla="*/ 49 h 49"/>
                <a:gd name="T22" fmla="*/ 45 w 47"/>
                <a:gd name="T23" fmla="*/ 36 h 49"/>
                <a:gd name="T24" fmla="*/ 44 w 47"/>
                <a:gd name="T25" fmla="*/ 32 h 49"/>
                <a:gd name="T26" fmla="*/ 44 w 47"/>
                <a:gd name="T27" fmla="*/ 32 h 49"/>
                <a:gd name="T28" fmla="*/ 44 w 47"/>
                <a:gd name="T29" fmla="*/ 3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 h="49">
                  <a:moveTo>
                    <a:pt x="44" y="32"/>
                  </a:moveTo>
                  <a:cubicBezTo>
                    <a:pt x="42" y="31"/>
                    <a:pt x="41" y="32"/>
                    <a:pt x="40" y="33"/>
                  </a:cubicBezTo>
                  <a:cubicBezTo>
                    <a:pt x="37" y="39"/>
                    <a:pt x="30" y="43"/>
                    <a:pt x="24" y="43"/>
                  </a:cubicBezTo>
                  <a:cubicBezTo>
                    <a:pt x="13" y="43"/>
                    <a:pt x="5" y="35"/>
                    <a:pt x="5" y="25"/>
                  </a:cubicBezTo>
                  <a:cubicBezTo>
                    <a:pt x="5" y="14"/>
                    <a:pt x="13" y="6"/>
                    <a:pt x="24" y="6"/>
                  </a:cubicBezTo>
                  <a:cubicBezTo>
                    <a:pt x="31" y="6"/>
                    <a:pt x="38" y="11"/>
                    <a:pt x="41" y="18"/>
                  </a:cubicBezTo>
                  <a:cubicBezTo>
                    <a:pt x="41" y="19"/>
                    <a:pt x="43" y="20"/>
                    <a:pt x="44" y="19"/>
                  </a:cubicBezTo>
                  <a:cubicBezTo>
                    <a:pt x="46" y="19"/>
                    <a:pt x="47" y="17"/>
                    <a:pt x="46" y="16"/>
                  </a:cubicBezTo>
                  <a:cubicBezTo>
                    <a:pt x="42" y="6"/>
                    <a:pt x="33" y="0"/>
                    <a:pt x="24" y="0"/>
                  </a:cubicBezTo>
                  <a:cubicBezTo>
                    <a:pt x="10" y="0"/>
                    <a:pt x="0" y="11"/>
                    <a:pt x="0" y="25"/>
                  </a:cubicBezTo>
                  <a:cubicBezTo>
                    <a:pt x="0" y="38"/>
                    <a:pt x="10" y="49"/>
                    <a:pt x="24" y="49"/>
                  </a:cubicBezTo>
                  <a:cubicBezTo>
                    <a:pt x="32" y="49"/>
                    <a:pt x="41" y="44"/>
                    <a:pt x="45" y="36"/>
                  </a:cubicBezTo>
                  <a:cubicBezTo>
                    <a:pt x="46" y="35"/>
                    <a:pt x="45" y="33"/>
                    <a:pt x="44" y="32"/>
                  </a:cubicBezTo>
                  <a:close/>
                  <a:moveTo>
                    <a:pt x="44" y="32"/>
                  </a:moveTo>
                  <a:cubicBezTo>
                    <a:pt x="44" y="32"/>
                    <a:pt x="44" y="32"/>
                    <a:pt x="44" y="3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Montserrat"/>
                <a:ea typeface="+mn-ea"/>
                <a:cs typeface="+mn-cs"/>
              </a:endParaRPr>
            </a:p>
          </p:txBody>
        </p:sp>
        <p:sp>
          <p:nvSpPr>
            <p:cNvPr id="18" name="Freeform 215">
              <a:extLst>
                <a:ext uri="{FF2B5EF4-FFF2-40B4-BE49-F238E27FC236}">
                  <a16:creationId xmlns:a16="http://schemas.microsoft.com/office/drawing/2014/main" id="{72A59ADE-1883-4ACC-8C9C-147519064A07}"/>
                </a:ext>
              </a:extLst>
            </p:cNvPr>
            <p:cNvSpPr>
              <a:spLocks noEditPoints="1"/>
            </p:cNvSpPr>
            <p:nvPr/>
          </p:nvSpPr>
          <p:spPr bwMode="auto">
            <a:xfrm>
              <a:off x="18386425" y="9961563"/>
              <a:ext cx="269875" cy="300038"/>
            </a:xfrm>
            <a:custGeom>
              <a:avLst/>
              <a:gdLst>
                <a:gd name="T0" fmla="*/ 23 w 47"/>
                <a:gd name="T1" fmla="*/ 0 h 49"/>
                <a:gd name="T2" fmla="*/ 1 w 47"/>
                <a:gd name="T3" fmla="*/ 16 h 49"/>
                <a:gd name="T4" fmla="*/ 2 w 47"/>
                <a:gd name="T5" fmla="*/ 19 h 49"/>
                <a:gd name="T6" fmla="*/ 6 w 47"/>
                <a:gd name="T7" fmla="*/ 18 h 49"/>
                <a:gd name="T8" fmla="*/ 23 w 47"/>
                <a:gd name="T9" fmla="*/ 6 h 49"/>
                <a:gd name="T10" fmla="*/ 42 w 47"/>
                <a:gd name="T11" fmla="*/ 25 h 49"/>
                <a:gd name="T12" fmla="*/ 23 w 47"/>
                <a:gd name="T13" fmla="*/ 43 h 49"/>
                <a:gd name="T14" fmla="*/ 7 w 47"/>
                <a:gd name="T15" fmla="*/ 33 h 49"/>
                <a:gd name="T16" fmla="*/ 3 w 47"/>
                <a:gd name="T17" fmla="*/ 32 h 49"/>
                <a:gd name="T18" fmla="*/ 2 w 47"/>
                <a:gd name="T19" fmla="*/ 36 h 49"/>
                <a:gd name="T20" fmla="*/ 23 w 47"/>
                <a:gd name="T21" fmla="*/ 49 h 49"/>
                <a:gd name="T22" fmla="*/ 47 w 47"/>
                <a:gd name="T23" fmla="*/ 25 h 49"/>
                <a:gd name="T24" fmla="*/ 23 w 47"/>
                <a:gd name="T25" fmla="*/ 0 h 49"/>
                <a:gd name="T26" fmla="*/ 23 w 47"/>
                <a:gd name="T27" fmla="*/ 0 h 49"/>
                <a:gd name="T28" fmla="*/ 23 w 47"/>
                <a:gd name="T29"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 h="49">
                  <a:moveTo>
                    <a:pt x="23" y="0"/>
                  </a:moveTo>
                  <a:cubicBezTo>
                    <a:pt x="13" y="0"/>
                    <a:pt x="4" y="6"/>
                    <a:pt x="1" y="16"/>
                  </a:cubicBezTo>
                  <a:cubicBezTo>
                    <a:pt x="0" y="17"/>
                    <a:pt x="1" y="19"/>
                    <a:pt x="2" y="19"/>
                  </a:cubicBezTo>
                  <a:cubicBezTo>
                    <a:pt x="4" y="20"/>
                    <a:pt x="5" y="19"/>
                    <a:pt x="6" y="18"/>
                  </a:cubicBezTo>
                  <a:cubicBezTo>
                    <a:pt x="9" y="11"/>
                    <a:pt x="15" y="6"/>
                    <a:pt x="23" y="6"/>
                  </a:cubicBezTo>
                  <a:cubicBezTo>
                    <a:pt x="33" y="6"/>
                    <a:pt x="42" y="14"/>
                    <a:pt x="42" y="25"/>
                  </a:cubicBezTo>
                  <a:cubicBezTo>
                    <a:pt x="42" y="35"/>
                    <a:pt x="33" y="43"/>
                    <a:pt x="23" y="43"/>
                  </a:cubicBezTo>
                  <a:cubicBezTo>
                    <a:pt x="16" y="43"/>
                    <a:pt x="10" y="39"/>
                    <a:pt x="7" y="33"/>
                  </a:cubicBezTo>
                  <a:cubicBezTo>
                    <a:pt x="6" y="32"/>
                    <a:pt x="4" y="31"/>
                    <a:pt x="3" y="32"/>
                  </a:cubicBezTo>
                  <a:cubicBezTo>
                    <a:pt x="2" y="33"/>
                    <a:pt x="1" y="35"/>
                    <a:pt x="2" y="36"/>
                  </a:cubicBezTo>
                  <a:cubicBezTo>
                    <a:pt x="6" y="44"/>
                    <a:pt x="14" y="49"/>
                    <a:pt x="23" y="49"/>
                  </a:cubicBezTo>
                  <a:cubicBezTo>
                    <a:pt x="36" y="49"/>
                    <a:pt x="47" y="38"/>
                    <a:pt x="47" y="25"/>
                  </a:cubicBezTo>
                  <a:cubicBezTo>
                    <a:pt x="47" y="11"/>
                    <a:pt x="36" y="0"/>
                    <a:pt x="23" y="0"/>
                  </a:cubicBezTo>
                  <a:close/>
                  <a:moveTo>
                    <a:pt x="23" y="0"/>
                  </a:moveTo>
                  <a:cubicBezTo>
                    <a:pt x="23" y="0"/>
                    <a:pt x="23" y="0"/>
                    <a:pt x="2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Montserrat"/>
                <a:ea typeface="+mn-ea"/>
                <a:cs typeface="+mn-cs"/>
              </a:endParaRPr>
            </a:p>
          </p:txBody>
        </p:sp>
        <p:sp>
          <p:nvSpPr>
            <p:cNvPr id="19" name="Freeform 216">
              <a:extLst>
                <a:ext uri="{FF2B5EF4-FFF2-40B4-BE49-F238E27FC236}">
                  <a16:creationId xmlns:a16="http://schemas.microsoft.com/office/drawing/2014/main" id="{EE49C9E3-1DA3-44DB-AD25-1C3D107CA93B}"/>
                </a:ext>
              </a:extLst>
            </p:cNvPr>
            <p:cNvSpPr>
              <a:spLocks noEditPoints="1"/>
            </p:cNvSpPr>
            <p:nvPr/>
          </p:nvSpPr>
          <p:spPr bwMode="auto">
            <a:xfrm>
              <a:off x="18197513" y="10102850"/>
              <a:ext cx="344488" cy="30163"/>
            </a:xfrm>
            <a:custGeom>
              <a:avLst/>
              <a:gdLst>
                <a:gd name="T0" fmla="*/ 0 w 60"/>
                <a:gd name="T1" fmla="*/ 2 h 5"/>
                <a:gd name="T2" fmla="*/ 3 w 60"/>
                <a:gd name="T3" fmla="*/ 5 h 5"/>
                <a:gd name="T4" fmla="*/ 57 w 60"/>
                <a:gd name="T5" fmla="*/ 5 h 5"/>
                <a:gd name="T6" fmla="*/ 60 w 60"/>
                <a:gd name="T7" fmla="*/ 2 h 5"/>
                <a:gd name="T8" fmla="*/ 57 w 60"/>
                <a:gd name="T9" fmla="*/ 0 h 5"/>
                <a:gd name="T10" fmla="*/ 3 w 60"/>
                <a:gd name="T11" fmla="*/ 0 h 5"/>
                <a:gd name="T12" fmla="*/ 0 w 60"/>
                <a:gd name="T13" fmla="*/ 2 h 5"/>
                <a:gd name="T14" fmla="*/ 0 w 60"/>
                <a:gd name="T15" fmla="*/ 2 h 5"/>
                <a:gd name="T16" fmla="*/ 0 w 60"/>
                <a:gd name="T1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5">
                  <a:moveTo>
                    <a:pt x="0" y="2"/>
                  </a:moveTo>
                  <a:cubicBezTo>
                    <a:pt x="0" y="4"/>
                    <a:pt x="1" y="5"/>
                    <a:pt x="3" y="5"/>
                  </a:cubicBezTo>
                  <a:cubicBezTo>
                    <a:pt x="57" y="5"/>
                    <a:pt x="57" y="5"/>
                    <a:pt x="57" y="5"/>
                  </a:cubicBezTo>
                  <a:cubicBezTo>
                    <a:pt x="58" y="5"/>
                    <a:pt x="60" y="4"/>
                    <a:pt x="60" y="2"/>
                  </a:cubicBezTo>
                  <a:cubicBezTo>
                    <a:pt x="60" y="1"/>
                    <a:pt x="58" y="0"/>
                    <a:pt x="57" y="0"/>
                  </a:cubicBezTo>
                  <a:cubicBezTo>
                    <a:pt x="3" y="0"/>
                    <a:pt x="3" y="0"/>
                    <a:pt x="3" y="0"/>
                  </a:cubicBezTo>
                  <a:cubicBezTo>
                    <a:pt x="1" y="0"/>
                    <a:pt x="0" y="1"/>
                    <a:pt x="0" y="2"/>
                  </a:cubicBezTo>
                  <a:close/>
                  <a:moveTo>
                    <a:pt x="0" y="2"/>
                  </a:moveTo>
                  <a:cubicBezTo>
                    <a:pt x="0" y="2"/>
                    <a:pt x="0" y="2"/>
                    <a:pt x="0" y="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Montserrat"/>
                <a:ea typeface="+mn-ea"/>
                <a:cs typeface="+mn-cs"/>
              </a:endParaRPr>
            </a:p>
          </p:txBody>
        </p:sp>
      </p:grpSp>
      <p:sp>
        <p:nvSpPr>
          <p:cNvPr id="21" name="Rectangle: Rounded Corners 38">
            <a:extLst>
              <a:ext uri="{FF2B5EF4-FFF2-40B4-BE49-F238E27FC236}">
                <a16:creationId xmlns:a16="http://schemas.microsoft.com/office/drawing/2014/main" id="{1B3A257B-056E-44AA-BA3D-7617AC01F36A}"/>
              </a:ext>
            </a:extLst>
          </p:cNvPr>
          <p:cNvSpPr/>
          <p:nvPr/>
        </p:nvSpPr>
        <p:spPr>
          <a:xfrm>
            <a:off x="831809" y="5380212"/>
            <a:ext cx="10883941" cy="985192"/>
          </a:xfrm>
          <a:prstGeom prst="roundRect">
            <a:avLst>
              <a:gd name="adj" fmla="val 11010"/>
            </a:avLst>
          </a:prstGeom>
          <a:solidFill>
            <a:srgbClr val="FBFBFB"/>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22" name="Teardrop 41">
            <a:extLst>
              <a:ext uri="{FF2B5EF4-FFF2-40B4-BE49-F238E27FC236}">
                <a16:creationId xmlns:a16="http://schemas.microsoft.com/office/drawing/2014/main" id="{4B8D5047-EE10-42CD-9FE3-A6696B1B5614}"/>
              </a:ext>
            </a:extLst>
          </p:cNvPr>
          <p:cNvSpPr/>
          <p:nvPr/>
        </p:nvSpPr>
        <p:spPr>
          <a:xfrm>
            <a:off x="557331" y="5509893"/>
            <a:ext cx="709253" cy="693652"/>
          </a:xfrm>
          <a:prstGeom prst="teardrop">
            <a:avLst>
              <a:gd name="adj" fmla="val 100000"/>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ontserrat"/>
              <a:ea typeface="+mn-ea"/>
              <a:cs typeface="+mn-cs"/>
            </a:endParaRPr>
          </a:p>
        </p:txBody>
      </p:sp>
      <p:grpSp>
        <p:nvGrpSpPr>
          <p:cNvPr id="23" name="Group 70">
            <a:extLst>
              <a:ext uri="{FF2B5EF4-FFF2-40B4-BE49-F238E27FC236}">
                <a16:creationId xmlns:a16="http://schemas.microsoft.com/office/drawing/2014/main" id="{F1D7DD04-2CF2-4FE0-855D-D99A276CF7B9}"/>
              </a:ext>
            </a:extLst>
          </p:cNvPr>
          <p:cNvGrpSpPr/>
          <p:nvPr/>
        </p:nvGrpSpPr>
        <p:grpSpPr>
          <a:xfrm>
            <a:off x="776062" y="5615945"/>
            <a:ext cx="342363" cy="357569"/>
            <a:chOff x="10396538" y="974725"/>
            <a:chExt cx="257175" cy="274638"/>
          </a:xfrm>
          <a:solidFill>
            <a:schemeClr val="tx2"/>
          </a:solidFill>
        </p:grpSpPr>
        <p:sp>
          <p:nvSpPr>
            <p:cNvPr id="24" name="Freeform 5">
              <a:extLst>
                <a:ext uri="{FF2B5EF4-FFF2-40B4-BE49-F238E27FC236}">
                  <a16:creationId xmlns:a16="http://schemas.microsoft.com/office/drawing/2014/main" id="{848A12EF-366E-4BA9-AD99-C248E1048C45}"/>
                </a:ext>
              </a:extLst>
            </p:cNvPr>
            <p:cNvSpPr>
              <a:spLocks noEditPoints="1"/>
            </p:cNvSpPr>
            <p:nvPr/>
          </p:nvSpPr>
          <p:spPr bwMode="auto">
            <a:xfrm>
              <a:off x="10396538" y="974725"/>
              <a:ext cx="257175" cy="274638"/>
            </a:xfrm>
            <a:custGeom>
              <a:avLst/>
              <a:gdLst>
                <a:gd name="T0" fmla="*/ 138 w 140"/>
                <a:gd name="T1" fmla="*/ 50 h 140"/>
                <a:gd name="T2" fmla="*/ 132 w 140"/>
                <a:gd name="T3" fmla="*/ 50 h 140"/>
                <a:gd name="T4" fmla="*/ 91 w 140"/>
                <a:gd name="T5" fmla="*/ 90 h 140"/>
                <a:gd name="T6" fmla="*/ 34 w 140"/>
                <a:gd name="T7" fmla="*/ 115 h 140"/>
                <a:gd name="T8" fmla="*/ 25 w 140"/>
                <a:gd name="T9" fmla="*/ 106 h 140"/>
                <a:gd name="T10" fmla="*/ 51 w 140"/>
                <a:gd name="T11" fmla="*/ 49 h 140"/>
                <a:gd name="T12" fmla="*/ 91 w 140"/>
                <a:gd name="T13" fmla="*/ 9 h 140"/>
                <a:gd name="T14" fmla="*/ 91 w 140"/>
                <a:gd name="T15" fmla="*/ 2 h 140"/>
                <a:gd name="T16" fmla="*/ 85 w 140"/>
                <a:gd name="T17" fmla="*/ 2 h 140"/>
                <a:gd name="T18" fmla="*/ 43 w 140"/>
                <a:gd name="T19" fmla="*/ 44 h 140"/>
                <a:gd name="T20" fmla="*/ 0 w 140"/>
                <a:gd name="T21" fmla="*/ 140 h 140"/>
                <a:gd name="T22" fmla="*/ 97 w 140"/>
                <a:gd name="T23" fmla="*/ 98 h 140"/>
                <a:gd name="T24" fmla="*/ 138 w 140"/>
                <a:gd name="T25" fmla="*/ 56 h 140"/>
                <a:gd name="T26" fmla="*/ 138 w 140"/>
                <a:gd name="T27" fmla="*/ 50 h 140"/>
                <a:gd name="T28" fmla="*/ 138 w 140"/>
                <a:gd name="T29" fmla="*/ 50 h 140"/>
                <a:gd name="T30" fmla="*/ 138 w 140"/>
                <a:gd name="T31" fmla="*/ 5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0" h="140">
                  <a:moveTo>
                    <a:pt x="138" y="50"/>
                  </a:moveTo>
                  <a:cubicBezTo>
                    <a:pt x="137" y="48"/>
                    <a:pt x="134" y="48"/>
                    <a:pt x="132" y="50"/>
                  </a:cubicBezTo>
                  <a:cubicBezTo>
                    <a:pt x="91" y="90"/>
                    <a:pt x="91" y="90"/>
                    <a:pt x="91" y="90"/>
                  </a:cubicBezTo>
                  <a:cubicBezTo>
                    <a:pt x="34" y="115"/>
                    <a:pt x="34" y="115"/>
                    <a:pt x="34" y="115"/>
                  </a:cubicBezTo>
                  <a:cubicBezTo>
                    <a:pt x="25" y="106"/>
                    <a:pt x="25" y="106"/>
                    <a:pt x="25" y="106"/>
                  </a:cubicBezTo>
                  <a:cubicBezTo>
                    <a:pt x="51" y="49"/>
                    <a:pt x="51" y="49"/>
                    <a:pt x="51" y="49"/>
                  </a:cubicBezTo>
                  <a:cubicBezTo>
                    <a:pt x="91" y="9"/>
                    <a:pt x="91" y="9"/>
                    <a:pt x="91" y="9"/>
                  </a:cubicBezTo>
                  <a:cubicBezTo>
                    <a:pt x="93" y="7"/>
                    <a:pt x="93" y="4"/>
                    <a:pt x="91" y="2"/>
                  </a:cubicBezTo>
                  <a:cubicBezTo>
                    <a:pt x="89" y="0"/>
                    <a:pt x="86" y="0"/>
                    <a:pt x="85" y="2"/>
                  </a:cubicBezTo>
                  <a:cubicBezTo>
                    <a:pt x="43" y="44"/>
                    <a:pt x="43" y="44"/>
                    <a:pt x="43" y="44"/>
                  </a:cubicBezTo>
                  <a:cubicBezTo>
                    <a:pt x="0" y="140"/>
                    <a:pt x="0" y="140"/>
                    <a:pt x="0" y="140"/>
                  </a:cubicBezTo>
                  <a:cubicBezTo>
                    <a:pt x="97" y="98"/>
                    <a:pt x="97" y="98"/>
                    <a:pt x="97" y="98"/>
                  </a:cubicBezTo>
                  <a:cubicBezTo>
                    <a:pt x="138" y="56"/>
                    <a:pt x="138" y="56"/>
                    <a:pt x="138" y="56"/>
                  </a:cubicBezTo>
                  <a:cubicBezTo>
                    <a:pt x="140" y="54"/>
                    <a:pt x="140" y="51"/>
                    <a:pt x="138" y="50"/>
                  </a:cubicBezTo>
                  <a:close/>
                  <a:moveTo>
                    <a:pt x="138" y="50"/>
                  </a:moveTo>
                  <a:cubicBezTo>
                    <a:pt x="138" y="50"/>
                    <a:pt x="138" y="50"/>
                    <a:pt x="138" y="5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a:ea typeface="+mn-ea"/>
                <a:cs typeface="+mn-cs"/>
              </a:endParaRPr>
            </a:p>
          </p:txBody>
        </p:sp>
        <p:sp>
          <p:nvSpPr>
            <p:cNvPr id="25" name="Freeform 6">
              <a:extLst>
                <a:ext uri="{FF2B5EF4-FFF2-40B4-BE49-F238E27FC236}">
                  <a16:creationId xmlns:a16="http://schemas.microsoft.com/office/drawing/2014/main" id="{59C24A0F-BB6F-446E-85A8-D5F658D85003}"/>
                </a:ext>
              </a:extLst>
            </p:cNvPr>
            <p:cNvSpPr>
              <a:spLocks noEditPoints="1"/>
            </p:cNvSpPr>
            <p:nvPr/>
          </p:nvSpPr>
          <p:spPr bwMode="auto">
            <a:xfrm>
              <a:off x="10541000" y="1041400"/>
              <a:ext cx="88900" cy="95250"/>
            </a:xfrm>
            <a:custGeom>
              <a:avLst/>
              <a:gdLst>
                <a:gd name="T0" fmla="*/ 1 w 49"/>
                <a:gd name="T1" fmla="*/ 48 h 49"/>
                <a:gd name="T2" fmla="*/ 5 w 49"/>
                <a:gd name="T3" fmla="*/ 49 h 49"/>
                <a:gd name="T4" fmla="*/ 8 w 49"/>
                <a:gd name="T5" fmla="*/ 48 h 49"/>
                <a:gd name="T6" fmla="*/ 47 w 49"/>
                <a:gd name="T7" fmla="*/ 9 h 49"/>
                <a:gd name="T8" fmla="*/ 47 w 49"/>
                <a:gd name="T9" fmla="*/ 2 h 49"/>
                <a:gd name="T10" fmla="*/ 40 w 49"/>
                <a:gd name="T11" fmla="*/ 2 h 49"/>
                <a:gd name="T12" fmla="*/ 1 w 49"/>
                <a:gd name="T13" fmla="*/ 41 h 49"/>
                <a:gd name="T14" fmla="*/ 1 w 49"/>
                <a:gd name="T15" fmla="*/ 48 h 49"/>
                <a:gd name="T16" fmla="*/ 1 w 49"/>
                <a:gd name="T17" fmla="*/ 48 h 49"/>
                <a:gd name="T18" fmla="*/ 1 w 49"/>
                <a:gd name="T19" fmla="*/ 4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49">
                  <a:moveTo>
                    <a:pt x="1" y="48"/>
                  </a:moveTo>
                  <a:cubicBezTo>
                    <a:pt x="2" y="49"/>
                    <a:pt x="3" y="49"/>
                    <a:pt x="5" y="49"/>
                  </a:cubicBezTo>
                  <a:cubicBezTo>
                    <a:pt x="6" y="49"/>
                    <a:pt x="7" y="49"/>
                    <a:pt x="8" y="48"/>
                  </a:cubicBezTo>
                  <a:cubicBezTo>
                    <a:pt x="47" y="9"/>
                    <a:pt x="47" y="9"/>
                    <a:pt x="47" y="9"/>
                  </a:cubicBezTo>
                  <a:cubicBezTo>
                    <a:pt x="49" y="7"/>
                    <a:pt x="49" y="4"/>
                    <a:pt x="47" y="2"/>
                  </a:cubicBezTo>
                  <a:cubicBezTo>
                    <a:pt x="45" y="0"/>
                    <a:pt x="42" y="0"/>
                    <a:pt x="40" y="2"/>
                  </a:cubicBezTo>
                  <a:cubicBezTo>
                    <a:pt x="1" y="41"/>
                    <a:pt x="1" y="41"/>
                    <a:pt x="1" y="41"/>
                  </a:cubicBezTo>
                  <a:cubicBezTo>
                    <a:pt x="0" y="43"/>
                    <a:pt x="0" y="46"/>
                    <a:pt x="1" y="48"/>
                  </a:cubicBezTo>
                  <a:close/>
                  <a:moveTo>
                    <a:pt x="1" y="48"/>
                  </a:moveTo>
                  <a:cubicBezTo>
                    <a:pt x="1" y="48"/>
                    <a:pt x="1" y="48"/>
                    <a:pt x="1" y="48"/>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a:ea typeface="+mn-ea"/>
                <a:cs typeface="+mn-cs"/>
              </a:endParaRPr>
            </a:p>
          </p:txBody>
        </p:sp>
        <p:sp>
          <p:nvSpPr>
            <p:cNvPr id="26" name="Freeform 7">
              <a:extLst>
                <a:ext uri="{FF2B5EF4-FFF2-40B4-BE49-F238E27FC236}">
                  <a16:creationId xmlns:a16="http://schemas.microsoft.com/office/drawing/2014/main" id="{03B6ADF0-AC31-4419-A3D7-B2DA43B672FA}"/>
                </a:ext>
              </a:extLst>
            </p:cNvPr>
            <p:cNvSpPr>
              <a:spLocks noEditPoints="1"/>
            </p:cNvSpPr>
            <p:nvPr/>
          </p:nvSpPr>
          <p:spPr bwMode="auto">
            <a:xfrm>
              <a:off x="10520363" y="1020763"/>
              <a:ext cx="92075" cy="96838"/>
            </a:xfrm>
            <a:custGeom>
              <a:avLst/>
              <a:gdLst>
                <a:gd name="T0" fmla="*/ 2 w 50"/>
                <a:gd name="T1" fmla="*/ 48 h 49"/>
                <a:gd name="T2" fmla="*/ 5 w 50"/>
                <a:gd name="T3" fmla="*/ 49 h 49"/>
                <a:gd name="T4" fmla="*/ 9 w 50"/>
                <a:gd name="T5" fmla="*/ 48 h 49"/>
                <a:gd name="T6" fmla="*/ 48 w 50"/>
                <a:gd name="T7" fmla="*/ 8 h 49"/>
                <a:gd name="T8" fmla="*/ 48 w 50"/>
                <a:gd name="T9" fmla="*/ 2 h 49"/>
                <a:gd name="T10" fmla="*/ 41 w 50"/>
                <a:gd name="T11" fmla="*/ 2 h 49"/>
                <a:gd name="T12" fmla="*/ 2 w 50"/>
                <a:gd name="T13" fmla="*/ 41 h 49"/>
                <a:gd name="T14" fmla="*/ 2 w 50"/>
                <a:gd name="T15" fmla="*/ 48 h 49"/>
                <a:gd name="T16" fmla="*/ 2 w 50"/>
                <a:gd name="T17" fmla="*/ 48 h 49"/>
                <a:gd name="T18" fmla="*/ 2 w 50"/>
                <a:gd name="T19" fmla="*/ 4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49">
                  <a:moveTo>
                    <a:pt x="2" y="48"/>
                  </a:moveTo>
                  <a:cubicBezTo>
                    <a:pt x="3" y="48"/>
                    <a:pt x="4" y="49"/>
                    <a:pt x="5" y="49"/>
                  </a:cubicBezTo>
                  <a:cubicBezTo>
                    <a:pt x="7" y="49"/>
                    <a:pt x="8" y="48"/>
                    <a:pt x="9" y="48"/>
                  </a:cubicBezTo>
                  <a:cubicBezTo>
                    <a:pt x="48" y="8"/>
                    <a:pt x="48" y="8"/>
                    <a:pt x="48" y="8"/>
                  </a:cubicBezTo>
                  <a:cubicBezTo>
                    <a:pt x="50" y="7"/>
                    <a:pt x="50" y="4"/>
                    <a:pt x="48" y="2"/>
                  </a:cubicBezTo>
                  <a:cubicBezTo>
                    <a:pt x="46" y="0"/>
                    <a:pt x="43" y="0"/>
                    <a:pt x="41" y="2"/>
                  </a:cubicBezTo>
                  <a:cubicBezTo>
                    <a:pt x="2" y="41"/>
                    <a:pt x="2" y="41"/>
                    <a:pt x="2" y="41"/>
                  </a:cubicBezTo>
                  <a:cubicBezTo>
                    <a:pt x="0" y="43"/>
                    <a:pt x="0" y="46"/>
                    <a:pt x="2" y="48"/>
                  </a:cubicBezTo>
                  <a:close/>
                  <a:moveTo>
                    <a:pt x="2" y="48"/>
                  </a:moveTo>
                  <a:cubicBezTo>
                    <a:pt x="2" y="48"/>
                    <a:pt x="2" y="48"/>
                    <a:pt x="2" y="48"/>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a:ea typeface="+mn-ea"/>
                <a:cs typeface="+mn-cs"/>
              </a:endParaRPr>
            </a:p>
          </p:txBody>
        </p:sp>
        <p:sp>
          <p:nvSpPr>
            <p:cNvPr id="27" name="Freeform 8">
              <a:extLst>
                <a:ext uri="{FF2B5EF4-FFF2-40B4-BE49-F238E27FC236}">
                  <a16:creationId xmlns:a16="http://schemas.microsoft.com/office/drawing/2014/main" id="{CEB3473F-A075-4C95-A2C3-944D4845C58D}"/>
                </a:ext>
              </a:extLst>
            </p:cNvPr>
            <p:cNvSpPr>
              <a:spLocks noEditPoints="1"/>
            </p:cNvSpPr>
            <p:nvPr/>
          </p:nvSpPr>
          <p:spPr bwMode="auto">
            <a:xfrm>
              <a:off x="10501313" y="1001713"/>
              <a:ext cx="90488" cy="95250"/>
            </a:xfrm>
            <a:custGeom>
              <a:avLst/>
              <a:gdLst>
                <a:gd name="T0" fmla="*/ 2 w 49"/>
                <a:gd name="T1" fmla="*/ 47 h 49"/>
                <a:gd name="T2" fmla="*/ 5 w 49"/>
                <a:gd name="T3" fmla="*/ 49 h 49"/>
                <a:gd name="T4" fmla="*/ 9 w 49"/>
                <a:gd name="T5" fmla="*/ 47 h 49"/>
                <a:gd name="T6" fmla="*/ 48 w 49"/>
                <a:gd name="T7" fmla="*/ 8 h 49"/>
                <a:gd name="T8" fmla="*/ 48 w 49"/>
                <a:gd name="T9" fmla="*/ 2 h 49"/>
                <a:gd name="T10" fmla="*/ 41 w 49"/>
                <a:gd name="T11" fmla="*/ 2 h 49"/>
                <a:gd name="T12" fmla="*/ 2 w 49"/>
                <a:gd name="T13" fmla="*/ 41 h 49"/>
                <a:gd name="T14" fmla="*/ 2 w 49"/>
                <a:gd name="T15" fmla="*/ 47 h 49"/>
                <a:gd name="T16" fmla="*/ 2 w 49"/>
                <a:gd name="T17" fmla="*/ 47 h 49"/>
                <a:gd name="T18" fmla="*/ 2 w 49"/>
                <a:gd name="T19" fmla="*/ 4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49">
                  <a:moveTo>
                    <a:pt x="2" y="47"/>
                  </a:moveTo>
                  <a:cubicBezTo>
                    <a:pt x="3" y="48"/>
                    <a:pt x="4" y="49"/>
                    <a:pt x="5" y="49"/>
                  </a:cubicBezTo>
                  <a:cubicBezTo>
                    <a:pt x="6" y="49"/>
                    <a:pt x="8" y="48"/>
                    <a:pt x="9" y="47"/>
                  </a:cubicBezTo>
                  <a:cubicBezTo>
                    <a:pt x="48" y="8"/>
                    <a:pt x="48" y="8"/>
                    <a:pt x="48" y="8"/>
                  </a:cubicBezTo>
                  <a:cubicBezTo>
                    <a:pt x="49" y="6"/>
                    <a:pt x="49" y="3"/>
                    <a:pt x="48" y="2"/>
                  </a:cubicBezTo>
                  <a:cubicBezTo>
                    <a:pt x="46" y="0"/>
                    <a:pt x="43" y="0"/>
                    <a:pt x="41" y="2"/>
                  </a:cubicBezTo>
                  <a:cubicBezTo>
                    <a:pt x="2" y="41"/>
                    <a:pt x="2" y="41"/>
                    <a:pt x="2" y="41"/>
                  </a:cubicBezTo>
                  <a:cubicBezTo>
                    <a:pt x="0" y="43"/>
                    <a:pt x="0" y="46"/>
                    <a:pt x="2" y="47"/>
                  </a:cubicBezTo>
                  <a:close/>
                  <a:moveTo>
                    <a:pt x="2" y="47"/>
                  </a:moveTo>
                  <a:cubicBezTo>
                    <a:pt x="2" y="47"/>
                    <a:pt x="2" y="47"/>
                    <a:pt x="2" y="4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ontserrat"/>
                <a:ea typeface="+mn-ea"/>
                <a:cs typeface="+mn-cs"/>
              </a:endParaRPr>
            </a:p>
          </p:txBody>
        </p:sp>
      </p:grpSp>
      <p:sp>
        <p:nvSpPr>
          <p:cNvPr id="28" name="Rectangle 90">
            <a:extLst>
              <a:ext uri="{FF2B5EF4-FFF2-40B4-BE49-F238E27FC236}">
                <a16:creationId xmlns:a16="http://schemas.microsoft.com/office/drawing/2014/main" id="{DCA1B198-7063-4CEC-81E1-6C632D51BB57}"/>
              </a:ext>
            </a:extLst>
          </p:cNvPr>
          <p:cNvSpPr/>
          <p:nvPr/>
        </p:nvSpPr>
        <p:spPr>
          <a:xfrm>
            <a:off x="2265319" y="5597177"/>
            <a:ext cx="3472364" cy="377411"/>
          </a:xfrm>
          <a:prstGeom prst="rect">
            <a:avLst/>
          </a:prstGeom>
          <a:ln>
            <a:noFill/>
          </a:ln>
        </p:spPr>
        <p:txBody>
          <a:bodyPr wrap="square">
            <a:spAutoFit/>
          </a:bodyPr>
          <a:lstStyle/>
          <a:p>
            <a:pPr lvl="1">
              <a:lnSpc>
                <a:spcPct val="150000"/>
              </a:lnSpc>
            </a:pPr>
            <a:r>
              <a:rPr lang="zh-CN" altLang="en-US" sz="1400" b="1" dirty="0">
                <a:solidFill>
                  <a:schemeClr val="tx2">
                    <a:lumMod val="75000"/>
                  </a:schemeClr>
                </a:solidFill>
                <a:latin typeface="+mj-ea"/>
              </a:rPr>
              <a:t>解决问题：</a:t>
            </a:r>
            <a:endParaRPr lang="en-US" altLang="zh-CN" sz="1400" b="1" dirty="0">
              <a:solidFill>
                <a:schemeClr val="tx2">
                  <a:lumMod val="75000"/>
                </a:schemeClr>
              </a:solidFill>
              <a:latin typeface="+mj-ea"/>
            </a:endParaRPr>
          </a:p>
        </p:txBody>
      </p:sp>
      <p:sp>
        <p:nvSpPr>
          <p:cNvPr id="29" name="Rectangle 91">
            <a:extLst>
              <a:ext uri="{FF2B5EF4-FFF2-40B4-BE49-F238E27FC236}">
                <a16:creationId xmlns:a16="http://schemas.microsoft.com/office/drawing/2014/main" id="{9216B4AA-6778-433E-985E-68039D12BA67}"/>
              </a:ext>
            </a:extLst>
          </p:cNvPr>
          <p:cNvSpPr/>
          <p:nvPr/>
        </p:nvSpPr>
        <p:spPr>
          <a:xfrm>
            <a:off x="4898685" y="5456392"/>
            <a:ext cx="4665486" cy="700576"/>
          </a:xfrm>
          <a:prstGeom prst="rect">
            <a:avLst/>
          </a:prstGeom>
          <a:ln>
            <a:noFill/>
          </a:ln>
        </p:spPr>
        <p:txBody>
          <a:bodyPr wrap="square">
            <a:spAutoFit/>
          </a:bodyPr>
          <a:lstStyle/>
          <a:p>
            <a:pPr lvl="1">
              <a:lnSpc>
                <a:spcPct val="150000"/>
              </a:lnSpc>
            </a:pPr>
            <a:r>
              <a:rPr lang="en-US" altLang="zh-CN" sz="1400" b="1" dirty="0">
                <a:solidFill>
                  <a:schemeClr val="tx2">
                    <a:lumMod val="75000"/>
                  </a:schemeClr>
                </a:solidFill>
                <a:latin typeface="+mj-ea"/>
              </a:rPr>
              <a:t>1-</a:t>
            </a:r>
            <a:r>
              <a:rPr lang="zh-CN" altLang="en-US" sz="1400" b="1" dirty="0">
                <a:solidFill>
                  <a:schemeClr val="tx2">
                    <a:lumMod val="75000"/>
                  </a:schemeClr>
                </a:solidFill>
                <a:latin typeface="+mj-ea"/>
              </a:rPr>
              <a:t>看不明算不清的问题</a:t>
            </a:r>
            <a:endParaRPr lang="en-US" altLang="zh-CN" sz="1400" b="1" dirty="0">
              <a:solidFill>
                <a:schemeClr val="tx2">
                  <a:lumMod val="75000"/>
                </a:schemeClr>
              </a:solidFill>
              <a:latin typeface="+mj-ea"/>
            </a:endParaRPr>
          </a:p>
          <a:p>
            <a:pPr lvl="1">
              <a:lnSpc>
                <a:spcPct val="150000"/>
              </a:lnSpc>
            </a:pPr>
            <a:r>
              <a:rPr lang="en-US" altLang="zh-CN" sz="1400" b="1" dirty="0">
                <a:solidFill>
                  <a:schemeClr val="tx2">
                    <a:lumMod val="75000"/>
                  </a:schemeClr>
                </a:solidFill>
                <a:latin typeface="+mj-ea"/>
              </a:rPr>
              <a:t>2-</a:t>
            </a:r>
            <a:r>
              <a:rPr lang="zh-CN" altLang="en-US" sz="1400" b="1" dirty="0">
                <a:solidFill>
                  <a:schemeClr val="tx2">
                    <a:lumMod val="75000"/>
                  </a:schemeClr>
                </a:solidFill>
                <a:latin typeface="+mj-ea"/>
              </a:rPr>
              <a:t>解决员工价值创造评估与有效激励的问题</a:t>
            </a:r>
          </a:p>
        </p:txBody>
      </p:sp>
    </p:spTree>
    <p:extLst>
      <p:ext uri="{BB962C8B-B14F-4D97-AF65-F5344CB8AC3E}">
        <p14:creationId xmlns:p14="http://schemas.microsoft.com/office/powerpoint/2010/main" val="1083026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6D65BA5-7EAD-2169-B286-D840E5B5F5C5}"/>
              </a:ext>
            </a:extLst>
          </p:cNvPr>
          <p:cNvSpPr/>
          <p:nvPr/>
        </p:nvSpPr>
        <p:spPr>
          <a:xfrm>
            <a:off x="390141" y="2611226"/>
            <a:ext cx="11459845" cy="3978107"/>
          </a:xfrm>
          <a:prstGeom prst="rect">
            <a:avLst/>
          </a:prstGeom>
          <a:solidFill>
            <a:srgbClr val="F3F4F7"/>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sp>
        <p:nvSpPr>
          <p:cNvPr id="60" name="文本框 59">
            <a:extLst>
              <a:ext uri="{FF2B5EF4-FFF2-40B4-BE49-F238E27FC236}">
                <a16:creationId xmlns:a16="http://schemas.microsoft.com/office/drawing/2014/main" id="{8FF154BA-878E-45E8-A845-204247770FA2}"/>
              </a:ext>
            </a:extLst>
          </p:cNvPr>
          <p:cNvSpPr txBox="1"/>
          <p:nvPr/>
        </p:nvSpPr>
        <p:spPr>
          <a:xfrm>
            <a:off x="390141" y="207320"/>
            <a:ext cx="5583806" cy="480131"/>
          </a:xfrm>
          <a:prstGeom prst="rect">
            <a:avLst/>
          </a:prstGeom>
          <a:noFill/>
        </p:spPr>
        <p:txBody>
          <a:bodyPr wrap="square" rtlCol="0">
            <a:spAutoFit/>
          </a:bodyPr>
          <a:lstStyle/>
          <a:p>
            <a:pPr>
              <a:lnSpc>
                <a:spcPct val="90000"/>
              </a:lnSpc>
              <a:spcBef>
                <a:spcPct val="0"/>
              </a:spcBef>
            </a:pPr>
            <a:r>
              <a:rPr lang="zh-CN" altLang="en-US" sz="2800" b="1" dirty="0">
                <a:solidFill>
                  <a:schemeClr val="tx2"/>
                </a:solidFill>
                <a:latin typeface="微软雅黑" panose="020B0503020204020204" pitchFamily="34" charset="-122"/>
                <a:ea typeface="微软雅黑" panose="020B0503020204020204" pitchFamily="34" charset="-122"/>
              </a:rPr>
              <a:t>全面预算管理循环</a:t>
            </a:r>
          </a:p>
        </p:txBody>
      </p:sp>
      <p:grpSp>
        <p:nvGrpSpPr>
          <p:cNvPr id="24" name="组合 23">
            <a:extLst>
              <a:ext uri="{FF2B5EF4-FFF2-40B4-BE49-F238E27FC236}">
                <a16:creationId xmlns:a16="http://schemas.microsoft.com/office/drawing/2014/main" id="{89188BAC-6D10-42BA-9319-EFF65DE5E4D7}"/>
              </a:ext>
            </a:extLst>
          </p:cNvPr>
          <p:cNvGrpSpPr/>
          <p:nvPr/>
        </p:nvGrpSpPr>
        <p:grpSpPr>
          <a:xfrm>
            <a:off x="627442" y="2758228"/>
            <a:ext cx="11099089" cy="3664462"/>
            <a:chOff x="788109" y="2789841"/>
            <a:chExt cx="11099089" cy="3664462"/>
          </a:xfrm>
        </p:grpSpPr>
        <p:cxnSp>
          <p:nvCxnSpPr>
            <p:cNvPr id="118" name="Connector: Elbow 257">
              <a:extLst>
                <a:ext uri="{FF2B5EF4-FFF2-40B4-BE49-F238E27FC236}">
                  <a16:creationId xmlns:a16="http://schemas.microsoft.com/office/drawing/2014/main" id="{4D4BD5D5-EDA0-43C1-A6FC-DD0642DCA852}"/>
                </a:ext>
              </a:extLst>
            </p:cNvPr>
            <p:cNvCxnSpPr>
              <a:cxnSpLocks/>
              <a:stCxn id="80" idx="3"/>
            </p:cNvCxnSpPr>
            <p:nvPr/>
          </p:nvCxnSpPr>
          <p:spPr>
            <a:xfrm flipV="1">
              <a:off x="2003714" y="3039249"/>
              <a:ext cx="2112222" cy="428995"/>
            </a:xfrm>
            <a:prstGeom prst="bentConnector3">
              <a:avLst>
                <a:gd name="adj1" fmla="val -287"/>
              </a:avLst>
            </a:prstGeom>
            <a:ln w="12700">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nvGrpSpPr>
            <p:cNvPr id="141" name="组合 140">
              <a:extLst>
                <a:ext uri="{FF2B5EF4-FFF2-40B4-BE49-F238E27FC236}">
                  <a16:creationId xmlns:a16="http://schemas.microsoft.com/office/drawing/2014/main" id="{B9B205CF-F1F5-4921-9408-74E3AD769BC7}"/>
                </a:ext>
              </a:extLst>
            </p:cNvPr>
            <p:cNvGrpSpPr/>
            <p:nvPr/>
          </p:nvGrpSpPr>
          <p:grpSpPr>
            <a:xfrm>
              <a:off x="843695" y="3468244"/>
              <a:ext cx="2278321" cy="2263812"/>
              <a:chOff x="664433" y="2148718"/>
              <a:chExt cx="3108298" cy="3035722"/>
            </a:xfrm>
          </p:grpSpPr>
          <p:grpSp>
            <p:nvGrpSpPr>
              <p:cNvPr id="38" name="组合 37">
                <a:extLst>
                  <a:ext uri="{FF2B5EF4-FFF2-40B4-BE49-F238E27FC236}">
                    <a16:creationId xmlns:a16="http://schemas.microsoft.com/office/drawing/2014/main" id="{A1B28B86-7282-4B7B-BA7F-858037D602CC}"/>
                  </a:ext>
                </a:extLst>
              </p:cNvPr>
              <p:cNvGrpSpPr/>
              <p:nvPr/>
            </p:nvGrpSpPr>
            <p:grpSpPr>
              <a:xfrm>
                <a:off x="664433" y="2148718"/>
                <a:ext cx="3108298" cy="3035722"/>
                <a:chOff x="1201864" y="2019314"/>
                <a:chExt cx="3016226" cy="2953765"/>
              </a:xfrm>
            </p:grpSpPr>
            <p:sp>
              <p:nvSpPr>
                <p:cNvPr id="77" name="Freeform 5">
                  <a:extLst>
                    <a:ext uri="{FF2B5EF4-FFF2-40B4-BE49-F238E27FC236}">
                      <a16:creationId xmlns:a16="http://schemas.microsoft.com/office/drawing/2014/main" id="{918E4DA0-E7EC-4B4A-99AE-86C319B3B7DE}"/>
                    </a:ext>
                  </a:extLst>
                </p:cNvPr>
                <p:cNvSpPr>
                  <a:spLocks/>
                </p:cNvSpPr>
                <p:nvPr/>
              </p:nvSpPr>
              <p:spPr bwMode="auto">
                <a:xfrm>
                  <a:off x="3328961" y="2777604"/>
                  <a:ext cx="889129" cy="1383103"/>
                </a:xfrm>
                <a:custGeom>
                  <a:avLst/>
                  <a:gdLst>
                    <a:gd name="T0" fmla="*/ 13 w 318"/>
                    <a:gd name="T1" fmla="*/ 97 h 506"/>
                    <a:gd name="T2" fmla="*/ 0 w 318"/>
                    <a:gd name="T3" fmla="*/ 96 h 506"/>
                    <a:gd name="T4" fmla="*/ 0 w 318"/>
                    <a:gd name="T5" fmla="*/ 96 h 506"/>
                    <a:gd name="T6" fmla="*/ 56 w 318"/>
                    <a:gd name="T7" fmla="*/ 263 h 506"/>
                    <a:gd name="T8" fmla="*/ 42 w 318"/>
                    <a:gd name="T9" fmla="*/ 348 h 506"/>
                    <a:gd name="T10" fmla="*/ 42 w 318"/>
                    <a:gd name="T11" fmla="*/ 348 h 506"/>
                    <a:gd name="T12" fmla="*/ 127 w 318"/>
                    <a:gd name="T13" fmla="*/ 500 h 506"/>
                    <a:gd name="T14" fmla="*/ 260 w 318"/>
                    <a:gd name="T15" fmla="*/ 506 h 506"/>
                    <a:gd name="T16" fmla="*/ 318 w 318"/>
                    <a:gd name="T17" fmla="*/ 263 h 506"/>
                    <a:gd name="T18" fmla="*/ 249 w 318"/>
                    <a:gd name="T19" fmla="*/ 0 h 506"/>
                    <a:gd name="T20" fmla="*/ 172 w 318"/>
                    <a:gd name="T21" fmla="*/ 108 h 506"/>
                    <a:gd name="T22" fmla="*/ 13 w 318"/>
                    <a:gd name="T23" fmla="*/ 97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8" h="506">
                      <a:moveTo>
                        <a:pt x="13" y="97"/>
                      </a:moveTo>
                      <a:cubicBezTo>
                        <a:pt x="0" y="96"/>
                        <a:pt x="0" y="96"/>
                        <a:pt x="0" y="96"/>
                      </a:cubicBezTo>
                      <a:cubicBezTo>
                        <a:pt x="0" y="96"/>
                        <a:pt x="0" y="96"/>
                        <a:pt x="0" y="96"/>
                      </a:cubicBezTo>
                      <a:cubicBezTo>
                        <a:pt x="35" y="143"/>
                        <a:pt x="56" y="200"/>
                        <a:pt x="56" y="263"/>
                      </a:cubicBezTo>
                      <a:cubicBezTo>
                        <a:pt x="56" y="293"/>
                        <a:pt x="51" y="321"/>
                        <a:pt x="42" y="348"/>
                      </a:cubicBezTo>
                      <a:cubicBezTo>
                        <a:pt x="42" y="348"/>
                        <a:pt x="42" y="348"/>
                        <a:pt x="42" y="348"/>
                      </a:cubicBezTo>
                      <a:cubicBezTo>
                        <a:pt x="127" y="500"/>
                        <a:pt x="127" y="500"/>
                        <a:pt x="127" y="500"/>
                      </a:cubicBezTo>
                      <a:cubicBezTo>
                        <a:pt x="260" y="506"/>
                        <a:pt x="260" y="506"/>
                        <a:pt x="260" y="506"/>
                      </a:cubicBezTo>
                      <a:cubicBezTo>
                        <a:pt x="297" y="433"/>
                        <a:pt x="318" y="350"/>
                        <a:pt x="318" y="263"/>
                      </a:cubicBezTo>
                      <a:cubicBezTo>
                        <a:pt x="318" y="167"/>
                        <a:pt x="293" y="77"/>
                        <a:pt x="249" y="0"/>
                      </a:cubicBezTo>
                      <a:cubicBezTo>
                        <a:pt x="172" y="108"/>
                        <a:pt x="172" y="108"/>
                        <a:pt x="172" y="108"/>
                      </a:cubicBezTo>
                      <a:lnTo>
                        <a:pt x="13" y="97"/>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8" name="Freeform 6">
                  <a:extLst>
                    <a:ext uri="{FF2B5EF4-FFF2-40B4-BE49-F238E27FC236}">
                      <a16:creationId xmlns:a16="http://schemas.microsoft.com/office/drawing/2014/main" id="{949A4732-5C72-42E3-B8BC-793057AD82A2}"/>
                    </a:ext>
                  </a:extLst>
                </p:cNvPr>
                <p:cNvSpPr>
                  <a:spLocks/>
                </p:cNvSpPr>
                <p:nvPr/>
              </p:nvSpPr>
              <p:spPr bwMode="auto">
                <a:xfrm>
                  <a:off x="1466137" y="3912163"/>
                  <a:ext cx="1274379" cy="1060916"/>
                </a:xfrm>
                <a:custGeom>
                  <a:avLst/>
                  <a:gdLst>
                    <a:gd name="T0" fmla="*/ 456 w 456"/>
                    <a:gd name="T1" fmla="*/ 125 h 388"/>
                    <a:gd name="T2" fmla="*/ 445 w 456"/>
                    <a:gd name="T3" fmla="*/ 125 h 388"/>
                    <a:gd name="T4" fmla="*/ 213 w 456"/>
                    <a:gd name="T5" fmla="*/ 0 h 388"/>
                    <a:gd name="T6" fmla="*/ 213 w 456"/>
                    <a:gd name="T7" fmla="*/ 0 h 388"/>
                    <a:gd name="T8" fmla="*/ 70 w 456"/>
                    <a:gd name="T9" fmla="*/ 12 h 388"/>
                    <a:gd name="T10" fmla="*/ 0 w 456"/>
                    <a:gd name="T11" fmla="*/ 153 h 388"/>
                    <a:gd name="T12" fmla="*/ 445 w 456"/>
                    <a:gd name="T13" fmla="*/ 388 h 388"/>
                    <a:gd name="T14" fmla="*/ 451 w 456"/>
                    <a:gd name="T15" fmla="*/ 387 h 388"/>
                    <a:gd name="T16" fmla="*/ 381 w 456"/>
                    <a:gd name="T17" fmla="*/ 251 h 388"/>
                    <a:gd name="T18" fmla="*/ 456 w 456"/>
                    <a:gd name="T19" fmla="*/ 125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6" h="388">
                      <a:moveTo>
                        <a:pt x="456" y="125"/>
                      </a:moveTo>
                      <a:cubicBezTo>
                        <a:pt x="453" y="125"/>
                        <a:pt x="449" y="125"/>
                        <a:pt x="445" y="125"/>
                      </a:cubicBezTo>
                      <a:cubicBezTo>
                        <a:pt x="348" y="125"/>
                        <a:pt x="262" y="75"/>
                        <a:pt x="213" y="0"/>
                      </a:cubicBezTo>
                      <a:cubicBezTo>
                        <a:pt x="213" y="0"/>
                        <a:pt x="213" y="0"/>
                        <a:pt x="213" y="0"/>
                      </a:cubicBezTo>
                      <a:cubicBezTo>
                        <a:pt x="70" y="12"/>
                        <a:pt x="70" y="12"/>
                        <a:pt x="70" y="12"/>
                      </a:cubicBezTo>
                      <a:cubicBezTo>
                        <a:pt x="0" y="153"/>
                        <a:pt x="0" y="153"/>
                        <a:pt x="0" y="153"/>
                      </a:cubicBezTo>
                      <a:cubicBezTo>
                        <a:pt x="97" y="294"/>
                        <a:pt x="260" y="388"/>
                        <a:pt x="445" y="388"/>
                      </a:cubicBezTo>
                      <a:cubicBezTo>
                        <a:pt x="447" y="388"/>
                        <a:pt x="449" y="387"/>
                        <a:pt x="451" y="387"/>
                      </a:cubicBezTo>
                      <a:cubicBezTo>
                        <a:pt x="381" y="251"/>
                        <a:pt x="381" y="251"/>
                        <a:pt x="381" y="251"/>
                      </a:cubicBezTo>
                      <a:lnTo>
                        <a:pt x="456" y="125"/>
                      </a:lnTo>
                      <a:close/>
                    </a:path>
                  </a:pathLst>
                </a:custGeom>
                <a:solidFill>
                  <a:srgbClr val="143268"/>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79" name="Freeform 8">
                  <a:extLst>
                    <a:ext uri="{FF2B5EF4-FFF2-40B4-BE49-F238E27FC236}">
                      <a16:creationId xmlns:a16="http://schemas.microsoft.com/office/drawing/2014/main" id="{A74F8F09-C560-468B-B83C-046B07937496}"/>
                    </a:ext>
                  </a:extLst>
                </p:cNvPr>
                <p:cNvSpPr>
                  <a:spLocks/>
                </p:cNvSpPr>
                <p:nvPr/>
              </p:nvSpPr>
              <p:spPr bwMode="auto">
                <a:xfrm>
                  <a:off x="1410933" y="2019314"/>
                  <a:ext cx="1451735" cy="1078176"/>
                </a:xfrm>
                <a:custGeom>
                  <a:avLst/>
                  <a:gdLst>
                    <a:gd name="T0" fmla="*/ 520 w 520"/>
                    <a:gd name="T1" fmla="*/ 119 h 394"/>
                    <a:gd name="T2" fmla="*/ 448 w 520"/>
                    <a:gd name="T3" fmla="*/ 0 h 394"/>
                    <a:gd name="T4" fmla="*/ 448 w 520"/>
                    <a:gd name="T5" fmla="*/ 0 h 394"/>
                    <a:gd name="T6" fmla="*/ 448 w 520"/>
                    <a:gd name="T7" fmla="*/ 0 h 394"/>
                    <a:gd name="T8" fmla="*/ 0 w 520"/>
                    <a:gd name="T9" fmla="*/ 266 h 394"/>
                    <a:gd name="T10" fmla="*/ 0 w 520"/>
                    <a:gd name="T11" fmla="*/ 266 h 394"/>
                    <a:gd name="T12" fmla="*/ 143 w 520"/>
                    <a:gd name="T13" fmla="*/ 263 h 394"/>
                    <a:gd name="T14" fmla="*/ 229 w 520"/>
                    <a:gd name="T15" fmla="*/ 394 h 394"/>
                    <a:gd name="T16" fmla="*/ 446 w 520"/>
                    <a:gd name="T17" fmla="*/ 263 h 394"/>
                    <a:gd name="T18" fmla="*/ 445 w 520"/>
                    <a:gd name="T19" fmla="*/ 263 h 394"/>
                    <a:gd name="T20" fmla="*/ 462 w 520"/>
                    <a:gd name="T21" fmla="*/ 231 h 394"/>
                    <a:gd name="T22" fmla="*/ 520 w 520"/>
                    <a:gd name="T23" fmla="*/ 119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0" h="394">
                      <a:moveTo>
                        <a:pt x="520" y="119"/>
                      </a:moveTo>
                      <a:cubicBezTo>
                        <a:pt x="448" y="0"/>
                        <a:pt x="448" y="0"/>
                        <a:pt x="448" y="0"/>
                      </a:cubicBezTo>
                      <a:cubicBezTo>
                        <a:pt x="448" y="0"/>
                        <a:pt x="448" y="0"/>
                        <a:pt x="448" y="0"/>
                      </a:cubicBezTo>
                      <a:cubicBezTo>
                        <a:pt x="448" y="0"/>
                        <a:pt x="448" y="0"/>
                        <a:pt x="448" y="0"/>
                      </a:cubicBezTo>
                      <a:cubicBezTo>
                        <a:pt x="257" y="6"/>
                        <a:pt x="91" y="112"/>
                        <a:pt x="0" y="266"/>
                      </a:cubicBezTo>
                      <a:cubicBezTo>
                        <a:pt x="0" y="266"/>
                        <a:pt x="0" y="266"/>
                        <a:pt x="0" y="266"/>
                      </a:cubicBezTo>
                      <a:cubicBezTo>
                        <a:pt x="143" y="263"/>
                        <a:pt x="143" y="263"/>
                        <a:pt x="143" y="263"/>
                      </a:cubicBezTo>
                      <a:cubicBezTo>
                        <a:pt x="229" y="394"/>
                        <a:pt x="229" y="394"/>
                        <a:pt x="229" y="394"/>
                      </a:cubicBezTo>
                      <a:cubicBezTo>
                        <a:pt x="275" y="320"/>
                        <a:pt x="354" y="269"/>
                        <a:pt x="446" y="263"/>
                      </a:cubicBezTo>
                      <a:cubicBezTo>
                        <a:pt x="446" y="263"/>
                        <a:pt x="446" y="263"/>
                        <a:pt x="445" y="263"/>
                      </a:cubicBezTo>
                      <a:cubicBezTo>
                        <a:pt x="462" y="231"/>
                        <a:pt x="462" y="231"/>
                        <a:pt x="462" y="231"/>
                      </a:cubicBezTo>
                      <a:lnTo>
                        <a:pt x="520" y="119"/>
                      </a:lnTo>
                      <a:close/>
                    </a:path>
                  </a:pathLst>
                </a:custGeom>
                <a:solidFill>
                  <a:srgbClr val="C2DFE8"/>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80" name="Freeform 10">
                  <a:extLst>
                    <a:ext uri="{FF2B5EF4-FFF2-40B4-BE49-F238E27FC236}">
                      <a16:creationId xmlns:a16="http://schemas.microsoft.com/office/drawing/2014/main" id="{82A71C4A-5351-467B-88DC-6C29F9476CE0}"/>
                    </a:ext>
                  </a:extLst>
                </p:cNvPr>
                <p:cNvSpPr>
                  <a:spLocks/>
                </p:cNvSpPr>
                <p:nvPr/>
              </p:nvSpPr>
              <p:spPr bwMode="auto">
                <a:xfrm>
                  <a:off x="2726421" y="2019314"/>
                  <a:ext cx="1264982" cy="987273"/>
                </a:xfrm>
                <a:custGeom>
                  <a:avLst/>
                  <a:gdLst>
                    <a:gd name="T0" fmla="*/ 453 w 453"/>
                    <a:gd name="T1" fmla="*/ 255 h 361"/>
                    <a:gd name="T2" fmla="*/ 453 w 453"/>
                    <a:gd name="T3" fmla="*/ 255 h 361"/>
                    <a:gd name="T4" fmla="*/ 453 w 453"/>
                    <a:gd name="T5" fmla="*/ 255 h 361"/>
                    <a:gd name="T6" fmla="*/ 4 w 453"/>
                    <a:gd name="T7" fmla="*/ 0 h 361"/>
                    <a:gd name="T8" fmla="*/ 75 w 453"/>
                    <a:gd name="T9" fmla="*/ 118 h 361"/>
                    <a:gd name="T10" fmla="*/ 24 w 453"/>
                    <a:gd name="T11" fmla="*/ 215 h 361"/>
                    <a:gd name="T12" fmla="*/ 7 w 453"/>
                    <a:gd name="T13" fmla="*/ 248 h 361"/>
                    <a:gd name="T14" fmla="*/ 0 w 453"/>
                    <a:gd name="T15" fmla="*/ 262 h 361"/>
                    <a:gd name="T16" fmla="*/ 196 w 453"/>
                    <a:gd name="T17" fmla="*/ 349 h 361"/>
                    <a:gd name="T18" fmla="*/ 377 w 453"/>
                    <a:gd name="T19" fmla="*/ 361 h 361"/>
                    <a:gd name="T20" fmla="*/ 453 w 453"/>
                    <a:gd name="T21" fmla="*/ 255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3" h="361">
                      <a:moveTo>
                        <a:pt x="453" y="255"/>
                      </a:moveTo>
                      <a:cubicBezTo>
                        <a:pt x="453" y="255"/>
                        <a:pt x="453" y="255"/>
                        <a:pt x="453" y="255"/>
                      </a:cubicBezTo>
                      <a:cubicBezTo>
                        <a:pt x="453" y="255"/>
                        <a:pt x="453" y="255"/>
                        <a:pt x="453" y="255"/>
                      </a:cubicBezTo>
                      <a:cubicBezTo>
                        <a:pt x="359" y="105"/>
                        <a:pt x="193" y="3"/>
                        <a:pt x="4" y="0"/>
                      </a:cubicBezTo>
                      <a:cubicBezTo>
                        <a:pt x="75" y="118"/>
                        <a:pt x="75" y="118"/>
                        <a:pt x="75" y="118"/>
                      </a:cubicBezTo>
                      <a:cubicBezTo>
                        <a:pt x="24" y="215"/>
                        <a:pt x="24" y="215"/>
                        <a:pt x="24" y="215"/>
                      </a:cubicBezTo>
                      <a:cubicBezTo>
                        <a:pt x="7" y="248"/>
                        <a:pt x="7" y="248"/>
                        <a:pt x="7" y="248"/>
                      </a:cubicBezTo>
                      <a:cubicBezTo>
                        <a:pt x="0" y="262"/>
                        <a:pt x="0" y="262"/>
                        <a:pt x="0" y="262"/>
                      </a:cubicBezTo>
                      <a:cubicBezTo>
                        <a:pt x="77" y="264"/>
                        <a:pt x="146" y="297"/>
                        <a:pt x="196" y="349"/>
                      </a:cubicBezTo>
                      <a:cubicBezTo>
                        <a:pt x="377" y="361"/>
                        <a:pt x="377" y="361"/>
                        <a:pt x="377" y="361"/>
                      </a:cubicBezTo>
                      <a:cubicBezTo>
                        <a:pt x="453" y="255"/>
                        <a:pt x="453" y="255"/>
                        <a:pt x="453" y="255"/>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1" name="Freeform 11">
                  <a:extLst>
                    <a:ext uri="{FF2B5EF4-FFF2-40B4-BE49-F238E27FC236}">
                      <a16:creationId xmlns:a16="http://schemas.microsoft.com/office/drawing/2014/main" id="{6556C2F4-22B6-4403-8E3D-8A93507FE8D0}"/>
                    </a:ext>
                  </a:extLst>
                </p:cNvPr>
                <p:cNvSpPr>
                  <a:spLocks/>
                </p:cNvSpPr>
                <p:nvPr/>
              </p:nvSpPr>
              <p:spPr bwMode="auto">
                <a:xfrm>
                  <a:off x="2603093" y="3805150"/>
                  <a:ext cx="1418847" cy="1162175"/>
                </a:xfrm>
                <a:custGeom>
                  <a:avLst/>
                  <a:gdLst>
                    <a:gd name="T0" fmla="*/ 508 w 508"/>
                    <a:gd name="T1" fmla="*/ 152 h 425"/>
                    <a:gd name="T2" fmla="*/ 508 w 508"/>
                    <a:gd name="T3" fmla="*/ 152 h 425"/>
                    <a:gd name="T4" fmla="*/ 373 w 508"/>
                    <a:gd name="T5" fmla="*/ 146 h 425"/>
                    <a:gd name="T6" fmla="*/ 292 w 508"/>
                    <a:gd name="T7" fmla="*/ 1 h 425"/>
                    <a:gd name="T8" fmla="*/ 292 w 508"/>
                    <a:gd name="T9" fmla="*/ 0 h 425"/>
                    <a:gd name="T10" fmla="*/ 77 w 508"/>
                    <a:gd name="T11" fmla="*/ 162 h 425"/>
                    <a:gd name="T12" fmla="*/ 0 w 508"/>
                    <a:gd name="T13" fmla="*/ 291 h 425"/>
                    <a:gd name="T14" fmla="*/ 69 w 508"/>
                    <a:gd name="T15" fmla="*/ 425 h 425"/>
                    <a:gd name="T16" fmla="*/ 508 w 508"/>
                    <a:gd name="T17" fmla="*/ 152 h 425"/>
                    <a:gd name="T18" fmla="*/ 508 w 508"/>
                    <a:gd name="T19" fmla="*/ 152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8" h="425">
                      <a:moveTo>
                        <a:pt x="508" y="152"/>
                      </a:moveTo>
                      <a:cubicBezTo>
                        <a:pt x="508" y="152"/>
                        <a:pt x="508" y="152"/>
                        <a:pt x="508" y="152"/>
                      </a:cubicBezTo>
                      <a:cubicBezTo>
                        <a:pt x="373" y="146"/>
                        <a:pt x="373" y="146"/>
                        <a:pt x="373" y="146"/>
                      </a:cubicBezTo>
                      <a:cubicBezTo>
                        <a:pt x="292" y="1"/>
                        <a:pt x="292" y="1"/>
                        <a:pt x="292" y="1"/>
                      </a:cubicBezTo>
                      <a:cubicBezTo>
                        <a:pt x="292" y="0"/>
                        <a:pt x="292" y="0"/>
                        <a:pt x="292" y="0"/>
                      </a:cubicBezTo>
                      <a:cubicBezTo>
                        <a:pt x="253" y="85"/>
                        <a:pt x="173" y="148"/>
                        <a:pt x="77" y="162"/>
                      </a:cubicBezTo>
                      <a:cubicBezTo>
                        <a:pt x="0" y="291"/>
                        <a:pt x="0" y="291"/>
                        <a:pt x="0" y="291"/>
                      </a:cubicBezTo>
                      <a:cubicBezTo>
                        <a:pt x="69" y="425"/>
                        <a:pt x="69" y="425"/>
                        <a:pt x="69" y="425"/>
                      </a:cubicBezTo>
                      <a:cubicBezTo>
                        <a:pt x="258" y="415"/>
                        <a:pt x="420" y="307"/>
                        <a:pt x="508" y="152"/>
                      </a:cubicBezTo>
                      <a:cubicBezTo>
                        <a:pt x="508" y="152"/>
                        <a:pt x="508" y="152"/>
                        <a:pt x="508" y="152"/>
                      </a:cubicBezTo>
                      <a:close/>
                    </a:path>
                  </a:pathLst>
                </a:cu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82" name="Freeform 13">
                  <a:extLst>
                    <a:ext uri="{FF2B5EF4-FFF2-40B4-BE49-F238E27FC236}">
                      <a16:creationId xmlns:a16="http://schemas.microsoft.com/office/drawing/2014/main" id="{B28DFBA1-FAE7-4CFF-8A98-D64751F9285F}"/>
                    </a:ext>
                  </a:extLst>
                </p:cNvPr>
                <p:cNvSpPr>
                  <a:spLocks/>
                </p:cNvSpPr>
                <p:nvPr/>
              </p:nvSpPr>
              <p:spPr bwMode="auto">
                <a:xfrm>
                  <a:off x="1201864" y="2801768"/>
                  <a:ext cx="823355" cy="1465951"/>
                </a:xfrm>
                <a:custGeom>
                  <a:avLst/>
                  <a:gdLst>
                    <a:gd name="T0" fmla="*/ 262 w 295"/>
                    <a:gd name="T1" fmla="*/ 254 h 536"/>
                    <a:gd name="T2" fmla="*/ 291 w 295"/>
                    <a:gd name="T3" fmla="*/ 130 h 536"/>
                    <a:gd name="T4" fmla="*/ 291 w 295"/>
                    <a:gd name="T5" fmla="*/ 130 h 536"/>
                    <a:gd name="T6" fmla="*/ 206 w 295"/>
                    <a:gd name="T7" fmla="*/ 0 h 536"/>
                    <a:gd name="T8" fmla="*/ 62 w 295"/>
                    <a:gd name="T9" fmla="*/ 3 h 536"/>
                    <a:gd name="T10" fmla="*/ 0 w 295"/>
                    <a:gd name="T11" fmla="*/ 254 h 536"/>
                    <a:gd name="T12" fmla="*/ 80 w 295"/>
                    <a:gd name="T13" fmla="*/ 536 h 536"/>
                    <a:gd name="T14" fmla="*/ 80 w 295"/>
                    <a:gd name="T15" fmla="*/ 536 h 536"/>
                    <a:gd name="T16" fmla="*/ 150 w 295"/>
                    <a:gd name="T17" fmla="*/ 397 h 536"/>
                    <a:gd name="T18" fmla="*/ 295 w 295"/>
                    <a:gd name="T19" fmla="*/ 384 h 536"/>
                    <a:gd name="T20" fmla="*/ 295 w 295"/>
                    <a:gd name="T21" fmla="*/ 384 h 536"/>
                    <a:gd name="T22" fmla="*/ 262 w 295"/>
                    <a:gd name="T23" fmla="*/ 254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5" h="536">
                      <a:moveTo>
                        <a:pt x="262" y="254"/>
                      </a:moveTo>
                      <a:cubicBezTo>
                        <a:pt x="262" y="209"/>
                        <a:pt x="273" y="167"/>
                        <a:pt x="291" y="130"/>
                      </a:cubicBezTo>
                      <a:cubicBezTo>
                        <a:pt x="291" y="130"/>
                        <a:pt x="291" y="130"/>
                        <a:pt x="291" y="130"/>
                      </a:cubicBezTo>
                      <a:cubicBezTo>
                        <a:pt x="206" y="0"/>
                        <a:pt x="206" y="0"/>
                        <a:pt x="206" y="0"/>
                      </a:cubicBezTo>
                      <a:cubicBezTo>
                        <a:pt x="62" y="3"/>
                        <a:pt x="62" y="3"/>
                        <a:pt x="62" y="3"/>
                      </a:cubicBezTo>
                      <a:cubicBezTo>
                        <a:pt x="23" y="78"/>
                        <a:pt x="0" y="163"/>
                        <a:pt x="0" y="254"/>
                      </a:cubicBezTo>
                      <a:cubicBezTo>
                        <a:pt x="0" y="357"/>
                        <a:pt x="30" y="454"/>
                        <a:pt x="80" y="536"/>
                      </a:cubicBezTo>
                      <a:cubicBezTo>
                        <a:pt x="80" y="536"/>
                        <a:pt x="80" y="536"/>
                        <a:pt x="80" y="536"/>
                      </a:cubicBezTo>
                      <a:cubicBezTo>
                        <a:pt x="150" y="397"/>
                        <a:pt x="150" y="397"/>
                        <a:pt x="150" y="397"/>
                      </a:cubicBezTo>
                      <a:cubicBezTo>
                        <a:pt x="295" y="384"/>
                        <a:pt x="295" y="384"/>
                        <a:pt x="295" y="384"/>
                      </a:cubicBezTo>
                      <a:cubicBezTo>
                        <a:pt x="295" y="384"/>
                        <a:pt x="295" y="384"/>
                        <a:pt x="295" y="384"/>
                      </a:cubicBezTo>
                      <a:cubicBezTo>
                        <a:pt x="274" y="345"/>
                        <a:pt x="262" y="301"/>
                        <a:pt x="262" y="254"/>
                      </a:cubicBezTo>
                      <a:close/>
                    </a:path>
                  </a:pathLst>
                </a:custGeom>
                <a:solidFill>
                  <a:srgbClr val="61C2BB"/>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91" name="TextBox 60">
                  <a:extLst>
                    <a:ext uri="{FF2B5EF4-FFF2-40B4-BE49-F238E27FC236}">
                      <a16:creationId xmlns:a16="http://schemas.microsoft.com/office/drawing/2014/main" id="{340D4DB6-85C5-4055-9AA8-26EE85D3DDE2}"/>
                    </a:ext>
                  </a:extLst>
                </p:cNvPr>
                <p:cNvSpPr txBox="1"/>
                <p:nvPr/>
              </p:nvSpPr>
              <p:spPr>
                <a:xfrm>
                  <a:off x="1990947" y="3320909"/>
                  <a:ext cx="1401141" cy="324548"/>
                </a:xfrm>
                <a:prstGeom prst="rect">
                  <a:avLst/>
                </a:prstGeom>
                <a:noFill/>
              </p:spPr>
              <p:txBody>
                <a:bodyPr wrap="square" rtlCol="0" anchor="ctr">
                  <a:spAutoFit/>
                </a:bodyPr>
                <a:lstStyle/>
                <a:p>
                  <a:pPr marL="0" marR="0" lvl="0" indent="0" algn="ctr" defTabSz="914400" rtl="0" eaLnBrk="1" fontAlgn="auto" latinLnBrk="0" hangingPunct="1">
                    <a:lnSpc>
                      <a:spcPts val="2000"/>
                    </a:lnSpc>
                    <a:spcBef>
                      <a:spcPts val="0"/>
                    </a:spcBef>
                    <a:spcAft>
                      <a:spcPts val="0"/>
                    </a:spcAft>
                    <a:buClrTx/>
                    <a:buSzTx/>
                    <a:buFontTx/>
                    <a:buNone/>
                    <a:tabLst/>
                    <a:defRPr/>
                  </a:pPr>
                  <a:r>
                    <a:rPr lang="zh-CN" altLang="en-US" sz="1600" b="1" dirty="0">
                      <a:latin typeface="微软雅黑" panose="020B0503020204020204" pitchFamily="34" charset="-122"/>
                      <a:ea typeface="微软雅黑" panose="020B0503020204020204" pitchFamily="34" charset="-122"/>
                      <a:cs typeface="Open Sans bold" panose="020B0806030504020204" pitchFamily="34" charset="0"/>
                    </a:rPr>
                    <a:t>战略规划</a:t>
                  </a:r>
                  <a:r>
                    <a:rPr kumimoji="0" lang="en-GB" sz="16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Open Sans bold" panose="020B0806030504020204" pitchFamily="34" charset="0"/>
                    </a:rPr>
                    <a:t>  </a:t>
                  </a:r>
                  <a:endParaRPr kumimoji="0" lang="en-US" sz="16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Open Sans bold" panose="020B0806030504020204" pitchFamily="34" charset="0"/>
                  </a:endParaRPr>
                </a:p>
              </p:txBody>
            </p:sp>
          </p:grpSp>
          <p:sp>
            <p:nvSpPr>
              <p:cNvPr id="109" name="文本框 108">
                <a:extLst>
                  <a:ext uri="{FF2B5EF4-FFF2-40B4-BE49-F238E27FC236}">
                    <a16:creationId xmlns:a16="http://schemas.microsoft.com/office/drawing/2014/main" id="{9558365D-39D5-4FD4-8CB2-1636EB2F2667}"/>
                  </a:ext>
                </a:extLst>
              </p:cNvPr>
              <p:cNvSpPr txBox="1"/>
              <p:nvPr/>
            </p:nvSpPr>
            <p:spPr>
              <a:xfrm>
                <a:off x="1155791" y="2336443"/>
                <a:ext cx="1039233" cy="619083"/>
              </a:xfrm>
              <a:prstGeom prst="rect">
                <a:avLst/>
              </a:prstGeom>
              <a:noFill/>
            </p:spPr>
            <p:txBody>
              <a:bodyPr wrap="square" rtlCol="0">
                <a:spAutoFit/>
              </a:bodyPr>
              <a:lstStyle/>
              <a:p>
                <a:pPr algn="ctr"/>
                <a:r>
                  <a:rPr lang="zh-CN" altLang="en-US" sz="1200" b="1">
                    <a:solidFill>
                      <a:schemeClr val="tx2"/>
                    </a:solidFill>
                    <a:latin typeface="微软雅黑" panose="020B0503020204020204" pitchFamily="34" charset="-122"/>
                    <a:ea typeface="微软雅黑" panose="020B0503020204020204" pitchFamily="34" charset="-122"/>
                  </a:rPr>
                  <a:t>明确工</a:t>
                </a:r>
                <a:endParaRPr lang="en-US" altLang="zh-CN" sz="1200" b="1">
                  <a:solidFill>
                    <a:schemeClr val="tx2"/>
                  </a:solidFill>
                  <a:latin typeface="微软雅黑" panose="020B0503020204020204" pitchFamily="34" charset="-122"/>
                  <a:ea typeface="微软雅黑" panose="020B0503020204020204" pitchFamily="34" charset="-122"/>
                </a:endParaRPr>
              </a:p>
              <a:p>
                <a:pPr algn="ctr"/>
                <a:r>
                  <a:rPr lang="zh-CN" altLang="en-US" sz="1200" b="1">
                    <a:solidFill>
                      <a:schemeClr val="tx2"/>
                    </a:solidFill>
                    <a:latin typeface="微软雅黑" panose="020B0503020204020204" pitchFamily="34" charset="-122"/>
                    <a:ea typeface="微软雅黑" panose="020B0503020204020204" pitchFamily="34" charset="-122"/>
                  </a:rPr>
                  <a:t>作</a:t>
                </a:r>
                <a:r>
                  <a:rPr lang="zh-CN" altLang="en-US" sz="1200" b="1" dirty="0">
                    <a:solidFill>
                      <a:schemeClr val="tx2"/>
                    </a:solidFill>
                    <a:latin typeface="微软雅黑" panose="020B0503020204020204" pitchFamily="34" charset="-122"/>
                    <a:ea typeface="微软雅黑" panose="020B0503020204020204" pitchFamily="34" charset="-122"/>
                  </a:rPr>
                  <a:t>计划</a:t>
                </a:r>
              </a:p>
            </p:txBody>
          </p:sp>
          <p:sp>
            <p:nvSpPr>
              <p:cNvPr id="55" name="文本框 54">
                <a:extLst>
                  <a:ext uri="{FF2B5EF4-FFF2-40B4-BE49-F238E27FC236}">
                    <a16:creationId xmlns:a16="http://schemas.microsoft.com/office/drawing/2014/main" id="{A97E30B6-115E-4F08-B869-9E756CCCB565}"/>
                  </a:ext>
                </a:extLst>
              </p:cNvPr>
              <p:cNvSpPr txBox="1"/>
              <p:nvPr/>
            </p:nvSpPr>
            <p:spPr>
              <a:xfrm>
                <a:off x="2422018" y="2381647"/>
                <a:ext cx="933904" cy="619083"/>
              </a:xfrm>
              <a:prstGeom prst="rect">
                <a:avLst/>
              </a:prstGeom>
              <a:noFill/>
            </p:spPr>
            <p:txBody>
              <a:bodyPr wrap="square" rtlCol="0">
                <a:spAutoFit/>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目标设定</a:t>
                </a:r>
              </a:p>
            </p:txBody>
          </p:sp>
          <p:sp>
            <p:nvSpPr>
              <p:cNvPr id="53" name="文本框 52">
                <a:extLst>
                  <a:ext uri="{FF2B5EF4-FFF2-40B4-BE49-F238E27FC236}">
                    <a16:creationId xmlns:a16="http://schemas.microsoft.com/office/drawing/2014/main" id="{EAFA1D59-31D9-4774-9589-5964979187F1}"/>
                  </a:ext>
                </a:extLst>
              </p:cNvPr>
              <p:cNvSpPr txBox="1"/>
              <p:nvPr/>
            </p:nvSpPr>
            <p:spPr>
              <a:xfrm>
                <a:off x="2354982" y="4296832"/>
                <a:ext cx="817659" cy="619083"/>
              </a:xfrm>
              <a:prstGeom prst="rect">
                <a:avLst/>
              </a:prstGeom>
              <a:noFill/>
            </p:spPr>
            <p:txBody>
              <a:bodyPr wrap="square" rtlCol="0">
                <a:spAutoFit/>
              </a:bodyPr>
              <a:lstStyle/>
              <a:p>
                <a:pPr algn="ctr"/>
                <a:r>
                  <a:rPr lang="zh-CN" altLang="en-US" sz="1200" b="1" dirty="0">
                    <a:solidFill>
                      <a:schemeClr val="tx2"/>
                    </a:solidFill>
                    <a:latin typeface="微软雅黑" panose="020B0503020204020204" pitchFamily="34" charset="-122"/>
                    <a:ea typeface="微软雅黑" panose="020B0503020204020204" pitchFamily="34" charset="-122"/>
                  </a:rPr>
                  <a:t>预算管理</a:t>
                </a:r>
              </a:p>
            </p:txBody>
          </p:sp>
          <p:sp>
            <p:nvSpPr>
              <p:cNvPr id="52" name="文本框 51">
                <a:extLst>
                  <a:ext uri="{FF2B5EF4-FFF2-40B4-BE49-F238E27FC236}">
                    <a16:creationId xmlns:a16="http://schemas.microsoft.com/office/drawing/2014/main" id="{79806443-5A05-4A87-98D3-DEC76122E229}"/>
                  </a:ext>
                </a:extLst>
              </p:cNvPr>
              <p:cNvSpPr txBox="1"/>
              <p:nvPr/>
            </p:nvSpPr>
            <p:spPr>
              <a:xfrm>
                <a:off x="1142661" y="4267902"/>
                <a:ext cx="871963" cy="619083"/>
              </a:xfrm>
              <a:prstGeom prst="rect">
                <a:avLst/>
              </a:prstGeom>
              <a:noFill/>
            </p:spPr>
            <p:txBody>
              <a:bodyPr wrap="square" rtlCol="0">
                <a:spAutoFit/>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预测跟踪</a:t>
                </a:r>
              </a:p>
            </p:txBody>
          </p:sp>
        </p:grpSp>
        <p:sp>
          <p:nvSpPr>
            <p:cNvPr id="7" name="矩形 6">
              <a:extLst>
                <a:ext uri="{FF2B5EF4-FFF2-40B4-BE49-F238E27FC236}">
                  <a16:creationId xmlns:a16="http://schemas.microsoft.com/office/drawing/2014/main" id="{6E71373E-643D-4324-821F-712DB8A40439}"/>
                </a:ext>
              </a:extLst>
            </p:cNvPr>
            <p:cNvSpPr/>
            <p:nvPr/>
          </p:nvSpPr>
          <p:spPr>
            <a:xfrm>
              <a:off x="5540246" y="3596823"/>
              <a:ext cx="6069862" cy="549061"/>
            </a:xfrm>
            <a:prstGeom prst="rect">
              <a:avLst/>
            </a:prstGeom>
          </p:spPr>
          <p:txBody>
            <a:bodyPr wrap="square">
              <a:spAutoFit/>
            </a:bodyPr>
            <a:lstStyle/>
            <a:p>
              <a:pPr marL="171450" indent="-171450">
                <a:lnSpc>
                  <a:spcPct val="130000"/>
                </a:lnSpc>
                <a:buFont typeface="Arial" panose="020B0604020202020204" pitchFamily="34" charset="0"/>
                <a:buChar char="•"/>
              </a:pPr>
              <a:r>
                <a:rPr lang="zh-CN" altLang="en-US" sz="1200" dirty="0">
                  <a:latin typeface="微软雅黑" pitchFamily="34" charset="-122"/>
                  <a:ea typeface="微软雅黑" pitchFamily="34" charset="-122"/>
                </a:rPr>
                <a:t>业务线怎样实现既定战略目标，其业务计划如何支持公司战略要达到的业绩衡量指标</a:t>
              </a:r>
              <a:endParaRPr lang="en-US" altLang="zh-CN" sz="1200" dirty="0">
                <a:latin typeface="微软雅黑" pitchFamily="34" charset="-122"/>
                <a:ea typeface="微软雅黑" pitchFamily="34" charset="-122"/>
              </a:endParaRPr>
            </a:p>
            <a:p>
              <a:pPr marL="171450" indent="-171450">
                <a:lnSpc>
                  <a:spcPct val="130000"/>
                </a:lnSpc>
                <a:buFont typeface="Arial" panose="020B0604020202020204" pitchFamily="34" charset="0"/>
                <a:buChar char="•"/>
              </a:pPr>
              <a:r>
                <a:rPr lang="zh-CN" altLang="en-US" sz="1200" dirty="0">
                  <a:latin typeface="微软雅黑" pitchFamily="34" charset="-122"/>
                  <a:ea typeface="微软雅黑" pitchFamily="34" charset="-122"/>
                </a:rPr>
                <a:t>公司想要达到的关键业绩指标（</a:t>
              </a:r>
              <a:r>
                <a:rPr lang="en-US" altLang="zh-CN" sz="1200" dirty="0">
                  <a:latin typeface="微软雅黑" pitchFamily="34" charset="-122"/>
                  <a:ea typeface="微软雅黑" pitchFamily="34" charset="-122"/>
                </a:rPr>
                <a:t>KPI</a:t>
              </a:r>
              <a:r>
                <a:rPr lang="zh-CN" altLang="en-US" sz="1200" dirty="0">
                  <a:latin typeface="微软雅黑" pitchFamily="34" charset="-122"/>
                  <a:ea typeface="微软雅黑" pitchFamily="34" charset="-122"/>
                </a:rPr>
                <a:t>）</a:t>
              </a:r>
            </a:p>
          </p:txBody>
        </p:sp>
        <p:sp>
          <p:nvSpPr>
            <p:cNvPr id="10" name="矩形 9">
              <a:extLst>
                <a:ext uri="{FF2B5EF4-FFF2-40B4-BE49-F238E27FC236}">
                  <a16:creationId xmlns:a16="http://schemas.microsoft.com/office/drawing/2014/main" id="{06751D4C-4C1A-4441-9F30-8064705D0E35}"/>
                </a:ext>
              </a:extLst>
            </p:cNvPr>
            <p:cNvSpPr/>
            <p:nvPr/>
          </p:nvSpPr>
          <p:spPr>
            <a:xfrm>
              <a:off x="5542375" y="4402324"/>
              <a:ext cx="6344823" cy="549061"/>
            </a:xfrm>
            <a:prstGeom prst="rect">
              <a:avLst/>
            </a:prstGeom>
          </p:spPr>
          <p:txBody>
            <a:bodyPr wrap="square">
              <a:spAutoFit/>
            </a:bodyPr>
            <a:lstStyle/>
            <a:p>
              <a:pPr marL="171450" indent="-171450">
                <a:lnSpc>
                  <a:spcPct val="130000"/>
                </a:lnSpc>
                <a:buFont typeface="Arial" panose="020B0604020202020204" pitchFamily="34" charset="0"/>
                <a:buChar char="•"/>
              </a:pPr>
              <a:r>
                <a:rPr lang="zh-CN" altLang="en-US" sz="1200" dirty="0">
                  <a:latin typeface="微软雅黑" pitchFamily="34" charset="-122"/>
                  <a:ea typeface="微软雅黑" pitchFamily="34" charset="-122"/>
                </a:rPr>
                <a:t>业务目标、计划和活动怎样已数字和定量的形式表达，以支持公司的战略目的</a:t>
              </a:r>
              <a:endParaRPr lang="en-US" altLang="zh-CN" sz="1200" dirty="0">
                <a:latin typeface="微软雅黑" pitchFamily="34" charset="-122"/>
                <a:ea typeface="微软雅黑" pitchFamily="34" charset="-122"/>
              </a:endParaRPr>
            </a:p>
            <a:p>
              <a:pPr marL="171450" indent="-171450">
                <a:lnSpc>
                  <a:spcPct val="130000"/>
                </a:lnSpc>
                <a:buFont typeface="Arial" panose="020B0604020202020204" pitchFamily="34" charset="0"/>
                <a:buChar char="•"/>
              </a:pPr>
              <a:r>
                <a:rPr lang="zh-CN" altLang="en-US" sz="1200" dirty="0">
                  <a:latin typeface="微软雅黑" pitchFamily="34" charset="-122"/>
                  <a:ea typeface="微软雅黑" pitchFamily="34" charset="-122"/>
                </a:rPr>
                <a:t>预算编制包含的内容</a:t>
              </a:r>
              <a:endParaRPr lang="en-US" altLang="zh-CN" sz="1200" dirty="0">
                <a:latin typeface="微软雅黑" pitchFamily="34" charset="-122"/>
                <a:ea typeface="微软雅黑" pitchFamily="34" charset="-122"/>
              </a:endParaRPr>
            </a:p>
          </p:txBody>
        </p:sp>
        <p:sp>
          <p:nvSpPr>
            <p:cNvPr id="13" name="矩形 12">
              <a:extLst>
                <a:ext uri="{FF2B5EF4-FFF2-40B4-BE49-F238E27FC236}">
                  <a16:creationId xmlns:a16="http://schemas.microsoft.com/office/drawing/2014/main" id="{5B07530F-05AF-4D6D-8DB6-21180338266C}"/>
                </a:ext>
              </a:extLst>
            </p:cNvPr>
            <p:cNvSpPr/>
            <p:nvPr/>
          </p:nvSpPr>
          <p:spPr>
            <a:xfrm>
              <a:off x="5544378" y="5202956"/>
              <a:ext cx="6342819" cy="549061"/>
            </a:xfrm>
            <a:prstGeom prst="rect">
              <a:avLst/>
            </a:prstGeom>
          </p:spPr>
          <p:txBody>
            <a:bodyPr wrap="square">
              <a:spAutoFit/>
            </a:bodyPr>
            <a:lstStyle/>
            <a:p>
              <a:pPr marL="171450" indent="-171450">
                <a:lnSpc>
                  <a:spcPct val="130000"/>
                </a:lnSpc>
                <a:buFont typeface="Arial" panose="020B0604020202020204" pitchFamily="34" charset="0"/>
                <a:buChar char="•"/>
              </a:pPr>
              <a:r>
                <a:rPr lang="zh-CN" altLang="en-US" sz="1200" dirty="0">
                  <a:latin typeface="微软雅黑" pitchFamily="34" charset="-122"/>
                  <a:ea typeface="微软雅黑" pitchFamily="34" charset="-122"/>
                </a:rPr>
                <a:t>内部和外部环境的改变对最初的计划和预算有怎样的影响</a:t>
              </a:r>
              <a:endParaRPr lang="en-US" altLang="zh-CN" sz="1200" dirty="0">
                <a:latin typeface="微软雅黑" pitchFamily="34" charset="-122"/>
                <a:ea typeface="微软雅黑" pitchFamily="34" charset="-122"/>
              </a:endParaRPr>
            </a:p>
            <a:p>
              <a:pPr marL="171450" indent="-171450">
                <a:lnSpc>
                  <a:spcPct val="130000"/>
                </a:lnSpc>
                <a:buFont typeface="Arial" panose="020B0604020202020204" pitchFamily="34" charset="0"/>
                <a:buChar char="•"/>
              </a:pPr>
              <a:r>
                <a:rPr lang="zh-CN" altLang="en-US" sz="1200" dirty="0">
                  <a:latin typeface="微软雅黑" pitchFamily="34" charset="-122"/>
                  <a:ea typeface="微软雅黑" pitchFamily="34" charset="-122"/>
                </a:rPr>
                <a:t>我们需要基于最近获得的数据和信息再次浏览和修改我们的计划、目标或预算</a:t>
              </a:r>
              <a:endParaRPr lang="en-US" altLang="zh-CN" sz="1200" dirty="0">
                <a:latin typeface="微软雅黑" pitchFamily="34" charset="-122"/>
                <a:ea typeface="微软雅黑" pitchFamily="34" charset="-122"/>
              </a:endParaRPr>
            </a:p>
          </p:txBody>
        </p:sp>
        <p:sp>
          <p:nvSpPr>
            <p:cNvPr id="16" name="矩形 15">
              <a:extLst>
                <a:ext uri="{FF2B5EF4-FFF2-40B4-BE49-F238E27FC236}">
                  <a16:creationId xmlns:a16="http://schemas.microsoft.com/office/drawing/2014/main" id="{FD166AA4-6898-4946-B0E3-29D2ED32F14A}"/>
                </a:ext>
              </a:extLst>
            </p:cNvPr>
            <p:cNvSpPr/>
            <p:nvPr/>
          </p:nvSpPr>
          <p:spPr>
            <a:xfrm>
              <a:off x="5557644" y="5968607"/>
              <a:ext cx="4433064" cy="409448"/>
            </a:xfrm>
            <a:prstGeom prst="rect">
              <a:avLst/>
            </a:prstGeom>
          </p:spPr>
          <p:txBody>
            <a:bodyPr wrap="square">
              <a:spAutoFit/>
            </a:bodyPr>
            <a:lstStyle/>
            <a:p>
              <a:pPr marL="171450" indent="-171450">
                <a:lnSpc>
                  <a:spcPct val="130000"/>
                </a:lnSpc>
                <a:buFont typeface="Arial" panose="020B0604020202020204" pitchFamily="34" charset="0"/>
                <a:buChar char="•"/>
              </a:pPr>
              <a:r>
                <a:rPr lang="zh-CN" altLang="en-US" sz="1200" dirty="0">
                  <a:latin typeface="微软雅黑" pitchFamily="34" charset="-122"/>
                  <a:ea typeface="微软雅黑" pitchFamily="34" charset="-122"/>
                </a:rPr>
                <a:t>对预算的执行进行监控</a:t>
              </a:r>
              <a:endParaRPr lang="en-US" altLang="zh-CN" sz="1200" dirty="0">
                <a:latin typeface="微软雅黑" pitchFamily="34" charset="-122"/>
                <a:ea typeface="微软雅黑" pitchFamily="34" charset="-122"/>
              </a:endParaRPr>
            </a:p>
            <a:p>
              <a:pPr marL="171450" indent="-171450">
                <a:lnSpc>
                  <a:spcPct val="130000"/>
                </a:lnSpc>
                <a:buFont typeface="Arial" panose="020B0604020202020204" pitchFamily="34" charset="0"/>
                <a:buChar char="•"/>
              </a:pPr>
              <a:r>
                <a:rPr lang="zh-CN" altLang="en-US" sz="1200" dirty="0">
                  <a:latin typeface="微软雅黑" pitchFamily="34" charset="-122"/>
                  <a:ea typeface="微软雅黑" pitchFamily="34" charset="-122"/>
                </a:rPr>
                <a:t>建立公司的预算预警体系</a:t>
              </a:r>
              <a:endParaRPr lang="en-US" altLang="zh-CN" sz="1200" dirty="0">
                <a:latin typeface="微软雅黑" pitchFamily="34" charset="-122"/>
                <a:ea typeface="微软雅黑" pitchFamily="34" charset="-122"/>
              </a:endParaRPr>
            </a:p>
          </p:txBody>
        </p:sp>
        <p:sp>
          <p:nvSpPr>
            <p:cNvPr id="51" name="文本框 50">
              <a:extLst>
                <a:ext uri="{FF2B5EF4-FFF2-40B4-BE49-F238E27FC236}">
                  <a16:creationId xmlns:a16="http://schemas.microsoft.com/office/drawing/2014/main" id="{7C10CD8C-664D-4989-B328-64D66CF47254}"/>
                </a:ext>
              </a:extLst>
            </p:cNvPr>
            <p:cNvSpPr txBox="1"/>
            <p:nvPr/>
          </p:nvSpPr>
          <p:spPr>
            <a:xfrm>
              <a:off x="2564030" y="4375693"/>
              <a:ext cx="543977" cy="461665"/>
            </a:xfrm>
            <a:prstGeom prst="rect">
              <a:avLst/>
            </a:prstGeom>
            <a:noFill/>
          </p:spPr>
          <p:txBody>
            <a:bodyPr wrap="square" rtlCol="0">
              <a:spAutoFit/>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预算编制</a:t>
              </a:r>
            </a:p>
          </p:txBody>
        </p:sp>
        <p:sp>
          <p:nvSpPr>
            <p:cNvPr id="50" name="文本框 49">
              <a:extLst>
                <a:ext uri="{FF2B5EF4-FFF2-40B4-BE49-F238E27FC236}">
                  <a16:creationId xmlns:a16="http://schemas.microsoft.com/office/drawing/2014/main" id="{1EED95C6-AA8B-4244-95EB-839818D9C294}"/>
                </a:ext>
              </a:extLst>
            </p:cNvPr>
            <p:cNvSpPr txBox="1"/>
            <p:nvPr/>
          </p:nvSpPr>
          <p:spPr>
            <a:xfrm>
              <a:off x="788109" y="4353498"/>
              <a:ext cx="618644" cy="461665"/>
            </a:xfrm>
            <a:prstGeom prst="rect">
              <a:avLst/>
            </a:prstGeom>
            <a:noFill/>
          </p:spPr>
          <p:txBody>
            <a:bodyPr wrap="square" rtlCol="0">
              <a:spAutoFit/>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预算监控</a:t>
              </a:r>
            </a:p>
          </p:txBody>
        </p:sp>
        <p:sp>
          <p:nvSpPr>
            <p:cNvPr id="110" name="箭头: 右 26">
              <a:extLst>
                <a:ext uri="{FF2B5EF4-FFF2-40B4-BE49-F238E27FC236}">
                  <a16:creationId xmlns:a16="http://schemas.microsoft.com/office/drawing/2014/main" id="{A866888A-BA8A-4A37-98E5-FE629B454D5B}"/>
                </a:ext>
              </a:extLst>
            </p:cNvPr>
            <p:cNvSpPr/>
            <p:nvPr/>
          </p:nvSpPr>
          <p:spPr>
            <a:xfrm>
              <a:off x="4171416" y="2828991"/>
              <a:ext cx="1222619" cy="347352"/>
            </a:xfrm>
            <a:prstGeom prst="rightArrow">
              <a:avLst>
                <a:gd name="adj1" fmla="val 82684"/>
                <a:gd name="adj2" fmla="val 33018"/>
              </a:avLst>
            </a:prstGeom>
            <a:solidFill>
              <a:schemeClr val="bg1">
                <a:lumMod val="8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箭头: 右 26">
              <a:extLst>
                <a:ext uri="{FF2B5EF4-FFF2-40B4-BE49-F238E27FC236}">
                  <a16:creationId xmlns:a16="http://schemas.microsoft.com/office/drawing/2014/main" id="{B6489385-5D5A-4118-B6C8-BD7AC9E81000}"/>
                </a:ext>
              </a:extLst>
            </p:cNvPr>
            <p:cNvSpPr/>
            <p:nvPr/>
          </p:nvSpPr>
          <p:spPr>
            <a:xfrm>
              <a:off x="4189651" y="3634387"/>
              <a:ext cx="1222619" cy="347352"/>
            </a:xfrm>
            <a:prstGeom prst="rightArrow">
              <a:avLst>
                <a:gd name="adj1" fmla="val 82684"/>
                <a:gd name="adj2" fmla="val 33018"/>
              </a:avLst>
            </a:prstGeom>
            <a:solidFill>
              <a:srgbClr val="1432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箭头: 右 26">
              <a:extLst>
                <a:ext uri="{FF2B5EF4-FFF2-40B4-BE49-F238E27FC236}">
                  <a16:creationId xmlns:a16="http://schemas.microsoft.com/office/drawing/2014/main" id="{3D33C264-3D00-4C81-BCAF-23C247D70255}"/>
                </a:ext>
              </a:extLst>
            </p:cNvPr>
            <p:cNvSpPr/>
            <p:nvPr/>
          </p:nvSpPr>
          <p:spPr>
            <a:xfrm>
              <a:off x="4210373" y="4464061"/>
              <a:ext cx="1222619" cy="347352"/>
            </a:xfrm>
            <a:prstGeom prst="rightArrow">
              <a:avLst>
                <a:gd name="adj1" fmla="val 82684"/>
                <a:gd name="adj2" fmla="val 33018"/>
              </a:avLst>
            </a:prstGeom>
            <a:solidFill>
              <a:srgbClr val="61C2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箭头: 右 26">
              <a:extLst>
                <a:ext uri="{FF2B5EF4-FFF2-40B4-BE49-F238E27FC236}">
                  <a16:creationId xmlns:a16="http://schemas.microsoft.com/office/drawing/2014/main" id="{BF4BFA44-A74D-4BB6-A70D-C35529F5679F}"/>
                </a:ext>
              </a:extLst>
            </p:cNvPr>
            <p:cNvSpPr/>
            <p:nvPr/>
          </p:nvSpPr>
          <p:spPr>
            <a:xfrm>
              <a:off x="4214768" y="5293735"/>
              <a:ext cx="1222619" cy="347352"/>
            </a:xfrm>
            <a:prstGeom prst="rightArrow">
              <a:avLst>
                <a:gd name="adj1" fmla="val 82684"/>
                <a:gd name="adj2" fmla="val 33018"/>
              </a:avLst>
            </a:prstGeom>
            <a:solidFill>
              <a:srgbClr val="1432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箭头: 右 26">
              <a:extLst>
                <a:ext uri="{FF2B5EF4-FFF2-40B4-BE49-F238E27FC236}">
                  <a16:creationId xmlns:a16="http://schemas.microsoft.com/office/drawing/2014/main" id="{4965373E-BF40-4C65-AD96-E88DDAECF6E1}"/>
                </a:ext>
              </a:extLst>
            </p:cNvPr>
            <p:cNvSpPr/>
            <p:nvPr/>
          </p:nvSpPr>
          <p:spPr>
            <a:xfrm>
              <a:off x="4210373" y="6106951"/>
              <a:ext cx="1222619" cy="347352"/>
            </a:xfrm>
            <a:prstGeom prst="rightArrow">
              <a:avLst>
                <a:gd name="adj1" fmla="val 82684"/>
                <a:gd name="adj2" fmla="val 33018"/>
              </a:avLst>
            </a:prstGeom>
            <a:solidFill>
              <a:srgbClr val="61C2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15C5FE9F-E114-4E7A-9163-29442DE6E89B}"/>
                </a:ext>
              </a:extLst>
            </p:cNvPr>
            <p:cNvSpPr/>
            <p:nvPr/>
          </p:nvSpPr>
          <p:spPr>
            <a:xfrm>
              <a:off x="5540246" y="2789841"/>
              <a:ext cx="4433064" cy="409448"/>
            </a:xfrm>
            <a:prstGeom prst="rect">
              <a:avLst/>
            </a:prstGeom>
          </p:spPr>
          <p:txBody>
            <a:bodyPr wrap="square">
              <a:spAutoFit/>
            </a:bodyPr>
            <a:lstStyle/>
            <a:p>
              <a:pPr marL="171450" indent="-171450">
                <a:lnSpc>
                  <a:spcPct val="130000"/>
                </a:lnSpc>
                <a:buFont typeface="Arial" panose="020B0604020202020204" pitchFamily="34" charset="0"/>
                <a:buChar char="•"/>
              </a:pPr>
              <a:r>
                <a:rPr lang="zh-CN" altLang="en-US" sz="1200" dirty="0">
                  <a:latin typeface="微软雅黑" pitchFamily="34" charset="-122"/>
                  <a:ea typeface="微软雅黑" pitchFamily="34" charset="-122"/>
                </a:rPr>
                <a:t>公司的愿景和使命</a:t>
              </a:r>
              <a:endParaRPr lang="en-US" altLang="zh-CN" sz="1200" dirty="0">
                <a:latin typeface="微软雅黑" pitchFamily="34" charset="-122"/>
                <a:ea typeface="微软雅黑" pitchFamily="34" charset="-122"/>
              </a:endParaRPr>
            </a:p>
            <a:p>
              <a:pPr marL="171450" indent="-171450">
                <a:lnSpc>
                  <a:spcPct val="130000"/>
                </a:lnSpc>
                <a:buFont typeface="Arial" panose="020B0604020202020204" pitchFamily="34" charset="0"/>
                <a:buChar char="•"/>
              </a:pPr>
              <a:r>
                <a:rPr lang="zh-CN" altLang="en-US" sz="1200" dirty="0">
                  <a:latin typeface="微软雅黑" pitchFamily="34" charset="-122"/>
                  <a:ea typeface="微软雅黑" pitchFamily="34" charset="-122"/>
                </a:rPr>
                <a:t>公司</a:t>
              </a:r>
              <a:r>
                <a:rPr lang="en-US" altLang="zh-CN" sz="1200" dirty="0">
                  <a:latin typeface="微软雅黑" pitchFamily="34" charset="-122"/>
                  <a:ea typeface="微软雅黑" pitchFamily="34" charset="-122"/>
                </a:rPr>
                <a:t>3-5</a:t>
              </a:r>
              <a:r>
                <a:rPr lang="zh-CN" altLang="en-US" sz="1200" dirty="0">
                  <a:latin typeface="微软雅黑" pitchFamily="34" charset="-122"/>
                  <a:ea typeface="微软雅黑" pitchFamily="34" charset="-122"/>
                </a:rPr>
                <a:t>年的业务方向和战略目标</a:t>
              </a:r>
            </a:p>
          </p:txBody>
        </p:sp>
        <p:sp>
          <p:nvSpPr>
            <p:cNvPr id="3" name="文本框 2">
              <a:extLst>
                <a:ext uri="{FF2B5EF4-FFF2-40B4-BE49-F238E27FC236}">
                  <a16:creationId xmlns:a16="http://schemas.microsoft.com/office/drawing/2014/main" id="{F605124C-974E-4220-9B5C-010CA204216E}"/>
                </a:ext>
              </a:extLst>
            </p:cNvPr>
            <p:cNvSpPr txBox="1"/>
            <p:nvPr/>
          </p:nvSpPr>
          <p:spPr>
            <a:xfrm>
              <a:off x="4200667" y="2827308"/>
              <a:ext cx="1345519" cy="338554"/>
            </a:xfrm>
            <a:prstGeom prst="rect">
              <a:avLst/>
            </a:prstGeom>
            <a:noFill/>
          </p:spPr>
          <p:txBody>
            <a:bodyPr wrap="square" rtlCol="0">
              <a:spAutoFit/>
            </a:bodyPr>
            <a:lstStyle/>
            <a:p>
              <a:r>
                <a:rPr lang="zh-CN" altLang="en-US" sz="1600" b="1" dirty="0">
                  <a:solidFill>
                    <a:schemeClr val="tx2"/>
                  </a:solidFill>
                  <a:latin typeface="微软雅黑" panose="020B0503020204020204" pitchFamily="34" charset="-122"/>
                  <a:ea typeface="微软雅黑" panose="020B0503020204020204" pitchFamily="34" charset="-122"/>
                </a:rPr>
                <a:t>战略规划</a:t>
              </a:r>
            </a:p>
          </p:txBody>
        </p:sp>
        <p:sp>
          <p:nvSpPr>
            <p:cNvPr id="6" name="文本框 5">
              <a:extLst>
                <a:ext uri="{FF2B5EF4-FFF2-40B4-BE49-F238E27FC236}">
                  <a16:creationId xmlns:a16="http://schemas.microsoft.com/office/drawing/2014/main" id="{7653FEFD-379E-4288-B271-72DF0CAC973C}"/>
                </a:ext>
              </a:extLst>
            </p:cNvPr>
            <p:cNvSpPr txBox="1"/>
            <p:nvPr/>
          </p:nvSpPr>
          <p:spPr>
            <a:xfrm>
              <a:off x="4194439" y="3634093"/>
              <a:ext cx="1111373" cy="338554"/>
            </a:xfrm>
            <a:prstGeom prst="rect">
              <a:avLst/>
            </a:prstGeom>
            <a:noFill/>
          </p:spPr>
          <p:txBody>
            <a:bodyPr wrap="squar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目标设定</a:t>
              </a:r>
            </a:p>
          </p:txBody>
        </p:sp>
        <p:cxnSp>
          <p:nvCxnSpPr>
            <p:cNvPr id="120" name="Connector: Elbow 257">
              <a:extLst>
                <a:ext uri="{FF2B5EF4-FFF2-40B4-BE49-F238E27FC236}">
                  <a16:creationId xmlns:a16="http://schemas.microsoft.com/office/drawing/2014/main" id="{526D8D69-B9E3-43F9-AC06-3FB1B2DA7B43}"/>
                </a:ext>
              </a:extLst>
            </p:cNvPr>
            <p:cNvCxnSpPr>
              <a:cxnSpLocks/>
            </p:cNvCxnSpPr>
            <p:nvPr/>
          </p:nvCxnSpPr>
          <p:spPr>
            <a:xfrm flipV="1">
              <a:off x="2875880" y="3818751"/>
              <a:ext cx="1240056" cy="1"/>
            </a:xfrm>
            <a:prstGeom prst="bentConnector3">
              <a:avLst>
                <a:gd name="adj1" fmla="val 50000"/>
              </a:avLst>
            </a:prstGeom>
            <a:ln w="12700">
              <a:solidFill>
                <a:srgbClr val="143268"/>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C126ED70-4CF6-46D3-B229-27974FB0F543}"/>
                </a:ext>
              </a:extLst>
            </p:cNvPr>
            <p:cNvSpPr txBox="1"/>
            <p:nvPr/>
          </p:nvSpPr>
          <p:spPr>
            <a:xfrm>
              <a:off x="4250684" y="4470395"/>
              <a:ext cx="1182307" cy="338554"/>
            </a:xfrm>
            <a:prstGeom prst="rect">
              <a:avLst/>
            </a:prstGeom>
            <a:noFill/>
          </p:spPr>
          <p:txBody>
            <a:bodyPr wrap="squar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预算编制</a:t>
              </a:r>
            </a:p>
          </p:txBody>
        </p:sp>
        <p:cxnSp>
          <p:nvCxnSpPr>
            <p:cNvPr id="126" name="Straight Connector 280">
              <a:extLst>
                <a:ext uri="{FF2B5EF4-FFF2-40B4-BE49-F238E27FC236}">
                  <a16:creationId xmlns:a16="http://schemas.microsoft.com/office/drawing/2014/main" id="{F077E836-6AA9-4940-931C-CD01D9A77EC6}"/>
                </a:ext>
              </a:extLst>
            </p:cNvPr>
            <p:cNvCxnSpPr>
              <a:cxnSpLocks/>
            </p:cNvCxnSpPr>
            <p:nvPr/>
          </p:nvCxnSpPr>
          <p:spPr>
            <a:xfrm flipV="1">
              <a:off x="3162699" y="4637303"/>
              <a:ext cx="977168" cy="434"/>
            </a:xfrm>
            <a:prstGeom prst="line">
              <a:avLst/>
            </a:prstGeom>
            <a:ln w="9525">
              <a:solidFill>
                <a:schemeClr val="accent2"/>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CEA60535-3ACA-4837-9EBA-13EEBED264D7}"/>
                </a:ext>
              </a:extLst>
            </p:cNvPr>
            <p:cNvSpPr txBox="1"/>
            <p:nvPr/>
          </p:nvSpPr>
          <p:spPr>
            <a:xfrm>
              <a:off x="4357681" y="5289905"/>
              <a:ext cx="784887" cy="338554"/>
            </a:xfrm>
            <a:prstGeom prst="rect">
              <a:avLst/>
            </a:prstGeom>
            <a:noFill/>
          </p:spPr>
          <p:txBody>
            <a:bodyPr wrap="squar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预   测</a:t>
              </a:r>
            </a:p>
          </p:txBody>
        </p:sp>
        <p:cxnSp>
          <p:nvCxnSpPr>
            <p:cNvPr id="128" name="Connector: Elbow 41">
              <a:extLst>
                <a:ext uri="{FF2B5EF4-FFF2-40B4-BE49-F238E27FC236}">
                  <a16:creationId xmlns:a16="http://schemas.microsoft.com/office/drawing/2014/main" id="{A649101D-4783-4BA1-B45A-270631EAAA3C}"/>
                </a:ext>
              </a:extLst>
            </p:cNvPr>
            <p:cNvCxnSpPr>
              <a:cxnSpLocks/>
            </p:cNvCxnSpPr>
            <p:nvPr/>
          </p:nvCxnSpPr>
          <p:spPr>
            <a:xfrm flipV="1">
              <a:off x="1984271" y="5475460"/>
              <a:ext cx="2171542" cy="275766"/>
            </a:xfrm>
            <a:prstGeom prst="bentConnector3">
              <a:avLst>
                <a:gd name="adj1" fmla="val 50000"/>
              </a:avLst>
            </a:prstGeom>
            <a:ln w="12700">
              <a:solidFill>
                <a:srgbClr val="143268"/>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8A4000F5-7C35-4EE9-A2F9-90C2CCFAEB39}"/>
                </a:ext>
              </a:extLst>
            </p:cNvPr>
            <p:cNvSpPr txBox="1"/>
            <p:nvPr/>
          </p:nvSpPr>
          <p:spPr>
            <a:xfrm>
              <a:off x="4277492" y="6115749"/>
              <a:ext cx="1213033" cy="338554"/>
            </a:xfrm>
            <a:prstGeom prst="rect">
              <a:avLst/>
            </a:prstGeom>
            <a:noFill/>
          </p:spPr>
          <p:txBody>
            <a:bodyPr wrap="squar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预算监控</a:t>
              </a:r>
            </a:p>
          </p:txBody>
        </p:sp>
        <p:cxnSp>
          <p:nvCxnSpPr>
            <p:cNvPr id="136" name="Connector: Elbow 36">
              <a:extLst>
                <a:ext uri="{FF2B5EF4-FFF2-40B4-BE49-F238E27FC236}">
                  <a16:creationId xmlns:a16="http://schemas.microsoft.com/office/drawing/2014/main" id="{87E23B57-D608-4550-AD11-7C360DEAB7A8}"/>
                </a:ext>
              </a:extLst>
            </p:cNvPr>
            <p:cNvCxnSpPr>
              <a:cxnSpLocks/>
            </p:cNvCxnSpPr>
            <p:nvPr/>
          </p:nvCxnSpPr>
          <p:spPr>
            <a:xfrm>
              <a:off x="1021285" y="5202956"/>
              <a:ext cx="3118582" cy="1086764"/>
            </a:xfrm>
            <a:prstGeom prst="bentConnector3">
              <a:avLst>
                <a:gd name="adj1" fmla="val 3"/>
              </a:avLst>
            </a:prstGeom>
            <a:ln w="12700">
              <a:solidFill>
                <a:srgbClr val="61C2BB"/>
              </a:solidFill>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54" name="组合 53">
            <a:extLst>
              <a:ext uri="{FF2B5EF4-FFF2-40B4-BE49-F238E27FC236}">
                <a16:creationId xmlns:a16="http://schemas.microsoft.com/office/drawing/2014/main" id="{E6B7BC81-A49D-427D-9025-C8F5C9A689F5}"/>
              </a:ext>
            </a:extLst>
          </p:cNvPr>
          <p:cNvGrpSpPr/>
          <p:nvPr/>
        </p:nvGrpSpPr>
        <p:grpSpPr>
          <a:xfrm>
            <a:off x="442620" y="1062449"/>
            <a:ext cx="2379493" cy="1253848"/>
            <a:chOff x="3687665" y="2410508"/>
            <a:chExt cx="4816795" cy="2509024"/>
          </a:xfrm>
        </p:grpSpPr>
        <p:sp>
          <p:nvSpPr>
            <p:cNvPr id="56" name="Circle">
              <a:extLst>
                <a:ext uri="{FF2B5EF4-FFF2-40B4-BE49-F238E27FC236}">
                  <a16:creationId xmlns:a16="http://schemas.microsoft.com/office/drawing/2014/main" id="{3439F239-048D-4132-B1E2-B7817D06967B}"/>
                </a:ext>
              </a:extLst>
            </p:cNvPr>
            <p:cNvSpPr/>
            <p:nvPr/>
          </p:nvSpPr>
          <p:spPr>
            <a:xfrm>
              <a:off x="5995436" y="2410508"/>
              <a:ext cx="2509024" cy="2509024"/>
            </a:xfrm>
            <a:prstGeom prst="ellipse">
              <a:avLst/>
            </a:prstGeom>
            <a:solidFill>
              <a:schemeClr val="bg2"/>
            </a:solidFill>
            <a:ln w="127000">
              <a:noFill/>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b="1">
                  <a:solidFill>
                    <a:srgbClr val="525455"/>
                  </a:solidFill>
                </a:defRPr>
              </a:pPr>
              <a:endParaRPr kumimoji="0" sz="900" b="1" i="0" u="none" strike="noStrike" kern="0" cap="none" spc="0" normalizeH="0" baseline="0" noProof="0">
                <a:ln>
                  <a:noFill/>
                </a:ln>
                <a:solidFill>
                  <a:srgbClr val="525455"/>
                </a:solidFill>
                <a:effectLst/>
                <a:uLnTx/>
                <a:uFillTx/>
                <a:latin typeface="OPPOSans B" pitchFamily="18" charset="-122"/>
                <a:ea typeface="OPPOSans B" pitchFamily="18" charset="-122"/>
                <a:cs typeface="OPPOSans B" pitchFamily="18" charset="-122"/>
              </a:endParaRPr>
            </a:p>
          </p:txBody>
        </p:sp>
        <p:sp>
          <p:nvSpPr>
            <p:cNvPr id="57" name="Circle">
              <a:extLst>
                <a:ext uri="{FF2B5EF4-FFF2-40B4-BE49-F238E27FC236}">
                  <a16:creationId xmlns:a16="http://schemas.microsoft.com/office/drawing/2014/main" id="{A6025E5E-DEF6-45C1-88B3-390763063BF8}"/>
                </a:ext>
              </a:extLst>
            </p:cNvPr>
            <p:cNvSpPr/>
            <p:nvPr/>
          </p:nvSpPr>
          <p:spPr>
            <a:xfrm>
              <a:off x="3687665" y="2410508"/>
              <a:ext cx="2509024" cy="2509024"/>
            </a:xfrm>
            <a:prstGeom prst="ellipse">
              <a:avLst/>
            </a:prstGeom>
            <a:solidFill>
              <a:schemeClr val="bg2"/>
            </a:solidFill>
            <a:ln w="127000">
              <a:noFill/>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b="1">
                  <a:solidFill>
                    <a:srgbClr val="525455"/>
                  </a:solidFill>
                </a:defRPr>
              </a:pPr>
              <a:endParaRPr kumimoji="0" sz="900" b="1" i="0" u="none" strike="noStrike" kern="0" cap="none" spc="0" normalizeH="0" baseline="0" noProof="0">
                <a:ln>
                  <a:noFill/>
                </a:ln>
                <a:solidFill>
                  <a:srgbClr val="525455"/>
                </a:solidFill>
                <a:effectLst/>
                <a:uLnTx/>
                <a:uFillTx/>
                <a:latin typeface="OPPOSans B" pitchFamily="18" charset="-122"/>
                <a:ea typeface="OPPOSans B" pitchFamily="18" charset="-122"/>
                <a:cs typeface="OPPOSans B" pitchFamily="18" charset="-122"/>
              </a:endParaRPr>
            </a:p>
          </p:txBody>
        </p:sp>
        <p:sp>
          <p:nvSpPr>
            <p:cNvPr id="58" name="Circle">
              <a:extLst>
                <a:ext uri="{FF2B5EF4-FFF2-40B4-BE49-F238E27FC236}">
                  <a16:creationId xmlns:a16="http://schemas.microsoft.com/office/drawing/2014/main" id="{A1C4F170-54E6-45B5-98CB-DDFFBADB9712}"/>
                </a:ext>
              </a:extLst>
            </p:cNvPr>
            <p:cNvSpPr/>
            <p:nvPr/>
          </p:nvSpPr>
          <p:spPr>
            <a:xfrm>
              <a:off x="3791357" y="2514200"/>
              <a:ext cx="2301640" cy="2301640"/>
            </a:xfrm>
            <a:prstGeom prst="ellipse">
              <a:avLst/>
            </a:prstGeom>
            <a:solidFill>
              <a:srgbClr val="61C2BB"/>
            </a:solidFill>
            <a:ln w="127000">
              <a:noFill/>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b="1">
                  <a:solidFill>
                    <a:srgbClr val="525455"/>
                  </a:solidFill>
                </a:defRPr>
              </a:pPr>
              <a:endParaRPr kumimoji="0" sz="900" b="1" i="0" u="none" strike="noStrike" kern="0" cap="none" spc="0" normalizeH="0" baseline="0" noProof="0" dirty="0">
                <a:ln>
                  <a:noFill/>
                </a:ln>
                <a:solidFill>
                  <a:srgbClr val="525455"/>
                </a:solidFill>
                <a:effectLst/>
                <a:uLnTx/>
                <a:uFillTx/>
                <a:latin typeface="OPPOSans B" pitchFamily="18" charset="-122"/>
                <a:ea typeface="OPPOSans B" pitchFamily="18" charset="-122"/>
                <a:cs typeface="OPPOSans B" pitchFamily="18" charset="-122"/>
              </a:endParaRPr>
            </a:p>
          </p:txBody>
        </p:sp>
        <p:sp>
          <p:nvSpPr>
            <p:cNvPr id="59" name="Circle">
              <a:extLst>
                <a:ext uri="{FF2B5EF4-FFF2-40B4-BE49-F238E27FC236}">
                  <a16:creationId xmlns:a16="http://schemas.microsoft.com/office/drawing/2014/main" id="{D16A3FA1-F281-4473-8649-12253F2ACB1E}"/>
                </a:ext>
              </a:extLst>
            </p:cNvPr>
            <p:cNvSpPr/>
            <p:nvPr/>
          </p:nvSpPr>
          <p:spPr>
            <a:xfrm>
              <a:off x="6099003" y="2514200"/>
              <a:ext cx="2301640" cy="2301640"/>
            </a:xfrm>
            <a:prstGeom prst="ellipse">
              <a:avLst/>
            </a:prstGeom>
            <a:solidFill>
              <a:schemeClr val="accent1"/>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b="1">
                  <a:solidFill>
                    <a:srgbClr val="525455"/>
                  </a:solidFill>
                </a:defRPr>
              </a:pPr>
              <a:endParaRPr kumimoji="0" sz="900" b="1" i="0" u="none" strike="noStrike" kern="0" cap="none" spc="0" normalizeH="0" baseline="0" noProof="0">
                <a:ln>
                  <a:noFill/>
                </a:ln>
                <a:solidFill>
                  <a:schemeClr val="accent1"/>
                </a:solidFill>
                <a:effectLst/>
                <a:uLnTx/>
                <a:uFillTx/>
                <a:latin typeface="OPPOSans B" pitchFamily="18" charset="-122"/>
                <a:ea typeface="OPPOSans B" pitchFamily="18" charset="-122"/>
                <a:cs typeface="OPPOSans B" pitchFamily="18" charset="-122"/>
              </a:endParaRPr>
            </a:p>
          </p:txBody>
        </p:sp>
        <p:sp>
          <p:nvSpPr>
            <p:cNvPr id="62" name="Circle">
              <a:extLst>
                <a:ext uri="{FF2B5EF4-FFF2-40B4-BE49-F238E27FC236}">
                  <a16:creationId xmlns:a16="http://schemas.microsoft.com/office/drawing/2014/main" id="{52F87CA4-0FAD-46FF-9C30-FFB52DE9BF86}"/>
                </a:ext>
              </a:extLst>
            </p:cNvPr>
            <p:cNvSpPr/>
            <p:nvPr/>
          </p:nvSpPr>
          <p:spPr>
            <a:xfrm>
              <a:off x="5790853" y="3371610"/>
              <a:ext cx="586820" cy="586821"/>
            </a:xfrm>
            <a:prstGeom prst="ellipse">
              <a:avLst/>
            </a:prstGeom>
            <a:solidFill>
              <a:schemeClr val="bg1"/>
            </a:solidFill>
            <a:ln w="63500">
              <a:solidFill>
                <a:srgbClr val="FFFFFF"/>
              </a:solidFill>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b="1">
                  <a:solidFill>
                    <a:srgbClr val="525455"/>
                  </a:solidFill>
                </a:defRPr>
              </a:pPr>
              <a:endParaRPr kumimoji="0" sz="900" b="1" i="0" u="none" strike="noStrike" kern="0" cap="none" spc="0" normalizeH="0" baseline="0" noProof="0">
                <a:ln>
                  <a:noFill/>
                </a:ln>
                <a:solidFill>
                  <a:srgbClr val="525455"/>
                </a:solidFill>
                <a:effectLst/>
                <a:uLnTx/>
                <a:uFillTx/>
                <a:latin typeface="OPPOSans B" pitchFamily="18" charset="-122"/>
                <a:ea typeface="OPPOSans B" pitchFamily="18" charset="-122"/>
                <a:cs typeface="OPPOSans B" pitchFamily="18" charset="-122"/>
              </a:endParaRPr>
            </a:p>
          </p:txBody>
        </p:sp>
        <p:sp>
          <p:nvSpPr>
            <p:cNvPr id="63" name="Venn diagram">
              <a:extLst>
                <a:ext uri="{FF2B5EF4-FFF2-40B4-BE49-F238E27FC236}">
                  <a16:creationId xmlns:a16="http://schemas.microsoft.com/office/drawing/2014/main" id="{71192B95-09D8-4F43-8CDC-13A06E7B8CE4}"/>
                </a:ext>
              </a:extLst>
            </p:cNvPr>
            <p:cNvSpPr txBox="1"/>
            <p:nvPr/>
          </p:nvSpPr>
          <p:spPr>
            <a:xfrm>
              <a:off x="5797914" y="3516049"/>
              <a:ext cx="572242" cy="282563"/>
            </a:xfrm>
            <a:prstGeom prst="rect">
              <a:avLst/>
            </a:prstGeom>
            <a:ln w="12700">
              <a:miter lim="400000"/>
            </a:ln>
          </p:spPr>
          <p:txBody>
            <a:bodyPr lIns="25400" tIns="25400" rIns="25400" bIns="25400">
              <a:spAutoFit/>
            </a:bodyPr>
            <a:lstStyle>
              <a:lvl1pPr>
                <a:defRPr sz="2500" b="1">
                  <a:solidFill>
                    <a:srgbClr val="183F36"/>
                  </a:solidFill>
                </a:defRPr>
              </a:lvl1pPr>
            </a:lstStyle>
            <a:p>
              <a:pPr algn="ctr"/>
              <a:r>
                <a:rPr sz="1800" b="0" dirty="0">
                  <a:solidFill>
                    <a:srgbClr val="FFFFFF"/>
                  </a:solidFill>
                  <a:latin typeface="OPPOSans B" pitchFamily="18" charset="-122"/>
                  <a:ea typeface="OPPOSans B" pitchFamily="18" charset="-122"/>
                  <a:cs typeface="OPPOSans B" pitchFamily="18" charset="-122"/>
                </a:rPr>
                <a:t>VS</a:t>
              </a:r>
            </a:p>
          </p:txBody>
        </p:sp>
        <p:sp>
          <p:nvSpPr>
            <p:cNvPr id="64" name="Venn diagram">
              <a:extLst>
                <a:ext uri="{FF2B5EF4-FFF2-40B4-BE49-F238E27FC236}">
                  <a16:creationId xmlns:a16="http://schemas.microsoft.com/office/drawing/2014/main" id="{1C75E2F5-D6CD-47DA-B4F5-3546B79D3C19}"/>
                </a:ext>
              </a:extLst>
            </p:cNvPr>
            <p:cNvSpPr txBox="1"/>
            <p:nvPr/>
          </p:nvSpPr>
          <p:spPr>
            <a:xfrm>
              <a:off x="3817065" y="3757589"/>
              <a:ext cx="2108471" cy="641913"/>
            </a:xfrm>
            <a:prstGeom prst="rect">
              <a:avLst/>
            </a:prstGeom>
            <a:ln w="12700">
              <a:miter lim="400000"/>
            </a:ln>
          </p:spPr>
          <p:txBody>
            <a:bodyPr wrap="square" lIns="25400" tIns="25400" rIns="25400" bIns="25400">
              <a:spAutoFit/>
            </a:bodyPr>
            <a:lstStyle>
              <a:lvl1pPr>
                <a:defRPr b="1">
                  <a:solidFill>
                    <a:srgbClr val="FAF7ED"/>
                  </a:solidFill>
                </a:defRPr>
              </a:lvl1pPr>
            </a:lstStyle>
            <a:p>
              <a:pPr algn="ctr"/>
              <a:r>
                <a:rPr lang="zh-CN" altLang="en-US" sz="1600" dirty="0">
                  <a:solidFill>
                    <a:srgbClr val="F3F5F6"/>
                  </a:solidFill>
                  <a:latin typeface="+mj-ea"/>
                  <a:ea typeface="+mj-ea"/>
                  <a:cs typeface="OPPOSans B" pitchFamily="18" charset="-122"/>
                </a:rPr>
                <a:t>结构全面</a:t>
              </a:r>
            </a:p>
          </p:txBody>
        </p:sp>
        <p:sp>
          <p:nvSpPr>
            <p:cNvPr id="65" name="Venn diagram">
              <a:extLst>
                <a:ext uri="{FF2B5EF4-FFF2-40B4-BE49-F238E27FC236}">
                  <a16:creationId xmlns:a16="http://schemas.microsoft.com/office/drawing/2014/main" id="{54E9DB59-3AAF-43E3-BA4D-50620D8A07BC}"/>
                </a:ext>
              </a:extLst>
            </p:cNvPr>
            <p:cNvSpPr txBox="1"/>
            <p:nvPr/>
          </p:nvSpPr>
          <p:spPr>
            <a:xfrm>
              <a:off x="6286789" y="3708036"/>
              <a:ext cx="1922623" cy="641913"/>
            </a:xfrm>
            <a:prstGeom prst="rect">
              <a:avLst/>
            </a:prstGeom>
            <a:ln w="12700">
              <a:miter lim="400000"/>
            </a:ln>
          </p:spPr>
          <p:txBody>
            <a:bodyPr wrap="square" lIns="25400" tIns="25400" rIns="25400" bIns="25400">
              <a:spAutoFit/>
            </a:bodyPr>
            <a:lstStyle>
              <a:lvl1pPr>
                <a:defRPr b="1">
                  <a:solidFill>
                    <a:srgbClr val="FAF7ED"/>
                  </a:solidFill>
                </a:defRPr>
              </a:lvl1pPr>
            </a:lstStyle>
            <a:p>
              <a:pPr algn="ctr"/>
              <a:r>
                <a:rPr lang="zh-CN" altLang="en-US" sz="1600" dirty="0">
                  <a:solidFill>
                    <a:srgbClr val="F3F5F6"/>
                  </a:solidFill>
                  <a:latin typeface="+mj-ea"/>
                  <a:ea typeface="+mj-ea"/>
                  <a:cs typeface="OPPOSans B" pitchFamily="18" charset="-122"/>
                </a:rPr>
                <a:t>内涵全面</a:t>
              </a:r>
            </a:p>
          </p:txBody>
        </p:sp>
        <p:sp>
          <p:nvSpPr>
            <p:cNvPr id="66" name="ïṥľiḋê">
              <a:extLst>
                <a:ext uri="{FF2B5EF4-FFF2-40B4-BE49-F238E27FC236}">
                  <a16:creationId xmlns:a16="http://schemas.microsoft.com/office/drawing/2014/main" id="{05889424-51B7-464F-81ED-C8C5EA9B2A1B}"/>
                </a:ext>
              </a:extLst>
            </p:cNvPr>
            <p:cNvSpPr/>
            <p:nvPr/>
          </p:nvSpPr>
          <p:spPr>
            <a:xfrm>
              <a:off x="4617038" y="2763372"/>
              <a:ext cx="637916" cy="635153"/>
            </a:xfrm>
            <a:custGeom>
              <a:avLst/>
              <a:gdLst>
                <a:gd name="T0" fmla="*/ 4313 w 5734"/>
                <a:gd name="T1" fmla="*/ 3918 h 5892"/>
                <a:gd name="T2" fmla="*/ 5734 w 5734"/>
                <a:gd name="T3" fmla="*/ 2497 h 5892"/>
                <a:gd name="T4" fmla="*/ 4313 w 5734"/>
                <a:gd name="T5" fmla="*/ 1076 h 5892"/>
                <a:gd name="T6" fmla="*/ 4149 w 5734"/>
                <a:gd name="T7" fmla="*/ 1085 h 5892"/>
                <a:gd name="T8" fmla="*/ 3733 w 5734"/>
                <a:gd name="T9" fmla="*/ 378 h 5892"/>
                <a:gd name="T10" fmla="*/ 2768 w 5734"/>
                <a:gd name="T11" fmla="*/ 0 h 5892"/>
                <a:gd name="T12" fmla="*/ 1389 w 5734"/>
                <a:gd name="T13" fmla="*/ 1076 h 5892"/>
                <a:gd name="T14" fmla="*/ 0 w 5734"/>
                <a:gd name="T15" fmla="*/ 2497 h 5892"/>
                <a:gd name="T16" fmla="*/ 1421 w 5734"/>
                <a:gd name="T17" fmla="*/ 3918 h 5892"/>
                <a:gd name="T18" fmla="*/ 2140 w 5734"/>
                <a:gd name="T19" fmla="*/ 3918 h 5892"/>
                <a:gd name="T20" fmla="*/ 2140 w 5734"/>
                <a:gd name="T21" fmla="*/ 4472 h 5892"/>
                <a:gd name="T22" fmla="*/ 1315 w 5734"/>
                <a:gd name="T23" fmla="*/ 4472 h 5892"/>
                <a:gd name="T24" fmla="*/ 954 w 5734"/>
                <a:gd name="T25" fmla="*/ 4259 h 5892"/>
                <a:gd name="T26" fmla="*/ 540 w 5734"/>
                <a:gd name="T27" fmla="*/ 4672 h 5892"/>
                <a:gd name="T28" fmla="*/ 954 w 5734"/>
                <a:gd name="T29" fmla="*/ 5086 h 5892"/>
                <a:gd name="T30" fmla="*/ 1315 w 5734"/>
                <a:gd name="T31" fmla="*/ 4872 h 5892"/>
                <a:gd name="T32" fmla="*/ 2340 w 5734"/>
                <a:gd name="T33" fmla="*/ 4872 h 5892"/>
                <a:gd name="T34" fmla="*/ 2540 w 5734"/>
                <a:gd name="T35" fmla="*/ 4672 h 5892"/>
                <a:gd name="T36" fmla="*/ 2540 w 5734"/>
                <a:gd name="T37" fmla="*/ 3918 h 5892"/>
                <a:gd name="T38" fmla="*/ 2667 w 5734"/>
                <a:gd name="T39" fmla="*/ 3918 h 5892"/>
                <a:gd name="T40" fmla="*/ 2667 w 5734"/>
                <a:gd name="T41" fmla="*/ 5117 h 5892"/>
                <a:gd name="T42" fmla="*/ 2454 w 5734"/>
                <a:gd name="T43" fmla="*/ 5479 h 5892"/>
                <a:gd name="T44" fmla="*/ 2867 w 5734"/>
                <a:gd name="T45" fmla="*/ 5892 h 5892"/>
                <a:gd name="T46" fmla="*/ 3280 w 5734"/>
                <a:gd name="T47" fmla="*/ 5479 h 5892"/>
                <a:gd name="T48" fmla="*/ 3067 w 5734"/>
                <a:gd name="T49" fmla="*/ 5117 h 5892"/>
                <a:gd name="T50" fmla="*/ 3067 w 5734"/>
                <a:gd name="T51" fmla="*/ 3918 h 5892"/>
                <a:gd name="T52" fmla="*/ 3194 w 5734"/>
                <a:gd name="T53" fmla="*/ 3918 h 5892"/>
                <a:gd name="T54" fmla="*/ 3194 w 5734"/>
                <a:gd name="T55" fmla="*/ 4691 h 5892"/>
                <a:gd name="T56" fmla="*/ 3394 w 5734"/>
                <a:gd name="T57" fmla="*/ 4891 h 5892"/>
                <a:gd name="T58" fmla="*/ 4430 w 5734"/>
                <a:gd name="T59" fmla="*/ 4891 h 5892"/>
                <a:gd name="T60" fmla="*/ 4780 w 5734"/>
                <a:gd name="T61" fmla="*/ 5085 h 5892"/>
                <a:gd name="T62" fmla="*/ 5194 w 5734"/>
                <a:gd name="T63" fmla="*/ 4672 h 5892"/>
                <a:gd name="T64" fmla="*/ 4780 w 5734"/>
                <a:gd name="T65" fmla="*/ 4259 h 5892"/>
                <a:gd name="T66" fmla="*/ 4409 w 5734"/>
                <a:gd name="T67" fmla="*/ 4491 h 5892"/>
                <a:gd name="T68" fmla="*/ 3594 w 5734"/>
                <a:gd name="T69" fmla="*/ 4491 h 5892"/>
                <a:gd name="T70" fmla="*/ 3594 w 5734"/>
                <a:gd name="T71" fmla="*/ 3918 h 5892"/>
                <a:gd name="T72" fmla="*/ 4313 w 5734"/>
                <a:gd name="T73" fmla="*/ 3918 h 5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4" h="5892">
                  <a:moveTo>
                    <a:pt x="4313" y="3918"/>
                  </a:moveTo>
                  <a:cubicBezTo>
                    <a:pt x="5096" y="3918"/>
                    <a:pt x="5734" y="3280"/>
                    <a:pt x="5734" y="2497"/>
                  </a:cubicBezTo>
                  <a:cubicBezTo>
                    <a:pt x="5734" y="1713"/>
                    <a:pt x="5096" y="1076"/>
                    <a:pt x="4313" y="1076"/>
                  </a:cubicBezTo>
                  <a:cubicBezTo>
                    <a:pt x="4258" y="1076"/>
                    <a:pt x="4203" y="1079"/>
                    <a:pt x="4149" y="1085"/>
                  </a:cubicBezTo>
                  <a:cubicBezTo>
                    <a:pt x="4084" y="816"/>
                    <a:pt x="3940" y="570"/>
                    <a:pt x="3733" y="378"/>
                  </a:cubicBezTo>
                  <a:cubicBezTo>
                    <a:pt x="3470" y="134"/>
                    <a:pt x="3127" y="0"/>
                    <a:pt x="2768" y="0"/>
                  </a:cubicBezTo>
                  <a:cubicBezTo>
                    <a:pt x="2107" y="0"/>
                    <a:pt x="1544" y="451"/>
                    <a:pt x="1389" y="1076"/>
                  </a:cubicBezTo>
                  <a:cubicBezTo>
                    <a:pt x="620" y="1093"/>
                    <a:pt x="0" y="1724"/>
                    <a:pt x="0" y="2497"/>
                  </a:cubicBezTo>
                  <a:cubicBezTo>
                    <a:pt x="0" y="3281"/>
                    <a:pt x="638" y="3918"/>
                    <a:pt x="1421" y="3918"/>
                  </a:cubicBezTo>
                  <a:lnTo>
                    <a:pt x="2140" y="3918"/>
                  </a:lnTo>
                  <a:lnTo>
                    <a:pt x="2140" y="4472"/>
                  </a:lnTo>
                  <a:lnTo>
                    <a:pt x="1315" y="4472"/>
                  </a:lnTo>
                  <a:cubicBezTo>
                    <a:pt x="1245" y="4345"/>
                    <a:pt x="1109" y="4259"/>
                    <a:pt x="954" y="4259"/>
                  </a:cubicBezTo>
                  <a:cubicBezTo>
                    <a:pt x="726" y="4259"/>
                    <a:pt x="540" y="4444"/>
                    <a:pt x="540" y="4672"/>
                  </a:cubicBezTo>
                  <a:cubicBezTo>
                    <a:pt x="540" y="4900"/>
                    <a:pt x="726" y="5086"/>
                    <a:pt x="954" y="5086"/>
                  </a:cubicBezTo>
                  <a:cubicBezTo>
                    <a:pt x="1109" y="5086"/>
                    <a:pt x="1245" y="4999"/>
                    <a:pt x="1315" y="4872"/>
                  </a:cubicBezTo>
                  <a:lnTo>
                    <a:pt x="2340" y="4872"/>
                  </a:lnTo>
                  <a:cubicBezTo>
                    <a:pt x="2451" y="4872"/>
                    <a:pt x="2540" y="4783"/>
                    <a:pt x="2540" y="4672"/>
                  </a:cubicBezTo>
                  <a:lnTo>
                    <a:pt x="2540" y="3918"/>
                  </a:lnTo>
                  <a:lnTo>
                    <a:pt x="2667" y="3918"/>
                  </a:lnTo>
                  <a:lnTo>
                    <a:pt x="2667" y="5117"/>
                  </a:lnTo>
                  <a:cubicBezTo>
                    <a:pt x="2540" y="5188"/>
                    <a:pt x="2454" y="5323"/>
                    <a:pt x="2454" y="5479"/>
                  </a:cubicBezTo>
                  <a:cubicBezTo>
                    <a:pt x="2454" y="5707"/>
                    <a:pt x="2639" y="5892"/>
                    <a:pt x="2867" y="5892"/>
                  </a:cubicBezTo>
                  <a:cubicBezTo>
                    <a:pt x="3095" y="5892"/>
                    <a:pt x="3280" y="5707"/>
                    <a:pt x="3280" y="5479"/>
                  </a:cubicBezTo>
                  <a:cubicBezTo>
                    <a:pt x="3280" y="5323"/>
                    <a:pt x="3194" y="5188"/>
                    <a:pt x="3067" y="5117"/>
                  </a:cubicBezTo>
                  <a:lnTo>
                    <a:pt x="3067" y="3918"/>
                  </a:lnTo>
                  <a:lnTo>
                    <a:pt x="3194" y="3918"/>
                  </a:lnTo>
                  <a:lnTo>
                    <a:pt x="3194" y="4691"/>
                  </a:lnTo>
                  <a:cubicBezTo>
                    <a:pt x="3194" y="4802"/>
                    <a:pt x="3283" y="4891"/>
                    <a:pt x="3394" y="4891"/>
                  </a:cubicBezTo>
                  <a:lnTo>
                    <a:pt x="4430" y="4891"/>
                  </a:lnTo>
                  <a:cubicBezTo>
                    <a:pt x="4503" y="5008"/>
                    <a:pt x="4633" y="5085"/>
                    <a:pt x="4780" y="5085"/>
                  </a:cubicBezTo>
                  <a:cubicBezTo>
                    <a:pt x="5008" y="5085"/>
                    <a:pt x="5194" y="4900"/>
                    <a:pt x="5194" y="4672"/>
                  </a:cubicBezTo>
                  <a:cubicBezTo>
                    <a:pt x="5194" y="4444"/>
                    <a:pt x="5008" y="4259"/>
                    <a:pt x="4780" y="4259"/>
                  </a:cubicBezTo>
                  <a:cubicBezTo>
                    <a:pt x="4617" y="4259"/>
                    <a:pt x="4476" y="4354"/>
                    <a:pt x="4409" y="4491"/>
                  </a:cubicBezTo>
                  <a:lnTo>
                    <a:pt x="3594" y="4491"/>
                  </a:lnTo>
                  <a:lnTo>
                    <a:pt x="3594" y="3918"/>
                  </a:lnTo>
                  <a:lnTo>
                    <a:pt x="4313" y="3918"/>
                  </a:lnTo>
                  <a:close/>
                </a:path>
              </a:pathLst>
            </a:custGeom>
            <a:solidFill>
              <a:schemeClr val="bg1"/>
            </a:solidFill>
            <a:ln w="12700">
              <a:miter lim="400000"/>
            </a:ln>
          </p:spPr>
          <p:txBody>
            <a:bodyPr lIns="19045" tIns="19045" rIns="19045" bIns="19045"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228600" eaLnBrk="1" fontAlgn="auto" hangingPunct="1">
                <a:spcBef>
                  <a:spcPts val="0"/>
                </a:spcBef>
                <a:spcAft>
                  <a:spcPts val="0"/>
                </a:spcAft>
                <a:defRPr sz="3000" cap="none">
                  <a:solidFill>
                    <a:srgbClr val="FFFFFF"/>
                  </a:solidFill>
                  <a:effectLst>
                    <a:outerShdw blurRad="38100" dist="12700" dir="5400000" rotWithShape="0">
                      <a:srgbClr val="000000">
                        <a:alpha val="50000"/>
                      </a:srgbClr>
                    </a:outerShdw>
                  </a:effectLst>
                </a:defRPr>
              </a:pPr>
              <a:endParaRPr sz="1500">
                <a:solidFill>
                  <a:srgbClr val="FFFFFF"/>
                </a:solidFill>
                <a:effectLst>
                  <a:outerShdw blurRad="38100" dist="12700" dir="5400000" rotWithShape="0">
                    <a:srgbClr val="000000">
                      <a:alpha val="50000"/>
                    </a:srgbClr>
                  </a:outerShdw>
                </a:effectLst>
              </a:endParaRPr>
            </a:p>
          </p:txBody>
        </p:sp>
        <p:sp>
          <p:nvSpPr>
            <p:cNvPr id="67" name="ïṥľiḋê">
              <a:extLst>
                <a:ext uri="{FF2B5EF4-FFF2-40B4-BE49-F238E27FC236}">
                  <a16:creationId xmlns:a16="http://schemas.microsoft.com/office/drawing/2014/main" id="{4010C381-4DF3-4AA4-B158-2F60C5697B9E}"/>
                </a:ext>
              </a:extLst>
            </p:cNvPr>
            <p:cNvSpPr/>
            <p:nvPr/>
          </p:nvSpPr>
          <p:spPr>
            <a:xfrm>
              <a:off x="6920156" y="2744204"/>
              <a:ext cx="637916" cy="635153"/>
            </a:xfrm>
            <a:custGeom>
              <a:avLst/>
              <a:gdLst>
                <a:gd name="T0" fmla="*/ 4313 w 5734"/>
                <a:gd name="T1" fmla="*/ 3918 h 5892"/>
                <a:gd name="T2" fmla="*/ 5734 w 5734"/>
                <a:gd name="T3" fmla="*/ 2497 h 5892"/>
                <a:gd name="T4" fmla="*/ 4313 w 5734"/>
                <a:gd name="T5" fmla="*/ 1076 h 5892"/>
                <a:gd name="T6" fmla="*/ 4149 w 5734"/>
                <a:gd name="T7" fmla="*/ 1085 h 5892"/>
                <a:gd name="T8" fmla="*/ 3733 w 5734"/>
                <a:gd name="T9" fmla="*/ 378 h 5892"/>
                <a:gd name="T10" fmla="*/ 2768 w 5734"/>
                <a:gd name="T11" fmla="*/ 0 h 5892"/>
                <a:gd name="T12" fmla="*/ 1389 w 5734"/>
                <a:gd name="T13" fmla="*/ 1076 h 5892"/>
                <a:gd name="T14" fmla="*/ 0 w 5734"/>
                <a:gd name="T15" fmla="*/ 2497 h 5892"/>
                <a:gd name="T16" fmla="*/ 1421 w 5734"/>
                <a:gd name="T17" fmla="*/ 3918 h 5892"/>
                <a:gd name="T18" fmla="*/ 2140 w 5734"/>
                <a:gd name="T19" fmla="*/ 3918 h 5892"/>
                <a:gd name="T20" fmla="*/ 2140 w 5734"/>
                <a:gd name="T21" fmla="*/ 4472 h 5892"/>
                <a:gd name="T22" fmla="*/ 1315 w 5734"/>
                <a:gd name="T23" fmla="*/ 4472 h 5892"/>
                <a:gd name="T24" fmla="*/ 954 w 5734"/>
                <a:gd name="T25" fmla="*/ 4259 h 5892"/>
                <a:gd name="T26" fmla="*/ 540 w 5734"/>
                <a:gd name="T27" fmla="*/ 4672 h 5892"/>
                <a:gd name="T28" fmla="*/ 954 w 5734"/>
                <a:gd name="T29" fmla="*/ 5086 h 5892"/>
                <a:gd name="T30" fmla="*/ 1315 w 5734"/>
                <a:gd name="T31" fmla="*/ 4872 h 5892"/>
                <a:gd name="T32" fmla="*/ 2340 w 5734"/>
                <a:gd name="T33" fmla="*/ 4872 h 5892"/>
                <a:gd name="T34" fmla="*/ 2540 w 5734"/>
                <a:gd name="T35" fmla="*/ 4672 h 5892"/>
                <a:gd name="T36" fmla="*/ 2540 w 5734"/>
                <a:gd name="T37" fmla="*/ 3918 h 5892"/>
                <a:gd name="T38" fmla="*/ 2667 w 5734"/>
                <a:gd name="T39" fmla="*/ 3918 h 5892"/>
                <a:gd name="T40" fmla="*/ 2667 w 5734"/>
                <a:gd name="T41" fmla="*/ 5117 h 5892"/>
                <a:gd name="T42" fmla="*/ 2454 w 5734"/>
                <a:gd name="T43" fmla="*/ 5479 h 5892"/>
                <a:gd name="T44" fmla="*/ 2867 w 5734"/>
                <a:gd name="T45" fmla="*/ 5892 h 5892"/>
                <a:gd name="T46" fmla="*/ 3280 w 5734"/>
                <a:gd name="T47" fmla="*/ 5479 h 5892"/>
                <a:gd name="T48" fmla="*/ 3067 w 5734"/>
                <a:gd name="T49" fmla="*/ 5117 h 5892"/>
                <a:gd name="T50" fmla="*/ 3067 w 5734"/>
                <a:gd name="T51" fmla="*/ 3918 h 5892"/>
                <a:gd name="T52" fmla="*/ 3194 w 5734"/>
                <a:gd name="T53" fmla="*/ 3918 h 5892"/>
                <a:gd name="T54" fmla="*/ 3194 w 5734"/>
                <a:gd name="T55" fmla="*/ 4691 h 5892"/>
                <a:gd name="T56" fmla="*/ 3394 w 5734"/>
                <a:gd name="T57" fmla="*/ 4891 h 5892"/>
                <a:gd name="T58" fmla="*/ 4430 w 5734"/>
                <a:gd name="T59" fmla="*/ 4891 h 5892"/>
                <a:gd name="T60" fmla="*/ 4780 w 5734"/>
                <a:gd name="T61" fmla="*/ 5085 h 5892"/>
                <a:gd name="T62" fmla="*/ 5194 w 5734"/>
                <a:gd name="T63" fmla="*/ 4672 h 5892"/>
                <a:gd name="T64" fmla="*/ 4780 w 5734"/>
                <a:gd name="T65" fmla="*/ 4259 h 5892"/>
                <a:gd name="T66" fmla="*/ 4409 w 5734"/>
                <a:gd name="T67" fmla="*/ 4491 h 5892"/>
                <a:gd name="T68" fmla="*/ 3594 w 5734"/>
                <a:gd name="T69" fmla="*/ 4491 h 5892"/>
                <a:gd name="T70" fmla="*/ 3594 w 5734"/>
                <a:gd name="T71" fmla="*/ 3918 h 5892"/>
                <a:gd name="T72" fmla="*/ 4313 w 5734"/>
                <a:gd name="T73" fmla="*/ 3918 h 5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4" h="5892">
                  <a:moveTo>
                    <a:pt x="4313" y="3918"/>
                  </a:moveTo>
                  <a:cubicBezTo>
                    <a:pt x="5096" y="3918"/>
                    <a:pt x="5734" y="3280"/>
                    <a:pt x="5734" y="2497"/>
                  </a:cubicBezTo>
                  <a:cubicBezTo>
                    <a:pt x="5734" y="1713"/>
                    <a:pt x="5096" y="1076"/>
                    <a:pt x="4313" y="1076"/>
                  </a:cubicBezTo>
                  <a:cubicBezTo>
                    <a:pt x="4258" y="1076"/>
                    <a:pt x="4203" y="1079"/>
                    <a:pt x="4149" y="1085"/>
                  </a:cubicBezTo>
                  <a:cubicBezTo>
                    <a:pt x="4084" y="816"/>
                    <a:pt x="3940" y="570"/>
                    <a:pt x="3733" y="378"/>
                  </a:cubicBezTo>
                  <a:cubicBezTo>
                    <a:pt x="3470" y="134"/>
                    <a:pt x="3127" y="0"/>
                    <a:pt x="2768" y="0"/>
                  </a:cubicBezTo>
                  <a:cubicBezTo>
                    <a:pt x="2107" y="0"/>
                    <a:pt x="1544" y="451"/>
                    <a:pt x="1389" y="1076"/>
                  </a:cubicBezTo>
                  <a:cubicBezTo>
                    <a:pt x="620" y="1093"/>
                    <a:pt x="0" y="1724"/>
                    <a:pt x="0" y="2497"/>
                  </a:cubicBezTo>
                  <a:cubicBezTo>
                    <a:pt x="0" y="3281"/>
                    <a:pt x="638" y="3918"/>
                    <a:pt x="1421" y="3918"/>
                  </a:cubicBezTo>
                  <a:lnTo>
                    <a:pt x="2140" y="3918"/>
                  </a:lnTo>
                  <a:lnTo>
                    <a:pt x="2140" y="4472"/>
                  </a:lnTo>
                  <a:lnTo>
                    <a:pt x="1315" y="4472"/>
                  </a:lnTo>
                  <a:cubicBezTo>
                    <a:pt x="1245" y="4345"/>
                    <a:pt x="1109" y="4259"/>
                    <a:pt x="954" y="4259"/>
                  </a:cubicBezTo>
                  <a:cubicBezTo>
                    <a:pt x="726" y="4259"/>
                    <a:pt x="540" y="4444"/>
                    <a:pt x="540" y="4672"/>
                  </a:cubicBezTo>
                  <a:cubicBezTo>
                    <a:pt x="540" y="4900"/>
                    <a:pt x="726" y="5086"/>
                    <a:pt x="954" y="5086"/>
                  </a:cubicBezTo>
                  <a:cubicBezTo>
                    <a:pt x="1109" y="5086"/>
                    <a:pt x="1245" y="4999"/>
                    <a:pt x="1315" y="4872"/>
                  </a:cubicBezTo>
                  <a:lnTo>
                    <a:pt x="2340" y="4872"/>
                  </a:lnTo>
                  <a:cubicBezTo>
                    <a:pt x="2451" y="4872"/>
                    <a:pt x="2540" y="4783"/>
                    <a:pt x="2540" y="4672"/>
                  </a:cubicBezTo>
                  <a:lnTo>
                    <a:pt x="2540" y="3918"/>
                  </a:lnTo>
                  <a:lnTo>
                    <a:pt x="2667" y="3918"/>
                  </a:lnTo>
                  <a:lnTo>
                    <a:pt x="2667" y="5117"/>
                  </a:lnTo>
                  <a:cubicBezTo>
                    <a:pt x="2540" y="5188"/>
                    <a:pt x="2454" y="5323"/>
                    <a:pt x="2454" y="5479"/>
                  </a:cubicBezTo>
                  <a:cubicBezTo>
                    <a:pt x="2454" y="5707"/>
                    <a:pt x="2639" y="5892"/>
                    <a:pt x="2867" y="5892"/>
                  </a:cubicBezTo>
                  <a:cubicBezTo>
                    <a:pt x="3095" y="5892"/>
                    <a:pt x="3280" y="5707"/>
                    <a:pt x="3280" y="5479"/>
                  </a:cubicBezTo>
                  <a:cubicBezTo>
                    <a:pt x="3280" y="5323"/>
                    <a:pt x="3194" y="5188"/>
                    <a:pt x="3067" y="5117"/>
                  </a:cubicBezTo>
                  <a:lnTo>
                    <a:pt x="3067" y="3918"/>
                  </a:lnTo>
                  <a:lnTo>
                    <a:pt x="3194" y="3918"/>
                  </a:lnTo>
                  <a:lnTo>
                    <a:pt x="3194" y="4691"/>
                  </a:lnTo>
                  <a:cubicBezTo>
                    <a:pt x="3194" y="4802"/>
                    <a:pt x="3283" y="4891"/>
                    <a:pt x="3394" y="4891"/>
                  </a:cubicBezTo>
                  <a:lnTo>
                    <a:pt x="4430" y="4891"/>
                  </a:lnTo>
                  <a:cubicBezTo>
                    <a:pt x="4503" y="5008"/>
                    <a:pt x="4633" y="5085"/>
                    <a:pt x="4780" y="5085"/>
                  </a:cubicBezTo>
                  <a:cubicBezTo>
                    <a:pt x="5008" y="5085"/>
                    <a:pt x="5194" y="4900"/>
                    <a:pt x="5194" y="4672"/>
                  </a:cubicBezTo>
                  <a:cubicBezTo>
                    <a:pt x="5194" y="4444"/>
                    <a:pt x="5008" y="4259"/>
                    <a:pt x="4780" y="4259"/>
                  </a:cubicBezTo>
                  <a:cubicBezTo>
                    <a:pt x="4617" y="4259"/>
                    <a:pt x="4476" y="4354"/>
                    <a:pt x="4409" y="4491"/>
                  </a:cubicBezTo>
                  <a:lnTo>
                    <a:pt x="3594" y="4491"/>
                  </a:lnTo>
                  <a:lnTo>
                    <a:pt x="3594" y="3918"/>
                  </a:lnTo>
                  <a:lnTo>
                    <a:pt x="4313" y="3918"/>
                  </a:lnTo>
                  <a:close/>
                </a:path>
              </a:pathLst>
            </a:custGeom>
            <a:solidFill>
              <a:schemeClr val="bg1"/>
            </a:solidFill>
            <a:ln w="12700">
              <a:miter lim="400000"/>
            </a:ln>
          </p:spPr>
          <p:txBody>
            <a:bodyPr lIns="19045" tIns="19045" rIns="19045" bIns="19045"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228600" eaLnBrk="1" fontAlgn="auto" hangingPunct="1">
                <a:spcBef>
                  <a:spcPts val="0"/>
                </a:spcBef>
                <a:spcAft>
                  <a:spcPts val="0"/>
                </a:spcAft>
                <a:defRPr sz="3000" cap="none">
                  <a:solidFill>
                    <a:srgbClr val="FFFFFF"/>
                  </a:solidFill>
                  <a:effectLst>
                    <a:outerShdw blurRad="38100" dist="12700" dir="5400000" rotWithShape="0">
                      <a:srgbClr val="000000">
                        <a:alpha val="50000"/>
                      </a:srgbClr>
                    </a:outerShdw>
                  </a:effectLst>
                </a:defRPr>
              </a:pPr>
              <a:endParaRPr sz="1500">
                <a:solidFill>
                  <a:srgbClr val="FFFFFF"/>
                </a:solidFill>
                <a:effectLst>
                  <a:outerShdw blurRad="38100" dist="12700" dir="5400000" rotWithShape="0">
                    <a:srgbClr val="000000">
                      <a:alpha val="50000"/>
                    </a:srgbClr>
                  </a:outerShdw>
                </a:effectLst>
              </a:endParaRPr>
            </a:p>
          </p:txBody>
        </p:sp>
        <p:sp>
          <p:nvSpPr>
            <p:cNvPr id="68" name="文本框 67">
              <a:extLst>
                <a:ext uri="{FF2B5EF4-FFF2-40B4-BE49-F238E27FC236}">
                  <a16:creationId xmlns:a16="http://schemas.microsoft.com/office/drawing/2014/main" id="{BD1CC455-BB7B-4970-81AB-CFC4B375295F}"/>
                </a:ext>
              </a:extLst>
            </p:cNvPr>
            <p:cNvSpPr txBox="1"/>
            <p:nvPr/>
          </p:nvSpPr>
          <p:spPr>
            <a:xfrm>
              <a:off x="5646226" y="3175249"/>
              <a:ext cx="449247" cy="863264"/>
            </a:xfrm>
            <a:prstGeom prst="rect">
              <a:avLst/>
            </a:prstGeom>
            <a:noFill/>
          </p:spPr>
          <p:txBody>
            <a:bodyPr wrap="square" rtlCol="0">
              <a:spAutoFit/>
            </a:bodyPr>
            <a:lstStyle/>
            <a:p>
              <a:r>
                <a:rPr lang="en-US" altLang="zh-CN" sz="2000" b="1" dirty="0">
                  <a:solidFill>
                    <a:schemeClr val="tx2"/>
                  </a:solidFill>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rPr>
                <a:t>&amp;</a:t>
              </a:r>
              <a:endParaRPr lang="zh-CN" altLang="en-US" sz="2000" b="1" dirty="0">
                <a:solidFill>
                  <a:schemeClr val="tx2"/>
                </a:solidFill>
                <a:effectLst>
                  <a:outerShdw blurRad="38100" dist="38100" dir="2700000" algn="tl">
                    <a:srgbClr val="000000">
                      <a:alpha val="43137"/>
                    </a:srgbClr>
                  </a:outerShdw>
                </a:effectLst>
                <a:latin typeface="Open Sans" panose="020B0606030504020204" pitchFamily="34" charset="0"/>
                <a:ea typeface="Open Sans" panose="020B0606030504020204" pitchFamily="34" charset="0"/>
                <a:cs typeface="Open Sans" panose="020B0606030504020204" pitchFamily="34" charset="0"/>
              </a:endParaRPr>
            </a:p>
          </p:txBody>
        </p:sp>
      </p:grpSp>
      <p:sp>
        <p:nvSpPr>
          <p:cNvPr id="69" name="文本框 68">
            <a:extLst>
              <a:ext uri="{FF2B5EF4-FFF2-40B4-BE49-F238E27FC236}">
                <a16:creationId xmlns:a16="http://schemas.microsoft.com/office/drawing/2014/main" id="{46678BD2-FDBF-4905-8CEC-13BC45EBBFBC}"/>
              </a:ext>
            </a:extLst>
          </p:cNvPr>
          <p:cNvSpPr txBox="1"/>
          <p:nvPr/>
        </p:nvSpPr>
        <p:spPr>
          <a:xfrm>
            <a:off x="4373298" y="1172697"/>
            <a:ext cx="3179421" cy="276999"/>
          </a:xfrm>
          <a:prstGeom prst="rect">
            <a:avLst/>
          </a:prstGeom>
          <a:noFill/>
        </p:spPr>
        <p:txBody>
          <a:bodyPr wrap="square" rtlCol="0">
            <a:spAutoFit/>
          </a:bodyPr>
          <a:lstStyle/>
          <a:p>
            <a:r>
              <a:rPr lang="zh-CN" altLang="en-US" sz="1200" dirty="0">
                <a:solidFill>
                  <a:schemeClr val="tx2"/>
                </a:solidFill>
                <a:latin typeface="+mj-ea"/>
                <a:ea typeface="+mj-ea"/>
                <a:cs typeface="Open Sans" panose="020B0606030504020204" pitchFamily="34" charset="0"/>
              </a:rPr>
              <a:t>以经营、管理行为的落脚点与责任点</a:t>
            </a:r>
          </a:p>
        </p:txBody>
      </p:sp>
      <p:grpSp>
        <p:nvGrpSpPr>
          <p:cNvPr id="70" name="组合 69">
            <a:extLst>
              <a:ext uri="{FF2B5EF4-FFF2-40B4-BE49-F238E27FC236}">
                <a16:creationId xmlns:a16="http://schemas.microsoft.com/office/drawing/2014/main" id="{1DEB20DF-28BC-4C74-B577-E0BAAC707036}"/>
              </a:ext>
            </a:extLst>
          </p:cNvPr>
          <p:cNvGrpSpPr/>
          <p:nvPr/>
        </p:nvGrpSpPr>
        <p:grpSpPr>
          <a:xfrm>
            <a:off x="3195660" y="1180035"/>
            <a:ext cx="1199593" cy="285396"/>
            <a:chOff x="8931417" y="1756646"/>
            <a:chExt cx="1199593" cy="285396"/>
          </a:xfrm>
        </p:grpSpPr>
        <p:sp>
          <p:nvSpPr>
            <p:cNvPr id="71" name="圆角矩形 98">
              <a:extLst>
                <a:ext uri="{FF2B5EF4-FFF2-40B4-BE49-F238E27FC236}">
                  <a16:creationId xmlns:a16="http://schemas.microsoft.com/office/drawing/2014/main" id="{08A99A62-60F2-4D37-8C8E-EE38450EEDA9}"/>
                </a:ext>
              </a:extLst>
            </p:cNvPr>
            <p:cNvSpPr/>
            <p:nvPr/>
          </p:nvSpPr>
          <p:spPr>
            <a:xfrm>
              <a:off x="8931417" y="1756646"/>
              <a:ext cx="1142766" cy="285396"/>
            </a:xfrm>
            <a:prstGeom prst="roundRect">
              <a:avLst>
                <a:gd name="adj" fmla="val 50000"/>
              </a:avLst>
            </a:prstGeom>
            <a:solidFill>
              <a:srgbClr val="61C2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chemeClr val="bg1"/>
                </a:solidFill>
                <a:effectLst/>
                <a:uLnTx/>
                <a:uFillTx/>
                <a:latin typeface="Calibri" panose="020F0502020204030204"/>
                <a:ea typeface="等线" panose="02010600030101010101" pitchFamily="2" charset="-122"/>
                <a:cs typeface="+mn-cs"/>
              </a:endParaRPr>
            </a:p>
          </p:txBody>
        </p:sp>
        <p:sp>
          <p:nvSpPr>
            <p:cNvPr id="72" name="文本框 71">
              <a:extLst>
                <a:ext uri="{FF2B5EF4-FFF2-40B4-BE49-F238E27FC236}">
                  <a16:creationId xmlns:a16="http://schemas.microsoft.com/office/drawing/2014/main" id="{A29F0D88-DE36-45A9-ABDC-EA1E7FB98CC7}"/>
                </a:ext>
              </a:extLst>
            </p:cNvPr>
            <p:cNvSpPr txBox="1"/>
            <p:nvPr/>
          </p:nvSpPr>
          <p:spPr>
            <a:xfrm>
              <a:off x="9257939" y="1812664"/>
              <a:ext cx="87307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bg1"/>
                  </a:solidFill>
                  <a:latin typeface="OPPOSans M" pitchFamily="18" charset="-122"/>
                  <a:ea typeface="OPPOSans M" pitchFamily="18" charset="-122"/>
                  <a:cs typeface="OPPOSans M" pitchFamily="18" charset="-122"/>
                </a:rPr>
                <a:t>组织全覆盖</a:t>
              </a:r>
              <a:endParaRPr kumimoji="0" lang="zh-CN" altLang="en-US" sz="1200" b="1" i="0" u="none" strike="noStrike" kern="1200" cap="none" spc="0" normalizeH="0" baseline="0" noProof="0" dirty="0">
                <a:ln>
                  <a:noFill/>
                </a:ln>
                <a:solidFill>
                  <a:schemeClr val="bg1"/>
                </a:solidFill>
                <a:effectLst/>
                <a:uLnTx/>
                <a:uFillTx/>
                <a:latin typeface="OPPOSans M" pitchFamily="18" charset="-122"/>
                <a:ea typeface="OPPOSans M" pitchFamily="18" charset="-122"/>
                <a:cs typeface="OPPOSans M" pitchFamily="18" charset="-122"/>
              </a:endParaRPr>
            </a:p>
          </p:txBody>
        </p:sp>
        <p:sp>
          <p:nvSpPr>
            <p:cNvPr id="73" name="椭圆 72">
              <a:extLst>
                <a:ext uri="{FF2B5EF4-FFF2-40B4-BE49-F238E27FC236}">
                  <a16:creationId xmlns:a16="http://schemas.microsoft.com/office/drawing/2014/main" id="{4C8C4CB8-5C4C-491F-8F74-903FC6C7809D}"/>
                </a:ext>
              </a:extLst>
            </p:cNvPr>
            <p:cNvSpPr/>
            <p:nvPr/>
          </p:nvSpPr>
          <p:spPr>
            <a:xfrm>
              <a:off x="8972912" y="1790014"/>
              <a:ext cx="218661" cy="218661"/>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chemeClr val="bg1"/>
                </a:solidFill>
                <a:effectLst/>
                <a:uLnTx/>
                <a:uFillTx/>
                <a:latin typeface="Calibri" panose="020F0502020204030204"/>
                <a:ea typeface="等线" panose="02010600030101010101" pitchFamily="2" charset="-122"/>
                <a:cs typeface="+mn-cs"/>
              </a:endParaRPr>
            </a:p>
          </p:txBody>
        </p:sp>
        <p:sp>
          <p:nvSpPr>
            <p:cNvPr id="74" name="矩形 2">
              <a:extLst>
                <a:ext uri="{FF2B5EF4-FFF2-40B4-BE49-F238E27FC236}">
                  <a16:creationId xmlns:a16="http://schemas.microsoft.com/office/drawing/2014/main" id="{A551B973-8E80-4180-9D1D-0E6478C6DB65}"/>
                </a:ext>
              </a:extLst>
            </p:cNvPr>
            <p:cNvSpPr/>
            <p:nvPr/>
          </p:nvSpPr>
          <p:spPr>
            <a:xfrm rot="2700000">
              <a:off x="9056210" y="1835105"/>
              <a:ext cx="57271" cy="98140"/>
            </a:xfrm>
            <a:custGeom>
              <a:avLst/>
              <a:gdLst>
                <a:gd name="connsiteX0" fmla="*/ 0 w 415436"/>
                <a:gd name="connsiteY0" fmla="*/ 0 h 415436"/>
                <a:gd name="connsiteX1" fmla="*/ 415436 w 415436"/>
                <a:gd name="connsiteY1" fmla="*/ 0 h 415436"/>
                <a:gd name="connsiteX2" fmla="*/ 415436 w 415436"/>
                <a:gd name="connsiteY2" fmla="*/ 415436 h 415436"/>
                <a:gd name="connsiteX3" fmla="*/ 0 w 415436"/>
                <a:gd name="connsiteY3" fmla="*/ 415436 h 415436"/>
                <a:gd name="connsiteX4" fmla="*/ 0 w 415436"/>
                <a:gd name="connsiteY4" fmla="*/ 0 h 415436"/>
                <a:gd name="connsiteX0" fmla="*/ 0 w 415436"/>
                <a:gd name="connsiteY0" fmla="*/ 415436 h 415436"/>
                <a:gd name="connsiteX1" fmla="*/ 415436 w 415436"/>
                <a:gd name="connsiteY1" fmla="*/ 0 h 415436"/>
                <a:gd name="connsiteX2" fmla="*/ 415436 w 415436"/>
                <a:gd name="connsiteY2" fmla="*/ 415436 h 415436"/>
                <a:gd name="connsiteX3" fmla="*/ 0 w 415436"/>
                <a:gd name="connsiteY3" fmla="*/ 415436 h 415436"/>
                <a:gd name="connsiteX0" fmla="*/ 0 w 218174"/>
                <a:gd name="connsiteY0" fmla="*/ 415436 h 415436"/>
                <a:gd name="connsiteX1" fmla="*/ 218174 w 218174"/>
                <a:gd name="connsiteY1" fmla="*/ 0 h 415436"/>
                <a:gd name="connsiteX2" fmla="*/ 218174 w 218174"/>
                <a:gd name="connsiteY2" fmla="*/ 415436 h 415436"/>
                <a:gd name="connsiteX3" fmla="*/ 0 w 218174"/>
                <a:gd name="connsiteY3" fmla="*/ 415436 h 415436"/>
                <a:gd name="connsiteX0" fmla="*/ 0 w 218174"/>
                <a:gd name="connsiteY0" fmla="*/ 415436 h 415436"/>
                <a:gd name="connsiteX1" fmla="*/ 118424 w 218174"/>
                <a:gd name="connsiteY1" fmla="*/ 208567 h 415436"/>
                <a:gd name="connsiteX2" fmla="*/ 218174 w 218174"/>
                <a:gd name="connsiteY2" fmla="*/ 0 h 415436"/>
                <a:gd name="connsiteX3" fmla="*/ 218174 w 218174"/>
                <a:gd name="connsiteY3" fmla="*/ 415436 h 415436"/>
                <a:gd name="connsiteX4" fmla="*/ 0 w 218174"/>
                <a:gd name="connsiteY4" fmla="*/ 415436 h 415436"/>
                <a:gd name="connsiteX0" fmla="*/ 27697 w 245871"/>
                <a:gd name="connsiteY0" fmla="*/ 415436 h 415436"/>
                <a:gd name="connsiteX1" fmla="*/ 0 w 245871"/>
                <a:gd name="connsiteY1" fmla="*/ 120895 h 415436"/>
                <a:gd name="connsiteX2" fmla="*/ 245871 w 245871"/>
                <a:gd name="connsiteY2" fmla="*/ 0 h 415436"/>
                <a:gd name="connsiteX3" fmla="*/ 245871 w 245871"/>
                <a:gd name="connsiteY3" fmla="*/ 415436 h 415436"/>
                <a:gd name="connsiteX4" fmla="*/ 27697 w 245871"/>
                <a:gd name="connsiteY4" fmla="*/ 415436 h 415436"/>
                <a:gd name="connsiteX0" fmla="*/ 0 w 245871"/>
                <a:gd name="connsiteY0" fmla="*/ 120895 h 415436"/>
                <a:gd name="connsiteX1" fmla="*/ 245871 w 245871"/>
                <a:gd name="connsiteY1" fmla="*/ 0 h 415436"/>
                <a:gd name="connsiteX2" fmla="*/ 245871 w 245871"/>
                <a:gd name="connsiteY2" fmla="*/ 415436 h 415436"/>
                <a:gd name="connsiteX3" fmla="*/ 27697 w 245871"/>
                <a:gd name="connsiteY3" fmla="*/ 415436 h 415436"/>
                <a:gd name="connsiteX4" fmla="*/ 91440 w 245871"/>
                <a:gd name="connsiteY4" fmla="*/ 212335 h 415436"/>
                <a:gd name="connsiteX0" fmla="*/ 0 w 245871"/>
                <a:gd name="connsiteY0" fmla="*/ 120895 h 415436"/>
                <a:gd name="connsiteX1" fmla="*/ 245871 w 245871"/>
                <a:gd name="connsiteY1" fmla="*/ 0 h 415436"/>
                <a:gd name="connsiteX2" fmla="*/ 245871 w 245871"/>
                <a:gd name="connsiteY2" fmla="*/ 415436 h 415436"/>
                <a:gd name="connsiteX3" fmla="*/ 27697 w 245871"/>
                <a:gd name="connsiteY3" fmla="*/ 415436 h 415436"/>
                <a:gd name="connsiteX0" fmla="*/ 218174 w 218174"/>
                <a:gd name="connsiteY0" fmla="*/ 0 h 415436"/>
                <a:gd name="connsiteX1" fmla="*/ 218174 w 218174"/>
                <a:gd name="connsiteY1" fmla="*/ 415436 h 415436"/>
                <a:gd name="connsiteX2" fmla="*/ 0 w 218174"/>
                <a:gd name="connsiteY2" fmla="*/ 415436 h 415436"/>
              </a:gdLst>
              <a:ahLst/>
              <a:cxnLst>
                <a:cxn ang="0">
                  <a:pos x="connsiteX0" y="connsiteY0"/>
                </a:cxn>
                <a:cxn ang="0">
                  <a:pos x="connsiteX1" y="connsiteY1"/>
                </a:cxn>
                <a:cxn ang="0">
                  <a:pos x="connsiteX2" y="connsiteY2"/>
                </a:cxn>
              </a:cxnLst>
              <a:rect l="l" t="t" r="r" b="b"/>
              <a:pathLst>
                <a:path w="218174" h="415436">
                  <a:moveTo>
                    <a:pt x="218174" y="0"/>
                  </a:moveTo>
                  <a:lnTo>
                    <a:pt x="218174" y="415436"/>
                  </a:lnTo>
                  <a:lnTo>
                    <a:pt x="0" y="415436"/>
                  </a:lnTo>
                </a:path>
              </a:pathLst>
            </a:custGeom>
            <a:noFill/>
            <a:ln w="38100" cap="rnd">
              <a:solidFill>
                <a:schemeClr val="accent3"/>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chemeClr val="bg1"/>
                </a:solidFill>
                <a:effectLst/>
                <a:uLnTx/>
                <a:uFillTx/>
                <a:latin typeface="Calibri" panose="020F0502020204030204"/>
                <a:ea typeface="等线" panose="02010600030101010101" pitchFamily="2" charset="-122"/>
                <a:cs typeface="+mn-cs"/>
              </a:endParaRPr>
            </a:p>
          </p:txBody>
        </p:sp>
      </p:grpSp>
      <p:sp>
        <p:nvSpPr>
          <p:cNvPr id="75" name="文本框 74">
            <a:extLst>
              <a:ext uri="{FF2B5EF4-FFF2-40B4-BE49-F238E27FC236}">
                <a16:creationId xmlns:a16="http://schemas.microsoft.com/office/drawing/2014/main" id="{522023DC-2E3B-4F7A-9D9B-54BF5793A90D}"/>
              </a:ext>
            </a:extLst>
          </p:cNvPr>
          <p:cNvSpPr txBox="1"/>
          <p:nvPr/>
        </p:nvSpPr>
        <p:spPr>
          <a:xfrm>
            <a:off x="4375825" y="1564194"/>
            <a:ext cx="3185107" cy="276999"/>
          </a:xfrm>
          <a:prstGeom prst="rect">
            <a:avLst/>
          </a:prstGeom>
          <a:noFill/>
        </p:spPr>
        <p:txBody>
          <a:bodyPr wrap="square" rtlCol="0">
            <a:spAutoFit/>
          </a:bodyPr>
          <a:lstStyle/>
          <a:p>
            <a:r>
              <a:rPr lang="zh-CN" altLang="en-US" sz="1200" dirty="0">
                <a:solidFill>
                  <a:schemeClr val="tx2"/>
                </a:solidFill>
                <a:latin typeface="+mj-ea"/>
                <a:ea typeface="+mj-ea"/>
              </a:rPr>
              <a:t>涵盖现在及未来经营内容涉及的经营事项</a:t>
            </a:r>
          </a:p>
        </p:txBody>
      </p:sp>
      <p:grpSp>
        <p:nvGrpSpPr>
          <p:cNvPr id="76" name="组合 75">
            <a:extLst>
              <a:ext uri="{FF2B5EF4-FFF2-40B4-BE49-F238E27FC236}">
                <a16:creationId xmlns:a16="http://schemas.microsoft.com/office/drawing/2014/main" id="{8CC8175E-1667-4B86-A238-FAC2D5AA92B0}"/>
              </a:ext>
            </a:extLst>
          </p:cNvPr>
          <p:cNvGrpSpPr/>
          <p:nvPr/>
        </p:nvGrpSpPr>
        <p:grpSpPr>
          <a:xfrm>
            <a:off x="3205781" y="1572434"/>
            <a:ext cx="1199593" cy="285396"/>
            <a:chOff x="8931417" y="1756646"/>
            <a:chExt cx="1199593" cy="285396"/>
          </a:xfrm>
        </p:grpSpPr>
        <p:sp>
          <p:nvSpPr>
            <p:cNvPr id="83" name="圆角矩形 170">
              <a:extLst>
                <a:ext uri="{FF2B5EF4-FFF2-40B4-BE49-F238E27FC236}">
                  <a16:creationId xmlns:a16="http://schemas.microsoft.com/office/drawing/2014/main" id="{56A2BB34-3BE7-4E0D-9BEA-92A6FD2DFCA3}"/>
                </a:ext>
              </a:extLst>
            </p:cNvPr>
            <p:cNvSpPr/>
            <p:nvPr/>
          </p:nvSpPr>
          <p:spPr>
            <a:xfrm>
              <a:off x="8931417" y="1756646"/>
              <a:ext cx="1142766" cy="285396"/>
            </a:xfrm>
            <a:prstGeom prst="roundRect">
              <a:avLst>
                <a:gd name="adj" fmla="val 50000"/>
              </a:avLst>
            </a:prstGeom>
            <a:solidFill>
              <a:srgbClr val="61C2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chemeClr val="bg1"/>
                </a:solidFill>
                <a:effectLst/>
                <a:uLnTx/>
                <a:uFillTx/>
                <a:latin typeface="Calibri" panose="020F0502020204030204"/>
                <a:ea typeface="等线" panose="02010600030101010101" pitchFamily="2" charset="-122"/>
                <a:cs typeface="+mn-cs"/>
              </a:endParaRPr>
            </a:p>
          </p:txBody>
        </p:sp>
        <p:sp>
          <p:nvSpPr>
            <p:cNvPr id="84" name="文本框 83">
              <a:extLst>
                <a:ext uri="{FF2B5EF4-FFF2-40B4-BE49-F238E27FC236}">
                  <a16:creationId xmlns:a16="http://schemas.microsoft.com/office/drawing/2014/main" id="{9D862FC2-84EB-41FB-837B-C2239845AA3C}"/>
                </a:ext>
              </a:extLst>
            </p:cNvPr>
            <p:cNvSpPr txBox="1"/>
            <p:nvPr/>
          </p:nvSpPr>
          <p:spPr>
            <a:xfrm>
              <a:off x="9257939" y="1812664"/>
              <a:ext cx="87307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bg1"/>
                  </a:solidFill>
                  <a:latin typeface="OPPOSans M" pitchFamily="18" charset="-122"/>
                  <a:ea typeface="OPPOSans M" pitchFamily="18" charset="-122"/>
                  <a:cs typeface="OPPOSans M" pitchFamily="18" charset="-122"/>
                </a:rPr>
                <a:t>业务全覆盖</a:t>
              </a:r>
              <a:endParaRPr kumimoji="0" lang="zh-CN" altLang="en-US" sz="1200" b="1" i="0" u="none" strike="noStrike" kern="1200" cap="none" spc="0" normalizeH="0" baseline="0" noProof="0" dirty="0">
                <a:ln>
                  <a:noFill/>
                </a:ln>
                <a:solidFill>
                  <a:schemeClr val="bg1"/>
                </a:solidFill>
                <a:effectLst/>
                <a:uLnTx/>
                <a:uFillTx/>
                <a:latin typeface="OPPOSans M" pitchFamily="18" charset="-122"/>
                <a:ea typeface="OPPOSans M" pitchFamily="18" charset="-122"/>
                <a:cs typeface="OPPOSans M" pitchFamily="18" charset="-122"/>
              </a:endParaRPr>
            </a:p>
          </p:txBody>
        </p:sp>
        <p:sp>
          <p:nvSpPr>
            <p:cNvPr id="85" name="椭圆 84">
              <a:extLst>
                <a:ext uri="{FF2B5EF4-FFF2-40B4-BE49-F238E27FC236}">
                  <a16:creationId xmlns:a16="http://schemas.microsoft.com/office/drawing/2014/main" id="{4E0D7805-DC70-4400-A9BE-6C9EBA6265EB}"/>
                </a:ext>
              </a:extLst>
            </p:cNvPr>
            <p:cNvSpPr/>
            <p:nvPr/>
          </p:nvSpPr>
          <p:spPr>
            <a:xfrm>
              <a:off x="8972912" y="1790014"/>
              <a:ext cx="218661" cy="218661"/>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chemeClr val="bg1"/>
                </a:solidFill>
                <a:effectLst/>
                <a:uLnTx/>
                <a:uFillTx/>
                <a:latin typeface="Calibri" panose="020F0502020204030204"/>
                <a:ea typeface="等线" panose="02010600030101010101" pitchFamily="2" charset="-122"/>
                <a:cs typeface="+mn-cs"/>
              </a:endParaRPr>
            </a:p>
          </p:txBody>
        </p:sp>
        <p:sp>
          <p:nvSpPr>
            <p:cNvPr id="86" name="矩形 2">
              <a:extLst>
                <a:ext uri="{FF2B5EF4-FFF2-40B4-BE49-F238E27FC236}">
                  <a16:creationId xmlns:a16="http://schemas.microsoft.com/office/drawing/2014/main" id="{B5784D9B-D173-4390-83B5-AAC4281E477B}"/>
                </a:ext>
              </a:extLst>
            </p:cNvPr>
            <p:cNvSpPr/>
            <p:nvPr/>
          </p:nvSpPr>
          <p:spPr>
            <a:xfrm rot="2700000">
              <a:off x="9056210" y="1835105"/>
              <a:ext cx="57271" cy="98140"/>
            </a:xfrm>
            <a:custGeom>
              <a:avLst/>
              <a:gdLst>
                <a:gd name="connsiteX0" fmla="*/ 0 w 415436"/>
                <a:gd name="connsiteY0" fmla="*/ 0 h 415436"/>
                <a:gd name="connsiteX1" fmla="*/ 415436 w 415436"/>
                <a:gd name="connsiteY1" fmla="*/ 0 h 415436"/>
                <a:gd name="connsiteX2" fmla="*/ 415436 w 415436"/>
                <a:gd name="connsiteY2" fmla="*/ 415436 h 415436"/>
                <a:gd name="connsiteX3" fmla="*/ 0 w 415436"/>
                <a:gd name="connsiteY3" fmla="*/ 415436 h 415436"/>
                <a:gd name="connsiteX4" fmla="*/ 0 w 415436"/>
                <a:gd name="connsiteY4" fmla="*/ 0 h 415436"/>
                <a:gd name="connsiteX0" fmla="*/ 0 w 415436"/>
                <a:gd name="connsiteY0" fmla="*/ 415436 h 415436"/>
                <a:gd name="connsiteX1" fmla="*/ 415436 w 415436"/>
                <a:gd name="connsiteY1" fmla="*/ 0 h 415436"/>
                <a:gd name="connsiteX2" fmla="*/ 415436 w 415436"/>
                <a:gd name="connsiteY2" fmla="*/ 415436 h 415436"/>
                <a:gd name="connsiteX3" fmla="*/ 0 w 415436"/>
                <a:gd name="connsiteY3" fmla="*/ 415436 h 415436"/>
                <a:gd name="connsiteX0" fmla="*/ 0 w 218174"/>
                <a:gd name="connsiteY0" fmla="*/ 415436 h 415436"/>
                <a:gd name="connsiteX1" fmla="*/ 218174 w 218174"/>
                <a:gd name="connsiteY1" fmla="*/ 0 h 415436"/>
                <a:gd name="connsiteX2" fmla="*/ 218174 w 218174"/>
                <a:gd name="connsiteY2" fmla="*/ 415436 h 415436"/>
                <a:gd name="connsiteX3" fmla="*/ 0 w 218174"/>
                <a:gd name="connsiteY3" fmla="*/ 415436 h 415436"/>
                <a:gd name="connsiteX0" fmla="*/ 0 w 218174"/>
                <a:gd name="connsiteY0" fmla="*/ 415436 h 415436"/>
                <a:gd name="connsiteX1" fmla="*/ 118424 w 218174"/>
                <a:gd name="connsiteY1" fmla="*/ 208567 h 415436"/>
                <a:gd name="connsiteX2" fmla="*/ 218174 w 218174"/>
                <a:gd name="connsiteY2" fmla="*/ 0 h 415436"/>
                <a:gd name="connsiteX3" fmla="*/ 218174 w 218174"/>
                <a:gd name="connsiteY3" fmla="*/ 415436 h 415436"/>
                <a:gd name="connsiteX4" fmla="*/ 0 w 218174"/>
                <a:gd name="connsiteY4" fmla="*/ 415436 h 415436"/>
                <a:gd name="connsiteX0" fmla="*/ 27697 w 245871"/>
                <a:gd name="connsiteY0" fmla="*/ 415436 h 415436"/>
                <a:gd name="connsiteX1" fmla="*/ 0 w 245871"/>
                <a:gd name="connsiteY1" fmla="*/ 120895 h 415436"/>
                <a:gd name="connsiteX2" fmla="*/ 245871 w 245871"/>
                <a:gd name="connsiteY2" fmla="*/ 0 h 415436"/>
                <a:gd name="connsiteX3" fmla="*/ 245871 w 245871"/>
                <a:gd name="connsiteY3" fmla="*/ 415436 h 415436"/>
                <a:gd name="connsiteX4" fmla="*/ 27697 w 245871"/>
                <a:gd name="connsiteY4" fmla="*/ 415436 h 415436"/>
                <a:gd name="connsiteX0" fmla="*/ 0 w 245871"/>
                <a:gd name="connsiteY0" fmla="*/ 120895 h 415436"/>
                <a:gd name="connsiteX1" fmla="*/ 245871 w 245871"/>
                <a:gd name="connsiteY1" fmla="*/ 0 h 415436"/>
                <a:gd name="connsiteX2" fmla="*/ 245871 w 245871"/>
                <a:gd name="connsiteY2" fmla="*/ 415436 h 415436"/>
                <a:gd name="connsiteX3" fmla="*/ 27697 w 245871"/>
                <a:gd name="connsiteY3" fmla="*/ 415436 h 415436"/>
                <a:gd name="connsiteX4" fmla="*/ 91440 w 245871"/>
                <a:gd name="connsiteY4" fmla="*/ 212335 h 415436"/>
                <a:gd name="connsiteX0" fmla="*/ 0 w 245871"/>
                <a:gd name="connsiteY0" fmla="*/ 120895 h 415436"/>
                <a:gd name="connsiteX1" fmla="*/ 245871 w 245871"/>
                <a:gd name="connsiteY1" fmla="*/ 0 h 415436"/>
                <a:gd name="connsiteX2" fmla="*/ 245871 w 245871"/>
                <a:gd name="connsiteY2" fmla="*/ 415436 h 415436"/>
                <a:gd name="connsiteX3" fmla="*/ 27697 w 245871"/>
                <a:gd name="connsiteY3" fmla="*/ 415436 h 415436"/>
                <a:gd name="connsiteX0" fmla="*/ 218174 w 218174"/>
                <a:gd name="connsiteY0" fmla="*/ 0 h 415436"/>
                <a:gd name="connsiteX1" fmla="*/ 218174 w 218174"/>
                <a:gd name="connsiteY1" fmla="*/ 415436 h 415436"/>
                <a:gd name="connsiteX2" fmla="*/ 0 w 218174"/>
                <a:gd name="connsiteY2" fmla="*/ 415436 h 415436"/>
              </a:gdLst>
              <a:ahLst/>
              <a:cxnLst>
                <a:cxn ang="0">
                  <a:pos x="connsiteX0" y="connsiteY0"/>
                </a:cxn>
                <a:cxn ang="0">
                  <a:pos x="connsiteX1" y="connsiteY1"/>
                </a:cxn>
                <a:cxn ang="0">
                  <a:pos x="connsiteX2" y="connsiteY2"/>
                </a:cxn>
              </a:cxnLst>
              <a:rect l="l" t="t" r="r" b="b"/>
              <a:pathLst>
                <a:path w="218174" h="415436">
                  <a:moveTo>
                    <a:pt x="218174" y="0"/>
                  </a:moveTo>
                  <a:lnTo>
                    <a:pt x="218174" y="415436"/>
                  </a:lnTo>
                  <a:lnTo>
                    <a:pt x="0" y="415436"/>
                  </a:lnTo>
                </a:path>
              </a:pathLst>
            </a:custGeom>
            <a:noFill/>
            <a:ln w="38100" cap="rnd">
              <a:solidFill>
                <a:schemeClr val="accent3"/>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chemeClr val="bg1"/>
                </a:solidFill>
                <a:effectLst/>
                <a:uLnTx/>
                <a:uFillTx/>
                <a:latin typeface="Calibri" panose="020F0502020204030204"/>
                <a:ea typeface="等线" panose="02010600030101010101" pitchFamily="2" charset="-122"/>
                <a:cs typeface="+mn-cs"/>
              </a:endParaRPr>
            </a:p>
          </p:txBody>
        </p:sp>
      </p:grpSp>
      <p:grpSp>
        <p:nvGrpSpPr>
          <p:cNvPr id="87" name="组合 86">
            <a:extLst>
              <a:ext uri="{FF2B5EF4-FFF2-40B4-BE49-F238E27FC236}">
                <a16:creationId xmlns:a16="http://schemas.microsoft.com/office/drawing/2014/main" id="{4F8C6C64-C490-4801-8483-DA972047AD2F}"/>
              </a:ext>
            </a:extLst>
          </p:cNvPr>
          <p:cNvGrpSpPr/>
          <p:nvPr/>
        </p:nvGrpSpPr>
        <p:grpSpPr>
          <a:xfrm>
            <a:off x="3213833" y="1963185"/>
            <a:ext cx="1199593" cy="285396"/>
            <a:chOff x="8931417" y="1756646"/>
            <a:chExt cx="1199593" cy="285396"/>
          </a:xfrm>
        </p:grpSpPr>
        <p:sp>
          <p:nvSpPr>
            <p:cNvPr id="88" name="圆角矩形 98">
              <a:extLst>
                <a:ext uri="{FF2B5EF4-FFF2-40B4-BE49-F238E27FC236}">
                  <a16:creationId xmlns:a16="http://schemas.microsoft.com/office/drawing/2014/main" id="{17C61041-F9C5-4C94-93EC-18935B980117}"/>
                </a:ext>
              </a:extLst>
            </p:cNvPr>
            <p:cNvSpPr/>
            <p:nvPr/>
          </p:nvSpPr>
          <p:spPr>
            <a:xfrm>
              <a:off x="8931417" y="1756646"/>
              <a:ext cx="1142766" cy="285396"/>
            </a:xfrm>
            <a:prstGeom prst="roundRect">
              <a:avLst>
                <a:gd name="adj" fmla="val 50000"/>
              </a:avLst>
            </a:prstGeom>
            <a:solidFill>
              <a:srgbClr val="61C2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chemeClr val="bg1"/>
                </a:solidFill>
                <a:effectLst/>
                <a:uLnTx/>
                <a:uFillTx/>
                <a:latin typeface="Calibri" panose="020F0502020204030204"/>
                <a:ea typeface="等线" panose="02010600030101010101" pitchFamily="2" charset="-122"/>
                <a:cs typeface="+mn-cs"/>
              </a:endParaRPr>
            </a:p>
          </p:txBody>
        </p:sp>
        <p:sp>
          <p:nvSpPr>
            <p:cNvPr id="89" name="文本框 88">
              <a:extLst>
                <a:ext uri="{FF2B5EF4-FFF2-40B4-BE49-F238E27FC236}">
                  <a16:creationId xmlns:a16="http://schemas.microsoft.com/office/drawing/2014/main" id="{B7D71270-BBAE-4406-BEB8-3F0767902E4D}"/>
                </a:ext>
              </a:extLst>
            </p:cNvPr>
            <p:cNvSpPr txBox="1"/>
            <p:nvPr/>
          </p:nvSpPr>
          <p:spPr>
            <a:xfrm>
              <a:off x="9257939" y="1812664"/>
              <a:ext cx="87307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bg1"/>
                  </a:solidFill>
                  <a:latin typeface="OPPOSans M" pitchFamily="18" charset="-122"/>
                  <a:ea typeface="OPPOSans M" pitchFamily="18" charset="-122"/>
                  <a:cs typeface="OPPOSans M" pitchFamily="18" charset="-122"/>
                </a:rPr>
                <a:t>运营全覆盖</a:t>
              </a:r>
              <a:endParaRPr kumimoji="0" lang="zh-CN" altLang="en-US" sz="1200" b="1" i="0" u="none" strike="noStrike" kern="1200" cap="none" spc="0" normalizeH="0" baseline="0" noProof="0" dirty="0">
                <a:ln>
                  <a:noFill/>
                </a:ln>
                <a:solidFill>
                  <a:schemeClr val="bg1"/>
                </a:solidFill>
                <a:effectLst/>
                <a:uLnTx/>
                <a:uFillTx/>
                <a:latin typeface="OPPOSans M" pitchFamily="18" charset="-122"/>
                <a:ea typeface="OPPOSans M" pitchFamily="18" charset="-122"/>
                <a:cs typeface="OPPOSans M" pitchFamily="18" charset="-122"/>
              </a:endParaRPr>
            </a:p>
          </p:txBody>
        </p:sp>
        <p:sp>
          <p:nvSpPr>
            <p:cNvPr id="90" name="椭圆 89">
              <a:extLst>
                <a:ext uri="{FF2B5EF4-FFF2-40B4-BE49-F238E27FC236}">
                  <a16:creationId xmlns:a16="http://schemas.microsoft.com/office/drawing/2014/main" id="{8AA0287E-B002-455D-8231-35FAC12AD983}"/>
                </a:ext>
              </a:extLst>
            </p:cNvPr>
            <p:cNvSpPr/>
            <p:nvPr/>
          </p:nvSpPr>
          <p:spPr>
            <a:xfrm>
              <a:off x="8972912" y="1790014"/>
              <a:ext cx="218661" cy="218661"/>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chemeClr val="bg1"/>
                </a:solidFill>
                <a:effectLst/>
                <a:uLnTx/>
                <a:uFillTx/>
                <a:latin typeface="Calibri" panose="020F0502020204030204"/>
                <a:ea typeface="等线" panose="02010600030101010101" pitchFamily="2" charset="-122"/>
                <a:cs typeface="+mn-cs"/>
              </a:endParaRPr>
            </a:p>
          </p:txBody>
        </p:sp>
        <p:sp>
          <p:nvSpPr>
            <p:cNvPr id="92" name="矩形 2">
              <a:extLst>
                <a:ext uri="{FF2B5EF4-FFF2-40B4-BE49-F238E27FC236}">
                  <a16:creationId xmlns:a16="http://schemas.microsoft.com/office/drawing/2014/main" id="{EAF0688B-6969-4687-9934-C167E646B42E}"/>
                </a:ext>
              </a:extLst>
            </p:cNvPr>
            <p:cNvSpPr/>
            <p:nvPr/>
          </p:nvSpPr>
          <p:spPr>
            <a:xfrm rot="2700000">
              <a:off x="9056210" y="1835105"/>
              <a:ext cx="57271" cy="98140"/>
            </a:xfrm>
            <a:custGeom>
              <a:avLst/>
              <a:gdLst>
                <a:gd name="connsiteX0" fmla="*/ 0 w 415436"/>
                <a:gd name="connsiteY0" fmla="*/ 0 h 415436"/>
                <a:gd name="connsiteX1" fmla="*/ 415436 w 415436"/>
                <a:gd name="connsiteY1" fmla="*/ 0 h 415436"/>
                <a:gd name="connsiteX2" fmla="*/ 415436 w 415436"/>
                <a:gd name="connsiteY2" fmla="*/ 415436 h 415436"/>
                <a:gd name="connsiteX3" fmla="*/ 0 w 415436"/>
                <a:gd name="connsiteY3" fmla="*/ 415436 h 415436"/>
                <a:gd name="connsiteX4" fmla="*/ 0 w 415436"/>
                <a:gd name="connsiteY4" fmla="*/ 0 h 415436"/>
                <a:gd name="connsiteX0" fmla="*/ 0 w 415436"/>
                <a:gd name="connsiteY0" fmla="*/ 415436 h 415436"/>
                <a:gd name="connsiteX1" fmla="*/ 415436 w 415436"/>
                <a:gd name="connsiteY1" fmla="*/ 0 h 415436"/>
                <a:gd name="connsiteX2" fmla="*/ 415436 w 415436"/>
                <a:gd name="connsiteY2" fmla="*/ 415436 h 415436"/>
                <a:gd name="connsiteX3" fmla="*/ 0 w 415436"/>
                <a:gd name="connsiteY3" fmla="*/ 415436 h 415436"/>
                <a:gd name="connsiteX0" fmla="*/ 0 w 218174"/>
                <a:gd name="connsiteY0" fmla="*/ 415436 h 415436"/>
                <a:gd name="connsiteX1" fmla="*/ 218174 w 218174"/>
                <a:gd name="connsiteY1" fmla="*/ 0 h 415436"/>
                <a:gd name="connsiteX2" fmla="*/ 218174 w 218174"/>
                <a:gd name="connsiteY2" fmla="*/ 415436 h 415436"/>
                <a:gd name="connsiteX3" fmla="*/ 0 w 218174"/>
                <a:gd name="connsiteY3" fmla="*/ 415436 h 415436"/>
                <a:gd name="connsiteX0" fmla="*/ 0 w 218174"/>
                <a:gd name="connsiteY0" fmla="*/ 415436 h 415436"/>
                <a:gd name="connsiteX1" fmla="*/ 118424 w 218174"/>
                <a:gd name="connsiteY1" fmla="*/ 208567 h 415436"/>
                <a:gd name="connsiteX2" fmla="*/ 218174 w 218174"/>
                <a:gd name="connsiteY2" fmla="*/ 0 h 415436"/>
                <a:gd name="connsiteX3" fmla="*/ 218174 w 218174"/>
                <a:gd name="connsiteY3" fmla="*/ 415436 h 415436"/>
                <a:gd name="connsiteX4" fmla="*/ 0 w 218174"/>
                <a:gd name="connsiteY4" fmla="*/ 415436 h 415436"/>
                <a:gd name="connsiteX0" fmla="*/ 27697 w 245871"/>
                <a:gd name="connsiteY0" fmla="*/ 415436 h 415436"/>
                <a:gd name="connsiteX1" fmla="*/ 0 w 245871"/>
                <a:gd name="connsiteY1" fmla="*/ 120895 h 415436"/>
                <a:gd name="connsiteX2" fmla="*/ 245871 w 245871"/>
                <a:gd name="connsiteY2" fmla="*/ 0 h 415436"/>
                <a:gd name="connsiteX3" fmla="*/ 245871 w 245871"/>
                <a:gd name="connsiteY3" fmla="*/ 415436 h 415436"/>
                <a:gd name="connsiteX4" fmla="*/ 27697 w 245871"/>
                <a:gd name="connsiteY4" fmla="*/ 415436 h 415436"/>
                <a:gd name="connsiteX0" fmla="*/ 0 w 245871"/>
                <a:gd name="connsiteY0" fmla="*/ 120895 h 415436"/>
                <a:gd name="connsiteX1" fmla="*/ 245871 w 245871"/>
                <a:gd name="connsiteY1" fmla="*/ 0 h 415436"/>
                <a:gd name="connsiteX2" fmla="*/ 245871 w 245871"/>
                <a:gd name="connsiteY2" fmla="*/ 415436 h 415436"/>
                <a:gd name="connsiteX3" fmla="*/ 27697 w 245871"/>
                <a:gd name="connsiteY3" fmla="*/ 415436 h 415436"/>
                <a:gd name="connsiteX4" fmla="*/ 91440 w 245871"/>
                <a:gd name="connsiteY4" fmla="*/ 212335 h 415436"/>
                <a:gd name="connsiteX0" fmla="*/ 0 w 245871"/>
                <a:gd name="connsiteY0" fmla="*/ 120895 h 415436"/>
                <a:gd name="connsiteX1" fmla="*/ 245871 w 245871"/>
                <a:gd name="connsiteY1" fmla="*/ 0 h 415436"/>
                <a:gd name="connsiteX2" fmla="*/ 245871 w 245871"/>
                <a:gd name="connsiteY2" fmla="*/ 415436 h 415436"/>
                <a:gd name="connsiteX3" fmla="*/ 27697 w 245871"/>
                <a:gd name="connsiteY3" fmla="*/ 415436 h 415436"/>
                <a:gd name="connsiteX0" fmla="*/ 218174 w 218174"/>
                <a:gd name="connsiteY0" fmla="*/ 0 h 415436"/>
                <a:gd name="connsiteX1" fmla="*/ 218174 w 218174"/>
                <a:gd name="connsiteY1" fmla="*/ 415436 h 415436"/>
                <a:gd name="connsiteX2" fmla="*/ 0 w 218174"/>
                <a:gd name="connsiteY2" fmla="*/ 415436 h 415436"/>
              </a:gdLst>
              <a:ahLst/>
              <a:cxnLst>
                <a:cxn ang="0">
                  <a:pos x="connsiteX0" y="connsiteY0"/>
                </a:cxn>
                <a:cxn ang="0">
                  <a:pos x="connsiteX1" y="connsiteY1"/>
                </a:cxn>
                <a:cxn ang="0">
                  <a:pos x="connsiteX2" y="connsiteY2"/>
                </a:cxn>
              </a:cxnLst>
              <a:rect l="l" t="t" r="r" b="b"/>
              <a:pathLst>
                <a:path w="218174" h="415436">
                  <a:moveTo>
                    <a:pt x="218174" y="0"/>
                  </a:moveTo>
                  <a:lnTo>
                    <a:pt x="218174" y="415436"/>
                  </a:lnTo>
                  <a:lnTo>
                    <a:pt x="0" y="415436"/>
                  </a:lnTo>
                </a:path>
              </a:pathLst>
            </a:custGeom>
            <a:noFill/>
            <a:ln w="38100" cap="rnd">
              <a:solidFill>
                <a:schemeClr val="accent3"/>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chemeClr val="bg1"/>
                </a:solidFill>
                <a:effectLst/>
                <a:uLnTx/>
                <a:uFillTx/>
                <a:latin typeface="Calibri" panose="020F0502020204030204"/>
                <a:ea typeface="等线" panose="02010600030101010101" pitchFamily="2" charset="-122"/>
                <a:cs typeface="+mn-cs"/>
              </a:endParaRPr>
            </a:p>
          </p:txBody>
        </p:sp>
      </p:grpSp>
      <p:sp>
        <p:nvSpPr>
          <p:cNvPr id="93" name="文本框 92">
            <a:extLst>
              <a:ext uri="{FF2B5EF4-FFF2-40B4-BE49-F238E27FC236}">
                <a16:creationId xmlns:a16="http://schemas.microsoft.com/office/drawing/2014/main" id="{EFB038AD-97E4-4A81-9A64-FC35ECAAC7AC}"/>
              </a:ext>
            </a:extLst>
          </p:cNvPr>
          <p:cNvSpPr txBox="1"/>
          <p:nvPr/>
        </p:nvSpPr>
        <p:spPr>
          <a:xfrm>
            <a:off x="4373914" y="1978506"/>
            <a:ext cx="2909207" cy="276999"/>
          </a:xfrm>
          <a:prstGeom prst="rect">
            <a:avLst/>
          </a:prstGeom>
          <a:noFill/>
        </p:spPr>
        <p:txBody>
          <a:bodyPr wrap="square" rtlCol="0">
            <a:spAutoFit/>
          </a:bodyPr>
          <a:lstStyle/>
          <a:p>
            <a:r>
              <a:rPr lang="zh-CN" altLang="en-US" sz="1200" dirty="0">
                <a:solidFill>
                  <a:schemeClr val="tx2"/>
                </a:solidFill>
                <a:latin typeface="+mj-ea"/>
                <a:ea typeface="+mj-ea"/>
              </a:rPr>
              <a:t>确保经营活动内容完整且前后衔接</a:t>
            </a:r>
          </a:p>
        </p:txBody>
      </p:sp>
      <p:grpSp>
        <p:nvGrpSpPr>
          <p:cNvPr id="94" name="组合 93">
            <a:extLst>
              <a:ext uri="{FF2B5EF4-FFF2-40B4-BE49-F238E27FC236}">
                <a16:creationId xmlns:a16="http://schemas.microsoft.com/office/drawing/2014/main" id="{3ADA98AD-7142-4F58-B611-82A492B2D318}"/>
              </a:ext>
            </a:extLst>
          </p:cNvPr>
          <p:cNvGrpSpPr/>
          <p:nvPr/>
        </p:nvGrpSpPr>
        <p:grpSpPr>
          <a:xfrm>
            <a:off x="7326217" y="1176883"/>
            <a:ext cx="1199593" cy="285396"/>
            <a:chOff x="8931417" y="1756646"/>
            <a:chExt cx="1199593" cy="285396"/>
          </a:xfrm>
        </p:grpSpPr>
        <p:sp>
          <p:nvSpPr>
            <p:cNvPr id="95" name="圆角矩形 98">
              <a:extLst>
                <a:ext uri="{FF2B5EF4-FFF2-40B4-BE49-F238E27FC236}">
                  <a16:creationId xmlns:a16="http://schemas.microsoft.com/office/drawing/2014/main" id="{C0F3BE83-114C-413E-8D30-EC0857AD18DD}"/>
                </a:ext>
              </a:extLst>
            </p:cNvPr>
            <p:cNvSpPr/>
            <p:nvPr/>
          </p:nvSpPr>
          <p:spPr>
            <a:xfrm>
              <a:off x="8931417" y="1756646"/>
              <a:ext cx="1142766" cy="285396"/>
            </a:xfrm>
            <a:prstGeom prst="roundRect">
              <a:avLst>
                <a:gd name="adj" fmla="val 50000"/>
              </a:avLst>
            </a:prstGeom>
            <a:solidFill>
              <a:srgbClr val="1432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chemeClr val="bg1"/>
                </a:solidFill>
                <a:effectLst/>
                <a:uLnTx/>
                <a:uFillTx/>
                <a:latin typeface="Calibri" panose="020F0502020204030204"/>
                <a:ea typeface="等线" panose="02010600030101010101" pitchFamily="2" charset="-122"/>
                <a:cs typeface="+mn-cs"/>
              </a:endParaRPr>
            </a:p>
          </p:txBody>
        </p:sp>
        <p:sp>
          <p:nvSpPr>
            <p:cNvPr id="96" name="文本框 95">
              <a:extLst>
                <a:ext uri="{FF2B5EF4-FFF2-40B4-BE49-F238E27FC236}">
                  <a16:creationId xmlns:a16="http://schemas.microsoft.com/office/drawing/2014/main" id="{59BE491A-C71A-4215-B2CF-5691A3A69552}"/>
                </a:ext>
              </a:extLst>
            </p:cNvPr>
            <p:cNvSpPr txBox="1"/>
            <p:nvPr/>
          </p:nvSpPr>
          <p:spPr>
            <a:xfrm>
              <a:off x="9257939" y="1812664"/>
              <a:ext cx="87307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bg1"/>
                  </a:solidFill>
                  <a:latin typeface="OPPOSans M" pitchFamily="18" charset="-122"/>
                  <a:ea typeface="OPPOSans M" pitchFamily="18" charset="-122"/>
                  <a:cs typeface="OPPOSans M" pitchFamily="18" charset="-122"/>
                </a:rPr>
                <a:t>要素全覆盖</a:t>
              </a:r>
              <a:endParaRPr kumimoji="0" lang="zh-CN" altLang="en-US" sz="1200" b="1" i="0" u="none" strike="noStrike" kern="1200" cap="none" spc="0" normalizeH="0" baseline="0" noProof="0" dirty="0">
                <a:ln>
                  <a:noFill/>
                </a:ln>
                <a:solidFill>
                  <a:schemeClr val="bg1"/>
                </a:solidFill>
                <a:effectLst/>
                <a:uLnTx/>
                <a:uFillTx/>
                <a:latin typeface="OPPOSans M" pitchFamily="18" charset="-122"/>
                <a:ea typeface="OPPOSans M" pitchFamily="18" charset="-122"/>
                <a:cs typeface="OPPOSans M" pitchFamily="18" charset="-122"/>
              </a:endParaRPr>
            </a:p>
          </p:txBody>
        </p:sp>
        <p:sp>
          <p:nvSpPr>
            <p:cNvPr id="97" name="椭圆 96">
              <a:extLst>
                <a:ext uri="{FF2B5EF4-FFF2-40B4-BE49-F238E27FC236}">
                  <a16:creationId xmlns:a16="http://schemas.microsoft.com/office/drawing/2014/main" id="{CCD08AA1-F4B1-4BDD-9D8D-CF2A375299C2}"/>
                </a:ext>
              </a:extLst>
            </p:cNvPr>
            <p:cNvSpPr/>
            <p:nvPr/>
          </p:nvSpPr>
          <p:spPr>
            <a:xfrm>
              <a:off x="8972912" y="1790014"/>
              <a:ext cx="218661" cy="218661"/>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chemeClr val="bg1"/>
                </a:solidFill>
                <a:effectLst/>
                <a:uLnTx/>
                <a:uFillTx/>
                <a:latin typeface="Calibri" panose="020F0502020204030204"/>
                <a:ea typeface="等线" panose="02010600030101010101" pitchFamily="2" charset="-122"/>
                <a:cs typeface="+mn-cs"/>
              </a:endParaRPr>
            </a:p>
          </p:txBody>
        </p:sp>
        <p:sp>
          <p:nvSpPr>
            <p:cNvPr id="98" name="矩形 2">
              <a:extLst>
                <a:ext uri="{FF2B5EF4-FFF2-40B4-BE49-F238E27FC236}">
                  <a16:creationId xmlns:a16="http://schemas.microsoft.com/office/drawing/2014/main" id="{822FA79D-9D53-4834-920F-2F340EAE645B}"/>
                </a:ext>
              </a:extLst>
            </p:cNvPr>
            <p:cNvSpPr/>
            <p:nvPr/>
          </p:nvSpPr>
          <p:spPr>
            <a:xfrm rot="2700000">
              <a:off x="9056210" y="1835105"/>
              <a:ext cx="57271" cy="98140"/>
            </a:xfrm>
            <a:custGeom>
              <a:avLst/>
              <a:gdLst>
                <a:gd name="connsiteX0" fmla="*/ 0 w 415436"/>
                <a:gd name="connsiteY0" fmla="*/ 0 h 415436"/>
                <a:gd name="connsiteX1" fmla="*/ 415436 w 415436"/>
                <a:gd name="connsiteY1" fmla="*/ 0 h 415436"/>
                <a:gd name="connsiteX2" fmla="*/ 415436 w 415436"/>
                <a:gd name="connsiteY2" fmla="*/ 415436 h 415436"/>
                <a:gd name="connsiteX3" fmla="*/ 0 w 415436"/>
                <a:gd name="connsiteY3" fmla="*/ 415436 h 415436"/>
                <a:gd name="connsiteX4" fmla="*/ 0 w 415436"/>
                <a:gd name="connsiteY4" fmla="*/ 0 h 415436"/>
                <a:gd name="connsiteX0" fmla="*/ 0 w 415436"/>
                <a:gd name="connsiteY0" fmla="*/ 415436 h 415436"/>
                <a:gd name="connsiteX1" fmla="*/ 415436 w 415436"/>
                <a:gd name="connsiteY1" fmla="*/ 0 h 415436"/>
                <a:gd name="connsiteX2" fmla="*/ 415436 w 415436"/>
                <a:gd name="connsiteY2" fmla="*/ 415436 h 415436"/>
                <a:gd name="connsiteX3" fmla="*/ 0 w 415436"/>
                <a:gd name="connsiteY3" fmla="*/ 415436 h 415436"/>
                <a:gd name="connsiteX0" fmla="*/ 0 w 218174"/>
                <a:gd name="connsiteY0" fmla="*/ 415436 h 415436"/>
                <a:gd name="connsiteX1" fmla="*/ 218174 w 218174"/>
                <a:gd name="connsiteY1" fmla="*/ 0 h 415436"/>
                <a:gd name="connsiteX2" fmla="*/ 218174 w 218174"/>
                <a:gd name="connsiteY2" fmla="*/ 415436 h 415436"/>
                <a:gd name="connsiteX3" fmla="*/ 0 w 218174"/>
                <a:gd name="connsiteY3" fmla="*/ 415436 h 415436"/>
                <a:gd name="connsiteX0" fmla="*/ 0 w 218174"/>
                <a:gd name="connsiteY0" fmla="*/ 415436 h 415436"/>
                <a:gd name="connsiteX1" fmla="*/ 118424 w 218174"/>
                <a:gd name="connsiteY1" fmla="*/ 208567 h 415436"/>
                <a:gd name="connsiteX2" fmla="*/ 218174 w 218174"/>
                <a:gd name="connsiteY2" fmla="*/ 0 h 415436"/>
                <a:gd name="connsiteX3" fmla="*/ 218174 w 218174"/>
                <a:gd name="connsiteY3" fmla="*/ 415436 h 415436"/>
                <a:gd name="connsiteX4" fmla="*/ 0 w 218174"/>
                <a:gd name="connsiteY4" fmla="*/ 415436 h 415436"/>
                <a:gd name="connsiteX0" fmla="*/ 27697 w 245871"/>
                <a:gd name="connsiteY0" fmla="*/ 415436 h 415436"/>
                <a:gd name="connsiteX1" fmla="*/ 0 w 245871"/>
                <a:gd name="connsiteY1" fmla="*/ 120895 h 415436"/>
                <a:gd name="connsiteX2" fmla="*/ 245871 w 245871"/>
                <a:gd name="connsiteY2" fmla="*/ 0 h 415436"/>
                <a:gd name="connsiteX3" fmla="*/ 245871 w 245871"/>
                <a:gd name="connsiteY3" fmla="*/ 415436 h 415436"/>
                <a:gd name="connsiteX4" fmla="*/ 27697 w 245871"/>
                <a:gd name="connsiteY4" fmla="*/ 415436 h 415436"/>
                <a:gd name="connsiteX0" fmla="*/ 0 w 245871"/>
                <a:gd name="connsiteY0" fmla="*/ 120895 h 415436"/>
                <a:gd name="connsiteX1" fmla="*/ 245871 w 245871"/>
                <a:gd name="connsiteY1" fmla="*/ 0 h 415436"/>
                <a:gd name="connsiteX2" fmla="*/ 245871 w 245871"/>
                <a:gd name="connsiteY2" fmla="*/ 415436 h 415436"/>
                <a:gd name="connsiteX3" fmla="*/ 27697 w 245871"/>
                <a:gd name="connsiteY3" fmla="*/ 415436 h 415436"/>
                <a:gd name="connsiteX4" fmla="*/ 91440 w 245871"/>
                <a:gd name="connsiteY4" fmla="*/ 212335 h 415436"/>
                <a:gd name="connsiteX0" fmla="*/ 0 w 245871"/>
                <a:gd name="connsiteY0" fmla="*/ 120895 h 415436"/>
                <a:gd name="connsiteX1" fmla="*/ 245871 w 245871"/>
                <a:gd name="connsiteY1" fmla="*/ 0 h 415436"/>
                <a:gd name="connsiteX2" fmla="*/ 245871 w 245871"/>
                <a:gd name="connsiteY2" fmla="*/ 415436 h 415436"/>
                <a:gd name="connsiteX3" fmla="*/ 27697 w 245871"/>
                <a:gd name="connsiteY3" fmla="*/ 415436 h 415436"/>
                <a:gd name="connsiteX0" fmla="*/ 218174 w 218174"/>
                <a:gd name="connsiteY0" fmla="*/ 0 h 415436"/>
                <a:gd name="connsiteX1" fmla="*/ 218174 w 218174"/>
                <a:gd name="connsiteY1" fmla="*/ 415436 h 415436"/>
                <a:gd name="connsiteX2" fmla="*/ 0 w 218174"/>
                <a:gd name="connsiteY2" fmla="*/ 415436 h 415436"/>
              </a:gdLst>
              <a:ahLst/>
              <a:cxnLst>
                <a:cxn ang="0">
                  <a:pos x="connsiteX0" y="connsiteY0"/>
                </a:cxn>
                <a:cxn ang="0">
                  <a:pos x="connsiteX1" y="connsiteY1"/>
                </a:cxn>
                <a:cxn ang="0">
                  <a:pos x="connsiteX2" y="connsiteY2"/>
                </a:cxn>
              </a:cxnLst>
              <a:rect l="l" t="t" r="r" b="b"/>
              <a:pathLst>
                <a:path w="218174" h="415436">
                  <a:moveTo>
                    <a:pt x="218174" y="0"/>
                  </a:moveTo>
                  <a:lnTo>
                    <a:pt x="218174" y="415436"/>
                  </a:lnTo>
                  <a:lnTo>
                    <a:pt x="0" y="415436"/>
                  </a:lnTo>
                </a:path>
              </a:pathLst>
            </a:custGeom>
            <a:noFill/>
            <a:ln w="38100" cap="rnd">
              <a:solidFill>
                <a:schemeClr val="accent3"/>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chemeClr val="bg1"/>
                </a:solidFill>
                <a:effectLst/>
                <a:uLnTx/>
                <a:uFillTx/>
                <a:latin typeface="Calibri" panose="020F0502020204030204"/>
                <a:ea typeface="等线" panose="02010600030101010101" pitchFamily="2" charset="-122"/>
                <a:cs typeface="+mn-cs"/>
              </a:endParaRPr>
            </a:p>
          </p:txBody>
        </p:sp>
      </p:grpSp>
      <p:grpSp>
        <p:nvGrpSpPr>
          <p:cNvPr id="99" name="组合 98">
            <a:extLst>
              <a:ext uri="{FF2B5EF4-FFF2-40B4-BE49-F238E27FC236}">
                <a16:creationId xmlns:a16="http://schemas.microsoft.com/office/drawing/2014/main" id="{AF153DF6-4161-419B-A319-5AB834A545CF}"/>
              </a:ext>
            </a:extLst>
          </p:cNvPr>
          <p:cNvGrpSpPr/>
          <p:nvPr/>
        </p:nvGrpSpPr>
        <p:grpSpPr>
          <a:xfrm>
            <a:off x="7326217" y="1570431"/>
            <a:ext cx="1199593" cy="285396"/>
            <a:chOff x="8931417" y="1756646"/>
            <a:chExt cx="1199593" cy="285396"/>
          </a:xfrm>
        </p:grpSpPr>
        <p:sp>
          <p:nvSpPr>
            <p:cNvPr id="100" name="圆角矩形 170">
              <a:extLst>
                <a:ext uri="{FF2B5EF4-FFF2-40B4-BE49-F238E27FC236}">
                  <a16:creationId xmlns:a16="http://schemas.microsoft.com/office/drawing/2014/main" id="{74434D87-D4AD-443A-8733-B127DEBEAFD3}"/>
                </a:ext>
              </a:extLst>
            </p:cNvPr>
            <p:cNvSpPr/>
            <p:nvPr/>
          </p:nvSpPr>
          <p:spPr>
            <a:xfrm>
              <a:off x="8931417" y="1756646"/>
              <a:ext cx="1142766" cy="285396"/>
            </a:xfrm>
            <a:prstGeom prst="roundRect">
              <a:avLst>
                <a:gd name="adj" fmla="val 50000"/>
              </a:avLst>
            </a:prstGeom>
            <a:solidFill>
              <a:srgbClr val="1432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chemeClr val="bg1"/>
                </a:solidFill>
                <a:effectLst/>
                <a:uLnTx/>
                <a:uFillTx/>
                <a:latin typeface="Calibri" panose="020F0502020204030204"/>
                <a:ea typeface="等线" panose="02010600030101010101" pitchFamily="2" charset="-122"/>
                <a:cs typeface="+mn-cs"/>
              </a:endParaRPr>
            </a:p>
          </p:txBody>
        </p:sp>
        <p:sp>
          <p:nvSpPr>
            <p:cNvPr id="101" name="文本框 100">
              <a:extLst>
                <a:ext uri="{FF2B5EF4-FFF2-40B4-BE49-F238E27FC236}">
                  <a16:creationId xmlns:a16="http://schemas.microsoft.com/office/drawing/2014/main" id="{50D26410-7872-4469-A10E-F991C9B8116C}"/>
                </a:ext>
              </a:extLst>
            </p:cNvPr>
            <p:cNvSpPr txBox="1"/>
            <p:nvPr/>
          </p:nvSpPr>
          <p:spPr>
            <a:xfrm>
              <a:off x="9257939" y="1812664"/>
              <a:ext cx="87307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bg1"/>
                  </a:solidFill>
                  <a:latin typeface="OPPOSans M" pitchFamily="18" charset="-122"/>
                  <a:ea typeface="OPPOSans M" pitchFamily="18" charset="-122"/>
                  <a:cs typeface="OPPOSans M" pitchFamily="18" charset="-122"/>
                </a:rPr>
                <a:t>模块全覆盖</a:t>
              </a:r>
              <a:endParaRPr kumimoji="0" lang="zh-CN" altLang="en-US" sz="1200" b="1" i="0" u="none" strike="noStrike" kern="1200" cap="none" spc="0" normalizeH="0" baseline="0" noProof="0" dirty="0">
                <a:ln>
                  <a:noFill/>
                </a:ln>
                <a:solidFill>
                  <a:schemeClr val="bg1"/>
                </a:solidFill>
                <a:effectLst/>
                <a:uLnTx/>
                <a:uFillTx/>
                <a:latin typeface="OPPOSans M" pitchFamily="18" charset="-122"/>
                <a:ea typeface="OPPOSans M" pitchFamily="18" charset="-122"/>
                <a:cs typeface="OPPOSans M" pitchFamily="18" charset="-122"/>
              </a:endParaRPr>
            </a:p>
          </p:txBody>
        </p:sp>
        <p:sp>
          <p:nvSpPr>
            <p:cNvPr id="102" name="椭圆 101">
              <a:extLst>
                <a:ext uri="{FF2B5EF4-FFF2-40B4-BE49-F238E27FC236}">
                  <a16:creationId xmlns:a16="http://schemas.microsoft.com/office/drawing/2014/main" id="{8CD56EFB-89C9-4A85-B75E-31C3CBCF220D}"/>
                </a:ext>
              </a:extLst>
            </p:cNvPr>
            <p:cNvSpPr/>
            <p:nvPr/>
          </p:nvSpPr>
          <p:spPr>
            <a:xfrm>
              <a:off x="8972912" y="1790014"/>
              <a:ext cx="218661" cy="218661"/>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chemeClr val="bg1"/>
                </a:solidFill>
                <a:effectLst/>
                <a:uLnTx/>
                <a:uFillTx/>
                <a:latin typeface="Calibri" panose="020F0502020204030204"/>
                <a:ea typeface="等线" panose="02010600030101010101" pitchFamily="2" charset="-122"/>
                <a:cs typeface="+mn-cs"/>
              </a:endParaRPr>
            </a:p>
          </p:txBody>
        </p:sp>
        <p:sp>
          <p:nvSpPr>
            <p:cNvPr id="103" name="矩形 2">
              <a:extLst>
                <a:ext uri="{FF2B5EF4-FFF2-40B4-BE49-F238E27FC236}">
                  <a16:creationId xmlns:a16="http://schemas.microsoft.com/office/drawing/2014/main" id="{259845F3-8539-4000-9CBD-C7AFA420642F}"/>
                </a:ext>
              </a:extLst>
            </p:cNvPr>
            <p:cNvSpPr/>
            <p:nvPr/>
          </p:nvSpPr>
          <p:spPr>
            <a:xfrm rot="2700000">
              <a:off x="9056210" y="1835105"/>
              <a:ext cx="57271" cy="98140"/>
            </a:xfrm>
            <a:custGeom>
              <a:avLst/>
              <a:gdLst>
                <a:gd name="connsiteX0" fmla="*/ 0 w 415436"/>
                <a:gd name="connsiteY0" fmla="*/ 0 h 415436"/>
                <a:gd name="connsiteX1" fmla="*/ 415436 w 415436"/>
                <a:gd name="connsiteY1" fmla="*/ 0 h 415436"/>
                <a:gd name="connsiteX2" fmla="*/ 415436 w 415436"/>
                <a:gd name="connsiteY2" fmla="*/ 415436 h 415436"/>
                <a:gd name="connsiteX3" fmla="*/ 0 w 415436"/>
                <a:gd name="connsiteY3" fmla="*/ 415436 h 415436"/>
                <a:gd name="connsiteX4" fmla="*/ 0 w 415436"/>
                <a:gd name="connsiteY4" fmla="*/ 0 h 415436"/>
                <a:gd name="connsiteX0" fmla="*/ 0 w 415436"/>
                <a:gd name="connsiteY0" fmla="*/ 415436 h 415436"/>
                <a:gd name="connsiteX1" fmla="*/ 415436 w 415436"/>
                <a:gd name="connsiteY1" fmla="*/ 0 h 415436"/>
                <a:gd name="connsiteX2" fmla="*/ 415436 w 415436"/>
                <a:gd name="connsiteY2" fmla="*/ 415436 h 415436"/>
                <a:gd name="connsiteX3" fmla="*/ 0 w 415436"/>
                <a:gd name="connsiteY3" fmla="*/ 415436 h 415436"/>
                <a:gd name="connsiteX0" fmla="*/ 0 w 218174"/>
                <a:gd name="connsiteY0" fmla="*/ 415436 h 415436"/>
                <a:gd name="connsiteX1" fmla="*/ 218174 w 218174"/>
                <a:gd name="connsiteY1" fmla="*/ 0 h 415436"/>
                <a:gd name="connsiteX2" fmla="*/ 218174 w 218174"/>
                <a:gd name="connsiteY2" fmla="*/ 415436 h 415436"/>
                <a:gd name="connsiteX3" fmla="*/ 0 w 218174"/>
                <a:gd name="connsiteY3" fmla="*/ 415436 h 415436"/>
                <a:gd name="connsiteX0" fmla="*/ 0 w 218174"/>
                <a:gd name="connsiteY0" fmla="*/ 415436 h 415436"/>
                <a:gd name="connsiteX1" fmla="*/ 118424 w 218174"/>
                <a:gd name="connsiteY1" fmla="*/ 208567 h 415436"/>
                <a:gd name="connsiteX2" fmla="*/ 218174 w 218174"/>
                <a:gd name="connsiteY2" fmla="*/ 0 h 415436"/>
                <a:gd name="connsiteX3" fmla="*/ 218174 w 218174"/>
                <a:gd name="connsiteY3" fmla="*/ 415436 h 415436"/>
                <a:gd name="connsiteX4" fmla="*/ 0 w 218174"/>
                <a:gd name="connsiteY4" fmla="*/ 415436 h 415436"/>
                <a:gd name="connsiteX0" fmla="*/ 27697 w 245871"/>
                <a:gd name="connsiteY0" fmla="*/ 415436 h 415436"/>
                <a:gd name="connsiteX1" fmla="*/ 0 w 245871"/>
                <a:gd name="connsiteY1" fmla="*/ 120895 h 415436"/>
                <a:gd name="connsiteX2" fmla="*/ 245871 w 245871"/>
                <a:gd name="connsiteY2" fmla="*/ 0 h 415436"/>
                <a:gd name="connsiteX3" fmla="*/ 245871 w 245871"/>
                <a:gd name="connsiteY3" fmla="*/ 415436 h 415436"/>
                <a:gd name="connsiteX4" fmla="*/ 27697 w 245871"/>
                <a:gd name="connsiteY4" fmla="*/ 415436 h 415436"/>
                <a:gd name="connsiteX0" fmla="*/ 0 w 245871"/>
                <a:gd name="connsiteY0" fmla="*/ 120895 h 415436"/>
                <a:gd name="connsiteX1" fmla="*/ 245871 w 245871"/>
                <a:gd name="connsiteY1" fmla="*/ 0 h 415436"/>
                <a:gd name="connsiteX2" fmla="*/ 245871 w 245871"/>
                <a:gd name="connsiteY2" fmla="*/ 415436 h 415436"/>
                <a:gd name="connsiteX3" fmla="*/ 27697 w 245871"/>
                <a:gd name="connsiteY3" fmla="*/ 415436 h 415436"/>
                <a:gd name="connsiteX4" fmla="*/ 91440 w 245871"/>
                <a:gd name="connsiteY4" fmla="*/ 212335 h 415436"/>
                <a:gd name="connsiteX0" fmla="*/ 0 w 245871"/>
                <a:gd name="connsiteY0" fmla="*/ 120895 h 415436"/>
                <a:gd name="connsiteX1" fmla="*/ 245871 w 245871"/>
                <a:gd name="connsiteY1" fmla="*/ 0 h 415436"/>
                <a:gd name="connsiteX2" fmla="*/ 245871 w 245871"/>
                <a:gd name="connsiteY2" fmla="*/ 415436 h 415436"/>
                <a:gd name="connsiteX3" fmla="*/ 27697 w 245871"/>
                <a:gd name="connsiteY3" fmla="*/ 415436 h 415436"/>
                <a:gd name="connsiteX0" fmla="*/ 218174 w 218174"/>
                <a:gd name="connsiteY0" fmla="*/ 0 h 415436"/>
                <a:gd name="connsiteX1" fmla="*/ 218174 w 218174"/>
                <a:gd name="connsiteY1" fmla="*/ 415436 h 415436"/>
                <a:gd name="connsiteX2" fmla="*/ 0 w 218174"/>
                <a:gd name="connsiteY2" fmla="*/ 415436 h 415436"/>
              </a:gdLst>
              <a:ahLst/>
              <a:cxnLst>
                <a:cxn ang="0">
                  <a:pos x="connsiteX0" y="connsiteY0"/>
                </a:cxn>
                <a:cxn ang="0">
                  <a:pos x="connsiteX1" y="connsiteY1"/>
                </a:cxn>
                <a:cxn ang="0">
                  <a:pos x="connsiteX2" y="connsiteY2"/>
                </a:cxn>
              </a:cxnLst>
              <a:rect l="l" t="t" r="r" b="b"/>
              <a:pathLst>
                <a:path w="218174" h="415436">
                  <a:moveTo>
                    <a:pt x="218174" y="0"/>
                  </a:moveTo>
                  <a:lnTo>
                    <a:pt x="218174" y="415436"/>
                  </a:lnTo>
                  <a:lnTo>
                    <a:pt x="0" y="415436"/>
                  </a:lnTo>
                </a:path>
              </a:pathLst>
            </a:custGeom>
            <a:noFill/>
            <a:ln w="38100" cap="rnd">
              <a:solidFill>
                <a:schemeClr val="accent3"/>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chemeClr val="bg1"/>
                </a:solidFill>
                <a:effectLst/>
                <a:uLnTx/>
                <a:uFillTx/>
                <a:latin typeface="Calibri" panose="020F0502020204030204"/>
                <a:ea typeface="等线" panose="02010600030101010101" pitchFamily="2" charset="-122"/>
                <a:cs typeface="+mn-cs"/>
              </a:endParaRPr>
            </a:p>
          </p:txBody>
        </p:sp>
      </p:grpSp>
      <p:grpSp>
        <p:nvGrpSpPr>
          <p:cNvPr id="104" name="组合 103">
            <a:extLst>
              <a:ext uri="{FF2B5EF4-FFF2-40B4-BE49-F238E27FC236}">
                <a16:creationId xmlns:a16="http://schemas.microsoft.com/office/drawing/2014/main" id="{17A300E2-A01F-42A5-BB6D-6D297135C30B}"/>
              </a:ext>
            </a:extLst>
          </p:cNvPr>
          <p:cNvGrpSpPr/>
          <p:nvPr/>
        </p:nvGrpSpPr>
        <p:grpSpPr>
          <a:xfrm>
            <a:off x="7326217" y="1961415"/>
            <a:ext cx="1199593" cy="285396"/>
            <a:chOff x="8931417" y="1756646"/>
            <a:chExt cx="1199593" cy="285396"/>
          </a:xfrm>
        </p:grpSpPr>
        <p:sp>
          <p:nvSpPr>
            <p:cNvPr id="105" name="圆角矩形 98">
              <a:extLst>
                <a:ext uri="{FF2B5EF4-FFF2-40B4-BE49-F238E27FC236}">
                  <a16:creationId xmlns:a16="http://schemas.microsoft.com/office/drawing/2014/main" id="{F6FE1255-5BD0-4A9C-BC75-F5E4952D6B46}"/>
                </a:ext>
              </a:extLst>
            </p:cNvPr>
            <p:cNvSpPr/>
            <p:nvPr/>
          </p:nvSpPr>
          <p:spPr>
            <a:xfrm>
              <a:off x="8931417" y="1756646"/>
              <a:ext cx="1142766" cy="285396"/>
            </a:xfrm>
            <a:prstGeom prst="roundRect">
              <a:avLst>
                <a:gd name="adj" fmla="val 50000"/>
              </a:avLst>
            </a:prstGeom>
            <a:solidFill>
              <a:srgbClr val="1432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chemeClr val="bg1"/>
                </a:solidFill>
                <a:effectLst/>
                <a:uLnTx/>
                <a:uFillTx/>
                <a:latin typeface="Calibri" panose="020F0502020204030204"/>
                <a:ea typeface="等线" panose="02010600030101010101" pitchFamily="2" charset="-122"/>
                <a:cs typeface="+mn-cs"/>
              </a:endParaRPr>
            </a:p>
          </p:txBody>
        </p:sp>
        <p:sp>
          <p:nvSpPr>
            <p:cNvPr id="106" name="文本框 105">
              <a:extLst>
                <a:ext uri="{FF2B5EF4-FFF2-40B4-BE49-F238E27FC236}">
                  <a16:creationId xmlns:a16="http://schemas.microsoft.com/office/drawing/2014/main" id="{98EB7150-A76A-4BF4-AF56-0C92DA72D782}"/>
                </a:ext>
              </a:extLst>
            </p:cNvPr>
            <p:cNvSpPr txBox="1"/>
            <p:nvPr/>
          </p:nvSpPr>
          <p:spPr>
            <a:xfrm>
              <a:off x="9257939" y="1812664"/>
              <a:ext cx="87307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bg1"/>
                  </a:solidFill>
                  <a:latin typeface="OPPOSans M" pitchFamily="18" charset="-122"/>
                  <a:ea typeface="OPPOSans M" pitchFamily="18" charset="-122"/>
                  <a:cs typeface="OPPOSans M" pitchFamily="18" charset="-122"/>
                </a:rPr>
                <a:t>方式全覆盖</a:t>
              </a:r>
              <a:endParaRPr kumimoji="0" lang="zh-CN" altLang="en-US" sz="1200" b="1" i="0" u="none" strike="noStrike" kern="1200" cap="none" spc="0" normalizeH="0" baseline="0" noProof="0" dirty="0">
                <a:ln>
                  <a:noFill/>
                </a:ln>
                <a:solidFill>
                  <a:schemeClr val="bg1"/>
                </a:solidFill>
                <a:effectLst/>
                <a:uLnTx/>
                <a:uFillTx/>
                <a:latin typeface="OPPOSans M" pitchFamily="18" charset="-122"/>
                <a:ea typeface="OPPOSans M" pitchFamily="18" charset="-122"/>
                <a:cs typeface="OPPOSans M" pitchFamily="18" charset="-122"/>
              </a:endParaRPr>
            </a:p>
          </p:txBody>
        </p:sp>
        <p:sp>
          <p:nvSpPr>
            <p:cNvPr id="107" name="椭圆 106">
              <a:extLst>
                <a:ext uri="{FF2B5EF4-FFF2-40B4-BE49-F238E27FC236}">
                  <a16:creationId xmlns:a16="http://schemas.microsoft.com/office/drawing/2014/main" id="{66FC2E8A-7C3B-46E8-B4D4-6A7BAD87DA46}"/>
                </a:ext>
              </a:extLst>
            </p:cNvPr>
            <p:cNvSpPr/>
            <p:nvPr/>
          </p:nvSpPr>
          <p:spPr>
            <a:xfrm>
              <a:off x="8972912" y="1790014"/>
              <a:ext cx="218661" cy="218661"/>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chemeClr val="bg1"/>
                </a:solidFill>
                <a:effectLst/>
                <a:uLnTx/>
                <a:uFillTx/>
                <a:latin typeface="Calibri" panose="020F0502020204030204"/>
                <a:ea typeface="等线" panose="02010600030101010101" pitchFamily="2" charset="-122"/>
                <a:cs typeface="+mn-cs"/>
              </a:endParaRPr>
            </a:p>
          </p:txBody>
        </p:sp>
        <p:sp>
          <p:nvSpPr>
            <p:cNvPr id="108" name="矩形 2">
              <a:extLst>
                <a:ext uri="{FF2B5EF4-FFF2-40B4-BE49-F238E27FC236}">
                  <a16:creationId xmlns:a16="http://schemas.microsoft.com/office/drawing/2014/main" id="{F9106437-EAC3-4C66-844E-DFE3080092EB}"/>
                </a:ext>
              </a:extLst>
            </p:cNvPr>
            <p:cNvSpPr/>
            <p:nvPr/>
          </p:nvSpPr>
          <p:spPr>
            <a:xfrm rot="2700000">
              <a:off x="9056210" y="1835105"/>
              <a:ext cx="57271" cy="98140"/>
            </a:xfrm>
            <a:custGeom>
              <a:avLst/>
              <a:gdLst>
                <a:gd name="connsiteX0" fmla="*/ 0 w 415436"/>
                <a:gd name="connsiteY0" fmla="*/ 0 h 415436"/>
                <a:gd name="connsiteX1" fmla="*/ 415436 w 415436"/>
                <a:gd name="connsiteY1" fmla="*/ 0 h 415436"/>
                <a:gd name="connsiteX2" fmla="*/ 415436 w 415436"/>
                <a:gd name="connsiteY2" fmla="*/ 415436 h 415436"/>
                <a:gd name="connsiteX3" fmla="*/ 0 w 415436"/>
                <a:gd name="connsiteY3" fmla="*/ 415436 h 415436"/>
                <a:gd name="connsiteX4" fmla="*/ 0 w 415436"/>
                <a:gd name="connsiteY4" fmla="*/ 0 h 415436"/>
                <a:gd name="connsiteX0" fmla="*/ 0 w 415436"/>
                <a:gd name="connsiteY0" fmla="*/ 415436 h 415436"/>
                <a:gd name="connsiteX1" fmla="*/ 415436 w 415436"/>
                <a:gd name="connsiteY1" fmla="*/ 0 h 415436"/>
                <a:gd name="connsiteX2" fmla="*/ 415436 w 415436"/>
                <a:gd name="connsiteY2" fmla="*/ 415436 h 415436"/>
                <a:gd name="connsiteX3" fmla="*/ 0 w 415436"/>
                <a:gd name="connsiteY3" fmla="*/ 415436 h 415436"/>
                <a:gd name="connsiteX0" fmla="*/ 0 w 218174"/>
                <a:gd name="connsiteY0" fmla="*/ 415436 h 415436"/>
                <a:gd name="connsiteX1" fmla="*/ 218174 w 218174"/>
                <a:gd name="connsiteY1" fmla="*/ 0 h 415436"/>
                <a:gd name="connsiteX2" fmla="*/ 218174 w 218174"/>
                <a:gd name="connsiteY2" fmla="*/ 415436 h 415436"/>
                <a:gd name="connsiteX3" fmla="*/ 0 w 218174"/>
                <a:gd name="connsiteY3" fmla="*/ 415436 h 415436"/>
                <a:gd name="connsiteX0" fmla="*/ 0 w 218174"/>
                <a:gd name="connsiteY0" fmla="*/ 415436 h 415436"/>
                <a:gd name="connsiteX1" fmla="*/ 118424 w 218174"/>
                <a:gd name="connsiteY1" fmla="*/ 208567 h 415436"/>
                <a:gd name="connsiteX2" fmla="*/ 218174 w 218174"/>
                <a:gd name="connsiteY2" fmla="*/ 0 h 415436"/>
                <a:gd name="connsiteX3" fmla="*/ 218174 w 218174"/>
                <a:gd name="connsiteY3" fmla="*/ 415436 h 415436"/>
                <a:gd name="connsiteX4" fmla="*/ 0 w 218174"/>
                <a:gd name="connsiteY4" fmla="*/ 415436 h 415436"/>
                <a:gd name="connsiteX0" fmla="*/ 27697 w 245871"/>
                <a:gd name="connsiteY0" fmla="*/ 415436 h 415436"/>
                <a:gd name="connsiteX1" fmla="*/ 0 w 245871"/>
                <a:gd name="connsiteY1" fmla="*/ 120895 h 415436"/>
                <a:gd name="connsiteX2" fmla="*/ 245871 w 245871"/>
                <a:gd name="connsiteY2" fmla="*/ 0 h 415436"/>
                <a:gd name="connsiteX3" fmla="*/ 245871 w 245871"/>
                <a:gd name="connsiteY3" fmla="*/ 415436 h 415436"/>
                <a:gd name="connsiteX4" fmla="*/ 27697 w 245871"/>
                <a:gd name="connsiteY4" fmla="*/ 415436 h 415436"/>
                <a:gd name="connsiteX0" fmla="*/ 0 w 245871"/>
                <a:gd name="connsiteY0" fmla="*/ 120895 h 415436"/>
                <a:gd name="connsiteX1" fmla="*/ 245871 w 245871"/>
                <a:gd name="connsiteY1" fmla="*/ 0 h 415436"/>
                <a:gd name="connsiteX2" fmla="*/ 245871 w 245871"/>
                <a:gd name="connsiteY2" fmla="*/ 415436 h 415436"/>
                <a:gd name="connsiteX3" fmla="*/ 27697 w 245871"/>
                <a:gd name="connsiteY3" fmla="*/ 415436 h 415436"/>
                <a:gd name="connsiteX4" fmla="*/ 91440 w 245871"/>
                <a:gd name="connsiteY4" fmla="*/ 212335 h 415436"/>
                <a:gd name="connsiteX0" fmla="*/ 0 w 245871"/>
                <a:gd name="connsiteY0" fmla="*/ 120895 h 415436"/>
                <a:gd name="connsiteX1" fmla="*/ 245871 w 245871"/>
                <a:gd name="connsiteY1" fmla="*/ 0 h 415436"/>
                <a:gd name="connsiteX2" fmla="*/ 245871 w 245871"/>
                <a:gd name="connsiteY2" fmla="*/ 415436 h 415436"/>
                <a:gd name="connsiteX3" fmla="*/ 27697 w 245871"/>
                <a:gd name="connsiteY3" fmla="*/ 415436 h 415436"/>
                <a:gd name="connsiteX0" fmla="*/ 218174 w 218174"/>
                <a:gd name="connsiteY0" fmla="*/ 0 h 415436"/>
                <a:gd name="connsiteX1" fmla="*/ 218174 w 218174"/>
                <a:gd name="connsiteY1" fmla="*/ 415436 h 415436"/>
                <a:gd name="connsiteX2" fmla="*/ 0 w 218174"/>
                <a:gd name="connsiteY2" fmla="*/ 415436 h 415436"/>
              </a:gdLst>
              <a:ahLst/>
              <a:cxnLst>
                <a:cxn ang="0">
                  <a:pos x="connsiteX0" y="connsiteY0"/>
                </a:cxn>
                <a:cxn ang="0">
                  <a:pos x="connsiteX1" y="connsiteY1"/>
                </a:cxn>
                <a:cxn ang="0">
                  <a:pos x="connsiteX2" y="connsiteY2"/>
                </a:cxn>
              </a:cxnLst>
              <a:rect l="l" t="t" r="r" b="b"/>
              <a:pathLst>
                <a:path w="218174" h="415436">
                  <a:moveTo>
                    <a:pt x="218174" y="0"/>
                  </a:moveTo>
                  <a:lnTo>
                    <a:pt x="218174" y="415436"/>
                  </a:lnTo>
                  <a:lnTo>
                    <a:pt x="0" y="415436"/>
                  </a:lnTo>
                </a:path>
              </a:pathLst>
            </a:custGeom>
            <a:noFill/>
            <a:ln w="38100" cap="rnd">
              <a:solidFill>
                <a:schemeClr val="accent3"/>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chemeClr val="bg1"/>
                </a:solidFill>
                <a:effectLst/>
                <a:uLnTx/>
                <a:uFillTx/>
                <a:latin typeface="Calibri" panose="020F0502020204030204"/>
                <a:ea typeface="等线" panose="02010600030101010101" pitchFamily="2" charset="-122"/>
                <a:cs typeface="+mn-cs"/>
              </a:endParaRPr>
            </a:p>
          </p:txBody>
        </p:sp>
      </p:grpSp>
      <p:sp>
        <p:nvSpPr>
          <p:cNvPr id="111" name="文本框 110">
            <a:extLst>
              <a:ext uri="{FF2B5EF4-FFF2-40B4-BE49-F238E27FC236}">
                <a16:creationId xmlns:a16="http://schemas.microsoft.com/office/drawing/2014/main" id="{37950FF6-DF33-4673-AA7C-722ADFC4EE89}"/>
              </a:ext>
            </a:extLst>
          </p:cNvPr>
          <p:cNvSpPr txBox="1"/>
          <p:nvPr/>
        </p:nvSpPr>
        <p:spPr>
          <a:xfrm>
            <a:off x="8557653" y="1151913"/>
            <a:ext cx="3136814" cy="276999"/>
          </a:xfrm>
          <a:prstGeom prst="rect">
            <a:avLst/>
          </a:prstGeom>
          <a:noFill/>
        </p:spPr>
        <p:txBody>
          <a:bodyPr wrap="square" rtlCol="0">
            <a:spAutoFit/>
          </a:bodyPr>
          <a:lstStyle/>
          <a:p>
            <a:r>
              <a:rPr lang="zh-CN" altLang="en-US" sz="1200" dirty="0">
                <a:solidFill>
                  <a:schemeClr val="tx2"/>
                </a:solidFill>
                <a:latin typeface="+mj-ea"/>
                <a:ea typeface="+mj-ea"/>
              </a:rPr>
              <a:t>项目明确、指标明确、责任明确、路径明确</a:t>
            </a:r>
          </a:p>
        </p:txBody>
      </p:sp>
      <p:sp>
        <p:nvSpPr>
          <p:cNvPr id="113" name="文本框 112">
            <a:extLst>
              <a:ext uri="{FF2B5EF4-FFF2-40B4-BE49-F238E27FC236}">
                <a16:creationId xmlns:a16="http://schemas.microsoft.com/office/drawing/2014/main" id="{71D3D071-F00B-4434-8AA0-8073A5F2F55D}"/>
              </a:ext>
            </a:extLst>
          </p:cNvPr>
          <p:cNvSpPr txBox="1"/>
          <p:nvPr/>
        </p:nvSpPr>
        <p:spPr>
          <a:xfrm>
            <a:off x="8560882" y="1570431"/>
            <a:ext cx="2668948" cy="276999"/>
          </a:xfrm>
          <a:prstGeom prst="rect">
            <a:avLst/>
          </a:prstGeom>
          <a:noFill/>
        </p:spPr>
        <p:txBody>
          <a:bodyPr wrap="square" rtlCol="0">
            <a:spAutoFit/>
          </a:bodyPr>
          <a:lstStyle/>
          <a:p>
            <a:r>
              <a:rPr lang="zh-CN" altLang="en-US" sz="1200" dirty="0">
                <a:solidFill>
                  <a:schemeClr val="tx2"/>
                </a:solidFill>
                <a:latin typeface="+mj-ea"/>
                <a:ea typeface="+mj-ea"/>
              </a:rPr>
              <a:t>总表</a:t>
            </a:r>
            <a:r>
              <a:rPr lang="en-US" altLang="zh-CN" sz="1200" dirty="0">
                <a:solidFill>
                  <a:schemeClr val="tx2"/>
                </a:solidFill>
                <a:latin typeface="+mj-ea"/>
                <a:ea typeface="+mj-ea"/>
              </a:rPr>
              <a:t>+</a:t>
            </a:r>
            <a:r>
              <a:rPr lang="zh-CN" altLang="en-US" sz="1200" dirty="0">
                <a:solidFill>
                  <a:schemeClr val="tx2"/>
                </a:solidFill>
                <a:latin typeface="+mj-ea"/>
                <a:ea typeface="+mj-ea"/>
              </a:rPr>
              <a:t>数张明细表</a:t>
            </a:r>
            <a:r>
              <a:rPr lang="en-US" altLang="zh-CN" sz="1200" dirty="0">
                <a:solidFill>
                  <a:schemeClr val="tx2"/>
                </a:solidFill>
                <a:latin typeface="+mj-ea"/>
                <a:ea typeface="+mj-ea"/>
              </a:rPr>
              <a:t>+</a:t>
            </a:r>
            <a:r>
              <a:rPr lang="zh-CN" altLang="en-US" sz="1200" dirty="0">
                <a:solidFill>
                  <a:schemeClr val="tx2"/>
                </a:solidFill>
                <a:latin typeface="+mj-ea"/>
                <a:ea typeface="+mj-ea"/>
              </a:rPr>
              <a:t>数张编制基础表</a:t>
            </a:r>
          </a:p>
        </p:txBody>
      </p:sp>
      <p:sp>
        <p:nvSpPr>
          <p:cNvPr id="115" name="文本框 114">
            <a:extLst>
              <a:ext uri="{FF2B5EF4-FFF2-40B4-BE49-F238E27FC236}">
                <a16:creationId xmlns:a16="http://schemas.microsoft.com/office/drawing/2014/main" id="{CED92A1D-CA2D-4A22-A1D8-490E9EF6C146}"/>
              </a:ext>
            </a:extLst>
          </p:cNvPr>
          <p:cNvSpPr txBox="1"/>
          <p:nvPr/>
        </p:nvSpPr>
        <p:spPr>
          <a:xfrm>
            <a:off x="8569953" y="1950444"/>
            <a:ext cx="2411171" cy="276999"/>
          </a:xfrm>
          <a:prstGeom prst="rect">
            <a:avLst/>
          </a:prstGeom>
          <a:noFill/>
        </p:spPr>
        <p:txBody>
          <a:bodyPr wrap="square" rtlCol="0">
            <a:spAutoFit/>
          </a:bodyPr>
          <a:lstStyle/>
          <a:p>
            <a:r>
              <a:rPr lang="zh-CN" altLang="en-US" sz="1200" dirty="0">
                <a:solidFill>
                  <a:schemeClr val="tx2"/>
                </a:solidFill>
                <a:latin typeface="+mj-ea"/>
                <a:ea typeface="+mj-ea"/>
              </a:rPr>
              <a:t>预算调整</a:t>
            </a:r>
            <a:r>
              <a:rPr lang="en-US" altLang="zh-CN" sz="1200" dirty="0">
                <a:solidFill>
                  <a:schemeClr val="tx2"/>
                </a:solidFill>
                <a:latin typeface="+mj-ea"/>
                <a:ea typeface="+mj-ea"/>
              </a:rPr>
              <a:t>+</a:t>
            </a:r>
            <a:r>
              <a:rPr lang="zh-CN" altLang="en-US" sz="1200" dirty="0">
                <a:solidFill>
                  <a:schemeClr val="tx2"/>
                </a:solidFill>
                <a:latin typeface="+mj-ea"/>
                <a:ea typeface="+mj-ea"/>
              </a:rPr>
              <a:t>预算执行分析与考核</a:t>
            </a:r>
          </a:p>
        </p:txBody>
      </p:sp>
      <p:cxnSp>
        <p:nvCxnSpPr>
          <p:cNvPr id="5" name="直线连接符 7">
            <a:extLst>
              <a:ext uri="{FF2B5EF4-FFF2-40B4-BE49-F238E27FC236}">
                <a16:creationId xmlns:a16="http://schemas.microsoft.com/office/drawing/2014/main" id="{A33CDB27-2445-A87C-DDF8-6530F63687A3}"/>
              </a:ext>
            </a:extLst>
          </p:cNvPr>
          <p:cNvCxnSpPr>
            <a:cxnSpLocks/>
          </p:cNvCxnSpPr>
          <p:nvPr/>
        </p:nvCxnSpPr>
        <p:spPr>
          <a:xfrm>
            <a:off x="522611" y="791094"/>
            <a:ext cx="11056273"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418726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B28395B-386C-66B7-4279-2DBF89DD1E99}"/>
              </a:ext>
            </a:extLst>
          </p:cNvPr>
          <p:cNvSpPr/>
          <p:nvPr/>
        </p:nvSpPr>
        <p:spPr>
          <a:xfrm>
            <a:off x="6065653" y="1628776"/>
            <a:ext cx="5513231" cy="4647116"/>
          </a:xfrm>
          <a:prstGeom prst="rect">
            <a:avLst/>
          </a:prstGeom>
          <a:solidFill>
            <a:srgbClr val="F3F4F7"/>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sp>
        <p:nvSpPr>
          <p:cNvPr id="2" name="矩形 1">
            <a:extLst>
              <a:ext uri="{FF2B5EF4-FFF2-40B4-BE49-F238E27FC236}">
                <a16:creationId xmlns:a16="http://schemas.microsoft.com/office/drawing/2014/main" id="{8D9538C2-A923-7CB7-1A37-53E6B3BD5DE4}"/>
              </a:ext>
            </a:extLst>
          </p:cNvPr>
          <p:cNvSpPr/>
          <p:nvPr/>
        </p:nvSpPr>
        <p:spPr>
          <a:xfrm>
            <a:off x="476950" y="1628776"/>
            <a:ext cx="5433783" cy="4633478"/>
          </a:xfrm>
          <a:prstGeom prst="rect">
            <a:avLst/>
          </a:prstGeom>
          <a:solidFill>
            <a:srgbClr val="F3F4F7"/>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sp>
        <p:nvSpPr>
          <p:cNvPr id="150" name="矩形: 圆角 677">
            <a:extLst>
              <a:ext uri="{FF2B5EF4-FFF2-40B4-BE49-F238E27FC236}">
                <a16:creationId xmlns:a16="http://schemas.microsoft.com/office/drawing/2014/main" id="{83D6597B-92D7-49F1-B5F4-F3AFC6848949}"/>
              </a:ext>
            </a:extLst>
          </p:cNvPr>
          <p:cNvSpPr/>
          <p:nvPr/>
        </p:nvSpPr>
        <p:spPr>
          <a:xfrm>
            <a:off x="6776224" y="4808227"/>
            <a:ext cx="4111379" cy="1310638"/>
          </a:xfrm>
          <a:prstGeom prst="roundRect">
            <a:avLst>
              <a:gd name="adj" fmla="val 0"/>
            </a:avLst>
          </a:prstGeom>
          <a:solidFill>
            <a:schemeClr val="bg1"/>
          </a:solidFill>
          <a:ln w="19050">
            <a:solidFill>
              <a:srgbClr val="143268"/>
            </a:solid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945" b="0" i="0" u="none" strike="noStrike" kern="1200" cap="none" spc="0" normalizeH="0" baseline="0" noProof="0">
              <a:ln>
                <a:noFill/>
              </a:ln>
              <a:solidFill>
                <a:srgbClr val="FFFFFF"/>
              </a:solidFill>
              <a:effectLst>
                <a:outerShdw blurRad="137160" dist="41148" dir="2699997" algn="tl">
                  <a:srgbClr val="000000">
                    <a:alpha val="40000"/>
                  </a:srgbClr>
                </a:outerShdw>
              </a:effectLst>
              <a:uLnTx/>
              <a:uFillTx/>
              <a:latin typeface="OPPOSans B" pitchFamily="18" charset="-122"/>
              <a:ea typeface="OPPOSans B" pitchFamily="18" charset="-122"/>
              <a:cs typeface="OPPOSans B" pitchFamily="18" charset="-122"/>
            </a:endParaRPr>
          </a:p>
        </p:txBody>
      </p:sp>
      <p:sp>
        <p:nvSpPr>
          <p:cNvPr id="145" name="矩形: 圆角 677">
            <a:extLst>
              <a:ext uri="{FF2B5EF4-FFF2-40B4-BE49-F238E27FC236}">
                <a16:creationId xmlns:a16="http://schemas.microsoft.com/office/drawing/2014/main" id="{8EC29681-994A-4B3D-9C75-235B15195869}"/>
              </a:ext>
            </a:extLst>
          </p:cNvPr>
          <p:cNvSpPr/>
          <p:nvPr/>
        </p:nvSpPr>
        <p:spPr>
          <a:xfrm>
            <a:off x="6787094" y="3314938"/>
            <a:ext cx="4111379" cy="1310638"/>
          </a:xfrm>
          <a:prstGeom prst="roundRect">
            <a:avLst>
              <a:gd name="adj" fmla="val 0"/>
            </a:avLst>
          </a:prstGeom>
          <a:solidFill>
            <a:schemeClr val="bg1"/>
          </a:solidFill>
          <a:ln w="19050">
            <a:solidFill>
              <a:srgbClr val="9AC9D9"/>
            </a:solid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945" b="0" i="0" u="none" strike="noStrike" kern="1200" cap="none" spc="0" normalizeH="0" baseline="0" noProof="0">
              <a:ln>
                <a:noFill/>
              </a:ln>
              <a:solidFill>
                <a:srgbClr val="FFFFFF"/>
              </a:solidFill>
              <a:effectLst>
                <a:outerShdw blurRad="137160" dist="41148" dir="2699997" algn="tl">
                  <a:srgbClr val="000000">
                    <a:alpha val="40000"/>
                  </a:srgbClr>
                </a:outerShdw>
              </a:effectLst>
              <a:uLnTx/>
              <a:uFillTx/>
              <a:latin typeface="OPPOSans B" pitchFamily="18" charset="-122"/>
              <a:ea typeface="OPPOSans B" pitchFamily="18" charset="-122"/>
              <a:cs typeface="OPPOSans B" pitchFamily="18" charset="-122"/>
            </a:endParaRPr>
          </a:p>
        </p:txBody>
      </p:sp>
      <p:grpSp>
        <p:nvGrpSpPr>
          <p:cNvPr id="146" name="组 91">
            <a:extLst>
              <a:ext uri="{FF2B5EF4-FFF2-40B4-BE49-F238E27FC236}">
                <a16:creationId xmlns:a16="http://schemas.microsoft.com/office/drawing/2014/main" id="{4786C17C-6DC5-43D4-BB54-D45BE22511B8}"/>
              </a:ext>
            </a:extLst>
          </p:cNvPr>
          <p:cNvGrpSpPr/>
          <p:nvPr/>
        </p:nvGrpSpPr>
        <p:grpSpPr>
          <a:xfrm>
            <a:off x="6919289" y="3645162"/>
            <a:ext cx="547655" cy="547655"/>
            <a:chOff x="2349065" y="1253367"/>
            <a:chExt cx="547655" cy="547655"/>
          </a:xfrm>
        </p:grpSpPr>
        <p:sp>
          <p:nvSpPr>
            <p:cNvPr id="147" name="Oval 12">
              <a:extLst>
                <a:ext uri="{FF2B5EF4-FFF2-40B4-BE49-F238E27FC236}">
                  <a16:creationId xmlns:a16="http://schemas.microsoft.com/office/drawing/2014/main" id="{58B1D1D1-7D45-4613-9F94-DE52B5B4DC33}"/>
                </a:ext>
              </a:extLst>
            </p:cNvPr>
            <p:cNvSpPr/>
            <p:nvPr/>
          </p:nvSpPr>
          <p:spPr>
            <a:xfrm>
              <a:off x="2349065" y="1253367"/>
              <a:ext cx="547655" cy="547655"/>
            </a:xfrm>
            <a:prstGeom prst="ellipse">
              <a:avLst/>
            </a:prstGeom>
            <a:solidFill>
              <a:schemeClr val="bg1">
                <a:alpha val="40000"/>
              </a:schemeClr>
            </a:solidFill>
            <a:ln w="19050">
              <a:solidFill>
                <a:srgbClr val="9AC9D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defTabSz="456565">
                <a:spcBef>
                  <a:spcPts val="1000"/>
                </a:spcBef>
              </a:pPr>
              <a:endParaRPr lang="en-US" sz="1400" b="1" dirty="0">
                <a:solidFill>
                  <a:srgbClr val="747993"/>
                </a:solidFill>
                <a:latin typeface="OPPOSans B" pitchFamily="18" charset="-122"/>
                <a:ea typeface="OPPOSans B" pitchFamily="18" charset="-122"/>
                <a:cs typeface="OPPOSans B" pitchFamily="18" charset="-122"/>
              </a:endParaRPr>
            </a:p>
          </p:txBody>
        </p:sp>
        <p:sp>
          <p:nvSpPr>
            <p:cNvPr id="148" name="flag-pole-with-black-flag_38306">
              <a:extLst>
                <a:ext uri="{FF2B5EF4-FFF2-40B4-BE49-F238E27FC236}">
                  <a16:creationId xmlns:a16="http://schemas.microsoft.com/office/drawing/2014/main" id="{AA483168-F9FF-4292-A548-42776E7F0D53}"/>
                </a:ext>
              </a:extLst>
            </p:cNvPr>
            <p:cNvSpPr/>
            <p:nvPr/>
          </p:nvSpPr>
          <p:spPr>
            <a:xfrm>
              <a:off x="2485897" y="1364471"/>
              <a:ext cx="285637" cy="340022"/>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rgbClr val="9AC9D9"/>
            </a:solidFill>
            <a:ln w="19050">
              <a:solidFill>
                <a:srgbClr val="9AC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9FFFF"/>
                </a:solidFill>
                <a:effectLst/>
                <a:uLnTx/>
                <a:uFillTx/>
                <a:latin typeface="OPPOSans B" pitchFamily="18" charset="-122"/>
                <a:ea typeface="OPPOSans B" pitchFamily="18" charset="-122"/>
                <a:cs typeface="OPPOSans B" pitchFamily="18" charset="-122"/>
              </a:endParaRPr>
            </a:p>
          </p:txBody>
        </p:sp>
      </p:grpSp>
      <p:sp>
        <p:nvSpPr>
          <p:cNvPr id="134" name="矩形: 圆角 677">
            <a:extLst>
              <a:ext uri="{FF2B5EF4-FFF2-40B4-BE49-F238E27FC236}">
                <a16:creationId xmlns:a16="http://schemas.microsoft.com/office/drawing/2014/main" id="{3A2DD223-755E-484B-83E1-09847878048B}"/>
              </a:ext>
            </a:extLst>
          </p:cNvPr>
          <p:cNvSpPr/>
          <p:nvPr/>
        </p:nvSpPr>
        <p:spPr>
          <a:xfrm>
            <a:off x="6779509" y="1805707"/>
            <a:ext cx="4111379" cy="1310639"/>
          </a:xfrm>
          <a:prstGeom prst="roundRect">
            <a:avLst>
              <a:gd name="adj" fmla="val 0"/>
            </a:avLst>
          </a:prstGeom>
          <a:solidFill>
            <a:schemeClr val="bg1"/>
          </a:solidFill>
          <a:ln w="19050">
            <a:solidFill>
              <a:srgbClr val="61C5BC"/>
            </a:solid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945" b="0" i="0" u="none" strike="noStrike" kern="1200" cap="none" spc="0" normalizeH="0" baseline="0" noProof="0">
              <a:ln>
                <a:noFill/>
              </a:ln>
              <a:solidFill>
                <a:srgbClr val="FFFFFF"/>
              </a:solidFill>
              <a:effectLst>
                <a:outerShdw blurRad="137160" dist="41148" dir="2699997" algn="tl">
                  <a:srgbClr val="000000">
                    <a:alpha val="40000"/>
                  </a:srgbClr>
                </a:outerShdw>
              </a:effectLst>
              <a:uLnTx/>
              <a:uFillTx/>
              <a:latin typeface="OPPOSans B" pitchFamily="18" charset="-122"/>
              <a:ea typeface="OPPOSans B" pitchFamily="18" charset="-122"/>
              <a:cs typeface="OPPOSans B" pitchFamily="18" charset="-122"/>
            </a:endParaRPr>
          </a:p>
        </p:txBody>
      </p:sp>
      <p:grpSp>
        <p:nvGrpSpPr>
          <p:cNvPr id="136" name="组 91">
            <a:extLst>
              <a:ext uri="{FF2B5EF4-FFF2-40B4-BE49-F238E27FC236}">
                <a16:creationId xmlns:a16="http://schemas.microsoft.com/office/drawing/2014/main" id="{8FBEF275-618A-447A-854B-6FEEAB358824}"/>
              </a:ext>
            </a:extLst>
          </p:cNvPr>
          <p:cNvGrpSpPr/>
          <p:nvPr/>
        </p:nvGrpSpPr>
        <p:grpSpPr>
          <a:xfrm>
            <a:off x="6910572" y="2160306"/>
            <a:ext cx="547655" cy="547655"/>
            <a:chOff x="2349065" y="1253367"/>
            <a:chExt cx="547655" cy="547655"/>
          </a:xfrm>
        </p:grpSpPr>
        <p:sp>
          <p:nvSpPr>
            <p:cNvPr id="137" name="Oval 12">
              <a:extLst>
                <a:ext uri="{FF2B5EF4-FFF2-40B4-BE49-F238E27FC236}">
                  <a16:creationId xmlns:a16="http://schemas.microsoft.com/office/drawing/2014/main" id="{3372D587-1DB0-4057-846A-B5009EE14734}"/>
                </a:ext>
              </a:extLst>
            </p:cNvPr>
            <p:cNvSpPr/>
            <p:nvPr/>
          </p:nvSpPr>
          <p:spPr>
            <a:xfrm>
              <a:off x="2349065" y="1253367"/>
              <a:ext cx="547655" cy="547655"/>
            </a:xfrm>
            <a:prstGeom prst="ellipse">
              <a:avLst/>
            </a:prstGeom>
            <a:solidFill>
              <a:schemeClr val="bg1">
                <a:alpha val="40000"/>
              </a:schemeClr>
            </a:solidFill>
            <a:ln w="19050">
              <a:solidFill>
                <a:srgbClr val="61C5B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defTabSz="456565">
                <a:spcBef>
                  <a:spcPts val="1000"/>
                </a:spcBef>
              </a:pPr>
              <a:endParaRPr lang="en-US" sz="1400" b="1" dirty="0">
                <a:solidFill>
                  <a:srgbClr val="747993"/>
                </a:solidFill>
                <a:latin typeface="OPPOSans B" pitchFamily="18" charset="-122"/>
                <a:ea typeface="OPPOSans B" pitchFamily="18" charset="-122"/>
                <a:cs typeface="OPPOSans B" pitchFamily="18" charset="-122"/>
              </a:endParaRPr>
            </a:p>
          </p:txBody>
        </p:sp>
        <p:sp>
          <p:nvSpPr>
            <p:cNvPr id="138" name="flag-pole-with-black-flag_38306">
              <a:extLst>
                <a:ext uri="{FF2B5EF4-FFF2-40B4-BE49-F238E27FC236}">
                  <a16:creationId xmlns:a16="http://schemas.microsoft.com/office/drawing/2014/main" id="{3AB47554-C200-4FAE-AF5B-A2961E88FA4F}"/>
                </a:ext>
              </a:extLst>
            </p:cNvPr>
            <p:cNvSpPr/>
            <p:nvPr/>
          </p:nvSpPr>
          <p:spPr>
            <a:xfrm>
              <a:off x="2485897" y="1364471"/>
              <a:ext cx="285637" cy="340022"/>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rgbClr val="61C5BC"/>
            </a:solidFill>
            <a:ln w="19050">
              <a:solidFill>
                <a:srgbClr val="61C5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9FFFF"/>
                </a:solidFill>
                <a:effectLst/>
                <a:uLnTx/>
                <a:uFillTx/>
                <a:latin typeface="OPPOSans B" pitchFamily="18" charset="-122"/>
                <a:ea typeface="OPPOSans B" pitchFamily="18" charset="-122"/>
                <a:cs typeface="OPPOSans B" pitchFamily="18" charset="-122"/>
              </a:endParaRPr>
            </a:p>
          </p:txBody>
        </p:sp>
      </p:grpSp>
      <p:sp>
        <p:nvSpPr>
          <p:cNvPr id="64" name="标题 1">
            <a:extLst>
              <a:ext uri="{FF2B5EF4-FFF2-40B4-BE49-F238E27FC236}">
                <a16:creationId xmlns:a16="http://schemas.microsoft.com/office/drawing/2014/main" id="{E669EDF4-2ECC-422B-B55D-2A15E3D4AE47}"/>
              </a:ext>
            </a:extLst>
          </p:cNvPr>
          <p:cNvSpPr txBox="1">
            <a:spLocks/>
          </p:cNvSpPr>
          <p:nvPr/>
        </p:nvSpPr>
        <p:spPr>
          <a:xfrm>
            <a:off x="476950" y="219755"/>
            <a:ext cx="6202698" cy="50365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r>
              <a:rPr lang="zh-CN" altLang="en-US" sz="2800" b="1" dirty="0">
                <a:solidFill>
                  <a:schemeClr val="tx2"/>
                </a:solidFill>
                <a:latin typeface="微软雅黑" panose="020B0503020204020204" pitchFamily="34" charset="-122"/>
                <a:ea typeface="微软雅黑" panose="020B0503020204020204" pitchFamily="34" charset="-122"/>
                <a:cs typeface="+mn-cs"/>
              </a:rPr>
              <a:t>预算管理在组织管理中的定位与意义</a:t>
            </a:r>
          </a:p>
        </p:txBody>
      </p:sp>
      <p:sp>
        <p:nvSpPr>
          <p:cNvPr id="34" name="文本框 33">
            <a:extLst>
              <a:ext uri="{FF2B5EF4-FFF2-40B4-BE49-F238E27FC236}">
                <a16:creationId xmlns:a16="http://schemas.microsoft.com/office/drawing/2014/main" id="{2BEFF7C3-6B36-409A-BAAA-78F2AB9529E0}"/>
              </a:ext>
            </a:extLst>
          </p:cNvPr>
          <p:cNvSpPr txBox="1"/>
          <p:nvPr/>
        </p:nvSpPr>
        <p:spPr>
          <a:xfrm>
            <a:off x="8063199" y="3380659"/>
            <a:ext cx="2783575" cy="1167692"/>
          </a:xfrm>
          <a:prstGeom prst="rect">
            <a:avLst/>
          </a:prstGeom>
          <a:noFill/>
        </p:spPr>
        <p:txBody>
          <a:bodyPr wrap="square" rtlCol="0">
            <a:spAutoFit/>
          </a:bodyPr>
          <a:lstStyle/>
          <a:p>
            <a:pPr>
              <a:lnSpc>
                <a:spcPct val="150000"/>
              </a:lnSpc>
            </a:pPr>
            <a:r>
              <a:rPr lang="zh-CN" altLang="en-US" sz="1200" b="1"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统一集团公司上下目标</a:t>
            </a:r>
            <a:endParaRPr lang="en-US" altLang="zh-CN" sz="1200" b="1" dirty="0">
              <a:solidFill>
                <a:schemeClr val="tx2"/>
              </a:solidFill>
              <a:latin typeface="微软雅黑" panose="020B0503020204020204" pitchFamily="34" charset="-122"/>
              <a:ea typeface="微软雅黑" panose="020B0503020204020204" pitchFamily="34" charset="-122"/>
              <a:cs typeface="Open Sans" panose="020B0606030504020204" pitchFamily="34" charset="0"/>
            </a:endParaRPr>
          </a:p>
          <a:p>
            <a:pPr>
              <a:lnSpc>
                <a:spcPct val="150000"/>
              </a:lnSpc>
            </a:pPr>
            <a:r>
              <a:rPr lang="zh-CN" altLang="en-US" sz="1200" b="1"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保证公司意愿转化为员工意愿</a:t>
            </a:r>
            <a:endParaRPr lang="en-US" altLang="zh-CN" sz="1200" b="1" dirty="0">
              <a:solidFill>
                <a:schemeClr val="tx2"/>
              </a:solidFill>
              <a:latin typeface="微软雅黑" panose="020B0503020204020204" pitchFamily="34" charset="-122"/>
              <a:ea typeface="微软雅黑" panose="020B0503020204020204" pitchFamily="34" charset="-122"/>
              <a:cs typeface="Open Sans" panose="020B0606030504020204" pitchFamily="34" charset="0"/>
            </a:endParaRPr>
          </a:p>
          <a:p>
            <a:pPr>
              <a:lnSpc>
                <a:spcPct val="150000"/>
              </a:lnSpc>
            </a:pPr>
            <a:r>
              <a:rPr lang="zh-CN" altLang="en-US" sz="1200" b="1"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促使组织集中完成关键任务</a:t>
            </a:r>
            <a:endParaRPr lang="en-US" altLang="zh-CN" sz="1200" b="1" dirty="0">
              <a:solidFill>
                <a:schemeClr val="tx2"/>
              </a:solidFill>
              <a:latin typeface="微软雅黑" panose="020B0503020204020204" pitchFamily="34" charset="-122"/>
              <a:ea typeface="微软雅黑" panose="020B0503020204020204" pitchFamily="34" charset="-122"/>
              <a:cs typeface="Open Sans" panose="020B0606030504020204" pitchFamily="34" charset="0"/>
            </a:endParaRPr>
          </a:p>
          <a:p>
            <a:pPr>
              <a:lnSpc>
                <a:spcPct val="150000"/>
              </a:lnSpc>
            </a:pPr>
            <a:r>
              <a:rPr lang="zh-CN" altLang="en-US" sz="1200" b="1"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确定经营、管理资源的分配规则</a:t>
            </a:r>
          </a:p>
        </p:txBody>
      </p:sp>
      <p:sp>
        <p:nvSpPr>
          <p:cNvPr id="45" name="文本框 44">
            <a:extLst>
              <a:ext uri="{FF2B5EF4-FFF2-40B4-BE49-F238E27FC236}">
                <a16:creationId xmlns:a16="http://schemas.microsoft.com/office/drawing/2014/main" id="{6CDB8EA0-7B04-43E2-8859-035CF0F5E0E8}"/>
              </a:ext>
            </a:extLst>
          </p:cNvPr>
          <p:cNvSpPr txBox="1"/>
          <p:nvPr/>
        </p:nvSpPr>
        <p:spPr>
          <a:xfrm>
            <a:off x="8046897" y="1865180"/>
            <a:ext cx="2719114" cy="1167692"/>
          </a:xfrm>
          <a:prstGeom prst="rect">
            <a:avLst/>
          </a:prstGeom>
          <a:noFill/>
        </p:spPr>
        <p:txBody>
          <a:bodyPr wrap="square" rtlCol="0">
            <a:spAutoFit/>
          </a:bodyPr>
          <a:lstStyle/>
          <a:p>
            <a:pPr>
              <a:lnSpc>
                <a:spcPct val="150000"/>
              </a:lnSpc>
            </a:pPr>
            <a:r>
              <a:rPr lang="zh-CN" altLang="en-US" sz="1200" b="1" dirty="0">
                <a:solidFill>
                  <a:schemeClr val="tx2"/>
                </a:solidFill>
                <a:latin typeface="微软雅黑" panose="020B0503020204020204" pitchFamily="34" charset="-122"/>
                <a:ea typeface="微软雅黑" panose="020B0503020204020204" pitchFamily="34" charset="-122"/>
              </a:rPr>
              <a:t>工作计划</a:t>
            </a:r>
            <a:endParaRPr lang="en-US" altLang="zh-CN" sz="1200" b="1" dirty="0">
              <a:solidFill>
                <a:schemeClr val="tx2"/>
              </a:solidFill>
              <a:latin typeface="微软雅黑" panose="020B0503020204020204" pitchFamily="34" charset="-122"/>
              <a:ea typeface="微软雅黑" panose="020B0503020204020204" pitchFamily="34" charset="-122"/>
            </a:endParaRPr>
          </a:p>
          <a:p>
            <a:pPr>
              <a:lnSpc>
                <a:spcPct val="150000"/>
              </a:lnSpc>
            </a:pPr>
            <a:r>
              <a:rPr lang="zh-CN" altLang="en-US" sz="1200" b="1" dirty="0">
                <a:solidFill>
                  <a:schemeClr val="tx2"/>
                </a:solidFill>
                <a:latin typeface="微软雅黑" panose="020B0503020204020204" pitchFamily="34" charset="-122"/>
                <a:ea typeface="微软雅黑" panose="020B0503020204020204" pitchFamily="34" charset="-122"/>
              </a:rPr>
              <a:t>行动方案</a:t>
            </a:r>
            <a:endParaRPr lang="en-US" altLang="zh-CN" sz="1200" b="1" dirty="0">
              <a:solidFill>
                <a:schemeClr val="tx2"/>
              </a:solidFill>
              <a:latin typeface="微软雅黑" panose="020B0503020204020204" pitchFamily="34" charset="-122"/>
              <a:ea typeface="微软雅黑" panose="020B0503020204020204" pitchFamily="34" charset="-122"/>
            </a:endParaRPr>
          </a:p>
          <a:p>
            <a:pPr>
              <a:lnSpc>
                <a:spcPct val="150000"/>
              </a:lnSpc>
            </a:pPr>
            <a:r>
              <a:rPr lang="zh-CN" altLang="en-US" sz="1200" b="1" dirty="0">
                <a:solidFill>
                  <a:schemeClr val="tx2"/>
                </a:solidFill>
                <a:latin typeface="微软雅黑" panose="020B0503020204020204" pitchFamily="34" charset="-122"/>
                <a:ea typeface="微软雅黑" panose="020B0503020204020204" pitchFamily="34" charset="-122"/>
              </a:rPr>
              <a:t>关键利益点</a:t>
            </a:r>
            <a:endParaRPr lang="en-US" altLang="zh-CN" sz="1200" b="1" dirty="0">
              <a:solidFill>
                <a:schemeClr val="tx2"/>
              </a:solidFill>
              <a:latin typeface="微软雅黑" panose="020B0503020204020204" pitchFamily="34" charset="-122"/>
              <a:ea typeface="微软雅黑" panose="020B0503020204020204" pitchFamily="34" charset="-122"/>
            </a:endParaRPr>
          </a:p>
          <a:p>
            <a:pPr>
              <a:lnSpc>
                <a:spcPct val="150000"/>
              </a:lnSpc>
            </a:pPr>
            <a:r>
              <a:rPr lang="zh-CN" altLang="en-US" sz="1200" b="1" dirty="0">
                <a:solidFill>
                  <a:schemeClr val="tx2"/>
                </a:solidFill>
                <a:latin typeface="微软雅黑" panose="020B0503020204020204" pitchFamily="34" charset="-122"/>
                <a:ea typeface="微软雅黑" panose="020B0503020204020204" pitchFamily="34" charset="-122"/>
              </a:rPr>
              <a:t>管控点</a:t>
            </a:r>
          </a:p>
        </p:txBody>
      </p:sp>
      <p:sp>
        <p:nvSpPr>
          <p:cNvPr id="72" name="矩形 71">
            <a:extLst>
              <a:ext uri="{FF2B5EF4-FFF2-40B4-BE49-F238E27FC236}">
                <a16:creationId xmlns:a16="http://schemas.microsoft.com/office/drawing/2014/main" id="{65110A81-B902-4DB8-8EBC-38A6DD4F3FA5}"/>
              </a:ext>
            </a:extLst>
          </p:cNvPr>
          <p:cNvSpPr/>
          <p:nvPr/>
        </p:nvSpPr>
        <p:spPr>
          <a:xfrm>
            <a:off x="8063199" y="4990639"/>
            <a:ext cx="2938663" cy="890693"/>
          </a:xfrm>
          <a:prstGeom prst="rect">
            <a:avLst/>
          </a:prstGeom>
        </p:spPr>
        <p:txBody>
          <a:bodyPr wrap="square">
            <a:spAutoFit/>
          </a:bodyPr>
          <a:lstStyle/>
          <a:p>
            <a:pPr>
              <a:lnSpc>
                <a:spcPct val="150000"/>
              </a:lnSpc>
            </a:pPr>
            <a:r>
              <a:rPr lang="zh-CN" altLang="en-US" sz="1200" b="1" i="0" dirty="0">
                <a:solidFill>
                  <a:schemeClr val="tx2"/>
                </a:solidFill>
                <a:effectLst/>
                <a:latin typeface="微软雅黑" panose="020B0503020204020204" pitchFamily="34" charset="-122"/>
                <a:ea typeface="微软雅黑" panose="020B0503020204020204" pitchFamily="34" charset="-122"/>
              </a:rPr>
              <a:t>体现业务计划向财务成果转化</a:t>
            </a:r>
            <a:endParaRPr lang="en-US" altLang="zh-CN" sz="1200" b="1" i="0" dirty="0">
              <a:solidFill>
                <a:schemeClr val="tx2"/>
              </a:solidFill>
              <a:effectLst/>
              <a:latin typeface="微软雅黑" panose="020B0503020204020204" pitchFamily="34" charset="-122"/>
              <a:ea typeface="微软雅黑" panose="020B0503020204020204" pitchFamily="34" charset="-122"/>
            </a:endParaRPr>
          </a:p>
          <a:p>
            <a:pPr>
              <a:lnSpc>
                <a:spcPct val="150000"/>
              </a:lnSpc>
            </a:pPr>
            <a:r>
              <a:rPr lang="zh-CN" altLang="en-US" sz="1200" b="1" dirty="0">
                <a:solidFill>
                  <a:schemeClr val="tx2"/>
                </a:solidFill>
                <a:latin typeface="微软雅黑" panose="020B0503020204020204" pitchFamily="34" charset="-122"/>
                <a:ea typeface="微软雅黑" panose="020B0503020204020204" pitchFamily="34" charset="-122"/>
              </a:rPr>
              <a:t>丰富管理数据的维度</a:t>
            </a:r>
            <a:endParaRPr lang="en-US" altLang="zh-CN" sz="1200" b="1" dirty="0">
              <a:solidFill>
                <a:schemeClr val="tx2"/>
              </a:solidFill>
              <a:latin typeface="微软雅黑" panose="020B0503020204020204" pitchFamily="34" charset="-122"/>
              <a:ea typeface="微软雅黑" panose="020B0503020204020204" pitchFamily="34" charset="-122"/>
            </a:endParaRPr>
          </a:p>
          <a:p>
            <a:pPr>
              <a:lnSpc>
                <a:spcPct val="150000"/>
              </a:lnSpc>
            </a:pPr>
            <a:r>
              <a:rPr lang="zh-CN" altLang="en-US" sz="1200" b="1" dirty="0">
                <a:solidFill>
                  <a:schemeClr val="tx2"/>
                </a:solidFill>
                <a:latin typeface="微软雅黑" panose="020B0503020204020204" pitchFamily="34" charset="-122"/>
                <a:ea typeface="微软雅黑" panose="020B0503020204020204" pitchFamily="34" charset="-122"/>
              </a:rPr>
              <a:t>为高层决策提供支持</a:t>
            </a:r>
          </a:p>
        </p:txBody>
      </p:sp>
      <p:grpSp>
        <p:nvGrpSpPr>
          <p:cNvPr id="4" name="组合 3">
            <a:extLst>
              <a:ext uri="{FF2B5EF4-FFF2-40B4-BE49-F238E27FC236}">
                <a16:creationId xmlns:a16="http://schemas.microsoft.com/office/drawing/2014/main" id="{6A9B5BE8-D6EE-2049-95CD-FE2DB791B0DF}"/>
              </a:ext>
            </a:extLst>
          </p:cNvPr>
          <p:cNvGrpSpPr/>
          <p:nvPr/>
        </p:nvGrpSpPr>
        <p:grpSpPr>
          <a:xfrm>
            <a:off x="557212" y="2035229"/>
            <a:ext cx="5250863" cy="4107398"/>
            <a:chOff x="300739" y="1700268"/>
            <a:chExt cx="5507338" cy="4156036"/>
          </a:xfrm>
        </p:grpSpPr>
        <p:sp>
          <p:nvSpPr>
            <p:cNvPr id="154" name="Freeform 5">
              <a:extLst>
                <a:ext uri="{FF2B5EF4-FFF2-40B4-BE49-F238E27FC236}">
                  <a16:creationId xmlns:a16="http://schemas.microsoft.com/office/drawing/2014/main" id="{85F9A118-08D4-4ACE-989A-B5BDE5D02C8E}"/>
                </a:ext>
              </a:extLst>
            </p:cNvPr>
            <p:cNvSpPr>
              <a:spLocks/>
            </p:cNvSpPr>
            <p:nvPr/>
          </p:nvSpPr>
          <p:spPr bwMode="auto">
            <a:xfrm>
              <a:off x="1520171" y="2067939"/>
              <a:ext cx="3075285" cy="3395607"/>
            </a:xfrm>
            <a:custGeom>
              <a:avLst/>
              <a:gdLst>
                <a:gd name="T0" fmla="*/ 0 w 1185"/>
                <a:gd name="T1" fmla="*/ 398 h 1337"/>
                <a:gd name="T2" fmla="*/ 62 w 1185"/>
                <a:gd name="T3" fmla="*/ 291 h 1337"/>
                <a:gd name="T4" fmla="*/ 531 w 1185"/>
                <a:gd name="T5" fmla="*/ 20 h 1337"/>
                <a:gd name="T6" fmla="*/ 654 w 1185"/>
                <a:gd name="T7" fmla="*/ 20 h 1337"/>
                <a:gd name="T8" fmla="*/ 1124 w 1185"/>
                <a:gd name="T9" fmla="*/ 291 h 1337"/>
                <a:gd name="T10" fmla="*/ 1185 w 1185"/>
                <a:gd name="T11" fmla="*/ 398 h 1337"/>
                <a:gd name="T12" fmla="*/ 1185 w 1185"/>
                <a:gd name="T13" fmla="*/ 939 h 1337"/>
                <a:gd name="T14" fmla="*/ 1124 w 1185"/>
                <a:gd name="T15" fmla="*/ 1046 h 1337"/>
                <a:gd name="T16" fmla="*/ 654 w 1185"/>
                <a:gd name="T17" fmla="*/ 1317 h 1337"/>
                <a:gd name="T18" fmla="*/ 531 w 1185"/>
                <a:gd name="T19" fmla="*/ 1317 h 1337"/>
                <a:gd name="T20" fmla="*/ 62 w 1185"/>
                <a:gd name="T21" fmla="*/ 1046 h 1337"/>
                <a:gd name="T22" fmla="*/ 0 w 1185"/>
                <a:gd name="T23" fmla="*/ 939 h 1337"/>
                <a:gd name="T24" fmla="*/ 0 w 1185"/>
                <a:gd name="T25" fmla="*/ 398 h 1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5" h="1337">
                  <a:moveTo>
                    <a:pt x="0" y="398"/>
                  </a:moveTo>
                  <a:cubicBezTo>
                    <a:pt x="0" y="358"/>
                    <a:pt x="28" y="310"/>
                    <a:pt x="62" y="291"/>
                  </a:cubicBezTo>
                  <a:cubicBezTo>
                    <a:pt x="531" y="20"/>
                    <a:pt x="531" y="20"/>
                    <a:pt x="531" y="20"/>
                  </a:cubicBezTo>
                  <a:cubicBezTo>
                    <a:pt x="565" y="0"/>
                    <a:pt x="620" y="0"/>
                    <a:pt x="654" y="20"/>
                  </a:cubicBezTo>
                  <a:cubicBezTo>
                    <a:pt x="1124" y="291"/>
                    <a:pt x="1124" y="291"/>
                    <a:pt x="1124" y="291"/>
                  </a:cubicBezTo>
                  <a:cubicBezTo>
                    <a:pt x="1158" y="310"/>
                    <a:pt x="1185" y="358"/>
                    <a:pt x="1185" y="398"/>
                  </a:cubicBezTo>
                  <a:cubicBezTo>
                    <a:pt x="1185" y="939"/>
                    <a:pt x="1185" y="939"/>
                    <a:pt x="1185" y="939"/>
                  </a:cubicBezTo>
                  <a:cubicBezTo>
                    <a:pt x="1185" y="979"/>
                    <a:pt x="1158" y="1027"/>
                    <a:pt x="1124" y="1046"/>
                  </a:cubicBezTo>
                  <a:cubicBezTo>
                    <a:pt x="654" y="1317"/>
                    <a:pt x="654" y="1317"/>
                    <a:pt x="654" y="1317"/>
                  </a:cubicBezTo>
                  <a:cubicBezTo>
                    <a:pt x="620" y="1337"/>
                    <a:pt x="565" y="1337"/>
                    <a:pt x="531" y="1317"/>
                  </a:cubicBezTo>
                  <a:cubicBezTo>
                    <a:pt x="62" y="1046"/>
                    <a:pt x="62" y="1046"/>
                    <a:pt x="62" y="1046"/>
                  </a:cubicBezTo>
                  <a:cubicBezTo>
                    <a:pt x="28" y="1027"/>
                    <a:pt x="0" y="979"/>
                    <a:pt x="0" y="939"/>
                  </a:cubicBezTo>
                  <a:lnTo>
                    <a:pt x="0" y="398"/>
                  </a:lnTo>
                  <a:close/>
                </a:path>
              </a:pathLst>
            </a:custGeom>
            <a:solidFill>
              <a:schemeClr val="bg1"/>
            </a:solidFill>
            <a:ln>
              <a:solidFill>
                <a:schemeClr val="bg1">
                  <a:lumMod val="85000"/>
                </a:schemeClr>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Montserrat"/>
                <a:ea typeface="+mn-ea"/>
                <a:cs typeface="+mn-cs"/>
              </a:endParaRPr>
            </a:p>
          </p:txBody>
        </p:sp>
        <p:sp>
          <p:nvSpPr>
            <p:cNvPr id="103" name="矩形: 圆角 103">
              <a:extLst>
                <a:ext uri="{FF2B5EF4-FFF2-40B4-BE49-F238E27FC236}">
                  <a16:creationId xmlns:a16="http://schemas.microsoft.com/office/drawing/2014/main" id="{8D5BAD6B-2FC8-494B-81B6-AF48EE79A985}"/>
                </a:ext>
              </a:extLst>
            </p:cNvPr>
            <p:cNvSpPr/>
            <p:nvPr/>
          </p:nvSpPr>
          <p:spPr>
            <a:xfrm>
              <a:off x="4668423" y="2708341"/>
              <a:ext cx="1130525" cy="2154925"/>
            </a:xfrm>
            <a:prstGeom prst="roundRect">
              <a:avLst>
                <a:gd name="adj" fmla="val 0"/>
              </a:avLst>
            </a:prstGeom>
            <a:noFill/>
            <a:ln w="15875">
              <a:solidFill>
                <a:schemeClr val="accent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2"/>
                </a:solidFill>
                <a:effectLst/>
                <a:uLnTx/>
                <a:uFillTx/>
                <a:latin typeface="等线"/>
                <a:ea typeface="思源黑体 CN Normal"/>
                <a:cs typeface="+mn-cs"/>
              </a:endParaRPr>
            </a:p>
          </p:txBody>
        </p:sp>
        <p:grpSp>
          <p:nvGrpSpPr>
            <p:cNvPr id="37" name="组合 36">
              <a:extLst>
                <a:ext uri="{FF2B5EF4-FFF2-40B4-BE49-F238E27FC236}">
                  <a16:creationId xmlns:a16="http://schemas.microsoft.com/office/drawing/2014/main" id="{4A0BAA72-441C-41C6-A2E2-BB0FE35F3883}"/>
                </a:ext>
              </a:extLst>
            </p:cNvPr>
            <p:cNvGrpSpPr/>
            <p:nvPr/>
          </p:nvGrpSpPr>
          <p:grpSpPr>
            <a:xfrm>
              <a:off x="300739" y="1700268"/>
              <a:ext cx="5507338" cy="4156036"/>
              <a:chOff x="813464" y="2302115"/>
              <a:chExt cx="5507338" cy="4156036"/>
            </a:xfrm>
          </p:grpSpPr>
          <p:sp>
            <p:nvSpPr>
              <p:cNvPr id="114" name="文本框 113">
                <a:extLst>
                  <a:ext uri="{FF2B5EF4-FFF2-40B4-BE49-F238E27FC236}">
                    <a16:creationId xmlns:a16="http://schemas.microsoft.com/office/drawing/2014/main" id="{46E3B645-DBED-4256-814B-657282F2B1E2}"/>
                  </a:ext>
                </a:extLst>
              </p:cNvPr>
              <p:cNvSpPr txBox="1"/>
              <p:nvPr/>
            </p:nvSpPr>
            <p:spPr>
              <a:xfrm>
                <a:off x="3083300" y="2302115"/>
                <a:ext cx="1153448" cy="342563"/>
              </a:xfrm>
              <a:prstGeom prst="rect">
                <a:avLst/>
              </a:prstGeom>
              <a:noFill/>
            </p:spPr>
            <p:txBody>
              <a:bodyPr wrap="square" rtlCol="0">
                <a:spAutoFit/>
              </a:bodyPr>
              <a:lstStyle/>
              <a:p>
                <a:pPr algn="ctr"/>
                <a:r>
                  <a:rPr lang="zh-CN" altLang="en-US" sz="1600" b="1" dirty="0">
                    <a:solidFill>
                      <a:schemeClr val="tx2"/>
                    </a:solidFill>
                    <a:latin typeface="时尚中黑简体" panose="01010104010101010101" pitchFamily="2" charset="-122"/>
                    <a:ea typeface="时尚中黑简体" panose="01010104010101010101" pitchFamily="2" charset="-122"/>
                  </a:rPr>
                  <a:t>战略规划</a:t>
                </a:r>
              </a:p>
            </p:txBody>
          </p:sp>
          <p:sp>
            <p:nvSpPr>
              <p:cNvPr id="115" name="文本框 114">
                <a:extLst>
                  <a:ext uri="{FF2B5EF4-FFF2-40B4-BE49-F238E27FC236}">
                    <a16:creationId xmlns:a16="http://schemas.microsoft.com/office/drawing/2014/main" id="{CD22BBE0-AA63-40C8-94EB-CC6178B04565}"/>
                  </a:ext>
                </a:extLst>
              </p:cNvPr>
              <p:cNvSpPr txBox="1"/>
              <p:nvPr/>
            </p:nvSpPr>
            <p:spPr>
              <a:xfrm>
                <a:off x="5210733" y="3598241"/>
                <a:ext cx="1110069" cy="338554"/>
              </a:xfrm>
              <a:prstGeom prst="rect">
                <a:avLst/>
              </a:prstGeom>
              <a:noFill/>
            </p:spPr>
            <p:txBody>
              <a:bodyPr wrap="square" rtlCol="0">
                <a:spAutoFit/>
              </a:bodyPr>
              <a:lstStyle/>
              <a:p>
                <a:r>
                  <a:rPr lang="zh-CN" altLang="en-US" sz="1600" b="1" dirty="0">
                    <a:solidFill>
                      <a:schemeClr val="tx2"/>
                    </a:solidFill>
                    <a:latin typeface="时尚中黑简体" panose="01010104010101010101" pitchFamily="2" charset="-122"/>
                    <a:ea typeface="时尚中黑简体" panose="01010104010101010101" pitchFamily="2" charset="-122"/>
                  </a:rPr>
                  <a:t>经营计划</a:t>
                </a:r>
              </a:p>
            </p:txBody>
          </p:sp>
          <p:sp>
            <p:nvSpPr>
              <p:cNvPr id="116" name="文本框 115">
                <a:extLst>
                  <a:ext uri="{FF2B5EF4-FFF2-40B4-BE49-F238E27FC236}">
                    <a16:creationId xmlns:a16="http://schemas.microsoft.com/office/drawing/2014/main" id="{91B7895C-6B6C-4453-BD93-899BFB42FAC9}"/>
                  </a:ext>
                </a:extLst>
              </p:cNvPr>
              <p:cNvSpPr txBox="1"/>
              <p:nvPr/>
            </p:nvSpPr>
            <p:spPr>
              <a:xfrm>
                <a:off x="5168604" y="4867255"/>
                <a:ext cx="1110069" cy="338554"/>
              </a:xfrm>
              <a:prstGeom prst="rect">
                <a:avLst/>
              </a:prstGeom>
              <a:noFill/>
            </p:spPr>
            <p:txBody>
              <a:bodyPr wrap="square" rtlCol="0">
                <a:spAutoFit/>
              </a:bodyPr>
              <a:lstStyle/>
              <a:p>
                <a:r>
                  <a:rPr lang="zh-CN" altLang="en-US" sz="1600" b="1" dirty="0">
                    <a:solidFill>
                      <a:schemeClr val="tx2"/>
                    </a:solidFill>
                    <a:latin typeface="时尚中黑简体" panose="01010104010101010101" pitchFamily="2" charset="-122"/>
                    <a:ea typeface="时尚中黑简体" panose="01010104010101010101" pitchFamily="2" charset="-122"/>
                  </a:rPr>
                  <a:t>年度预算</a:t>
                </a:r>
              </a:p>
            </p:txBody>
          </p:sp>
          <p:sp>
            <p:nvSpPr>
              <p:cNvPr id="117" name="文本框 116">
                <a:extLst>
                  <a:ext uri="{FF2B5EF4-FFF2-40B4-BE49-F238E27FC236}">
                    <a16:creationId xmlns:a16="http://schemas.microsoft.com/office/drawing/2014/main" id="{D9AECDC7-B23D-486E-85DC-CF96E7C9D778}"/>
                  </a:ext>
                </a:extLst>
              </p:cNvPr>
              <p:cNvSpPr txBox="1"/>
              <p:nvPr/>
            </p:nvSpPr>
            <p:spPr>
              <a:xfrm>
                <a:off x="2935986" y="6119597"/>
                <a:ext cx="1379693" cy="338554"/>
              </a:xfrm>
              <a:prstGeom prst="rect">
                <a:avLst/>
              </a:prstGeom>
              <a:noFill/>
            </p:spPr>
            <p:txBody>
              <a:bodyPr wrap="square" rtlCol="0">
                <a:spAutoFit/>
              </a:bodyPr>
              <a:lstStyle/>
              <a:p>
                <a:r>
                  <a:rPr lang="zh-CN" altLang="en-US" sz="1600" b="1" dirty="0">
                    <a:solidFill>
                      <a:schemeClr val="tx2"/>
                    </a:solidFill>
                    <a:latin typeface="时尚中黑简体" panose="01010104010101010101" pitchFamily="2" charset="-122"/>
                    <a:ea typeface="时尚中黑简体" panose="01010104010101010101" pitchFamily="2" charset="-122"/>
                  </a:rPr>
                  <a:t>核算及分析</a:t>
                </a:r>
              </a:p>
            </p:txBody>
          </p:sp>
          <p:sp>
            <p:nvSpPr>
              <p:cNvPr id="118" name="文本框 117">
                <a:extLst>
                  <a:ext uri="{FF2B5EF4-FFF2-40B4-BE49-F238E27FC236}">
                    <a16:creationId xmlns:a16="http://schemas.microsoft.com/office/drawing/2014/main" id="{58BA10E1-A870-4141-9B65-5AA76801953C}"/>
                  </a:ext>
                </a:extLst>
              </p:cNvPr>
              <p:cNvSpPr txBox="1"/>
              <p:nvPr/>
            </p:nvSpPr>
            <p:spPr>
              <a:xfrm>
                <a:off x="834942" y="4799163"/>
                <a:ext cx="1105891" cy="338554"/>
              </a:xfrm>
              <a:prstGeom prst="rect">
                <a:avLst/>
              </a:prstGeom>
              <a:noFill/>
            </p:spPr>
            <p:txBody>
              <a:bodyPr wrap="square" rtlCol="0">
                <a:spAutoFit/>
              </a:bodyPr>
              <a:lstStyle/>
              <a:p>
                <a:r>
                  <a:rPr lang="zh-CN" altLang="en-US" sz="1600" b="1" dirty="0">
                    <a:solidFill>
                      <a:schemeClr val="tx2"/>
                    </a:solidFill>
                    <a:latin typeface="时尚中黑简体" panose="01010104010101010101" pitchFamily="2" charset="-122"/>
                    <a:ea typeface="时尚中黑简体" panose="01010104010101010101" pitchFamily="2" charset="-122"/>
                  </a:rPr>
                  <a:t>过程控制</a:t>
                </a:r>
              </a:p>
            </p:txBody>
          </p:sp>
          <p:sp>
            <p:nvSpPr>
              <p:cNvPr id="119" name="文本框 118">
                <a:extLst>
                  <a:ext uri="{FF2B5EF4-FFF2-40B4-BE49-F238E27FC236}">
                    <a16:creationId xmlns:a16="http://schemas.microsoft.com/office/drawing/2014/main" id="{E26CA190-FFDE-48A0-ACAA-B00D949B1854}"/>
                  </a:ext>
                </a:extLst>
              </p:cNvPr>
              <p:cNvSpPr txBox="1"/>
              <p:nvPr/>
            </p:nvSpPr>
            <p:spPr>
              <a:xfrm>
                <a:off x="813464" y="3517703"/>
                <a:ext cx="1122765" cy="338554"/>
              </a:xfrm>
              <a:prstGeom prst="rect">
                <a:avLst/>
              </a:prstGeom>
              <a:noFill/>
            </p:spPr>
            <p:txBody>
              <a:bodyPr wrap="square" rtlCol="0">
                <a:spAutoFit/>
              </a:bodyPr>
              <a:lstStyle/>
              <a:p>
                <a:r>
                  <a:rPr lang="zh-CN" altLang="en-US" sz="1600" b="1" dirty="0">
                    <a:solidFill>
                      <a:schemeClr val="tx2"/>
                    </a:solidFill>
                    <a:latin typeface="时尚中黑简体" panose="01010104010101010101" pitchFamily="2" charset="-122"/>
                    <a:ea typeface="时尚中黑简体" panose="01010104010101010101" pitchFamily="2" charset="-122"/>
                  </a:rPr>
                  <a:t>绩效考核</a:t>
                </a:r>
              </a:p>
            </p:txBody>
          </p:sp>
          <p:cxnSp>
            <p:nvCxnSpPr>
              <p:cNvPr id="53" name="Straight Connector 178">
                <a:extLst>
                  <a:ext uri="{FF2B5EF4-FFF2-40B4-BE49-F238E27FC236}">
                    <a16:creationId xmlns:a16="http://schemas.microsoft.com/office/drawing/2014/main" id="{FC84BD26-2DFC-435B-9012-C25404CA81C3}"/>
                  </a:ext>
                </a:extLst>
              </p:cNvPr>
              <p:cNvCxnSpPr>
                <a:cxnSpLocks/>
              </p:cNvCxnSpPr>
              <p:nvPr/>
            </p:nvCxnSpPr>
            <p:spPr>
              <a:xfrm flipH="1" flipV="1">
                <a:off x="2818548" y="3951457"/>
                <a:ext cx="1468166" cy="917542"/>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175">
                <a:extLst>
                  <a:ext uri="{FF2B5EF4-FFF2-40B4-BE49-F238E27FC236}">
                    <a16:creationId xmlns:a16="http://schemas.microsoft.com/office/drawing/2014/main" id="{8FA1C69C-7081-4EF8-95DC-D55B90F2C67E}"/>
                  </a:ext>
                </a:extLst>
              </p:cNvPr>
              <p:cNvCxnSpPr>
                <a:cxnSpLocks/>
              </p:cNvCxnSpPr>
              <p:nvPr/>
            </p:nvCxnSpPr>
            <p:spPr>
              <a:xfrm flipH="1">
                <a:off x="2818548" y="3958186"/>
                <a:ext cx="1459879" cy="898472"/>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236">
                <a:extLst>
                  <a:ext uri="{FF2B5EF4-FFF2-40B4-BE49-F238E27FC236}">
                    <a16:creationId xmlns:a16="http://schemas.microsoft.com/office/drawing/2014/main" id="{482CF03B-D96D-4920-802A-CCE146146644}"/>
                  </a:ext>
                </a:extLst>
              </p:cNvPr>
              <p:cNvCxnSpPr>
                <a:stCxn id="97" idx="4"/>
                <a:endCxn id="94" idx="0"/>
              </p:cNvCxnSpPr>
              <p:nvPr/>
            </p:nvCxnSpPr>
            <p:spPr>
              <a:xfrm>
                <a:off x="3563186" y="3598241"/>
                <a:ext cx="0" cy="1628413"/>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7" name="Oval 116">
                <a:extLst>
                  <a:ext uri="{FF2B5EF4-FFF2-40B4-BE49-F238E27FC236}">
                    <a16:creationId xmlns:a16="http://schemas.microsoft.com/office/drawing/2014/main" id="{2314DD8A-96B4-4EA6-AA0C-14E004E191E5}"/>
                  </a:ext>
                </a:extLst>
              </p:cNvPr>
              <p:cNvSpPr/>
              <p:nvPr/>
            </p:nvSpPr>
            <p:spPr>
              <a:xfrm>
                <a:off x="2962611" y="3805325"/>
                <a:ext cx="1200082" cy="1214246"/>
              </a:xfrm>
              <a:prstGeom prst="ellipse">
                <a:avLst/>
              </a:prstGeom>
              <a:solidFill>
                <a:schemeClr val="bg1">
                  <a:lumMod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2"/>
                  </a:solidFill>
                  <a:effectLst/>
                  <a:uLnTx/>
                  <a:uFillTx/>
                  <a:latin typeface="Montserrat"/>
                  <a:ea typeface="+mn-ea"/>
                  <a:cs typeface="+mn-cs"/>
                </a:endParaRPr>
              </a:p>
            </p:txBody>
          </p:sp>
          <p:sp>
            <p:nvSpPr>
              <p:cNvPr id="92" name="Oval 6">
                <a:extLst>
                  <a:ext uri="{FF2B5EF4-FFF2-40B4-BE49-F238E27FC236}">
                    <a16:creationId xmlns:a16="http://schemas.microsoft.com/office/drawing/2014/main" id="{37ECF64B-D48A-4A6D-992D-8D429F754266}"/>
                  </a:ext>
                </a:extLst>
              </p:cNvPr>
              <p:cNvSpPr>
                <a:spLocks noChangeArrowheads="1"/>
              </p:cNvSpPr>
              <p:nvPr/>
            </p:nvSpPr>
            <p:spPr bwMode="auto">
              <a:xfrm>
                <a:off x="4205350" y="3418145"/>
                <a:ext cx="767401" cy="775384"/>
              </a:xfrm>
              <a:prstGeom prst="ellipse">
                <a:avLst/>
              </a:prstGeom>
              <a:solidFill>
                <a:srgbClr val="61C5B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Montserrat"/>
                  <a:ea typeface="+mn-ea"/>
                  <a:cs typeface="+mn-cs"/>
                </a:endParaRPr>
              </a:p>
            </p:txBody>
          </p:sp>
          <p:sp>
            <p:nvSpPr>
              <p:cNvPr id="93" name="Oval 7">
                <a:extLst>
                  <a:ext uri="{FF2B5EF4-FFF2-40B4-BE49-F238E27FC236}">
                    <a16:creationId xmlns:a16="http://schemas.microsoft.com/office/drawing/2014/main" id="{0DF59BA8-2CF8-452A-98F0-C04349AC23AC}"/>
                  </a:ext>
                </a:extLst>
              </p:cNvPr>
              <p:cNvSpPr>
                <a:spLocks noChangeArrowheads="1"/>
              </p:cNvSpPr>
              <p:nvPr/>
            </p:nvSpPr>
            <p:spPr bwMode="auto">
              <a:xfrm>
                <a:off x="4205350" y="4632445"/>
                <a:ext cx="767401" cy="774305"/>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Montserrat"/>
                  <a:ea typeface="+mn-ea"/>
                  <a:cs typeface="+mn-cs"/>
                </a:endParaRPr>
              </a:p>
            </p:txBody>
          </p:sp>
          <p:sp>
            <p:nvSpPr>
              <p:cNvPr id="94" name="Oval 8">
                <a:extLst>
                  <a:ext uri="{FF2B5EF4-FFF2-40B4-BE49-F238E27FC236}">
                    <a16:creationId xmlns:a16="http://schemas.microsoft.com/office/drawing/2014/main" id="{50685EF2-3418-4F60-9B64-1DD284DA80F9}"/>
                  </a:ext>
                </a:extLst>
              </p:cNvPr>
              <p:cNvSpPr>
                <a:spLocks noChangeArrowheads="1"/>
              </p:cNvSpPr>
              <p:nvPr/>
            </p:nvSpPr>
            <p:spPr bwMode="auto">
              <a:xfrm>
                <a:off x="3180018" y="5226654"/>
                <a:ext cx="766335" cy="776462"/>
              </a:xfrm>
              <a:prstGeom prst="ellipse">
                <a:avLst/>
              </a:prstGeom>
              <a:solidFill>
                <a:srgbClr val="143268"/>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Montserrat"/>
                  <a:ea typeface="+mn-ea"/>
                  <a:cs typeface="+mn-cs"/>
                </a:endParaRPr>
              </a:p>
            </p:txBody>
          </p:sp>
          <p:sp>
            <p:nvSpPr>
              <p:cNvPr id="95" name="Oval 9">
                <a:extLst>
                  <a:ext uri="{FF2B5EF4-FFF2-40B4-BE49-F238E27FC236}">
                    <a16:creationId xmlns:a16="http://schemas.microsoft.com/office/drawing/2014/main" id="{9F876978-CC8D-4250-86D2-669854A91F64}"/>
                  </a:ext>
                </a:extLst>
              </p:cNvPr>
              <p:cNvSpPr>
                <a:spLocks noChangeArrowheads="1"/>
              </p:cNvSpPr>
              <p:nvPr/>
            </p:nvSpPr>
            <p:spPr bwMode="auto">
              <a:xfrm>
                <a:off x="2152554" y="4632445"/>
                <a:ext cx="767401" cy="774305"/>
              </a:xfrm>
              <a:prstGeom prst="ellipse">
                <a:avLst/>
              </a:prstGeom>
              <a:solidFill>
                <a:srgbClr val="61C5B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Montserrat"/>
                  <a:ea typeface="+mn-ea"/>
                  <a:cs typeface="+mn-cs"/>
                </a:endParaRPr>
              </a:p>
            </p:txBody>
          </p:sp>
          <p:sp>
            <p:nvSpPr>
              <p:cNvPr id="96" name="Oval 10">
                <a:extLst>
                  <a:ext uri="{FF2B5EF4-FFF2-40B4-BE49-F238E27FC236}">
                    <a16:creationId xmlns:a16="http://schemas.microsoft.com/office/drawing/2014/main" id="{F67F1AB1-63E5-453F-9286-C881FC29CDCC}"/>
                  </a:ext>
                </a:extLst>
              </p:cNvPr>
              <p:cNvSpPr>
                <a:spLocks noChangeArrowheads="1"/>
              </p:cNvSpPr>
              <p:nvPr/>
            </p:nvSpPr>
            <p:spPr bwMode="auto">
              <a:xfrm>
                <a:off x="2152554" y="3418145"/>
                <a:ext cx="767401" cy="775384"/>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2"/>
                  </a:solidFill>
                  <a:effectLst/>
                  <a:uLnTx/>
                  <a:uFillTx/>
                  <a:latin typeface="Montserrat"/>
                  <a:ea typeface="+mn-ea"/>
                  <a:cs typeface="+mn-cs"/>
                </a:endParaRPr>
              </a:p>
            </p:txBody>
          </p:sp>
          <p:sp>
            <p:nvSpPr>
              <p:cNvPr id="97" name="Oval 11">
                <a:extLst>
                  <a:ext uri="{FF2B5EF4-FFF2-40B4-BE49-F238E27FC236}">
                    <a16:creationId xmlns:a16="http://schemas.microsoft.com/office/drawing/2014/main" id="{26956E7F-DD8E-4DA7-B487-B19379ADD19C}"/>
                  </a:ext>
                </a:extLst>
              </p:cNvPr>
              <p:cNvSpPr>
                <a:spLocks noChangeArrowheads="1"/>
              </p:cNvSpPr>
              <p:nvPr/>
            </p:nvSpPr>
            <p:spPr bwMode="auto">
              <a:xfrm>
                <a:off x="3180018" y="2821779"/>
                <a:ext cx="766335" cy="776462"/>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Montserrat"/>
                  <a:ea typeface="+mn-ea"/>
                  <a:cs typeface="+mn-cs"/>
                </a:endParaRPr>
              </a:p>
            </p:txBody>
          </p:sp>
          <p:grpSp>
            <p:nvGrpSpPr>
              <p:cNvPr id="60" name="Group 159">
                <a:extLst>
                  <a:ext uri="{FF2B5EF4-FFF2-40B4-BE49-F238E27FC236}">
                    <a16:creationId xmlns:a16="http://schemas.microsoft.com/office/drawing/2014/main" id="{28A4B223-798C-453B-9307-ED751EE3E472}"/>
                  </a:ext>
                </a:extLst>
              </p:cNvPr>
              <p:cNvGrpSpPr/>
              <p:nvPr/>
            </p:nvGrpSpPr>
            <p:grpSpPr>
              <a:xfrm>
                <a:off x="3395413" y="3018922"/>
                <a:ext cx="347845" cy="304515"/>
                <a:chOff x="3327400" y="6369050"/>
                <a:chExt cx="365125" cy="315913"/>
              </a:xfrm>
              <a:solidFill>
                <a:schemeClr val="bg1"/>
              </a:solidFill>
            </p:grpSpPr>
            <p:sp>
              <p:nvSpPr>
                <p:cNvPr id="79" name="Freeform 181">
                  <a:extLst>
                    <a:ext uri="{FF2B5EF4-FFF2-40B4-BE49-F238E27FC236}">
                      <a16:creationId xmlns:a16="http://schemas.microsoft.com/office/drawing/2014/main" id="{EAF66B10-897A-452A-8007-EFD7C9B8165B}"/>
                    </a:ext>
                  </a:extLst>
                </p:cNvPr>
                <p:cNvSpPr>
                  <a:spLocks noEditPoints="1"/>
                </p:cNvSpPr>
                <p:nvPr/>
              </p:nvSpPr>
              <p:spPr bwMode="auto">
                <a:xfrm>
                  <a:off x="3327400" y="6369050"/>
                  <a:ext cx="365125" cy="268288"/>
                </a:xfrm>
                <a:custGeom>
                  <a:avLst/>
                  <a:gdLst>
                    <a:gd name="T0" fmla="*/ 10 w 130"/>
                    <a:gd name="T1" fmla="*/ 89 h 89"/>
                    <a:gd name="T2" fmla="*/ 120 w 130"/>
                    <a:gd name="T3" fmla="*/ 89 h 89"/>
                    <a:gd name="T4" fmla="*/ 130 w 130"/>
                    <a:gd name="T5" fmla="*/ 79 h 89"/>
                    <a:gd name="T6" fmla="*/ 130 w 130"/>
                    <a:gd name="T7" fmla="*/ 10 h 89"/>
                    <a:gd name="T8" fmla="*/ 120 w 130"/>
                    <a:gd name="T9" fmla="*/ 0 h 89"/>
                    <a:gd name="T10" fmla="*/ 10 w 130"/>
                    <a:gd name="T11" fmla="*/ 0 h 89"/>
                    <a:gd name="T12" fmla="*/ 0 w 130"/>
                    <a:gd name="T13" fmla="*/ 10 h 89"/>
                    <a:gd name="T14" fmla="*/ 0 w 130"/>
                    <a:gd name="T15" fmla="*/ 79 h 89"/>
                    <a:gd name="T16" fmla="*/ 10 w 130"/>
                    <a:gd name="T17" fmla="*/ 89 h 89"/>
                    <a:gd name="T18" fmla="*/ 9 w 130"/>
                    <a:gd name="T19" fmla="*/ 10 h 89"/>
                    <a:gd name="T20" fmla="*/ 10 w 130"/>
                    <a:gd name="T21" fmla="*/ 8 h 89"/>
                    <a:gd name="T22" fmla="*/ 120 w 130"/>
                    <a:gd name="T23" fmla="*/ 8 h 89"/>
                    <a:gd name="T24" fmla="*/ 121 w 130"/>
                    <a:gd name="T25" fmla="*/ 10 h 89"/>
                    <a:gd name="T26" fmla="*/ 121 w 130"/>
                    <a:gd name="T27" fmla="*/ 79 h 89"/>
                    <a:gd name="T28" fmla="*/ 120 w 130"/>
                    <a:gd name="T29" fmla="*/ 80 h 89"/>
                    <a:gd name="T30" fmla="*/ 10 w 130"/>
                    <a:gd name="T31" fmla="*/ 80 h 89"/>
                    <a:gd name="T32" fmla="*/ 9 w 130"/>
                    <a:gd name="T33" fmla="*/ 79 h 89"/>
                    <a:gd name="T34" fmla="*/ 9 w 130"/>
                    <a:gd name="T35" fmla="*/ 10 h 89"/>
                    <a:gd name="T36" fmla="*/ 9 w 130"/>
                    <a:gd name="T37" fmla="*/ 10 h 89"/>
                    <a:gd name="T38" fmla="*/ 9 w 130"/>
                    <a:gd name="T39" fmla="*/ 1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0" h="89">
                      <a:moveTo>
                        <a:pt x="10" y="89"/>
                      </a:moveTo>
                      <a:cubicBezTo>
                        <a:pt x="120" y="89"/>
                        <a:pt x="120" y="89"/>
                        <a:pt x="120" y="89"/>
                      </a:cubicBezTo>
                      <a:cubicBezTo>
                        <a:pt x="126" y="89"/>
                        <a:pt x="130" y="84"/>
                        <a:pt x="130" y="79"/>
                      </a:cubicBezTo>
                      <a:cubicBezTo>
                        <a:pt x="130" y="10"/>
                        <a:pt x="130" y="10"/>
                        <a:pt x="130" y="10"/>
                      </a:cubicBezTo>
                      <a:cubicBezTo>
                        <a:pt x="130" y="4"/>
                        <a:pt x="126" y="0"/>
                        <a:pt x="120" y="0"/>
                      </a:cubicBezTo>
                      <a:cubicBezTo>
                        <a:pt x="10" y="0"/>
                        <a:pt x="10" y="0"/>
                        <a:pt x="10" y="0"/>
                      </a:cubicBezTo>
                      <a:cubicBezTo>
                        <a:pt x="5" y="0"/>
                        <a:pt x="0" y="4"/>
                        <a:pt x="0" y="10"/>
                      </a:cubicBezTo>
                      <a:cubicBezTo>
                        <a:pt x="0" y="79"/>
                        <a:pt x="0" y="79"/>
                        <a:pt x="0" y="79"/>
                      </a:cubicBezTo>
                      <a:cubicBezTo>
                        <a:pt x="0" y="84"/>
                        <a:pt x="5" y="89"/>
                        <a:pt x="10" y="89"/>
                      </a:cubicBezTo>
                      <a:close/>
                      <a:moveTo>
                        <a:pt x="9" y="10"/>
                      </a:moveTo>
                      <a:cubicBezTo>
                        <a:pt x="9" y="9"/>
                        <a:pt x="9" y="8"/>
                        <a:pt x="10" y="8"/>
                      </a:cubicBezTo>
                      <a:cubicBezTo>
                        <a:pt x="120" y="8"/>
                        <a:pt x="120" y="8"/>
                        <a:pt x="120" y="8"/>
                      </a:cubicBezTo>
                      <a:cubicBezTo>
                        <a:pt x="121" y="8"/>
                        <a:pt x="121" y="9"/>
                        <a:pt x="121" y="10"/>
                      </a:cubicBezTo>
                      <a:cubicBezTo>
                        <a:pt x="121" y="79"/>
                        <a:pt x="121" y="79"/>
                        <a:pt x="121" y="79"/>
                      </a:cubicBezTo>
                      <a:cubicBezTo>
                        <a:pt x="121" y="79"/>
                        <a:pt x="121" y="80"/>
                        <a:pt x="120" y="80"/>
                      </a:cubicBezTo>
                      <a:cubicBezTo>
                        <a:pt x="10" y="80"/>
                        <a:pt x="10" y="80"/>
                        <a:pt x="10" y="80"/>
                      </a:cubicBezTo>
                      <a:cubicBezTo>
                        <a:pt x="9" y="80"/>
                        <a:pt x="9" y="79"/>
                        <a:pt x="9" y="79"/>
                      </a:cubicBezTo>
                      <a:lnTo>
                        <a:pt x="9" y="10"/>
                      </a:lnTo>
                      <a:close/>
                      <a:moveTo>
                        <a:pt x="9" y="10"/>
                      </a:moveTo>
                      <a:cubicBezTo>
                        <a:pt x="9" y="10"/>
                        <a:pt x="9" y="10"/>
                        <a:pt x="9" y="1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Montserrat"/>
                    <a:ea typeface="+mn-ea"/>
                    <a:cs typeface="+mn-cs"/>
                  </a:endParaRPr>
                </a:p>
              </p:txBody>
            </p:sp>
            <p:sp>
              <p:nvSpPr>
                <p:cNvPr id="81" name="Freeform 182">
                  <a:extLst>
                    <a:ext uri="{FF2B5EF4-FFF2-40B4-BE49-F238E27FC236}">
                      <a16:creationId xmlns:a16="http://schemas.microsoft.com/office/drawing/2014/main" id="{CE3C07CB-486B-4BE7-BF40-BD0B23D9E989}"/>
                    </a:ext>
                  </a:extLst>
                </p:cNvPr>
                <p:cNvSpPr>
                  <a:spLocks noEditPoints="1"/>
                </p:cNvSpPr>
                <p:nvPr/>
              </p:nvSpPr>
              <p:spPr bwMode="auto">
                <a:xfrm>
                  <a:off x="3327400" y="6645275"/>
                  <a:ext cx="365125" cy="39688"/>
                </a:xfrm>
                <a:custGeom>
                  <a:avLst/>
                  <a:gdLst>
                    <a:gd name="T0" fmla="*/ 124 w 130"/>
                    <a:gd name="T1" fmla="*/ 0 h 13"/>
                    <a:gd name="T2" fmla="*/ 7 w 130"/>
                    <a:gd name="T3" fmla="*/ 0 h 13"/>
                    <a:gd name="T4" fmla="*/ 0 w 130"/>
                    <a:gd name="T5" fmla="*/ 6 h 13"/>
                    <a:gd name="T6" fmla="*/ 7 w 130"/>
                    <a:gd name="T7" fmla="*/ 13 h 13"/>
                    <a:gd name="T8" fmla="*/ 124 w 130"/>
                    <a:gd name="T9" fmla="*/ 13 h 13"/>
                    <a:gd name="T10" fmla="*/ 130 w 130"/>
                    <a:gd name="T11" fmla="*/ 6 h 13"/>
                    <a:gd name="T12" fmla="*/ 124 w 130"/>
                    <a:gd name="T13" fmla="*/ 0 h 13"/>
                    <a:gd name="T14" fmla="*/ 124 w 130"/>
                    <a:gd name="T15" fmla="*/ 0 h 13"/>
                    <a:gd name="T16" fmla="*/ 124 w 130"/>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 h="13">
                      <a:moveTo>
                        <a:pt x="124" y="0"/>
                      </a:moveTo>
                      <a:cubicBezTo>
                        <a:pt x="7" y="0"/>
                        <a:pt x="7" y="0"/>
                        <a:pt x="7" y="0"/>
                      </a:cubicBezTo>
                      <a:cubicBezTo>
                        <a:pt x="3" y="0"/>
                        <a:pt x="0" y="3"/>
                        <a:pt x="0" y="6"/>
                      </a:cubicBezTo>
                      <a:cubicBezTo>
                        <a:pt x="0" y="10"/>
                        <a:pt x="3" y="13"/>
                        <a:pt x="7" y="13"/>
                      </a:cubicBezTo>
                      <a:cubicBezTo>
                        <a:pt x="124" y="13"/>
                        <a:pt x="124" y="13"/>
                        <a:pt x="124" y="13"/>
                      </a:cubicBezTo>
                      <a:cubicBezTo>
                        <a:pt x="128" y="13"/>
                        <a:pt x="130" y="10"/>
                        <a:pt x="130" y="6"/>
                      </a:cubicBezTo>
                      <a:cubicBezTo>
                        <a:pt x="130" y="3"/>
                        <a:pt x="128" y="0"/>
                        <a:pt x="124" y="0"/>
                      </a:cubicBezTo>
                      <a:close/>
                      <a:moveTo>
                        <a:pt x="124" y="0"/>
                      </a:moveTo>
                      <a:cubicBezTo>
                        <a:pt x="124" y="0"/>
                        <a:pt x="124" y="0"/>
                        <a:pt x="124"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Montserrat"/>
                    <a:ea typeface="+mn-ea"/>
                    <a:cs typeface="+mn-cs"/>
                  </a:endParaRPr>
                </a:p>
              </p:txBody>
            </p:sp>
            <p:sp>
              <p:nvSpPr>
                <p:cNvPr id="82" name="Freeform 183">
                  <a:extLst>
                    <a:ext uri="{FF2B5EF4-FFF2-40B4-BE49-F238E27FC236}">
                      <a16:creationId xmlns:a16="http://schemas.microsoft.com/office/drawing/2014/main" id="{4A6C387A-9617-4627-B416-3B1E1564A00E}"/>
                    </a:ext>
                  </a:extLst>
                </p:cNvPr>
                <p:cNvSpPr>
                  <a:spLocks noEditPoints="1"/>
                </p:cNvSpPr>
                <p:nvPr/>
              </p:nvSpPr>
              <p:spPr bwMode="auto">
                <a:xfrm>
                  <a:off x="3432175" y="6418263"/>
                  <a:ext cx="158750" cy="171450"/>
                </a:xfrm>
                <a:custGeom>
                  <a:avLst/>
                  <a:gdLst>
                    <a:gd name="T0" fmla="*/ 28 w 57"/>
                    <a:gd name="T1" fmla="*/ 57 h 57"/>
                    <a:gd name="T2" fmla="*/ 57 w 57"/>
                    <a:gd name="T3" fmla="*/ 28 h 57"/>
                    <a:gd name="T4" fmla="*/ 28 w 57"/>
                    <a:gd name="T5" fmla="*/ 0 h 57"/>
                    <a:gd name="T6" fmla="*/ 0 w 57"/>
                    <a:gd name="T7" fmla="*/ 28 h 57"/>
                    <a:gd name="T8" fmla="*/ 28 w 57"/>
                    <a:gd name="T9" fmla="*/ 57 h 57"/>
                    <a:gd name="T10" fmla="*/ 26 w 57"/>
                    <a:gd name="T11" fmla="*/ 14 h 57"/>
                    <a:gd name="T12" fmla="*/ 26 w 57"/>
                    <a:gd name="T13" fmla="*/ 11 h 57"/>
                    <a:gd name="T14" fmla="*/ 28 w 57"/>
                    <a:gd name="T15" fmla="*/ 9 h 57"/>
                    <a:gd name="T16" fmla="*/ 30 w 57"/>
                    <a:gd name="T17" fmla="*/ 11 h 57"/>
                    <a:gd name="T18" fmla="*/ 30 w 57"/>
                    <a:gd name="T19" fmla="*/ 13 h 57"/>
                    <a:gd name="T20" fmla="*/ 35 w 57"/>
                    <a:gd name="T21" fmla="*/ 14 h 57"/>
                    <a:gd name="T22" fmla="*/ 37 w 57"/>
                    <a:gd name="T23" fmla="*/ 17 h 57"/>
                    <a:gd name="T24" fmla="*/ 37 w 57"/>
                    <a:gd name="T25" fmla="*/ 17 h 57"/>
                    <a:gd name="T26" fmla="*/ 35 w 57"/>
                    <a:gd name="T27" fmla="*/ 19 h 57"/>
                    <a:gd name="T28" fmla="*/ 33 w 57"/>
                    <a:gd name="T29" fmla="*/ 19 h 57"/>
                    <a:gd name="T30" fmla="*/ 29 w 57"/>
                    <a:gd name="T31" fmla="*/ 18 h 57"/>
                    <a:gd name="T32" fmla="*/ 25 w 57"/>
                    <a:gd name="T33" fmla="*/ 21 h 57"/>
                    <a:gd name="T34" fmla="*/ 31 w 57"/>
                    <a:gd name="T35" fmla="*/ 25 h 57"/>
                    <a:gd name="T36" fmla="*/ 39 w 57"/>
                    <a:gd name="T37" fmla="*/ 34 h 57"/>
                    <a:gd name="T38" fmla="*/ 30 w 57"/>
                    <a:gd name="T39" fmla="*/ 43 h 57"/>
                    <a:gd name="T40" fmla="*/ 30 w 57"/>
                    <a:gd name="T41" fmla="*/ 45 h 57"/>
                    <a:gd name="T42" fmla="*/ 28 w 57"/>
                    <a:gd name="T43" fmla="*/ 47 h 57"/>
                    <a:gd name="T44" fmla="*/ 26 w 57"/>
                    <a:gd name="T45" fmla="*/ 45 h 57"/>
                    <a:gd name="T46" fmla="*/ 26 w 57"/>
                    <a:gd name="T47" fmla="*/ 43 h 57"/>
                    <a:gd name="T48" fmla="*/ 20 w 57"/>
                    <a:gd name="T49" fmla="*/ 42 h 57"/>
                    <a:gd name="T50" fmla="*/ 18 w 57"/>
                    <a:gd name="T51" fmla="*/ 39 h 57"/>
                    <a:gd name="T52" fmla="*/ 18 w 57"/>
                    <a:gd name="T53" fmla="*/ 38 h 57"/>
                    <a:gd name="T54" fmla="*/ 20 w 57"/>
                    <a:gd name="T55" fmla="*/ 37 h 57"/>
                    <a:gd name="T56" fmla="*/ 22 w 57"/>
                    <a:gd name="T57" fmla="*/ 37 h 57"/>
                    <a:gd name="T58" fmla="*/ 27 w 57"/>
                    <a:gd name="T59" fmla="*/ 38 h 57"/>
                    <a:gd name="T60" fmla="*/ 31 w 57"/>
                    <a:gd name="T61" fmla="*/ 35 h 57"/>
                    <a:gd name="T62" fmla="*/ 26 w 57"/>
                    <a:gd name="T63" fmla="*/ 30 h 57"/>
                    <a:gd name="T64" fmla="*/ 18 w 57"/>
                    <a:gd name="T65" fmla="*/ 22 h 57"/>
                    <a:gd name="T66" fmla="*/ 26 w 57"/>
                    <a:gd name="T67" fmla="*/ 14 h 57"/>
                    <a:gd name="T68" fmla="*/ 26 w 57"/>
                    <a:gd name="T69" fmla="*/ 14 h 57"/>
                    <a:gd name="T70" fmla="*/ 26 w 57"/>
                    <a:gd name="T71" fmla="*/ 14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 h="57">
                      <a:moveTo>
                        <a:pt x="28" y="57"/>
                      </a:moveTo>
                      <a:cubicBezTo>
                        <a:pt x="44" y="57"/>
                        <a:pt x="57" y="44"/>
                        <a:pt x="57" y="28"/>
                      </a:cubicBezTo>
                      <a:cubicBezTo>
                        <a:pt x="57" y="12"/>
                        <a:pt x="44" y="0"/>
                        <a:pt x="28" y="0"/>
                      </a:cubicBezTo>
                      <a:cubicBezTo>
                        <a:pt x="12" y="0"/>
                        <a:pt x="0" y="12"/>
                        <a:pt x="0" y="28"/>
                      </a:cubicBezTo>
                      <a:cubicBezTo>
                        <a:pt x="0" y="44"/>
                        <a:pt x="12" y="57"/>
                        <a:pt x="28" y="57"/>
                      </a:cubicBezTo>
                      <a:close/>
                      <a:moveTo>
                        <a:pt x="26" y="14"/>
                      </a:moveTo>
                      <a:cubicBezTo>
                        <a:pt x="26" y="11"/>
                        <a:pt x="26" y="11"/>
                        <a:pt x="26" y="11"/>
                      </a:cubicBezTo>
                      <a:cubicBezTo>
                        <a:pt x="26" y="10"/>
                        <a:pt x="27" y="9"/>
                        <a:pt x="28" y="9"/>
                      </a:cubicBezTo>
                      <a:cubicBezTo>
                        <a:pt x="29" y="9"/>
                        <a:pt x="30" y="10"/>
                        <a:pt x="30" y="11"/>
                      </a:cubicBezTo>
                      <a:cubicBezTo>
                        <a:pt x="30" y="13"/>
                        <a:pt x="30" y="13"/>
                        <a:pt x="30" y="13"/>
                      </a:cubicBezTo>
                      <a:cubicBezTo>
                        <a:pt x="32" y="13"/>
                        <a:pt x="34" y="14"/>
                        <a:pt x="35" y="14"/>
                      </a:cubicBezTo>
                      <a:cubicBezTo>
                        <a:pt x="36" y="14"/>
                        <a:pt x="37" y="16"/>
                        <a:pt x="37" y="17"/>
                      </a:cubicBezTo>
                      <a:cubicBezTo>
                        <a:pt x="37" y="17"/>
                        <a:pt x="37" y="17"/>
                        <a:pt x="37" y="17"/>
                      </a:cubicBezTo>
                      <a:cubicBezTo>
                        <a:pt x="36" y="18"/>
                        <a:pt x="36" y="19"/>
                        <a:pt x="35" y="19"/>
                      </a:cubicBezTo>
                      <a:cubicBezTo>
                        <a:pt x="35" y="19"/>
                        <a:pt x="34" y="19"/>
                        <a:pt x="33" y="19"/>
                      </a:cubicBezTo>
                      <a:cubicBezTo>
                        <a:pt x="32" y="19"/>
                        <a:pt x="31" y="18"/>
                        <a:pt x="29" y="18"/>
                      </a:cubicBezTo>
                      <a:cubicBezTo>
                        <a:pt x="26" y="18"/>
                        <a:pt x="25" y="20"/>
                        <a:pt x="25" y="21"/>
                      </a:cubicBezTo>
                      <a:cubicBezTo>
                        <a:pt x="25" y="23"/>
                        <a:pt x="27" y="24"/>
                        <a:pt x="31" y="25"/>
                      </a:cubicBezTo>
                      <a:cubicBezTo>
                        <a:pt x="36" y="27"/>
                        <a:pt x="39" y="30"/>
                        <a:pt x="39" y="34"/>
                      </a:cubicBezTo>
                      <a:cubicBezTo>
                        <a:pt x="39" y="38"/>
                        <a:pt x="36" y="42"/>
                        <a:pt x="30" y="43"/>
                      </a:cubicBezTo>
                      <a:cubicBezTo>
                        <a:pt x="30" y="45"/>
                        <a:pt x="30" y="45"/>
                        <a:pt x="30" y="45"/>
                      </a:cubicBezTo>
                      <a:cubicBezTo>
                        <a:pt x="30" y="46"/>
                        <a:pt x="29" y="47"/>
                        <a:pt x="28" y="47"/>
                      </a:cubicBezTo>
                      <a:cubicBezTo>
                        <a:pt x="27" y="47"/>
                        <a:pt x="26" y="46"/>
                        <a:pt x="26" y="45"/>
                      </a:cubicBezTo>
                      <a:cubicBezTo>
                        <a:pt x="26" y="43"/>
                        <a:pt x="26" y="43"/>
                        <a:pt x="26" y="43"/>
                      </a:cubicBezTo>
                      <a:cubicBezTo>
                        <a:pt x="24" y="43"/>
                        <a:pt x="22" y="42"/>
                        <a:pt x="20" y="42"/>
                      </a:cubicBezTo>
                      <a:cubicBezTo>
                        <a:pt x="19" y="41"/>
                        <a:pt x="18" y="40"/>
                        <a:pt x="18" y="39"/>
                      </a:cubicBezTo>
                      <a:cubicBezTo>
                        <a:pt x="18" y="38"/>
                        <a:pt x="18" y="38"/>
                        <a:pt x="18" y="38"/>
                      </a:cubicBezTo>
                      <a:cubicBezTo>
                        <a:pt x="18" y="38"/>
                        <a:pt x="19" y="37"/>
                        <a:pt x="20" y="37"/>
                      </a:cubicBezTo>
                      <a:cubicBezTo>
                        <a:pt x="20" y="36"/>
                        <a:pt x="21" y="36"/>
                        <a:pt x="22" y="37"/>
                      </a:cubicBezTo>
                      <a:cubicBezTo>
                        <a:pt x="23" y="37"/>
                        <a:pt x="25" y="38"/>
                        <a:pt x="27" y="38"/>
                      </a:cubicBezTo>
                      <a:cubicBezTo>
                        <a:pt x="29" y="38"/>
                        <a:pt x="31" y="36"/>
                        <a:pt x="31" y="35"/>
                      </a:cubicBezTo>
                      <a:cubicBezTo>
                        <a:pt x="31" y="33"/>
                        <a:pt x="30" y="32"/>
                        <a:pt x="26" y="30"/>
                      </a:cubicBezTo>
                      <a:cubicBezTo>
                        <a:pt x="21" y="29"/>
                        <a:pt x="18" y="26"/>
                        <a:pt x="18" y="22"/>
                      </a:cubicBezTo>
                      <a:cubicBezTo>
                        <a:pt x="18" y="18"/>
                        <a:pt x="21" y="15"/>
                        <a:pt x="26" y="14"/>
                      </a:cubicBezTo>
                      <a:close/>
                      <a:moveTo>
                        <a:pt x="26" y="14"/>
                      </a:moveTo>
                      <a:cubicBezTo>
                        <a:pt x="26" y="14"/>
                        <a:pt x="26" y="14"/>
                        <a:pt x="26" y="1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Montserrat"/>
                    <a:ea typeface="+mn-ea"/>
                    <a:cs typeface="+mn-cs"/>
                  </a:endParaRPr>
                </a:p>
              </p:txBody>
            </p:sp>
          </p:grpSp>
          <p:grpSp>
            <p:nvGrpSpPr>
              <p:cNvPr id="62" name="Group 166">
                <a:extLst>
                  <a:ext uri="{FF2B5EF4-FFF2-40B4-BE49-F238E27FC236}">
                    <a16:creationId xmlns:a16="http://schemas.microsoft.com/office/drawing/2014/main" id="{47E1B399-6638-45AA-8394-B0C5B269EF99}"/>
                  </a:ext>
                </a:extLst>
              </p:cNvPr>
              <p:cNvGrpSpPr/>
              <p:nvPr/>
            </p:nvGrpSpPr>
            <p:grpSpPr>
              <a:xfrm>
                <a:off x="2353475" y="3643710"/>
                <a:ext cx="365558" cy="325882"/>
                <a:chOff x="1162050" y="4178300"/>
                <a:chExt cx="360363" cy="317501"/>
              </a:xfrm>
              <a:solidFill>
                <a:schemeClr val="bg1"/>
              </a:solidFill>
            </p:grpSpPr>
            <p:sp>
              <p:nvSpPr>
                <p:cNvPr id="67" name="Freeform 95">
                  <a:extLst>
                    <a:ext uri="{FF2B5EF4-FFF2-40B4-BE49-F238E27FC236}">
                      <a16:creationId xmlns:a16="http://schemas.microsoft.com/office/drawing/2014/main" id="{AF083D7B-EF95-4090-B9F3-DA26A4C8405B}"/>
                    </a:ext>
                  </a:extLst>
                </p:cNvPr>
                <p:cNvSpPr>
                  <a:spLocks noEditPoints="1"/>
                </p:cNvSpPr>
                <p:nvPr/>
              </p:nvSpPr>
              <p:spPr bwMode="auto">
                <a:xfrm>
                  <a:off x="1217613" y="4235450"/>
                  <a:ext cx="265113" cy="128588"/>
                </a:xfrm>
                <a:custGeom>
                  <a:avLst/>
                  <a:gdLst>
                    <a:gd name="T0" fmla="*/ 3 w 94"/>
                    <a:gd name="T1" fmla="*/ 42 h 43"/>
                    <a:gd name="T2" fmla="*/ 12 w 94"/>
                    <a:gd name="T3" fmla="*/ 42 h 43"/>
                    <a:gd name="T4" fmla="*/ 14 w 94"/>
                    <a:gd name="T5" fmla="*/ 40 h 43"/>
                    <a:gd name="T6" fmla="*/ 18 w 94"/>
                    <a:gd name="T7" fmla="*/ 30 h 43"/>
                    <a:gd name="T8" fmla="*/ 23 w 94"/>
                    <a:gd name="T9" fmla="*/ 40 h 43"/>
                    <a:gd name="T10" fmla="*/ 27 w 94"/>
                    <a:gd name="T11" fmla="*/ 40 h 43"/>
                    <a:gd name="T12" fmla="*/ 34 w 94"/>
                    <a:gd name="T13" fmla="*/ 12 h 43"/>
                    <a:gd name="T14" fmla="*/ 40 w 94"/>
                    <a:gd name="T15" fmla="*/ 40 h 43"/>
                    <a:gd name="T16" fmla="*/ 44 w 94"/>
                    <a:gd name="T17" fmla="*/ 40 h 43"/>
                    <a:gd name="T18" fmla="*/ 51 w 94"/>
                    <a:gd name="T19" fmla="*/ 23 h 43"/>
                    <a:gd name="T20" fmla="*/ 57 w 94"/>
                    <a:gd name="T21" fmla="*/ 40 h 43"/>
                    <a:gd name="T22" fmla="*/ 61 w 94"/>
                    <a:gd name="T23" fmla="*/ 41 h 43"/>
                    <a:gd name="T24" fmla="*/ 65 w 94"/>
                    <a:gd name="T25" fmla="*/ 34 h 43"/>
                    <a:gd name="T26" fmla="*/ 67 w 94"/>
                    <a:gd name="T27" fmla="*/ 40 h 43"/>
                    <a:gd name="T28" fmla="*/ 69 w 94"/>
                    <a:gd name="T29" fmla="*/ 42 h 43"/>
                    <a:gd name="T30" fmla="*/ 91 w 94"/>
                    <a:gd name="T31" fmla="*/ 42 h 43"/>
                    <a:gd name="T32" fmla="*/ 91 w 94"/>
                    <a:gd name="T33" fmla="*/ 37 h 43"/>
                    <a:gd name="T34" fmla="*/ 72 w 94"/>
                    <a:gd name="T35" fmla="*/ 37 h 43"/>
                    <a:gd name="T36" fmla="*/ 71 w 94"/>
                    <a:gd name="T37" fmla="*/ 38 h 43"/>
                    <a:gd name="T38" fmla="*/ 70 w 94"/>
                    <a:gd name="T39" fmla="*/ 35 h 43"/>
                    <a:gd name="T40" fmla="*/ 67 w 94"/>
                    <a:gd name="T41" fmla="*/ 27 h 43"/>
                    <a:gd name="T42" fmla="*/ 63 w 94"/>
                    <a:gd name="T43" fmla="*/ 27 h 43"/>
                    <a:gd name="T44" fmla="*/ 59 w 94"/>
                    <a:gd name="T45" fmla="*/ 34 h 43"/>
                    <a:gd name="T46" fmla="*/ 54 w 94"/>
                    <a:gd name="T47" fmla="*/ 15 h 43"/>
                    <a:gd name="T48" fmla="*/ 49 w 94"/>
                    <a:gd name="T49" fmla="*/ 15 h 43"/>
                    <a:gd name="T50" fmla="*/ 43 w 94"/>
                    <a:gd name="T51" fmla="*/ 32 h 43"/>
                    <a:gd name="T52" fmla="*/ 36 w 94"/>
                    <a:gd name="T53" fmla="*/ 2 h 43"/>
                    <a:gd name="T54" fmla="*/ 32 w 94"/>
                    <a:gd name="T55" fmla="*/ 2 h 43"/>
                    <a:gd name="T56" fmla="*/ 24 w 94"/>
                    <a:gd name="T57" fmla="*/ 33 h 43"/>
                    <a:gd name="T58" fmla="*/ 19 w 94"/>
                    <a:gd name="T59" fmla="*/ 24 h 43"/>
                    <a:gd name="T60" fmla="*/ 15 w 94"/>
                    <a:gd name="T61" fmla="*/ 24 h 43"/>
                    <a:gd name="T62" fmla="*/ 11 w 94"/>
                    <a:gd name="T63" fmla="*/ 36 h 43"/>
                    <a:gd name="T64" fmla="*/ 10 w 94"/>
                    <a:gd name="T65" fmla="*/ 37 h 43"/>
                    <a:gd name="T66" fmla="*/ 3 w 94"/>
                    <a:gd name="T67" fmla="*/ 37 h 43"/>
                    <a:gd name="T68" fmla="*/ 3 w 94"/>
                    <a:gd name="T69" fmla="*/ 42 h 43"/>
                    <a:gd name="T70" fmla="*/ 3 w 94"/>
                    <a:gd name="T71" fmla="*/ 42 h 43"/>
                    <a:gd name="T72" fmla="*/ 3 w 94"/>
                    <a:gd name="T73"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4" h="43">
                      <a:moveTo>
                        <a:pt x="3" y="42"/>
                      </a:moveTo>
                      <a:cubicBezTo>
                        <a:pt x="12" y="42"/>
                        <a:pt x="12" y="42"/>
                        <a:pt x="12" y="42"/>
                      </a:cubicBezTo>
                      <a:cubicBezTo>
                        <a:pt x="13" y="42"/>
                        <a:pt x="13" y="41"/>
                        <a:pt x="14" y="40"/>
                      </a:cubicBezTo>
                      <a:cubicBezTo>
                        <a:pt x="15" y="37"/>
                        <a:pt x="16" y="34"/>
                        <a:pt x="18" y="30"/>
                      </a:cubicBezTo>
                      <a:cubicBezTo>
                        <a:pt x="19" y="34"/>
                        <a:pt x="21" y="37"/>
                        <a:pt x="23" y="40"/>
                      </a:cubicBezTo>
                      <a:cubicBezTo>
                        <a:pt x="23" y="42"/>
                        <a:pt x="26" y="42"/>
                        <a:pt x="27" y="40"/>
                      </a:cubicBezTo>
                      <a:cubicBezTo>
                        <a:pt x="34" y="12"/>
                        <a:pt x="34" y="12"/>
                        <a:pt x="34" y="12"/>
                      </a:cubicBezTo>
                      <a:cubicBezTo>
                        <a:pt x="36" y="22"/>
                        <a:pt x="38" y="31"/>
                        <a:pt x="40" y="40"/>
                      </a:cubicBezTo>
                      <a:cubicBezTo>
                        <a:pt x="41" y="43"/>
                        <a:pt x="44" y="42"/>
                        <a:pt x="44" y="40"/>
                      </a:cubicBezTo>
                      <a:cubicBezTo>
                        <a:pt x="51" y="23"/>
                        <a:pt x="51" y="23"/>
                        <a:pt x="51" y="23"/>
                      </a:cubicBezTo>
                      <a:cubicBezTo>
                        <a:pt x="53" y="28"/>
                        <a:pt x="55" y="34"/>
                        <a:pt x="57" y="40"/>
                      </a:cubicBezTo>
                      <a:cubicBezTo>
                        <a:pt x="57" y="42"/>
                        <a:pt x="60" y="42"/>
                        <a:pt x="61" y="41"/>
                      </a:cubicBezTo>
                      <a:cubicBezTo>
                        <a:pt x="62" y="38"/>
                        <a:pt x="63" y="36"/>
                        <a:pt x="65" y="34"/>
                      </a:cubicBezTo>
                      <a:cubicBezTo>
                        <a:pt x="66" y="36"/>
                        <a:pt x="66" y="38"/>
                        <a:pt x="67" y="40"/>
                      </a:cubicBezTo>
                      <a:cubicBezTo>
                        <a:pt x="68" y="41"/>
                        <a:pt x="68" y="42"/>
                        <a:pt x="69" y="42"/>
                      </a:cubicBezTo>
                      <a:cubicBezTo>
                        <a:pt x="91" y="42"/>
                        <a:pt x="91" y="42"/>
                        <a:pt x="91" y="42"/>
                      </a:cubicBezTo>
                      <a:cubicBezTo>
                        <a:pt x="94" y="42"/>
                        <a:pt x="94" y="37"/>
                        <a:pt x="91" y="37"/>
                      </a:cubicBezTo>
                      <a:cubicBezTo>
                        <a:pt x="72" y="37"/>
                        <a:pt x="72" y="37"/>
                        <a:pt x="72" y="37"/>
                      </a:cubicBezTo>
                      <a:cubicBezTo>
                        <a:pt x="71" y="37"/>
                        <a:pt x="71" y="38"/>
                        <a:pt x="71" y="38"/>
                      </a:cubicBezTo>
                      <a:cubicBezTo>
                        <a:pt x="71" y="37"/>
                        <a:pt x="71" y="36"/>
                        <a:pt x="70" y="35"/>
                      </a:cubicBezTo>
                      <a:cubicBezTo>
                        <a:pt x="69" y="33"/>
                        <a:pt x="68" y="30"/>
                        <a:pt x="67" y="27"/>
                      </a:cubicBezTo>
                      <a:cubicBezTo>
                        <a:pt x="67" y="26"/>
                        <a:pt x="64" y="25"/>
                        <a:pt x="63" y="27"/>
                      </a:cubicBezTo>
                      <a:cubicBezTo>
                        <a:pt x="62" y="29"/>
                        <a:pt x="61" y="31"/>
                        <a:pt x="59" y="34"/>
                      </a:cubicBezTo>
                      <a:cubicBezTo>
                        <a:pt x="58" y="27"/>
                        <a:pt x="56" y="21"/>
                        <a:pt x="54" y="15"/>
                      </a:cubicBezTo>
                      <a:cubicBezTo>
                        <a:pt x="53" y="13"/>
                        <a:pt x="50" y="13"/>
                        <a:pt x="49" y="15"/>
                      </a:cubicBezTo>
                      <a:cubicBezTo>
                        <a:pt x="47" y="21"/>
                        <a:pt x="45" y="26"/>
                        <a:pt x="43" y="32"/>
                      </a:cubicBezTo>
                      <a:cubicBezTo>
                        <a:pt x="41" y="22"/>
                        <a:pt x="38" y="12"/>
                        <a:pt x="36" y="2"/>
                      </a:cubicBezTo>
                      <a:cubicBezTo>
                        <a:pt x="36" y="0"/>
                        <a:pt x="32" y="0"/>
                        <a:pt x="32" y="2"/>
                      </a:cubicBezTo>
                      <a:cubicBezTo>
                        <a:pt x="29" y="12"/>
                        <a:pt x="27" y="23"/>
                        <a:pt x="24" y="33"/>
                      </a:cubicBezTo>
                      <a:cubicBezTo>
                        <a:pt x="22" y="30"/>
                        <a:pt x="21" y="27"/>
                        <a:pt x="19" y="24"/>
                      </a:cubicBezTo>
                      <a:cubicBezTo>
                        <a:pt x="18" y="22"/>
                        <a:pt x="16" y="22"/>
                        <a:pt x="15" y="24"/>
                      </a:cubicBezTo>
                      <a:cubicBezTo>
                        <a:pt x="14" y="28"/>
                        <a:pt x="12" y="32"/>
                        <a:pt x="11" y="36"/>
                      </a:cubicBezTo>
                      <a:cubicBezTo>
                        <a:pt x="10" y="37"/>
                        <a:pt x="10" y="37"/>
                        <a:pt x="10" y="37"/>
                      </a:cubicBezTo>
                      <a:cubicBezTo>
                        <a:pt x="3" y="37"/>
                        <a:pt x="3" y="37"/>
                        <a:pt x="3" y="37"/>
                      </a:cubicBezTo>
                      <a:cubicBezTo>
                        <a:pt x="0" y="37"/>
                        <a:pt x="0" y="42"/>
                        <a:pt x="3" y="42"/>
                      </a:cubicBezTo>
                      <a:close/>
                      <a:moveTo>
                        <a:pt x="3" y="42"/>
                      </a:moveTo>
                      <a:cubicBezTo>
                        <a:pt x="3" y="42"/>
                        <a:pt x="3" y="42"/>
                        <a:pt x="3" y="4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Montserrat"/>
                    <a:ea typeface="+mn-ea"/>
                    <a:cs typeface="+mn-cs"/>
                  </a:endParaRPr>
                </a:p>
              </p:txBody>
            </p:sp>
            <p:sp>
              <p:nvSpPr>
                <p:cNvPr id="68" name="Freeform 96">
                  <a:extLst>
                    <a:ext uri="{FF2B5EF4-FFF2-40B4-BE49-F238E27FC236}">
                      <a16:creationId xmlns:a16="http://schemas.microsoft.com/office/drawing/2014/main" id="{8E775BEA-2214-4DFE-84FB-FAB8ED23153F}"/>
                    </a:ext>
                  </a:extLst>
                </p:cNvPr>
                <p:cNvSpPr>
                  <a:spLocks noEditPoints="1"/>
                </p:cNvSpPr>
                <p:nvPr/>
              </p:nvSpPr>
              <p:spPr bwMode="auto">
                <a:xfrm>
                  <a:off x="1162050" y="4178300"/>
                  <a:ext cx="360363" cy="306388"/>
                </a:xfrm>
                <a:custGeom>
                  <a:avLst/>
                  <a:gdLst>
                    <a:gd name="T0" fmla="*/ 0 w 227"/>
                    <a:gd name="T1" fmla="*/ 0 h 193"/>
                    <a:gd name="T2" fmla="*/ 0 w 227"/>
                    <a:gd name="T3" fmla="*/ 161 h 193"/>
                    <a:gd name="T4" fmla="*/ 81 w 227"/>
                    <a:gd name="T5" fmla="*/ 161 h 193"/>
                    <a:gd name="T6" fmla="*/ 81 w 227"/>
                    <a:gd name="T7" fmla="*/ 193 h 193"/>
                    <a:gd name="T8" fmla="*/ 143 w 227"/>
                    <a:gd name="T9" fmla="*/ 193 h 193"/>
                    <a:gd name="T10" fmla="*/ 143 w 227"/>
                    <a:gd name="T11" fmla="*/ 161 h 193"/>
                    <a:gd name="T12" fmla="*/ 227 w 227"/>
                    <a:gd name="T13" fmla="*/ 161 h 193"/>
                    <a:gd name="T14" fmla="*/ 227 w 227"/>
                    <a:gd name="T15" fmla="*/ 0 h 193"/>
                    <a:gd name="T16" fmla="*/ 0 w 227"/>
                    <a:gd name="T17" fmla="*/ 0 h 193"/>
                    <a:gd name="T18" fmla="*/ 204 w 227"/>
                    <a:gd name="T19" fmla="*/ 136 h 193"/>
                    <a:gd name="T20" fmla="*/ 23 w 227"/>
                    <a:gd name="T21" fmla="*/ 136 h 193"/>
                    <a:gd name="T22" fmla="*/ 23 w 227"/>
                    <a:gd name="T23" fmla="*/ 25 h 193"/>
                    <a:gd name="T24" fmla="*/ 204 w 227"/>
                    <a:gd name="T25" fmla="*/ 25 h 193"/>
                    <a:gd name="T26" fmla="*/ 204 w 227"/>
                    <a:gd name="T27" fmla="*/ 136 h 193"/>
                    <a:gd name="T28" fmla="*/ 204 w 227"/>
                    <a:gd name="T29" fmla="*/ 136 h 193"/>
                    <a:gd name="T30" fmla="*/ 204 w 227"/>
                    <a:gd name="T31" fmla="*/ 13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7" h="193">
                      <a:moveTo>
                        <a:pt x="0" y="0"/>
                      </a:moveTo>
                      <a:lnTo>
                        <a:pt x="0" y="161"/>
                      </a:lnTo>
                      <a:lnTo>
                        <a:pt x="81" y="161"/>
                      </a:lnTo>
                      <a:lnTo>
                        <a:pt x="81" y="193"/>
                      </a:lnTo>
                      <a:lnTo>
                        <a:pt x="143" y="193"/>
                      </a:lnTo>
                      <a:lnTo>
                        <a:pt x="143" y="161"/>
                      </a:lnTo>
                      <a:lnTo>
                        <a:pt x="227" y="161"/>
                      </a:lnTo>
                      <a:lnTo>
                        <a:pt x="227" y="0"/>
                      </a:lnTo>
                      <a:lnTo>
                        <a:pt x="0" y="0"/>
                      </a:lnTo>
                      <a:close/>
                      <a:moveTo>
                        <a:pt x="204" y="136"/>
                      </a:moveTo>
                      <a:lnTo>
                        <a:pt x="23" y="136"/>
                      </a:lnTo>
                      <a:lnTo>
                        <a:pt x="23" y="25"/>
                      </a:lnTo>
                      <a:lnTo>
                        <a:pt x="204" y="25"/>
                      </a:lnTo>
                      <a:lnTo>
                        <a:pt x="204" y="136"/>
                      </a:lnTo>
                      <a:close/>
                      <a:moveTo>
                        <a:pt x="204" y="136"/>
                      </a:moveTo>
                      <a:lnTo>
                        <a:pt x="204" y="1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Montserrat"/>
                    <a:ea typeface="+mn-ea"/>
                    <a:cs typeface="+mn-cs"/>
                  </a:endParaRPr>
                </a:p>
              </p:txBody>
            </p:sp>
            <p:sp>
              <p:nvSpPr>
                <p:cNvPr id="69" name="Freeform 97">
                  <a:extLst>
                    <a:ext uri="{FF2B5EF4-FFF2-40B4-BE49-F238E27FC236}">
                      <a16:creationId xmlns:a16="http://schemas.microsoft.com/office/drawing/2014/main" id="{68738208-BC90-4F03-8285-251D392AE206}"/>
                    </a:ext>
                  </a:extLst>
                </p:cNvPr>
                <p:cNvSpPr>
                  <a:spLocks noEditPoints="1"/>
                </p:cNvSpPr>
                <p:nvPr/>
              </p:nvSpPr>
              <p:spPr bwMode="auto">
                <a:xfrm>
                  <a:off x="1162050" y="4178300"/>
                  <a:ext cx="360363" cy="306388"/>
                </a:xfrm>
                <a:custGeom>
                  <a:avLst/>
                  <a:gdLst>
                    <a:gd name="T0" fmla="*/ 0 w 227"/>
                    <a:gd name="T1" fmla="*/ 0 h 193"/>
                    <a:gd name="T2" fmla="*/ 0 w 227"/>
                    <a:gd name="T3" fmla="*/ 161 h 193"/>
                    <a:gd name="T4" fmla="*/ 81 w 227"/>
                    <a:gd name="T5" fmla="*/ 161 h 193"/>
                    <a:gd name="T6" fmla="*/ 81 w 227"/>
                    <a:gd name="T7" fmla="*/ 193 h 193"/>
                    <a:gd name="T8" fmla="*/ 143 w 227"/>
                    <a:gd name="T9" fmla="*/ 193 h 193"/>
                    <a:gd name="T10" fmla="*/ 143 w 227"/>
                    <a:gd name="T11" fmla="*/ 161 h 193"/>
                    <a:gd name="T12" fmla="*/ 227 w 227"/>
                    <a:gd name="T13" fmla="*/ 161 h 193"/>
                    <a:gd name="T14" fmla="*/ 227 w 227"/>
                    <a:gd name="T15" fmla="*/ 0 h 193"/>
                    <a:gd name="T16" fmla="*/ 0 w 227"/>
                    <a:gd name="T17" fmla="*/ 0 h 193"/>
                    <a:gd name="T18" fmla="*/ 204 w 227"/>
                    <a:gd name="T19" fmla="*/ 136 h 193"/>
                    <a:gd name="T20" fmla="*/ 23 w 227"/>
                    <a:gd name="T21" fmla="*/ 136 h 193"/>
                    <a:gd name="T22" fmla="*/ 23 w 227"/>
                    <a:gd name="T23" fmla="*/ 25 h 193"/>
                    <a:gd name="T24" fmla="*/ 204 w 227"/>
                    <a:gd name="T25" fmla="*/ 25 h 193"/>
                    <a:gd name="T26" fmla="*/ 204 w 227"/>
                    <a:gd name="T27" fmla="*/ 136 h 193"/>
                    <a:gd name="T28" fmla="*/ 204 w 227"/>
                    <a:gd name="T29" fmla="*/ 136 h 193"/>
                    <a:gd name="T30" fmla="*/ 204 w 227"/>
                    <a:gd name="T31" fmla="*/ 13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7" h="193">
                      <a:moveTo>
                        <a:pt x="0" y="0"/>
                      </a:moveTo>
                      <a:lnTo>
                        <a:pt x="0" y="161"/>
                      </a:lnTo>
                      <a:lnTo>
                        <a:pt x="81" y="161"/>
                      </a:lnTo>
                      <a:lnTo>
                        <a:pt x="81" y="193"/>
                      </a:lnTo>
                      <a:lnTo>
                        <a:pt x="143" y="193"/>
                      </a:lnTo>
                      <a:lnTo>
                        <a:pt x="143" y="161"/>
                      </a:lnTo>
                      <a:lnTo>
                        <a:pt x="227" y="161"/>
                      </a:lnTo>
                      <a:lnTo>
                        <a:pt x="227" y="0"/>
                      </a:lnTo>
                      <a:lnTo>
                        <a:pt x="0" y="0"/>
                      </a:lnTo>
                      <a:moveTo>
                        <a:pt x="204" y="136"/>
                      </a:moveTo>
                      <a:lnTo>
                        <a:pt x="23" y="136"/>
                      </a:lnTo>
                      <a:lnTo>
                        <a:pt x="23" y="25"/>
                      </a:lnTo>
                      <a:lnTo>
                        <a:pt x="204" y="25"/>
                      </a:lnTo>
                      <a:lnTo>
                        <a:pt x="204" y="136"/>
                      </a:lnTo>
                      <a:moveTo>
                        <a:pt x="204" y="136"/>
                      </a:moveTo>
                      <a:lnTo>
                        <a:pt x="204" y="13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Montserrat"/>
                    <a:ea typeface="+mn-ea"/>
                    <a:cs typeface="+mn-cs"/>
                  </a:endParaRPr>
                </a:p>
              </p:txBody>
            </p:sp>
            <p:sp>
              <p:nvSpPr>
                <p:cNvPr id="73" name="Rectangle 170">
                  <a:extLst>
                    <a:ext uri="{FF2B5EF4-FFF2-40B4-BE49-F238E27FC236}">
                      <a16:creationId xmlns:a16="http://schemas.microsoft.com/office/drawing/2014/main" id="{6DE2E554-99CB-489C-BADB-4A290B3F02FA}"/>
                    </a:ext>
                  </a:extLst>
                </p:cNvPr>
                <p:cNvSpPr>
                  <a:spLocks noChangeArrowheads="1"/>
                </p:cNvSpPr>
                <p:nvPr/>
              </p:nvSpPr>
              <p:spPr bwMode="auto">
                <a:xfrm>
                  <a:off x="1239838" y="4487863"/>
                  <a:ext cx="203200" cy="79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2"/>
                    </a:solidFill>
                    <a:effectLst/>
                    <a:uLnTx/>
                    <a:uFillTx/>
                    <a:latin typeface="Montserrat"/>
                    <a:ea typeface="+mn-ea"/>
                    <a:cs typeface="+mn-cs"/>
                  </a:endParaRPr>
                </a:p>
              </p:txBody>
            </p:sp>
          </p:grpSp>
          <p:sp>
            <p:nvSpPr>
              <p:cNvPr id="66" name="Google Shape;198;p8">
                <a:extLst>
                  <a:ext uri="{FF2B5EF4-FFF2-40B4-BE49-F238E27FC236}">
                    <a16:creationId xmlns:a16="http://schemas.microsoft.com/office/drawing/2014/main" id="{149BD145-D212-4A16-B790-D6632D767066}"/>
                  </a:ext>
                </a:extLst>
              </p:cNvPr>
              <p:cNvSpPr/>
              <p:nvPr/>
            </p:nvSpPr>
            <p:spPr>
              <a:xfrm>
                <a:off x="4390644" y="4865710"/>
                <a:ext cx="396811" cy="320811"/>
              </a:xfrm>
              <a:custGeom>
                <a:avLst/>
                <a:gdLst/>
                <a:ahLst/>
                <a:cxnLst/>
                <a:rect l="l" t="t" r="r" b="b"/>
                <a:pathLst>
                  <a:path w="7419" h="5928" extrusionOk="0">
                    <a:moveTo>
                      <a:pt x="1845" y="1473"/>
                    </a:moveTo>
                    <a:lnTo>
                      <a:pt x="1734" y="1492"/>
                    </a:lnTo>
                    <a:lnTo>
                      <a:pt x="1622" y="1510"/>
                    </a:lnTo>
                    <a:lnTo>
                      <a:pt x="1417" y="1566"/>
                    </a:lnTo>
                    <a:lnTo>
                      <a:pt x="1230" y="1678"/>
                    </a:lnTo>
                    <a:lnTo>
                      <a:pt x="1063" y="1809"/>
                    </a:lnTo>
                    <a:lnTo>
                      <a:pt x="932" y="1976"/>
                    </a:lnTo>
                    <a:lnTo>
                      <a:pt x="820" y="2163"/>
                    </a:lnTo>
                    <a:lnTo>
                      <a:pt x="764" y="2368"/>
                    </a:lnTo>
                    <a:lnTo>
                      <a:pt x="746" y="2480"/>
                    </a:lnTo>
                    <a:lnTo>
                      <a:pt x="746" y="2591"/>
                    </a:lnTo>
                    <a:lnTo>
                      <a:pt x="746" y="2703"/>
                    </a:lnTo>
                    <a:lnTo>
                      <a:pt x="764" y="2815"/>
                    </a:lnTo>
                    <a:lnTo>
                      <a:pt x="820" y="3020"/>
                    </a:lnTo>
                    <a:lnTo>
                      <a:pt x="932" y="3207"/>
                    </a:lnTo>
                    <a:lnTo>
                      <a:pt x="1063" y="3374"/>
                    </a:lnTo>
                    <a:lnTo>
                      <a:pt x="1230" y="3523"/>
                    </a:lnTo>
                    <a:lnTo>
                      <a:pt x="1417" y="3617"/>
                    </a:lnTo>
                    <a:lnTo>
                      <a:pt x="1622" y="3691"/>
                    </a:lnTo>
                    <a:lnTo>
                      <a:pt x="1734" y="3691"/>
                    </a:lnTo>
                    <a:lnTo>
                      <a:pt x="1845" y="3710"/>
                    </a:lnTo>
                    <a:lnTo>
                      <a:pt x="1957" y="3691"/>
                    </a:lnTo>
                    <a:lnTo>
                      <a:pt x="2069" y="3691"/>
                    </a:lnTo>
                    <a:lnTo>
                      <a:pt x="2293" y="3617"/>
                    </a:lnTo>
                    <a:lnTo>
                      <a:pt x="2479" y="3523"/>
                    </a:lnTo>
                    <a:lnTo>
                      <a:pt x="2628" y="3374"/>
                    </a:lnTo>
                    <a:lnTo>
                      <a:pt x="2777" y="3207"/>
                    </a:lnTo>
                    <a:lnTo>
                      <a:pt x="2871" y="3020"/>
                    </a:lnTo>
                    <a:lnTo>
                      <a:pt x="2945" y="2815"/>
                    </a:lnTo>
                    <a:lnTo>
                      <a:pt x="2964" y="2703"/>
                    </a:lnTo>
                    <a:lnTo>
                      <a:pt x="2964" y="2591"/>
                    </a:lnTo>
                    <a:lnTo>
                      <a:pt x="2964" y="2480"/>
                    </a:lnTo>
                    <a:lnTo>
                      <a:pt x="2945" y="2368"/>
                    </a:lnTo>
                    <a:lnTo>
                      <a:pt x="2871" y="2163"/>
                    </a:lnTo>
                    <a:lnTo>
                      <a:pt x="2777" y="1976"/>
                    </a:lnTo>
                    <a:lnTo>
                      <a:pt x="2628" y="1809"/>
                    </a:lnTo>
                    <a:lnTo>
                      <a:pt x="2479" y="1678"/>
                    </a:lnTo>
                    <a:lnTo>
                      <a:pt x="2293" y="1566"/>
                    </a:lnTo>
                    <a:lnTo>
                      <a:pt x="2069" y="1510"/>
                    </a:lnTo>
                    <a:lnTo>
                      <a:pt x="1957" y="1492"/>
                    </a:lnTo>
                    <a:lnTo>
                      <a:pt x="1845" y="1473"/>
                    </a:lnTo>
                    <a:close/>
                    <a:moveTo>
                      <a:pt x="2293" y="0"/>
                    </a:moveTo>
                    <a:lnTo>
                      <a:pt x="2200" y="38"/>
                    </a:lnTo>
                    <a:lnTo>
                      <a:pt x="2106" y="94"/>
                    </a:lnTo>
                    <a:lnTo>
                      <a:pt x="2013" y="168"/>
                    </a:lnTo>
                    <a:lnTo>
                      <a:pt x="1939" y="243"/>
                    </a:lnTo>
                    <a:lnTo>
                      <a:pt x="1901" y="336"/>
                    </a:lnTo>
                    <a:lnTo>
                      <a:pt x="1864" y="448"/>
                    </a:lnTo>
                    <a:lnTo>
                      <a:pt x="1845" y="560"/>
                    </a:lnTo>
                    <a:lnTo>
                      <a:pt x="1845" y="1100"/>
                    </a:lnTo>
                    <a:lnTo>
                      <a:pt x="2050" y="1119"/>
                    </a:lnTo>
                    <a:lnTo>
                      <a:pt x="2237" y="1156"/>
                    </a:lnTo>
                    <a:lnTo>
                      <a:pt x="2423" y="1231"/>
                    </a:lnTo>
                    <a:lnTo>
                      <a:pt x="2591" y="1305"/>
                    </a:lnTo>
                    <a:lnTo>
                      <a:pt x="2591" y="727"/>
                    </a:lnTo>
                    <a:lnTo>
                      <a:pt x="6673" y="727"/>
                    </a:lnTo>
                    <a:lnTo>
                      <a:pt x="6673" y="4083"/>
                    </a:lnTo>
                    <a:lnTo>
                      <a:pt x="5928" y="4083"/>
                    </a:lnTo>
                    <a:lnTo>
                      <a:pt x="5928" y="3337"/>
                    </a:lnTo>
                    <a:lnTo>
                      <a:pt x="4455" y="3337"/>
                    </a:lnTo>
                    <a:lnTo>
                      <a:pt x="4455" y="4083"/>
                    </a:lnTo>
                    <a:lnTo>
                      <a:pt x="3560" y="4083"/>
                    </a:lnTo>
                    <a:lnTo>
                      <a:pt x="3728" y="4232"/>
                    </a:lnTo>
                    <a:lnTo>
                      <a:pt x="3859" y="4418"/>
                    </a:lnTo>
                    <a:lnTo>
                      <a:pt x="3952" y="4605"/>
                    </a:lnTo>
                    <a:lnTo>
                      <a:pt x="4026" y="4828"/>
                    </a:lnTo>
                    <a:lnTo>
                      <a:pt x="6860" y="4828"/>
                    </a:lnTo>
                    <a:lnTo>
                      <a:pt x="6971" y="4810"/>
                    </a:lnTo>
                    <a:lnTo>
                      <a:pt x="7083" y="4772"/>
                    </a:lnTo>
                    <a:lnTo>
                      <a:pt x="7176" y="4716"/>
                    </a:lnTo>
                    <a:lnTo>
                      <a:pt x="7251" y="4642"/>
                    </a:lnTo>
                    <a:lnTo>
                      <a:pt x="7326" y="4567"/>
                    </a:lnTo>
                    <a:lnTo>
                      <a:pt x="7381" y="4474"/>
                    </a:lnTo>
                    <a:lnTo>
                      <a:pt x="7400" y="4362"/>
                    </a:lnTo>
                    <a:lnTo>
                      <a:pt x="7419" y="4250"/>
                    </a:lnTo>
                    <a:lnTo>
                      <a:pt x="7419" y="560"/>
                    </a:lnTo>
                    <a:lnTo>
                      <a:pt x="7400" y="448"/>
                    </a:lnTo>
                    <a:lnTo>
                      <a:pt x="7381" y="336"/>
                    </a:lnTo>
                    <a:lnTo>
                      <a:pt x="7326" y="243"/>
                    </a:lnTo>
                    <a:lnTo>
                      <a:pt x="7251" y="168"/>
                    </a:lnTo>
                    <a:lnTo>
                      <a:pt x="7176" y="94"/>
                    </a:lnTo>
                    <a:lnTo>
                      <a:pt x="7083" y="38"/>
                    </a:lnTo>
                    <a:lnTo>
                      <a:pt x="6971" y="0"/>
                    </a:lnTo>
                    <a:close/>
                    <a:moveTo>
                      <a:pt x="1156" y="4083"/>
                    </a:moveTo>
                    <a:lnTo>
                      <a:pt x="1025" y="4101"/>
                    </a:lnTo>
                    <a:lnTo>
                      <a:pt x="913" y="4139"/>
                    </a:lnTo>
                    <a:lnTo>
                      <a:pt x="783" y="4176"/>
                    </a:lnTo>
                    <a:lnTo>
                      <a:pt x="671" y="4232"/>
                    </a:lnTo>
                    <a:lnTo>
                      <a:pt x="559" y="4306"/>
                    </a:lnTo>
                    <a:lnTo>
                      <a:pt x="466" y="4381"/>
                    </a:lnTo>
                    <a:lnTo>
                      <a:pt x="373" y="4455"/>
                    </a:lnTo>
                    <a:lnTo>
                      <a:pt x="280" y="4549"/>
                    </a:lnTo>
                    <a:lnTo>
                      <a:pt x="205" y="4660"/>
                    </a:lnTo>
                    <a:lnTo>
                      <a:pt x="149" y="4754"/>
                    </a:lnTo>
                    <a:lnTo>
                      <a:pt x="93" y="4884"/>
                    </a:lnTo>
                    <a:lnTo>
                      <a:pt x="56" y="4996"/>
                    </a:lnTo>
                    <a:lnTo>
                      <a:pt x="19" y="5126"/>
                    </a:lnTo>
                    <a:lnTo>
                      <a:pt x="0" y="5257"/>
                    </a:lnTo>
                    <a:lnTo>
                      <a:pt x="0" y="5387"/>
                    </a:lnTo>
                    <a:lnTo>
                      <a:pt x="0" y="5499"/>
                    </a:lnTo>
                    <a:lnTo>
                      <a:pt x="37" y="5592"/>
                    </a:lnTo>
                    <a:lnTo>
                      <a:pt x="93" y="5686"/>
                    </a:lnTo>
                    <a:lnTo>
                      <a:pt x="168" y="5779"/>
                    </a:lnTo>
                    <a:lnTo>
                      <a:pt x="242" y="5835"/>
                    </a:lnTo>
                    <a:lnTo>
                      <a:pt x="336" y="5891"/>
                    </a:lnTo>
                    <a:lnTo>
                      <a:pt x="447" y="5928"/>
                    </a:lnTo>
                    <a:lnTo>
                      <a:pt x="3262" y="5928"/>
                    </a:lnTo>
                    <a:lnTo>
                      <a:pt x="3374" y="5891"/>
                    </a:lnTo>
                    <a:lnTo>
                      <a:pt x="3467" y="5835"/>
                    </a:lnTo>
                    <a:lnTo>
                      <a:pt x="3542" y="5779"/>
                    </a:lnTo>
                    <a:lnTo>
                      <a:pt x="3616" y="5686"/>
                    </a:lnTo>
                    <a:lnTo>
                      <a:pt x="3653" y="5592"/>
                    </a:lnTo>
                    <a:lnTo>
                      <a:pt x="3691" y="5499"/>
                    </a:lnTo>
                    <a:lnTo>
                      <a:pt x="3709" y="5387"/>
                    </a:lnTo>
                    <a:lnTo>
                      <a:pt x="3709" y="5257"/>
                    </a:lnTo>
                    <a:lnTo>
                      <a:pt x="3672" y="5126"/>
                    </a:lnTo>
                    <a:lnTo>
                      <a:pt x="3653" y="4996"/>
                    </a:lnTo>
                    <a:lnTo>
                      <a:pt x="3598" y="4884"/>
                    </a:lnTo>
                    <a:lnTo>
                      <a:pt x="3560" y="4754"/>
                    </a:lnTo>
                    <a:lnTo>
                      <a:pt x="3486" y="4660"/>
                    </a:lnTo>
                    <a:lnTo>
                      <a:pt x="3411" y="4549"/>
                    </a:lnTo>
                    <a:lnTo>
                      <a:pt x="3337" y="4455"/>
                    </a:lnTo>
                    <a:lnTo>
                      <a:pt x="3243" y="4381"/>
                    </a:lnTo>
                    <a:lnTo>
                      <a:pt x="3132" y="4306"/>
                    </a:lnTo>
                    <a:lnTo>
                      <a:pt x="3020" y="4232"/>
                    </a:lnTo>
                    <a:lnTo>
                      <a:pt x="2908" y="4176"/>
                    </a:lnTo>
                    <a:lnTo>
                      <a:pt x="2796" y="4139"/>
                    </a:lnTo>
                    <a:lnTo>
                      <a:pt x="2666" y="4101"/>
                    </a:lnTo>
                    <a:lnTo>
                      <a:pt x="2535" y="4083"/>
                    </a:lnTo>
                    <a:lnTo>
                      <a:pt x="2330" y="4083"/>
                    </a:lnTo>
                    <a:lnTo>
                      <a:pt x="2088" y="4157"/>
                    </a:lnTo>
                    <a:lnTo>
                      <a:pt x="1845" y="4176"/>
                    </a:lnTo>
                    <a:lnTo>
                      <a:pt x="1603" y="4157"/>
                    </a:lnTo>
                    <a:lnTo>
                      <a:pt x="1379" y="4083"/>
                    </a:lnTo>
                    <a:close/>
                  </a:path>
                </a:pathLst>
              </a:custGeom>
              <a:solidFill>
                <a:schemeClr val="bg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chemeClr val="tx2"/>
                  </a:solidFill>
                  <a:effectLst/>
                  <a:uLnTx/>
                  <a:uFillTx/>
                  <a:latin typeface="Montserrat"/>
                  <a:ea typeface="+mn-ea"/>
                  <a:cs typeface="+mn-cs"/>
                </a:endParaRPr>
              </a:p>
            </p:txBody>
          </p:sp>
          <p:pic>
            <p:nvPicPr>
              <p:cNvPr id="5" name="图形 4" descr="箭头圆形">
                <a:extLst>
                  <a:ext uri="{FF2B5EF4-FFF2-40B4-BE49-F238E27FC236}">
                    <a16:creationId xmlns:a16="http://schemas.microsoft.com/office/drawing/2014/main" id="{38251515-1F84-49AE-8FC1-69BAF5612CC1}"/>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83300" y="3958596"/>
                <a:ext cx="914400" cy="914400"/>
              </a:xfrm>
              <a:prstGeom prst="rect">
                <a:avLst/>
              </a:prstGeom>
            </p:spPr>
          </p:pic>
          <p:pic>
            <p:nvPicPr>
              <p:cNvPr id="14" name="图形 13" descr="会议">
                <a:extLst>
                  <a:ext uri="{FF2B5EF4-FFF2-40B4-BE49-F238E27FC236}">
                    <a16:creationId xmlns:a16="http://schemas.microsoft.com/office/drawing/2014/main" id="{119E9706-E755-43B4-BA3F-B5F22D6CBDCA}"/>
                  </a:ext>
                </a:extLst>
              </p:cNvPr>
              <p:cNvPicPr>
                <a:picLocks noChangeAspect="1"/>
              </p:cNvPicPr>
              <p:nvPr/>
            </p:nvPicPr>
            <p:blipFill>
              <a:blip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64544" y="3561124"/>
                <a:ext cx="479648" cy="479648"/>
              </a:xfrm>
              <a:prstGeom prst="rect">
                <a:avLst/>
              </a:prstGeom>
            </p:spPr>
          </p:pic>
          <p:pic>
            <p:nvPicPr>
              <p:cNvPr id="33" name="图形 32" descr="饼图演示文稿">
                <a:extLst>
                  <a:ext uri="{FF2B5EF4-FFF2-40B4-BE49-F238E27FC236}">
                    <a16:creationId xmlns:a16="http://schemas.microsoft.com/office/drawing/2014/main" id="{3B1D7C2C-910F-46D3-A3E8-C9ADBB9A321D}"/>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00149" y="5397768"/>
                <a:ext cx="503744" cy="503744"/>
              </a:xfrm>
              <a:prstGeom prst="rect">
                <a:avLst/>
              </a:prstGeom>
            </p:spPr>
          </p:pic>
          <p:pic>
            <p:nvPicPr>
              <p:cNvPr id="36" name="图形 35" descr="组织结构图演示文稿">
                <a:extLst>
                  <a:ext uri="{FF2B5EF4-FFF2-40B4-BE49-F238E27FC236}">
                    <a16:creationId xmlns:a16="http://schemas.microsoft.com/office/drawing/2014/main" id="{B7047D03-0C3D-420A-BA12-3C02BA0774D1}"/>
                  </a:ext>
                </a:extLst>
              </p:cNvPr>
              <p:cNvPicPr>
                <a:picLocks noChangeAspect="1"/>
              </p:cNvPicPr>
              <p:nvPr/>
            </p:nvPicPr>
            <p:blipFill>
              <a:blip r:embed="rId9" cstate="hq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307474" y="4809591"/>
                <a:ext cx="457200" cy="457200"/>
              </a:xfrm>
              <a:prstGeom prst="rect">
                <a:avLst/>
              </a:prstGeom>
            </p:spPr>
          </p:pic>
        </p:grpSp>
      </p:grpSp>
      <p:grpSp>
        <p:nvGrpSpPr>
          <p:cNvPr id="151" name="组 91">
            <a:extLst>
              <a:ext uri="{FF2B5EF4-FFF2-40B4-BE49-F238E27FC236}">
                <a16:creationId xmlns:a16="http://schemas.microsoft.com/office/drawing/2014/main" id="{6D60C077-4ADD-4162-97FE-C0F7D5576DF3}"/>
              </a:ext>
            </a:extLst>
          </p:cNvPr>
          <p:cNvGrpSpPr/>
          <p:nvPr/>
        </p:nvGrpSpPr>
        <p:grpSpPr>
          <a:xfrm>
            <a:off x="6890483" y="5154871"/>
            <a:ext cx="547655" cy="547655"/>
            <a:chOff x="2349065" y="1253367"/>
            <a:chExt cx="547655" cy="547655"/>
          </a:xfrm>
        </p:grpSpPr>
        <p:sp>
          <p:nvSpPr>
            <p:cNvPr id="152" name="Oval 12">
              <a:extLst>
                <a:ext uri="{FF2B5EF4-FFF2-40B4-BE49-F238E27FC236}">
                  <a16:creationId xmlns:a16="http://schemas.microsoft.com/office/drawing/2014/main" id="{DA878F4E-6C37-4AEB-9355-C7F39E34858F}"/>
                </a:ext>
              </a:extLst>
            </p:cNvPr>
            <p:cNvSpPr/>
            <p:nvPr/>
          </p:nvSpPr>
          <p:spPr>
            <a:xfrm>
              <a:off x="2349065" y="1253367"/>
              <a:ext cx="547655" cy="547655"/>
            </a:xfrm>
            <a:prstGeom prst="ellipse">
              <a:avLst/>
            </a:prstGeom>
            <a:solidFill>
              <a:schemeClr val="bg1">
                <a:alpha val="40000"/>
              </a:schemeClr>
            </a:solidFill>
            <a:ln w="19050">
              <a:solidFill>
                <a:srgbClr val="143268"/>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defTabSz="456565">
                <a:spcBef>
                  <a:spcPts val="1000"/>
                </a:spcBef>
              </a:pPr>
              <a:endParaRPr lang="en-US" sz="1400" b="1" dirty="0">
                <a:solidFill>
                  <a:srgbClr val="747993"/>
                </a:solidFill>
                <a:latin typeface="OPPOSans B" pitchFamily="18" charset="-122"/>
                <a:ea typeface="OPPOSans B" pitchFamily="18" charset="-122"/>
                <a:cs typeface="OPPOSans B" pitchFamily="18" charset="-122"/>
              </a:endParaRPr>
            </a:p>
          </p:txBody>
        </p:sp>
        <p:sp>
          <p:nvSpPr>
            <p:cNvPr id="153" name="flag-pole-with-black-flag_38306">
              <a:extLst>
                <a:ext uri="{FF2B5EF4-FFF2-40B4-BE49-F238E27FC236}">
                  <a16:creationId xmlns:a16="http://schemas.microsoft.com/office/drawing/2014/main" id="{AE9040C5-62EA-4194-93FA-F81DA77C424E}"/>
                </a:ext>
              </a:extLst>
            </p:cNvPr>
            <p:cNvSpPr/>
            <p:nvPr/>
          </p:nvSpPr>
          <p:spPr>
            <a:xfrm>
              <a:off x="2485897" y="1364471"/>
              <a:ext cx="285637" cy="340022"/>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rgbClr val="143268"/>
            </a:solidFill>
            <a:ln w="19050">
              <a:solidFill>
                <a:srgbClr val="1432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9FFFF"/>
                </a:solidFill>
                <a:effectLst/>
                <a:uLnTx/>
                <a:uFillTx/>
                <a:latin typeface="OPPOSans B" pitchFamily="18" charset="-122"/>
                <a:ea typeface="OPPOSans B" pitchFamily="18" charset="-122"/>
                <a:cs typeface="OPPOSans B" pitchFamily="18" charset="-122"/>
              </a:endParaRPr>
            </a:p>
          </p:txBody>
        </p:sp>
      </p:grpSp>
      <p:sp>
        <p:nvSpPr>
          <p:cNvPr id="54" name="任意形状 236">
            <a:extLst>
              <a:ext uri="{FF2B5EF4-FFF2-40B4-BE49-F238E27FC236}">
                <a16:creationId xmlns:a16="http://schemas.microsoft.com/office/drawing/2014/main" id="{4DB15AD5-01B6-4823-AB21-CEC7299D8023}"/>
              </a:ext>
            </a:extLst>
          </p:cNvPr>
          <p:cNvSpPr/>
          <p:nvPr/>
        </p:nvSpPr>
        <p:spPr>
          <a:xfrm flipV="1">
            <a:off x="476951" y="1281387"/>
            <a:ext cx="5433783" cy="324000"/>
          </a:xfrm>
          <a:custGeom>
            <a:avLst/>
            <a:gdLst>
              <a:gd name="connsiteX0" fmla="*/ 0 w 2691410"/>
              <a:gd name="connsiteY0" fmla="*/ 1108704 h 1108704"/>
              <a:gd name="connsiteX1" fmla="*/ 1275110 w 2691410"/>
              <a:gd name="connsiteY1" fmla="*/ 1108704 h 1108704"/>
              <a:gd name="connsiteX2" fmla="*/ 1345704 w 2691410"/>
              <a:gd name="connsiteY2" fmla="*/ 1037806 h 1108704"/>
              <a:gd name="connsiteX3" fmla="*/ 1416298 w 2691410"/>
              <a:gd name="connsiteY3" fmla="*/ 1108704 h 1108704"/>
              <a:gd name="connsiteX4" fmla="*/ 2691410 w 2691410"/>
              <a:gd name="connsiteY4" fmla="*/ 1108704 h 1108704"/>
              <a:gd name="connsiteX5" fmla="*/ 2691410 w 2691410"/>
              <a:gd name="connsiteY5" fmla="*/ 0 h 1108704"/>
              <a:gd name="connsiteX6" fmla="*/ 0 w 2691410"/>
              <a:gd name="connsiteY6" fmla="*/ 0 h 1108704"/>
              <a:gd name="connsiteX7" fmla="*/ 0 w 2691410"/>
              <a:gd name="connsiteY7" fmla="*/ 1108704 h 11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1410" h="1108704">
                <a:moveTo>
                  <a:pt x="0" y="1108704"/>
                </a:moveTo>
                <a:lnTo>
                  <a:pt x="1275110" y="1108704"/>
                </a:lnTo>
                <a:lnTo>
                  <a:pt x="1345704" y="1037806"/>
                </a:lnTo>
                <a:lnTo>
                  <a:pt x="1416298" y="1108704"/>
                </a:lnTo>
                <a:lnTo>
                  <a:pt x="2691410" y="1108704"/>
                </a:lnTo>
                <a:lnTo>
                  <a:pt x="2691410" y="0"/>
                </a:lnTo>
                <a:lnTo>
                  <a:pt x="0" y="0"/>
                </a:lnTo>
                <a:lnTo>
                  <a:pt x="0" y="1108704"/>
                </a:lnTo>
                <a:close/>
              </a:path>
            </a:pathLst>
          </a:custGeom>
          <a:solidFill>
            <a:schemeClr val="tx2">
              <a:lumMod val="75000"/>
            </a:schemeClr>
          </a:solidFill>
          <a:ln w="12700" cap="flat" cmpd="sng" algn="ctr">
            <a:noFill/>
            <a:prstDash val="dash"/>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OPPOSans B" pitchFamily="18" charset="-122"/>
              <a:ea typeface="OPPOSans B" pitchFamily="18" charset="-122"/>
              <a:cs typeface="OPPOSans B" pitchFamily="18" charset="-122"/>
            </a:endParaRPr>
          </a:p>
        </p:txBody>
      </p:sp>
      <p:sp>
        <p:nvSpPr>
          <p:cNvPr id="58" name="任意形状 242">
            <a:extLst>
              <a:ext uri="{FF2B5EF4-FFF2-40B4-BE49-F238E27FC236}">
                <a16:creationId xmlns:a16="http://schemas.microsoft.com/office/drawing/2014/main" id="{96DD2CA1-25C2-489A-B632-0ED3F55DB073}"/>
              </a:ext>
            </a:extLst>
          </p:cNvPr>
          <p:cNvSpPr/>
          <p:nvPr/>
        </p:nvSpPr>
        <p:spPr>
          <a:xfrm flipV="1">
            <a:off x="6040903" y="1281387"/>
            <a:ext cx="5537981" cy="324000"/>
          </a:xfrm>
          <a:custGeom>
            <a:avLst/>
            <a:gdLst>
              <a:gd name="connsiteX0" fmla="*/ 0 w 2691410"/>
              <a:gd name="connsiteY0" fmla="*/ 1108704 h 1108704"/>
              <a:gd name="connsiteX1" fmla="*/ 1275110 w 2691410"/>
              <a:gd name="connsiteY1" fmla="*/ 1108704 h 1108704"/>
              <a:gd name="connsiteX2" fmla="*/ 1345704 w 2691410"/>
              <a:gd name="connsiteY2" fmla="*/ 1037806 h 1108704"/>
              <a:gd name="connsiteX3" fmla="*/ 1416298 w 2691410"/>
              <a:gd name="connsiteY3" fmla="*/ 1108704 h 1108704"/>
              <a:gd name="connsiteX4" fmla="*/ 2691410 w 2691410"/>
              <a:gd name="connsiteY4" fmla="*/ 1108704 h 1108704"/>
              <a:gd name="connsiteX5" fmla="*/ 2691410 w 2691410"/>
              <a:gd name="connsiteY5" fmla="*/ 0 h 1108704"/>
              <a:gd name="connsiteX6" fmla="*/ 0 w 2691410"/>
              <a:gd name="connsiteY6" fmla="*/ 0 h 1108704"/>
              <a:gd name="connsiteX7" fmla="*/ 0 w 2691410"/>
              <a:gd name="connsiteY7" fmla="*/ 1108704 h 11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1410" h="1108704">
                <a:moveTo>
                  <a:pt x="0" y="1108704"/>
                </a:moveTo>
                <a:lnTo>
                  <a:pt x="1275110" y="1108704"/>
                </a:lnTo>
                <a:lnTo>
                  <a:pt x="1345704" y="1037806"/>
                </a:lnTo>
                <a:lnTo>
                  <a:pt x="1416298" y="1108704"/>
                </a:lnTo>
                <a:lnTo>
                  <a:pt x="2691410" y="1108704"/>
                </a:lnTo>
                <a:lnTo>
                  <a:pt x="2691410" y="0"/>
                </a:lnTo>
                <a:lnTo>
                  <a:pt x="0" y="0"/>
                </a:lnTo>
                <a:lnTo>
                  <a:pt x="0" y="110870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sp>
        <p:nvSpPr>
          <p:cNvPr id="59" name="文本框 58">
            <a:extLst>
              <a:ext uri="{FF2B5EF4-FFF2-40B4-BE49-F238E27FC236}">
                <a16:creationId xmlns:a16="http://schemas.microsoft.com/office/drawing/2014/main" id="{4BF19404-BEA6-488A-ADF3-4EE623BC1359}"/>
              </a:ext>
            </a:extLst>
          </p:cNvPr>
          <p:cNvSpPr txBox="1"/>
          <p:nvPr/>
        </p:nvSpPr>
        <p:spPr>
          <a:xfrm>
            <a:off x="2374900" y="1261157"/>
            <a:ext cx="1644987" cy="362869"/>
          </a:xfrm>
          <a:prstGeom prst="rect">
            <a:avLst/>
          </a:prstGeom>
          <a:noFill/>
          <a:effectLst/>
        </p:spPr>
        <p:txBody>
          <a:bodyPr wrap="square" lIns="85039" tIns="42520" rIns="85039" bIns="42520"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a:solidFill>
                  <a:srgbClr val="FFFFFF"/>
                </a:solidFill>
              </a:rPr>
              <a:t>定位</a:t>
            </a:r>
            <a:endParaRPr kumimoji="0" lang="zh-CN" altLang="en-US" b="1" i="0" u="none" strike="noStrike" kern="1200" cap="none" spc="0" normalizeH="0" baseline="0" noProof="0" dirty="0">
              <a:ln>
                <a:noFill/>
              </a:ln>
              <a:solidFill>
                <a:srgbClr val="FFFFFF"/>
              </a:solidFill>
              <a:effectLst/>
              <a:uLnTx/>
              <a:uFillTx/>
              <a:ea typeface="思源宋体 CN Heavy" panose="02020900000000000000" pitchFamily="18" charset="-122"/>
              <a:cs typeface="+mn-cs"/>
            </a:endParaRPr>
          </a:p>
        </p:txBody>
      </p:sp>
      <p:sp>
        <p:nvSpPr>
          <p:cNvPr id="61" name="文本框 60">
            <a:extLst>
              <a:ext uri="{FF2B5EF4-FFF2-40B4-BE49-F238E27FC236}">
                <a16:creationId xmlns:a16="http://schemas.microsoft.com/office/drawing/2014/main" id="{C48E3D91-EB43-4FFA-B6C3-B225D8E3E16E}"/>
              </a:ext>
            </a:extLst>
          </p:cNvPr>
          <p:cNvSpPr txBox="1"/>
          <p:nvPr/>
        </p:nvSpPr>
        <p:spPr>
          <a:xfrm>
            <a:off x="8067955" y="1247094"/>
            <a:ext cx="1644987" cy="362869"/>
          </a:xfrm>
          <a:prstGeom prst="rect">
            <a:avLst/>
          </a:prstGeom>
          <a:noFill/>
          <a:effectLst/>
        </p:spPr>
        <p:txBody>
          <a:bodyPr wrap="square" lIns="85039" tIns="42520" rIns="85039" bIns="42520"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a:solidFill>
                  <a:srgbClr val="FFFFFF"/>
                </a:solidFill>
              </a:rPr>
              <a:t>意义</a:t>
            </a:r>
            <a:endParaRPr kumimoji="0" lang="zh-CN" altLang="en-US" b="1" i="0" u="none" strike="noStrike" kern="1200" cap="none" spc="0" normalizeH="0" baseline="0" noProof="0" dirty="0">
              <a:ln>
                <a:noFill/>
              </a:ln>
              <a:solidFill>
                <a:srgbClr val="FFFFFF"/>
              </a:solidFill>
              <a:effectLst/>
              <a:uLnTx/>
              <a:uFillTx/>
              <a:ea typeface="思源宋体 CN Heavy" panose="02020900000000000000" pitchFamily="18" charset="-122"/>
              <a:cs typeface="+mn-cs"/>
            </a:endParaRPr>
          </a:p>
        </p:txBody>
      </p:sp>
      <p:sp>
        <p:nvSpPr>
          <p:cNvPr id="63" name="矩形 62">
            <a:extLst>
              <a:ext uri="{FF2B5EF4-FFF2-40B4-BE49-F238E27FC236}">
                <a16:creationId xmlns:a16="http://schemas.microsoft.com/office/drawing/2014/main" id="{3B6F9DE1-E827-4D1D-A16A-A4E9DE7B9DF3}"/>
              </a:ext>
            </a:extLst>
          </p:cNvPr>
          <p:cNvSpPr/>
          <p:nvPr/>
        </p:nvSpPr>
        <p:spPr>
          <a:xfrm>
            <a:off x="2048987" y="724504"/>
            <a:ext cx="562976" cy="461665"/>
          </a:xfrm>
          <a:prstGeom prst="rect">
            <a:avLst/>
          </a:prstGeom>
        </p:spPr>
        <p:txBody>
          <a:bodyPr wrap="none">
            <a:spAutoFit/>
          </a:bodyPr>
          <a:lstStyle/>
          <a:p>
            <a:pPr algn="r"/>
            <a:r>
              <a:rPr kumimoji="1" lang="en-US" altLang="zh-CN" sz="2400" b="1" dirty="0">
                <a:gradFill>
                  <a:gsLst>
                    <a:gs pos="18000">
                      <a:schemeClr val="bg2">
                        <a:alpha val="0"/>
                      </a:schemeClr>
                    </a:gs>
                    <a:gs pos="100000">
                      <a:schemeClr val="bg1">
                        <a:alpha val="23023"/>
                      </a:schemeClr>
                    </a:gs>
                  </a:gsLst>
                  <a:lin ang="16200000" scaled="0"/>
                </a:gradFill>
                <a:latin typeface="OPPOSans H" pitchFamily="18" charset="-122"/>
                <a:ea typeface="OPPOSans H" pitchFamily="18" charset="-122"/>
                <a:cs typeface="OPPOSans H" pitchFamily="18" charset="-122"/>
              </a:rPr>
              <a:t>01</a:t>
            </a:r>
            <a:endParaRPr kumimoji="1" lang="zh-CN" altLang="en-US" sz="2400" b="1" dirty="0">
              <a:gradFill>
                <a:gsLst>
                  <a:gs pos="18000">
                    <a:schemeClr val="bg2">
                      <a:alpha val="0"/>
                    </a:schemeClr>
                  </a:gs>
                  <a:gs pos="100000">
                    <a:schemeClr val="bg1">
                      <a:alpha val="23023"/>
                    </a:schemeClr>
                  </a:gs>
                </a:gsLst>
                <a:lin ang="16200000" scaled="0"/>
              </a:gradFill>
              <a:latin typeface="OPPOSans H" pitchFamily="18" charset="-122"/>
              <a:ea typeface="OPPOSans H" pitchFamily="18" charset="-122"/>
              <a:cs typeface="OPPOSans H" pitchFamily="18" charset="-122"/>
            </a:endParaRPr>
          </a:p>
        </p:txBody>
      </p:sp>
      <p:sp>
        <p:nvSpPr>
          <p:cNvPr id="65" name="矩形 64">
            <a:extLst>
              <a:ext uri="{FF2B5EF4-FFF2-40B4-BE49-F238E27FC236}">
                <a16:creationId xmlns:a16="http://schemas.microsoft.com/office/drawing/2014/main" id="{F6D43563-6E41-4A42-9542-CD8D73435CB5}"/>
              </a:ext>
            </a:extLst>
          </p:cNvPr>
          <p:cNvSpPr/>
          <p:nvPr/>
        </p:nvSpPr>
        <p:spPr>
          <a:xfrm>
            <a:off x="7753317" y="716812"/>
            <a:ext cx="562976" cy="461665"/>
          </a:xfrm>
          <a:prstGeom prst="rect">
            <a:avLst/>
          </a:prstGeom>
        </p:spPr>
        <p:txBody>
          <a:bodyPr wrap="none">
            <a:spAutoFit/>
          </a:bodyPr>
          <a:lstStyle/>
          <a:p>
            <a:pPr algn="r"/>
            <a:r>
              <a:rPr kumimoji="1" lang="en-US" altLang="zh-Hans" sz="2400" b="1" dirty="0">
                <a:gradFill>
                  <a:gsLst>
                    <a:gs pos="18000">
                      <a:schemeClr val="bg2">
                        <a:alpha val="0"/>
                      </a:schemeClr>
                    </a:gs>
                    <a:gs pos="100000">
                      <a:schemeClr val="bg1">
                        <a:alpha val="23023"/>
                      </a:schemeClr>
                    </a:gs>
                  </a:gsLst>
                  <a:lin ang="16200000" scaled="0"/>
                </a:gradFill>
                <a:latin typeface="OPPOSans H" pitchFamily="18" charset="-122"/>
                <a:ea typeface="OPPOSans H" pitchFamily="18" charset="-122"/>
                <a:cs typeface="OPPOSans H" pitchFamily="18" charset="-122"/>
              </a:rPr>
              <a:t>02</a:t>
            </a:r>
            <a:endParaRPr kumimoji="1" lang="zh-CN" altLang="en-US" sz="2400" b="1" dirty="0">
              <a:gradFill>
                <a:gsLst>
                  <a:gs pos="18000">
                    <a:schemeClr val="bg2">
                      <a:alpha val="0"/>
                    </a:schemeClr>
                  </a:gs>
                  <a:gs pos="100000">
                    <a:schemeClr val="bg1">
                      <a:alpha val="23023"/>
                    </a:schemeClr>
                  </a:gs>
                </a:gsLst>
                <a:lin ang="16200000" scaled="0"/>
              </a:gradFill>
              <a:latin typeface="OPPOSans H" pitchFamily="18" charset="-122"/>
              <a:ea typeface="OPPOSans H" pitchFamily="18" charset="-122"/>
              <a:cs typeface="OPPOSans H" pitchFamily="18" charset="-122"/>
            </a:endParaRPr>
          </a:p>
        </p:txBody>
      </p:sp>
      <p:sp>
        <p:nvSpPr>
          <p:cNvPr id="7" name="文本框 6">
            <a:extLst>
              <a:ext uri="{FF2B5EF4-FFF2-40B4-BE49-F238E27FC236}">
                <a16:creationId xmlns:a16="http://schemas.microsoft.com/office/drawing/2014/main" id="{99B84551-B0A4-1F72-8AA1-B6E7E76A35B3}"/>
              </a:ext>
            </a:extLst>
          </p:cNvPr>
          <p:cNvSpPr txBox="1"/>
          <p:nvPr/>
        </p:nvSpPr>
        <p:spPr>
          <a:xfrm>
            <a:off x="522611" y="877126"/>
            <a:ext cx="1134459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a:t>预算是企业管理过程中一项重要环节，</a:t>
            </a:r>
            <a:r>
              <a:rPr lang="zh-CN" altLang="en-US" sz="1200" b="0" i="0">
                <a:solidFill>
                  <a:srgbClr val="333333"/>
                </a:solidFill>
                <a:effectLst/>
                <a:latin typeface="Arial" panose="020B0604020202020204" pitchFamily="34" charset="0"/>
              </a:rPr>
              <a:t>是一套基于业务、贯穿 整个经济链、体现业务</a:t>
            </a:r>
            <a:r>
              <a:rPr lang="zh-CN" altLang="en-US" sz="1200" b="1" i="0">
                <a:solidFill>
                  <a:schemeClr val="accent2">
                    <a:lumMod val="75000"/>
                  </a:schemeClr>
                </a:solidFill>
                <a:effectLst/>
                <a:latin typeface="Arial" panose="020B0604020202020204" pitchFamily="34" charset="0"/>
              </a:rPr>
              <a:t>计划向财务成果转化</a:t>
            </a:r>
            <a:r>
              <a:rPr lang="zh-CN" altLang="en-US" sz="1200" b="0" i="0">
                <a:solidFill>
                  <a:srgbClr val="333333"/>
                </a:solidFill>
                <a:effectLst/>
                <a:latin typeface="Arial" panose="020B0604020202020204" pitchFamily="34" charset="0"/>
              </a:rPr>
              <a:t>，丰富管理数据的维度，为高层决策提供支持</a:t>
            </a:r>
            <a:endParaRPr lang="zh-CN" altLang="en-US" sz="1200" dirty="0"/>
          </a:p>
        </p:txBody>
      </p:sp>
      <p:cxnSp>
        <p:nvCxnSpPr>
          <p:cNvPr id="8" name="直线连接符 7">
            <a:extLst>
              <a:ext uri="{FF2B5EF4-FFF2-40B4-BE49-F238E27FC236}">
                <a16:creationId xmlns:a16="http://schemas.microsoft.com/office/drawing/2014/main" id="{C4CE4B75-2529-C99A-FE79-C8B1A5122CDE}"/>
              </a:ext>
            </a:extLst>
          </p:cNvPr>
          <p:cNvCxnSpPr>
            <a:cxnSpLocks/>
          </p:cNvCxnSpPr>
          <p:nvPr/>
        </p:nvCxnSpPr>
        <p:spPr>
          <a:xfrm>
            <a:off x="522611" y="791094"/>
            <a:ext cx="11056273"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圆角 103">
            <a:extLst>
              <a:ext uri="{FF2B5EF4-FFF2-40B4-BE49-F238E27FC236}">
                <a16:creationId xmlns:a16="http://schemas.microsoft.com/office/drawing/2014/main" id="{E612F888-F4C6-AD02-D72B-73AE5D61ACF4}"/>
              </a:ext>
            </a:extLst>
          </p:cNvPr>
          <p:cNvSpPr/>
          <p:nvPr/>
        </p:nvSpPr>
        <p:spPr>
          <a:xfrm>
            <a:off x="485637" y="1094866"/>
            <a:ext cx="11323104" cy="420253"/>
          </a:xfrm>
          <a:prstGeom prst="roundRect">
            <a:avLst>
              <a:gd name="adj" fmla="val 0"/>
            </a:avLst>
          </a:prstGeom>
          <a:solidFill>
            <a:schemeClr val="accent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思源黑体 CN Light"/>
              <a:cs typeface="+mn-cs"/>
            </a:endParaRPr>
          </a:p>
        </p:txBody>
      </p:sp>
      <p:sp>
        <p:nvSpPr>
          <p:cNvPr id="25" name="文本框 24">
            <a:extLst>
              <a:ext uri="{FF2B5EF4-FFF2-40B4-BE49-F238E27FC236}">
                <a16:creationId xmlns:a16="http://schemas.microsoft.com/office/drawing/2014/main" id="{95E7F87C-4CF5-802F-F920-6E43AFA4DB0E}"/>
              </a:ext>
            </a:extLst>
          </p:cNvPr>
          <p:cNvSpPr txBox="1"/>
          <p:nvPr/>
        </p:nvSpPr>
        <p:spPr>
          <a:xfrm>
            <a:off x="909680" y="1105456"/>
            <a:ext cx="10561448" cy="329962"/>
          </a:xfrm>
          <a:prstGeom prst="rect">
            <a:avLst/>
          </a:prstGeom>
          <a:noFill/>
        </p:spPr>
        <p:txBody>
          <a:bodyPr wrap="square" tIns="0" bIns="0"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1600" b="1" dirty="0">
                <a:ea typeface="OPPOSans M" pitchFamily="18" charset="-122"/>
              </a:rPr>
              <a:t>企业的生命周期</a:t>
            </a:r>
            <a:endParaRPr lang="zh-CN" altLang="en-US" sz="1200" b="1" dirty="0">
              <a:ea typeface="OPPOSans M" pitchFamily="18" charset="-122"/>
            </a:endParaRPr>
          </a:p>
        </p:txBody>
      </p:sp>
      <p:sp>
        <p:nvSpPr>
          <p:cNvPr id="2" name="矩形: 圆角 487">
            <a:extLst>
              <a:ext uri="{FF2B5EF4-FFF2-40B4-BE49-F238E27FC236}">
                <a16:creationId xmlns:a16="http://schemas.microsoft.com/office/drawing/2014/main" id="{90FB3F3E-7EF6-7F11-DAC8-53C96EDD2478}"/>
              </a:ext>
            </a:extLst>
          </p:cNvPr>
          <p:cNvSpPr/>
          <p:nvPr/>
        </p:nvSpPr>
        <p:spPr>
          <a:xfrm>
            <a:off x="492948" y="1656001"/>
            <a:ext cx="522287" cy="588435"/>
          </a:xfrm>
          <a:prstGeom prst="roundRect">
            <a:avLst>
              <a:gd name="adj" fmla="val 110"/>
            </a:avLst>
          </a:prstGeom>
          <a:noFill/>
          <a:ln w="12700" cap="flat" cmpd="sng" algn="ctr">
            <a:solidFill>
              <a:schemeClr val="accent1">
                <a:lumMod val="50000"/>
                <a:alpha val="65000"/>
              </a:schemeClr>
            </a:solidFill>
            <a:prstDash val="dash"/>
            <a:miter lim="800000"/>
          </a:ln>
          <a:effectLst/>
        </p:spPr>
        <p:txBody>
          <a:bodyPr vert="horz"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000000">
                    <a:lumMod val="75000"/>
                    <a:lumOff val="25000"/>
                  </a:srgbClr>
                </a:solidFill>
                <a:effectLst/>
                <a:uLnTx/>
                <a:uFillTx/>
                <a:latin typeface="OPPOSans B" pitchFamily="18" charset="-122"/>
                <a:ea typeface="OPPOSans B" pitchFamily="18" charset="-122"/>
                <a:cs typeface="OPPOSans B" pitchFamily="18" charset="-122"/>
              </a:rPr>
              <a:t>发展阶段</a:t>
            </a:r>
          </a:p>
        </p:txBody>
      </p:sp>
      <p:sp>
        <p:nvSpPr>
          <p:cNvPr id="3" name="矩形 2">
            <a:extLst>
              <a:ext uri="{FF2B5EF4-FFF2-40B4-BE49-F238E27FC236}">
                <a16:creationId xmlns:a16="http://schemas.microsoft.com/office/drawing/2014/main" id="{DC47857D-7DB1-3F2C-ECA3-1241DA92324D}"/>
              </a:ext>
            </a:extLst>
          </p:cNvPr>
          <p:cNvSpPr/>
          <p:nvPr/>
        </p:nvSpPr>
        <p:spPr>
          <a:xfrm>
            <a:off x="1088648" y="1661445"/>
            <a:ext cx="10720093" cy="582991"/>
          </a:xfrm>
          <a:prstGeom prst="rect">
            <a:avLst/>
          </a:prstGeom>
          <a:solidFill>
            <a:srgbClr val="143268"/>
          </a:solidFill>
          <a:ln w="12700" cap="flat" cmpd="sng" algn="ctr">
            <a:no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chemeClr val="bg1"/>
              </a:solidFill>
              <a:effectLst/>
              <a:uLnTx/>
              <a:uFillTx/>
              <a:latin typeface="OPPOSans B" pitchFamily="18" charset="-122"/>
              <a:ea typeface="OPPOSans B" pitchFamily="18" charset="-122"/>
              <a:cs typeface="OPPOSans B" pitchFamily="18" charset="-122"/>
            </a:endParaRPr>
          </a:p>
        </p:txBody>
      </p:sp>
      <p:cxnSp>
        <p:nvCxnSpPr>
          <p:cNvPr id="4" name="直接连接符 469">
            <a:extLst>
              <a:ext uri="{FF2B5EF4-FFF2-40B4-BE49-F238E27FC236}">
                <a16:creationId xmlns:a16="http://schemas.microsoft.com/office/drawing/2014/main" id="{A4B6FFF3-780D-D89D-99A4-B829BB31DD7A}"/>
              </a:ext>
            </a:extLst>
          </p:cNvPr>
          <p:cNvCxnSpPr>
            <a:cxnSpLocks/>
          </p:cNvCxnSpPr>
          <p:nvPr/>
        </p:nvCxnSpPr>
        <p:spPr>
          <a:xfrm>
            <a:off x="3743257" y="1800818"/>
            <a:ext cx="0" cy="360000"/>
          </a:xfrm>
          <a:prstGeom prst="line">
            <a:avLst/>
          </a:prstGeom>
          <a:noFill/>
          <a:ln w="28575" cap="flat" cmpd="sng" algn="ctr">
            <a:solidFill>
              <a:srgbClr val="FFFFFF">
                <a:lumMod val="85000"/>
              </a:srgbClr>
            </a:solidFill>
            <a:prstDash val="solid"/>
            <a:miter lim="800000"/>
          </a:ln>
          <a:effectLst/>
        </p:spPr>
      </p:cxnSp>
      <p:cxnSp>
        <p:nvCxnSpPr>
          <p:cNvPr id="5" name="直接连接符 470">
            <a:extLst>
              <a:ext uri="{FF2B5EF4-FFF2-40B4-BE49-F238E27FC236}">
                <a16:creationId xmlns:a16="http://schemas.microsoft.com/office/drawing/2014/main" id="{7E6E5467-ED60-F08E-979E-F10A0E0EE6B3}"/>
              </a:ext>
            </a:extLst>
          </p:cNvPr>
          <p:cNvCxnSpPr>
            <a:cxnSpLocks/>
          </p:cNvCxnSpPr>
          <p:nvPr/>
        </p:nvCxnSpPr>
        <p:spPr>
          <a:xfrm>
            <a:off x="6397866" y="1800818"/>
            <a:ext cx="0" cy="360000"/>
          </a:xfrm>
          <a:prstGeom prst="line">
            <a:avLst/>
          </a:prstGeom>
          <a:noFill/>
          <a:ln w="28575" cap="flat" cmpd="sng" algn="ctr">
            <a:solidFill>
              <a:srgbClr val="FFFFFF">
                <a:lumMod val="85000"/>
              </a:srgbClr>
            </a:solidFill>
            <a:prstDash val="solid"/>
            <a:miter lim="800000"/>
          </a:ln>
          <a:effectLst/>
        </p:spPr>
      </p:cxnSp>
      <p:cxnSp>
        <p:nvCxnSpPr>
          <p:cNvPr id="6" name="直接连接符 471">
            <a:extLst>
              <a:ext uri="{FF2B5EF4-FFF2-40B4-BE49-F238E27FC236}">
                <a16:creationId xmlns:a16="http://schemas.microsoft.com/office/drawing/2014/main" id="{D9890B67-F4EB-F327-3B6C-B9FD225B0233}"/>
              </a:ext>
            </a:extLst>
          </p:cNvPr>
          <p:cNvCxnSpPr>
            <a:cxnSpLocks/>
          </p:cNvCxnSpPr>
          <p:nvPr/>
        </p:nvCxnSpPr>
        <p:spPr>
          <a:xfrm>
            <a:off x="9052475" y="1800818"/>
            <a:ext cx="0" cy="360000"/>
          </a:xfrm>
          <a:prstGeom prst="line">
            <a:avLst/>
          </a:prstGeom>
          <a:noFill/>
          <a:ln w="28575" cap="flat" cmpd="sng" algn="ctr">
            <a:solidFill>
              <a:srgbClr val="FFFFFF">
                <a:lumMod val="85000"/>
              </a:srgbClr>
            </a:solidFill>
            <a:prstDash val="solid"/>
            <a:miter lim="800000"/>
          </a:ln>
          <a:effectLst/>
        </p:spPr>
      </p:cxnSp>
      <p:sp>
        <p:nvSpPr>
          <p:cNvPr id="8" name="文本框 7">
            <a:extLst>
              <a:ext uri="{FF2B5EF4-FFF2-40B4-BE49-F238E27FC236}">
                <a16:creationId xmlns:a16="http://schemas.microsoft.com/office/drawing/2014/main" id="{BFD74A62-3BC7-FB66-A859-11E9056C781A}"/>
              </a:ext>
            </a:extLst>
          </p:cNvPr>
          <p:cNvSpPr txBox="1"/>
          <p:nvPr/>
        </p:nvSpPr>
        <p:spPr>
          <a:xfrm flipH="1">
            <a:off x="1714116" y="1862750"/>
            <a:ext cx="132025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chemeClr val="bg1"/>
                </a:solidFill>
                <a:effectLst/>
                <a:uLnTx/>
                <a:uFillTx/>
                <a:latin typeface="OPPOSans M" pitchFamily="18" charset="-122"/>
                <a:ea typeface="OPPOSans M" pitchFamily="18" charset="-122"/>
                <a:cs typeface="OPPOSans M" pitchFamily="18" charset="-122"/>
              </a:rPr>
              <a:t>创业期</a:t>
            </a:r>
          </a:p>
        </p:txBody>
      </p:sp>
      <p:sp>
        <p:nvSpPr>
          <p:cNvPr id="10" name="文本框 9">
            <a:extLst>
              <a:ext uri="{FF2B5EF4-FFF2-40B4-BE49-F238E27FC236}">
                <a16:creationId xmlns:a16="http://schemas.microsoft.com/office/drawing/2014/main" id="{2A70A487-2A72-3BC9-2E35-B2E9CC6C9B5F}"/>
              </a:ext>
            </a:extLst>
          </p:cNvPr>
          <p:cNvSpPr txBox="1"/>
          <p:nvPr/>
        </p:nvSpPr>
        <p:spPr>
          <a:xfrm flipH="1">
            <a:off x="4401898" y="1862750"/>
            <a:ext cx="132025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chemeClr val="bg1"/>
                </a:solidFill>
                <a:effectLst/>
                <a:uLnTx/>
                <a:uFillTx/>
                <a:latin typeface="OPPOSans M" pitchFamily="18" charset="-122"/>
                <a:ea typeface="OPPOSans M" pitchFamily="18" charset="-122"/>
                <a:cs typeface="OPPOSans M" pitchFamily="18" charset="-122"/>
              </a:rPr>
              <a:t>市场开拓期</a:t>
            </a:r>
          </a:p>
        </p:txBody>
      </p:sp>
      <p:sp>
        <p:nvSpPr>
          <p:cNvPr id="11" name="文本框 10">
            <a:extLst>
              <a:ext uri="{FF2B5EF4-FFF2-40B4-BE49-F238E27FC236}">
                <a16:creationId xmlns:a16="http://schemas.microsoft.com/office/drawing/2014/main" id="{9031E645-7487-215F-02AC-18F1AF02B2A4}"/>
              </a:ext>
            </a:extLst>
          </p:cNvPr>
          <p:cNvSpPr txBox="1"/>
          <p:nvPr/>
        </p:nvSpPr>
        <p:spPr>
          <a:xfrm flipH="1">
            <a:off x="7080512" y="1862750"/>
            <a:ext cx="132025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chemeClr val="bg1"/>
                </a:solidFill>
                <a:effectLst/>
                <a:uLnTx/>
                <a:uFillTx/>
                <a:latin typeface="OPPOSans M" pitchFamily="18" charset="-122"/>
                <a:ea typeface="OPPOSans M" pitchFamily="18" charset="-122"/>
                <a:cs typeface="OPPOSans M" pitchFamily="18" charset="-122"/>
              </a:rPr>
              <a:t>平稳期</a:t>
            </a:r>
          </a:p>
        </p:txBody>
      </p:sp>
      <p:sp>
        <p:nvSpPr>
          <p:cNvPr id="12" name="文本框 11">
            <a:extLst>
              <a:ext uri="{FF2B5EF4-FFF2-40B4-BE49-F238E27FC236}">
                <a16:creationId xmlns:a16="http://schemas.microsoft.com/office/drawing/2014/main" id="{188136B8-3D31-7B7C-29F1-A9830A0CAA22}"/>
              </a:ext>
            </a:extLst>
          </p:cNvPr>
          <p:cNvSpPr txBox="1"/>
          <p:nvPr/>
        </p:nvSpPr>
        <p:spPr>
          <a:xfrm flipH="1">
            <a:off x="9761364" y="1862750"/>
            <a:ext cx="132025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chemeClr val="bg1"/>
                </a:solidFill>
                <a:effectLst/>
                <a:uLnTx/>
                <a:uFillTx/>
                <a:latin typeface="OPPOSans M" pitchFamily="18" charset="-122"/>
                <a:ea typeface="OPPOSans M" pitchFamily="18" charset="-122"/>
                <a:cs typeface="OPPOSans M" pitchFamily="18" charset="-122"/>
              </a:rPr>
              <a:t>衰退期</a:t>
            </a:r>
          </a:p>
        </p:txBody>
      </p:sp>
      <p:sp>
        <p:nvSpPr>
          <p:cNvPr id="14" name="文本框 13">
            <a:extLst>
              <a:ext uri="{FF2B5EF4-FFF2-40B4-BE49-F238E27FC236}">
                <a16:creationId xmlns:a16="http://schemas.microsoft.com/office/drawing/2014/main" id="{46C9FAEA-0858-3F90-2CD2-7C282FD0A1A8}"/>
              </a:ext>
            </a:extLst>
          </p:cNvPr>
          <p:cNvSpPr txBox="1"/>
          <p:nvPr/>
        </p:nvSpPr>
        <p:spPr>
          <a:xfrm>
            <a:off x="485637" y="5486135"/>
            <a:ext cx="11315793" cy="276999"/>
          </a:xfrm>
          <a:prstGeom prst="rect">
            <a:avLst/>
          </a:prstGeom>
          <a:solidFill>
            <a:srgbClr val="C2DFE8"/>
          </a:solidFill>
        </p:spPr>
        <p:txBody>
          <a:bodyPr wrap="square">
            <a:spAutoFit/>
          </a:bodyPr>
          <a:lstStyle/>
          <a:p>
            <a:r>
              <a:rPr lang="zh-CN" altLang="en-US" sz="1200" dirty="0"/>
              <a:t>这些观点强调了预算管理的灵活性和适应性，以及预算编制需要紧密结合企业的战略目标和市场环境。通过这种方式，企业可以更有效地进行资源配置和决策支持。</a:t>
            </a:r>
          </a:p>
        </p:txBody>
      </p:sp>
      <p:sp>
        <p:nvSpPr>
          <p:cNvPr id="15" name="文本框 14">
            <a:extLst>
              <a:ext uri="{FF2B5EF4-FFF2-40B4-BE49-F238E27FC236}">
                <a16:creationId xmlns:a16="http://schemas.microsoft.com/office/drawing/2014/main" id="{54E50169-B28C-38C7-0101-EC97F9842190}"/>
              </a:ext>
            </a:extLst>
          </p:cNvPr>
          <p:cNvSpPr txBox="1"/>
          <p:nvPr/>
        </p:nvSpPr>
        <p:spPr>
          <a:xfrm>
            <a:off x="421341" y="232951"/>
            <a:ext cx="8218918" cy="523220"/>
          </a:xfrm>
          <a:prstGeom prst="rect">
            <a:avLst/>
          </a:prstGeom>
          <a:noFill/>
        </p:spPr>
        <p:txBody>
          <a:bodyPr wrap="square" rtlCol="0">
            <a:spAutoFit/>
          </a:bodyPr>
          <a:lstStyle/>
          <a:p>
            <a:r>
              <a:rPr lang="zh-CN" altLang="en-US" sz="2800" b="1" dirty="0">
                <a:solidFill>
                  <a:schemeClr val="tx2"/>
                </a:solidFill>
                <a:latin typeface="微软雅黑" panose="020B0503020204020204" pitchFamily="34" charset="-122"/>
                <a:ea typeface="微软雅黑" panose="020B0503020204020204" pitchFamily="34" charset="-122"/>
              </a:rPr>
              <a:t>企业不同发展阶段下，预算的侧</a:t>
            </a:r>
            <a:r>
              <a:rPr lang="zh-CN" altLang="en-US" sz="2800" b="1" dirty="0">
                <a:solidFill>
                  <a:schemeClr val="accent2"/>
                </a:solidFill>
                <a:latin typeface="微软雅黑" panose="020B0503020204020204" pitchFamily="34" charset="-122"/>
                <a:ea typeface="微软雅黑" panose="020B0503020204020204" pitchFamily="34" charset="-122"/>
              </a:rPr>
              <a:t>重点</a:t>
            </a:r>
            <a:r>
              <a:rPr lang="zh-CN" altLang="en-US" sz="2800" b="1" dirty="0">
                <a:solidFill>
                  <a:schemeClr val="tx2"/>
                </a:solidFill>
                <a:latin typeface="微软雅黑" panose="020B0503020204020204" pitchFamily="34" charset="-122"/>
                <a:ea typeface="微软雅黑" panose="020B0503020204020204" pitchFamily="34" charset="-122"/>
              </a:rPr>
              <a:t>不同</a:t>
            </a:r>
          </a:p>
        </p:txBody>
      </p:sp>
      <p:sp>
        <p:nvSpPr>
          <p:cNvPr id="26" name="矩形 25">
            <a:extLst>
              <a:ext uri="{FF2B5EF4-FFF2-40B4-BE49-F238E27FC236}">
                <a16:creationId xmlns:a16="http://schemas.microsoft.com/office/drawing/2014/main" id="{0100C49E-AC2A-75A4-C3AF-1A76AB9E89BB}"/>
              </a:ext>
            </a:extLst>
          </p:cNvPr>
          <p:cNvSpPr/>
          <p:nvPr/>
        </p:nvSpPr>
        <p:spPr>
          <a:xfrm>
            <a:off x="1088648" y="3533031"/>
            <a:ext cx="2654609" cy="1692000"/>
          </a:xfrm>
          <a:prstGeom prst="rect">
            <a:avLst/>
          </a:prstGeom>
          <a:solidFill>
            <a:srgbClr val="F3F4F7">
              <a:alpha val="50000"/>
            </a:srgbClr>
          </a:solidFill>
          <a:ln w="12700" cap="flat" cmpd="sng" algn="ctr">
            <a:no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OPPOSans B" pitchFamily="18" charset="-122"/>
              <a:ea typeface="OPPOSans B" pitchFamily="18" charset="-122"/>
              <a:cs typeface="OPPOSans B" pitchFamily="18" charset="-122"/>
            </a:endParaRPr>
          </a:p>
        </p:txBody>
      </p:sp>
      <p:sp>
        <p:nvSpPr>
          <p:cNvPr id="28" name="文本框 27">
            <a:extLst>
              <a:ext uri="{FF2B5EF4-FFF2-40B4-BE49-F238E27FC236}">
                <a16:creationId xmlns:a16="http://schemas.microsoft.com/office/drawing/2014/main" id="{32641480-690A-454A-A6F7-F39D0D60650D}"/>
              </a:ext>
            </a:extLst>
          </p:cNvPr>
          <p:cNvSpPr txBox="1"/>
          <p:nvPr/>
        </p:nvSpPr>
        <p:spPr>
          <a:xfrm>
            <a:off x="1245952" y="3774838"/>
            <a:ext cx="2340000" cy="1015663"/>
          </a:xfrm>
          <a:prstGeom prst="rect">
            <a:avLst/>
          </a:prstGeom>
          <a:noFill/>
        </p:spPr>
        <p:txBody>
          <a:bodyPr wrap="square">
            <a:spAutoFit/>
          </a:bodyPr>
          <a:lstStyle/>
          <a:p>
            <a:pPr marL="171450" indent="-171450">
              <a:buFont typeface="Arial" panose="020B0604020202020204" pitchFamily="34" charset="0"/>
              <a:buChar char="•"/>
            </a:pPr>
            <a:r>
              <a:rPr lang="zh-CN" altLang="en-US" sz="1200" dirty="0"/>
              <a:t>企业侧重于资本预算，主要关注如何确保企业能够生存下来。</a:t>
            </a:r>
            <a:endParaRPr lang="en-US" altLang="zh-CN" sz="1200" dirty="0"/>
          </a:p>
          <a:p>
            <a:pPr marL="171450" indent="-171450">
              <a:buFont typeface="Arial" panose="020B0604020202020204" pitchFamily="34" charset="0"/>
              <a:buChar char="•"/>
            </a:pPr>
            <a:r>
              <a:rPr lang="zh-CN" altLang="en-US" sz="1200" b="1" dirty="0">
                <a:solidFill>
                  <a:schemeClr val="accent2">
                    <a:lumMod val="75000"/>
                  </a:schemeClr>
                </a:solidFill>
              </a:rPr>
              <a:t>资金的合理安排</a:t>
            </a:r>
            <a:r>
              <a:rPr lang="zh-CN" altLang="en-US" sz="1200" dirty="0"/>
              <a:t>是关键，确保研发能进行下去，员工工资能发得下来。</a:t>
            </a:r>
          </a:p>
        </p:txBody>
      </p:sp>
      <p:sp>
        <p:nvSpPr>
          <p:cNvPr id="29" name="矩形 28">
            <a:extLst>
              <a:ext uri="{FF2B5EF4-FFF2-40B4-BE49-F238E27FC236}">
                <a16:creationId xmlns:a16="http://schemas.microsoft.com/office/drawing/2014/main" id="{AFDA10ED-CF7A-32D4-6F32-03E8D2AF4620}"/>
              </a:ext>
            </a:extLst>
          </p:cNvPr>
          <p:cNvSpPr/>
          <p:nvPr/>
        </p:nvSpPr>
        <p:spPr>
          <a:xfrm>
            <a:off x="3794085" y="3533031"/>
            <a:ext cx="2603781" cy="1692000"/>
          </a:xfrm>
          <a:prstGeom prst="rect">
            <a:avLst/>
          </a:prstGeom>
          <a:solidFill>
            <a:srgbClr val="F3F4F7">
              <a:alpha val="50000"/>
            </a:srgbClr>
          </a:solidFill>
          <a:ln w="12700" cap="flat" cmpd="sng" algn="ctr">
            <a:no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OPPOSans B" pitchFamily="18" charset="-122"/>
              <a:ea typeface="OPPOSans B" pitchFamily="18" charset="-122"/>
              <a:cs typeface="OPPOSans B" pitchFamily="18" charset="-122"/>
            </a:endParaRPr>
          </a:p>
        </p:txBody>
      </p:sp>
      <p:sp>
        <p:nvSpPr>
          <p:cNvPr id="31" name="文本框 30">
            <a:extLst>
              <a:ext uri="{FF2B5EF4-FFF2-40B4-BE49-F238E27FC236}">
                <a16:creationId xmlns:a16="http://schemas.microsoft.com/office/drawing/2014/main" id="{FB7E1599-A229-98E5-82D6-A32EB0F78A2D}"/>
              </a:ext>
            </a:extLst>
          </p:cNvPr>
          <p:cNvSpPr txBox="1"/>
          <p:nvPr/>
        </p:nvSpPr>
        <p:spPr>
          <a:xfrm>
            <a:off x="3967246" y="3756478"/>
            <a:ext cx="2340000" cy="1015663"/>
          </a:xfrm>
          <a:prstGeom prst="rect">
            <a:avLst/>
          </a:prstGeom>
          <a:noFill/>
        </p:spPr>
        <p:txBody>
          <a:bodyPr wrap="square">
            <a:spAutoFit/>
          </a:bodyPr>
          <a:lstStyle/>
          <a:p>
            <a:pPr marL="171450" indent="-171450">
              <a:buFont typeface="Arial" panose="020B0604020202020204" pitchFamily="34" charset="0"/>
              <a:buChar char="•"/>
            </a:pPr>
            <a:r>
              <a:rPr lang="zh-CN" altLang="en-US" sz="1200" dirty="0"/>
              <a:t>此时企业应侧重销售预算，全力抢占市场，加大对市场的资源配置。</a:t>
            </a:r>
            <a:endParaRPr lang="en-US" altLang="zh-CN" sz="1200" dirty="0"/>
          </a:p>
          <a:p>
            <a:pPr marL="171450" indent="-171450">
              <a:buFont typeface="Arial" panose="020B0604020202020204" pitchFamily="34" charset="0"/>
              <a:buChar char="•"/>
            </a:pPr>
            <a:r>
              <a:rPr lang="zh-CN" altLang="en-US" sz="1200" dirty="0"/>
              <a:t>企业需要关注如何通过</a:t>
            </a:r>
            <a:r>
              <a:rPr lang="zh-CN" altLang="en-US" sz="1200" b="1" dirty="0">
                <a:solidFill>
                  <a:schemeClr val="accent2">
                    <a:lumMod val="75000"/>
                  </a:schemeClr>
                </a:solidFill>
              </a:rPr>
              <a:t>增加销售收入</a:t>
            </a:r>
            <a:r>
              <a:rPr lang="zh-CN" altLang="en-US" sz="1200" dirty="0"/>
              <a:t>来扩大市场份额。</a:t>
            </a:r>
          </a:p>
        </p:txBody>
      </p:sp>
      <p:sp>
        <p:nvSpPr>
          <p:cNvPr id="32" name="矩形 31">
            <a:extLst>
              <a:ext uri="{FF2B5EF4-FFF2-40B4-BE49-F238E27FC236}">
                <a16:creationId xmlns:a16="http://schemas.microsoft.com/office/drawing/2014/main" id="{A844ADA2-962E-AE58-9899-5A8FA6A99D46}"/>
              </a:ext>
            </a:extLst>
          </p:cNvPr>
          <p:cNvSpPr/>
          <p:nvPr/>
        </p:nvSpPr>
        <p:spPr>
          <a:xfrm>
            <a:off x="6446581" y="3533031"/>
            <a:ext cx="2603781" cy="1692000"/>
          </a:xfrm>
          <a:prstGeom prst="rect">
            <a:avLst/>
          </a:prstGeom>
          <a:solidFill>
            <a:srgbClr val="F3F4F7">
              <a:alpha val="50000"/>
            </a:srgbClr>
          </a:solidFill>
          <a:ln w="12700" cap="flat" cmpd="sng" algn="ctr">
            <a:no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OPPOSans B" pitchFamily="18" charset="-122"/>
              <a:ea typeface="OPPOSans B" pitchFamily="18" charset="-122"/>
              <a:cs typeface="OPPOSans B" pitchFamily="18" charset="-122"/>
            </a:endParaRPr>
          </a:p>
        </p:txBody>
      </p:sp>
      <p:sp>
        <p:nvSpPr>
          <p:cNvPr id="33" name="文本框 32">
            <a:extLst>
              <a:ext uri="{FF2B5EF4-FFF2-40B4-BE49-F238E27FC236}">
                <a16:creationId xmlns:a16="http://schemas.microsoft.com/office/drawing/2014/main" id="{9383FD73-02B4-FBB6-7BE4-3FF83CC72E89}"/>
              </a:ext>
            </a:extLst>
          </p:cNvPr>
          <p:cNvSpPr txBox="1"/>
          <p:nvPr/>
        </p:nvSpPr>
        <p:spPr>
          <a:xfrm>
            <a:off x="6554381" y="3756478"/>
            <a:ext cx="2340000" cy="1200329"/>
          </a:xfrm>
          <a:prstGeom prst="rect">
            <a:avLst/>
          </a:prstGeom>
          <a:noFill/>
        </p:spPr>
        <p:txBody>
          <a:bodyPr wrap="square">
            <a:spAutoFit/>
          </a:bodyPr>
          <a:lstStyle/>
          <a:p>
            <a:pPr marL="171450" indent="-171450">
              <a:buFont typeface="Arial" panose="020B0604020202020204" pitchFamily="34" charset="0"/>
              <a:buChar char="•"/>
            </a:pPr>
            <a:r>
              <a:rPr lang="zh-CN" altLang="en-US" sz="1200" dirty="0"/>
              <a:t>在这个阶段，企业应侧重成本预算。</a:t>
            </a:r>
            <a:endParaRPr lang="en-US" altLang="zh-CN" sz="1200" dirty="0"/>
          </a:p>
          <a:p>
            <a:pPr marL="171450" indent="-171450">
              <a:buFont typeface="Arial" panose="020B0604020202020204" pitchFamily="34" charset="0"/>
              <a:buChar char="•"/>
            </a:pPr>
            <a:r>
              <a:rPr lang="zh-CN" altLang="en-US" sz="1200" dirty="0"/>
              <a:t>市场格局相对稳定，企业应追求</a:t>
            </a:r>
            <a:r>
              <a:rPr lang="zh-CN" altLang="en-US" sz="1200" b="1" dirty="0">
                <a:solidFill>
                  <a:schemeClr val="accent2">
                    <a:lumMod val="75000"/>
                  </a:schemeClr>
                </a:solidFill>
              </a:rPr>
              <a:t>精益管理</a:t>
            </a:r>
            <a:endParaRPr lang="en-US" altLang="zh-CN" sz="1200" b="1" dirty="0">
              <a:solidFill>
                <a:schemeClr val="accent2">
                  <a:lumMod val="75000"/>
                </a:schemeClr>
              </a:solidFill>
            </a:endParaRPr>
          </a:p>
          <a:p>
            <a:pPr marL="171450" indent="-171450">
              <a:buFont typeface="Arial" panose="020B0604020202020204" pitchFamily="34" charset="0"/>
              <a:buChar char="•"/>
            </a:pPr>
            <a:r>
              <a:rPr lang="zh-CN" altLang="en-US" sz="1200" dirty="0"/>
              <a:t>实现</a:t>
            </a:r>
            <a:r>
              <a:rPr lang="zh-CN" altLang="en-US" sz="1200" b="1" dirty="0">
                <a:solidFill>
                  <a:schemeClr val="accent2">
                    <a:lumMod val="75000"/>
                  </a:schemeClr>
                </a:solidFill>
              </a:rPr>
              <a:t>成本领先</a:t>
            </a:r>
            <a:r>
              <a:rPr lang="zh-CN" altLang="en-US" sz="1200" dirty="0"/>
              <a:t>，提高效率和盈利能力。</a:t>
            </a:r>
          </a:p>
        </p:txBody>
      </p:sp>
      <p:sp>
        <p:nvSpPr>
          <p:cNvPr id="34" name="矩形 33">
            <a:extLst>
              <a:ext uri="{FF2B5EF4-FFF2-40B4-BE49-F238E27FC236}">
                <a16:creationId xmlns:a16="http://schemas.microsoft.com/office/drawing/2014/main" id="{2B499CB5-1002-AD35-9AE0-36D4330DE71A}"/>
              </a:ext>
            </a:extLst>
          </p:cNvPr>
          <p:cNvSpPr/>
          <p:nvPr/>
        </p:nvSpPr>
        <p:spPr>
          <a:xfrm>
            <a:off x="9099077" y="3533031"/>
            <a:ext cx="2709664" cy="1692000"/>
          </a:xfrm>
          <a:prstGeom prst="rect">
            <a:avLst/>
          </a:prstGeom>
          <a:solidFill>
            <a:srgbClr val="F3F4F7">
              <a:alpha val="50000"/>
            </a:srgbClr>
          </a:solidFill>
          <a:ln w="12700" cap="flat" cmpd="sng" algn="ctr">
            <a:no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OPPOSans B" pitchFamily="18" charset="-122"/>
              <a:ea typeface="OPPOSans B" pitchFamily="18" charset="-122"/>
              <a:cs typeface="OPPOSans B" pitchFamily="18" charset="-122"/>
            </a:endParaRPr>
          </a:p>
        </p:txBody>
      </p:sp>
      <p:sp>
        <p:nvSpPr>
          <p:cNvPr id="35" name="文本框 34">
            <a:extLst>
              <a:ext uri="{FF2B5EF4-FFF2-40B4-BE49-F238E27FC236}">
                <a16:creationId xmlns:a16="http://schemas.microsoft.com/office/drawing/2014/main" id="{E33FA45D-3C7A-24A4-CD26-62AB5D2F3477}"/>
              </a:ext>
            </a:extLst>
          </p:cNvPr>
          <p:cNvSpPr txBox="1"/>
          <p:nvPr/>
        </p:nvSpPr>
        <p:spPr>
          <a:xfrm>
            <a:off x="9283909" y="3748903"/>
            <a:ext cx="2340000" cy="1200329"/>
          </a:xfrm>
          <a:prstGeom prst="rect">
            <a:avLst/>
          </a:prstGeom>
          <a:noFill/>
        </p:spPr>
        <p:txBody>
          <a:bodyPr wrap="square">
            <a:spAutoFit/>
          </a:bodyPr>
          <a:lstStyle/>
          <a:p>
            <a:pPr marL="171450" indent="-171450">
              <a:buFont typeface="Arial" panose="020B0604020202020204" pitchFamily="34" charset="0"/>
              <a:buChar char="•"/>
            </a:pPr>
            <a:r>
              <a:rPr lang="zh-CN" altLang="en-US" sz="1200" dirty="0"/>
              <a:t>在企业应侧重现金流量预算。</a:t>
            </a:r>
            <a:endParaRPr lang="en-US" altLang="zh-CN" sz="1200" dirty="0"/>
          </a:p>
          <a:p>
            <a:pPr marL="171450" indent="-171450">
              <a:buFont typeface="Arial" panose="020B0604020202020204" pitchFamily="34" charset="0"/>
              <a:buChar char="•"/>
            </a:pPr>
            <a:r>
              <a:rPr lang="zh-CN" altLang="en-US" sz="1200" dirty="0"/>
              <a:t>在这个阶段，企业需要收缩战线，</a:t>
            </a:r>
            <a:r>
              <a:rPr lang="zh-CN" altLang="en-US" sz="1200" b="1" dirty="0">
                <a:solidFill>
                  <a:schemeClr val="accent2">
                    <a:lumMod val="75000"/>
                  </a:schemeClr>
                </a:solidFill>
              </a:rPr>
              <a:t>回笼资金</a:t>
            </a:r>
            <a:endParaRPr lang="en-US" altLang="zh-CN" sz="1200" b="1" dirty="0">
              <a:solidFill>
                <a:schemeClr val="accent2">
                  <a:lumMod val="75000"/>
                </a:schemeClr>
              </a:solidFill>
            </a:endParaRPr>
          </a:p>
          <a:p>
            <a:pPr marL="171450" indent="-171450">
              <a:buFont typeface="Arial" panose="020B0604020202020204" pitchFamily="34" charset="0"/>
              <a:buChar char="•"/>
            </a:pPr>
            <a:r>
              <a:rPr lang="zh-CN" altLang="en-US" sz="1200" dirty="0"/>
              <a:t>关注如何通过减少支出和增加现金流入来维持企业的财务健康</a:t>
            </a:r>
          </a:p>
        </p:txBody>
      </p:sp>
      <p:sp>
        <p:nvSpPr>
          <p:cNvPr id="36" name="矩形: 圆角 487">
            <a:extLst>
              <a:ext uri="{FF2B5EF4-FFF2-40B4-BE49-F238E27FC236}">
                <a16:creationId xmlns:a16="http://schemas.microsoft.com/office/drawing/2014/main" id="{8BD3BE3A-0269-B92F-B9CC-E4178E99AB03}"/>
              </a:ext>
            </a:extLst>
          </p:cNvPr>
          <p:cNvSpPr/>
          <p:nvPr/>
        </p:nvSpPr>
        <p:spPr>
          <a:xfrm>
            <a:off x="492948" y="2423612"/>
            <a:ext cx="522287" cy="936104"/>
          </a:xfrm>
          <a:prstGeom prst="roundRect">
            <a:avLst>
              <a:gd name="adj" fmla="val 110"/>
            </a:avLst>
          </a:prstGeom>
          <a:noFill/>
          <a:ln w="12700" cap="flat" cmpd="sng" algn="ctr">
            <a:solidFill>
              <a:schemeClr val="accent1">
                <a:lumMod val="50000"/>
                <a:alpha val="65000"/>
              </a:schemeClr>
            </a:solidFill>
            <a:prstDash val="dash"/>
            <a:miter lim="800000"/>
          </a:ln>
          <a:effectLst/>
        </p:spPr>
        <p:txBody>
          <a:bodyPr vert="horz"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kern="0" dirty="0">
                <a:solidFill>
                  <a:srgbClr val="000000">
                    <a:lumMod val="75000"/>
                    <a:lumOff val="25000"/>
                  </a:srgbClr>
                </a:solidFill>
                <a:latin typeface="OPPOSans B" pitchFamily="18" charset="-122"/>
                <a:ea typeface="OPPOSans B" pitchFamily="18" charset="-122"/>
                <a:cs typeface="OPPOSans B" pitchFamily="18" charset="-122"/>
              </a:rPr>
              <a:t>预算的侧重点</a:t>
            </a:r>
            <a:endParaRPr kumimoji="0" lang="zh-CN" altLang="en-US" sz="1400" b="1" i="0" u="none" strike="noStrike" kern="0" cap="none" spc="0" normalizeH="0" baseline="0" noProof="0" dirty="0">
              <a:ln>
                <a:noFill/>
              </a:ln>
              <a:solidFill>
                <a:srgbClr val="000000">
                  <a:lumMod val="75000"/>
                  <a:lumOff val="25000"/>
                </a:srgbClr>
              </a:solidFill>
              <a:effectLst/>
              <a:uLnTx/>
              <a:uFillTx/>
              <a:latin typeface="OPPOSans B" pitchFamily="18" charset="-122"/>
              <a:ea typeface="OPPOSans B" pitchFamily="18" charset="-122"/>
              <a:cs typeface="OPPOSans B" pitchFamily="18" charset="-122"/>
            </a:endParaRPr>
          </a:p>
        </p:txBody>
      </p:sp>
      <p:sp>
        <p:nvSpPr>
          <p:cNvPr id="40" name="不完整圆 235">
            <a:extLst>
              <a:ext uri="{FF2B5EF4-FFF2-40B4-BE49-F238E27FC236}">
                <a16:creationId xmlns:a16="http://schemas.microsoft.com/office/drawing/2014/main" id="{0FD47BCD-8FBB-5491-BBFD-5E0D4C786A9F}"/>
              </a:ext>
            </a:extLst>
          </p:cNvPr>
          <p:cNvSpPr/>
          <p:nvPr/>
        </p:nvSpPr>
        <p:spPr>
          <a:xfrm>
            <a:off x="1714116" y="3078622"/>
            <a:ext cx="1320254" cy="17111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a:gsLst>
              <a:gs pos="0">
                <a:schemeClr val="accent2">
                  <a:alpha val="50000"/>
                </a:schemeClr>
              </a:gs>
              <a:gs pos="99000">
                <a:schemeClr val="accent3">
                  <a:alpha val="0"/>
                </a:schemeClr>
              </a:gs>
            </a:gsLst>
            <a:lin ang="16200000" scaled="0"/>
          </a:gradFill>
          <a:ln w="25400">
            <a:gradFill>
              <a:gsLst>
                <a:gs pos="0">
                  <a:schemeClr val="accent2"/>
                </a:gs>
                <a:gs pos="100000">
                  <a:schemeClr val="accent3">
                    <a:alpha val="0"/>
                  </a:schemeClr>
                </a:gs>
              </a:gsLst>
              <a:lin ang="1620000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OPPOSans B" pitchFamily="18" charset="-122"/>
              <a:ea typeface="OPPOSans B" pitchFamily="18" charset="-122"/>
              <a:cs typeface="OPPOSans B" pitchFamily="18" charset="-122"/>
            </a:endParaRPr>
          </a:p>
        </p:txBody>
      </p:sp>
      <p:sp>
        <p:nvSpPr>
          <p:cNvPr id="41" name="椭圆 40">
            <a:extLst>
              <a:ext uri="{FF2B5EF4-FFF2-40B4-BE49-F238E27FC236}">
                <a16:creationId xmlns:a16="http://schemas.microsoft.com/office/drawing/2014/main" id="{92720E5D-1251-B84F-6DE5-AE73F365E10F}"/>
              </a:ext>
            </a:extLst>
          </p:cNvPr>
          <p:cNvSpPr>
            <a:spLocks noChangeAspect="1"/>
          </p:cNvSpPr>
          <p:nvPr/>
        </p:nvSpPr>
        <p:spPr>
          <a:xfrm>
            <a:off x="2052129" y="2517170"/>
            <a:ext cx="648000" cy="664853"/>
          </a:xfrm>
          <a:prstGeom prst="ellipse">
            <a:avLst/>
          </a:prstGeom>
          <a:solidFill>
            <a:schemeClr val="accent2"/>
          </a:solidFill>
          <a:ln w="38100" cap="flat" cmpd="sng" algn="ctr">
            <a:no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kern="0" dirty="0">
                <a:solidFill>
                  <a:schemeClr val="bg1"/>
                </a:solidFill>
                <a:effectLst>
                  <a:outerShdw blurRad="137160" dist="41148" dir="2699997" algn="tl">
                    <a:srgbClr val="000000">
                      <a:alpha val="40000"/>
                    </a:srgbClr>
                  </a:outerShdw>
                </a:effectLst>
                <a:latin typeface="OPPOSans B" pitchFamily="18" charset="-122"/>
                <a:ea typeface="OPPOSans B" pitchFamily="18" charset="-122"/>
                <a:cs typeface="OPPOSans B" pitchFamily="18" charset="-122"/>
              </a:rPr>
              <a:t>资本预算</a:t>
            </a:r>
            <a:endParaRPr kumimoji="0" lang="zh-CN" altLang="en-US" sz="1400" b="1" i="0" u="none" strike="noStrike" kern="0" cap="none" spc="0" normalizeH="0" baseline="0" noProof="0" dirty="0">
              <a:ln>
                <a:noFill/>
              </a:ln>
              <a:solidFill>
                <a:schemeClr val="bg1"/>
              </a:solidFill>
              <a:effectLst>
                <a:outerShdw blurRad="137160" dist="41148" dir="2699997" algn="tl">
                  <a:srgbClr val="000000">
                    <a:alpha val="40000"/>
                  </a:srgbClr>
                </a:outerShdw>
              </a:effectLst>
              <a:uLnTx/>
              <a:uFillTx/>
              <a:latin typeface="OPPOSans B" pitchFamily="18" charset="-122"/>
              <a:ea typeface="OPPOSans B" pitchFamily="18" charset="-122"/>
              <a:cs typeface="OPPOSans B" pitchFamily="18" charset="-122"/>
            </a:endParaRPr>
          </a:p>
        </p:txBody>
      </p:sp>
      <p:sp>
        <p:nvSpPr>
          <p:cNvPr id="42" name="不完整圆 235">
            <a:extLst>
              <a:ext uri="{FF2B5EF4-FFF2-40B4-BE49-F238E27FC236}">
                <a16:creationId xmlns:a16="http://schemas.microsoft.com/office/drawing/2014/main" id="{5F486006-E285-A585-7E1F-32210583E9ED}"/>
              </a:ext>
            </a:extLst>
          </p:cNvPr>
          <p:cNvSpPr/>
          <p:nvPr/>
        </p:nvSpPr>
        <p:spPr>
          <a:xfrm>
            <a:off x="4408167" y="3078622"/>
            <a:ext cx="1320254" cy="17111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a:gsLst>
              <a:gs pos="0">
                <a:schemeClr val="accent2">
                  <a:alpha val="50000"/>
                </a:schemeClr>
              </a:gs>
              <a:gs pos="99000">
                <a:schemeClr val="accent3">
                  <a:alpha val="0"/>
                </a:schemeClr>
              </a:gs>
            </a:gsLst>
            <a:lin ang="16200000" scaled="0"/>
          </a:gradFill>
          <a:ln w="25400">
            <a:gradFill>
              <a:gsLst>
                <a:gs pos="0">
                  <a:schemeClr val="accent2"/>
                </a:gs>
                <a:gs pos="100000">
                  <a:schemeClr val="accent3">
                    <a:alpha val="0"/>
                  </a:schemeClr>
                </a:gs>
              </a:gsLst>
              <a:lin ang="1620000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OPPOSans B" pitchFamily="18" charset="-122"/>
              <a:ea typeface="OPPOSans B" pitchFamily="18" charset="-122"/>
              <a:cs typeface="OPPOSans B" pitchFamily="18" charset="-122"/>
            </a:endParaRPr>
          </a:p>
        </p:txBody>
      </p:sp>
      <p:sp>
        <p:nvSpPr>
          <p:cNvPr id="43" name="椭圆 42">
            <a:extLst>
              <a:ext uri="{FF2B5EF4-FFF2-40B4-BE49-F238E27FC236}">
                <a16:creationId xmlns:a16="http://schemas.microsoft.com/office/drawing/2014/main" id="{40A76494-BA33-CCCB-5C47-BEBDCDB46865}"/>
              </a:ext>
            </a:extLst>
          </p:cNvPr>
          <p:cNvSpPr>
            <a:spLocks noChangeAspect="1"/>
          </p:cNvSpPr>
          <p:nvPr/>
        </p:nvSpPr>
        <p:spPr>
          <a:xfrm>
            <a:off x="4746180" y="2517170"/>
            <a:ext cx="648000" cy="664853"/>
          </a:xfrm>
          <a:prstGeom prst="ellipse">
            <a:avLst/>
          </a:prstGeom>
          <a:solidFill>
            <a:schemeClr val="accent2"/>
          </a:solidFill>
          <a:ln w="38100" cap="flat" cmpd="sng" algn="ctr">
            <a:no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kern="0" dirty="0">
                <a:solidFill>
                  <a:schemeClr val="bg1"/>
                </a:solidFill>
                <a:effectLst>
                  <a:outerShdw blurRad="137160" dist="41148" dir="2699997" algn="tl">
                    <a:srgbClr val="000000">
                      <a:alpha val="40000"/>
                    </a:srgbClr>
                  </a:outerShdw>
                </a:effectLst>
                <a:latin typeface="OPPOSans B" pitchFamily="18" charset="-122"/>
                <a:ea typeface="OPPOSans B" pitchFamily="18" charset="-122"/>
                <a:cs typeface="OPPOSans B" pitchFamily="18" charset="-122"/>
              </a:rPr>
              <a:t>销售预算</a:t>
            </a:r>
            <a:endParaRPr kumimoji="0" lang="zh-CN" altLang="en-US" sz="1400" b="1" i="0" u="none" strike="noStrike" kern="0" cap="none" spc="0" normalizeH="0" baseline="0" noProof="0" dirty="0">
              <a:ln>
                <a:noFill/>
              </a:ln>
              <a:solidFill>
                <a:schemeClr val="bg1"/>
              </a:solidFill>
              <a:effectLst>
                <a:outerShdw blurRad="137160" dist="41148" dir="2699997" algn="tl">
                  <a:srgbClr val="000000">
                    <a:alpha val="40000"/>
                  </a:srgbClr>
                </a:outerShdw>
              </a:effectLst>
              <a:uLnTx/>
              <a:uFillTx/>
              <a:latin typeface="OPPOSans B" pitchFamily="18" charset="-122"/>
              <a:ea typeface="OPPOSans B" pitchFamily="18" charset="-122"/>
              <a:cs typeface="OPPOSans B" pitchFamily="18" charset="-122"/>
            </a:endParaRPr>
          </a:p>
        </p:txBody>
      </p:sp>
      <p:sp>
        <p:nvSpPr>
          <p:cNvPr id="44" name="矩形: 圆角 487">
            <a:extLst>
              <a:ext uri="{FF2B5EF4-FFF2-40B4-BE49-F238E27FC236}">
                <a16:creationId xmlns:a16="http://schemas.microsoft.com/office/drawing/2014/main" id="{90DC61C9-3B38-F84F-72E4-3ED19EA706C2}"/>
              </a:ext>
            </a:extLst>
          </p:cNvPr>
          <p:cNvSpPr/>
          <p:nvPr/>
        </p:nvSpPr>
        <p:spPr>
          <a:xfrm>
            <a:off x="492948" y="3533031"/>
            <a:ext cx="522287" cy="1692000"/>
          </a:xfrm>
          <a:prstGeom prst="roundRect">
            <a:avLst>
              <a:gd name="adj" fmla="val 110"/>
            </a:avLst>
          </a:prstGeom>
          <a:noFill/>
          <a:ln w="12700" cap="flat" cmpd="sng" algn="ctr">
            <a:solidFill>
              <a:schemeClr val="accent1">
                <a:lumMod val="50000"/>
                <a:alpha val="65000"/>
              </a:schemeClr>
            </a:solidFill>
            <a:prstDash val="dash"/>
            <a:miter lim="800000"/>
          </a:ln>
          <a:effectLst/>
        </p:spPr>
        <p:txBody>
          <a:bodyPr vert="horz"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kern="0" dirty="0">
                <a:solidFill>
                  <a:srgbClr val="000000">
                    <a:lumMod val="75000"/>
                    <a:lumOff val="25000"/>
                  </a:srgbClr>
                </a:solidFill>
                <a:latin typeface="OPPOSans B" pitchFamily="18" charset="-122"/>
                <a:ea typeface="OPPOSans B" pitchFamily="18" charset="-122"/>
                <a:cs typeface="OPPOSans B" pitchFamily="18" charset="-122"/>
              </a:rPr>
              <a:t>原因</a:t>
            </a:r>
            <a:endParaRPr kumimoji="0" lang="zh-CN" altLang="en-US" sz="1400" b="1" i="0" u="none" strike="noStrike" kern="0" cap="none" spc="0" normalizeH="0" baseline="0" noProof="0" dirty="0">
              <a:ln>
                <a:noFill/>
              </a:ln>
              <a:solidFill>
                <a:srgbClr val="000000">
                  <a:lumMod val="75000"/>
                  <a:lumOff val="25000"/>
                </a:srgbClr>
              </a:solidFill>
              <a:effectLst/>
              <a:uLnTx/>
              <a:uFillTx/>
              <a:latin typeface="OPPOSans B" pitchFamily="18" charset="-122"/>
              <a:ea typeface="OPPOSans B" pitchFamily="18" charset="-122"/>
              <a:cs typeface="OPPOSans B" pitchFamily="18" charset="-122"/>
            </a:endParaRPr>
          </a:p>
        </p:txBody>
      </p:sp>
      <p:sp>
        <p:nvSpPr>
          <p:cNvPr id="45" name="矩形: 圆角 487">
            <a:extLst>
              <a:ext uri="{FF2B5EF4-FFF2-40B4-BE49-F238E27FC236}">
                <a16:creationId xmlns:a16="http://schemas.microsoft.com/office/drawing/2014/main" id="{F5105BB9-7076-7C91-DCB7-F9374D641D29}"/>
              </a:ext>
            </a:extLst>
          </p:cNvPr>
          <p:cNvSpPr/>
          <p:nvPr/>
        </p:nvSpPr>
        <p:spPr>
          <a:xfrm>
            <a:off x="1081337" y="2423612"/>
            <a:ext cx="10720093" cy="936103"/>
          </a:xfrm>
          <a:prstGeom prst="roundRect">
            <a:avLst>
              <a:gd name="adj" fmla="val 110"/>
            </a:avLst>
          </a:prstGeom>
          <a:noFill/>
          <a:ln w="12700" cap="flat" cmpd="sng" algn="ctr">
            <a:solidFill>
              <a:schemeClr val="accent1">
                <a:lumMod val="50000"/>
                <a:alpha val="65000"/>
              </a:schemeClr>
            </a:solidFill>
            <a:prstDash val="dash"/>
            <a:miter lim="800000"/>
          </a:ln>
          <a:effectLst/>
        </p:spPr>
        <p:txBody>
          <a:bodyPr vert="horz"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dirty="0">
              <a:ln>
                <a:noFill/>
              </a:ln>
              <a:solidFill>
                <a:srgbClr val="000000">
                  <a:lumMod val="75000"/>
                  <a:lumOff val="25000"/>
                </a:srgbClr>
              </a:solidFill>
              <a:effectLst/>
              <a:uLnTx/>
              <a:uFillTx/>
              <a:latin typeface="OPPOSans B" pitchFamily="18" charset="-122"/>
              <a:ea typeface="OPPOSans B" pitchFamily="18" charset="-122"/>
              <a:cs typeface="OPPOSans B" pitchFamily="18" charset="-122"/>
            </a:endParaRPr>
          </a:p>
        </p:txBody>
      </p:sp>
      <p:sp>
        <p:nvSpPr>
          <p:cNvPr id="46" name="不完整圆 235">
            <a:extLst>
              <a:ext uri="{FF2B5EF4-FFF2-40B4-BE49-F238E27FC236}">
                <a16:creationId xmlns:a16="http://schemas.microsoft.com/office/drawing/2014/main" id="{FDF26AB2-0672-DAE2-92BE-DC697D734195}"/>
              </a:ext>
            </a:extLst>
          </p:cNvPr>
          <p:cNvSpPr/>
          <p:nvPr/>
        </p:nvSpPr>
        <p:spPr>
          <a:xfrm>
            <a:off x="7080512" y="3066647"/>
            <a:ext cx="1320254" cy="17111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a:gsLst>
              <a:gs pos="0">
                <a:schemeClr val="accent2">
                  <a:alpha val="50000"/>
                </a:schemeClr>
              </a:gs>
              <a:gs pos="99000">
                <a:schemeClr val="accent3">
                  <a:alpha val="0"/>
                </a:schemeClr>
              </a:gs>
            </a:gsLst>
            <a:lin ang="16200000" scaled="0"/>
          </a:gradFill>
          <a:ln w="25400">
            <a:gradFill>
              <a:gsLst>
                <a:gs pos="0">
                  <a:schemeClr val="accent2"/>
                </a:gs>
                <a:gs pos="100000">
                  <a:schemeClr val="accent3">
                    <a:alpha val="0"/>
                  </a:schemeClr>
                </a:gs>
              </a:gsLst>
              <a:lin ang="1620000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OPPOSans B" pitchFamily="18" charset="-122"/>
              <a:ea typeface="OPPOSans B" pitchFamily="18" charset="-122"/>
              <a:cs typeface="OPPOSans B" pitchFamily="18" charset="-122"/>
            </a:endParaRPr>
          </a:p>
        </p:txBody>
      </p:sp>
      <p:sp>
        <p:nvSpPr>
          <p:cNvPr id="47" name="椭圆 46">
            <a:extLst>
              <a:ext uri="{FF2B5EF4-FFF2-40B4-BE49-F238E27FC236}">
                <a16:creationId xmlns:a16="http://schemas.microsoft.com/office/drawing/2014/main" id="{4036225B-14F1-5419-90FA-BBA1899C4BFF}"/>
              </a:ext>
            </a:extLst>
          </p:cNvPr>
          <p:cNvSpPr>
            <a:spLocks noChangeAspect="1"/>
          </p:cNvSpPr>
          <p:nvPr/>
        </p:nvSpPr>
        <p:spPr>
          <a:xfrm>
            <a:off x="7418525" y="2505195"/>
            <a:ext cx="648000" cy="664853"/>
          </a:xfrm>
          <a:prstGeom prst="ellipse">
            <a:avLst/>
          </a:prstGeom>
          <a:solidFill>
            <a:schemeClr val="accent2"/>
          </a:solidFill>
          <a:ln w="38100" cap="flat" cmpd="sng" algn="ctr">
            <a:no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kern="0" dirty="0">
                <a:solidFill>
                  <a:schemeClr val="bg1"/>
                </a:solidFill>
                <a:effectLst>
                  <a:outerShdw blurRad="137160" dist="41148" dir="2699997" algn="tl">
                    <a:srgbClr val="000000">
                      <a:alpha val="40000"/>
                    </a:srgbClr>
                  </a:outerShdw>
                </a:effectLst>
                <a:latin typeface="OPPOSans B" pitchFamily="18" charset="-122"/>
                <a:ea typeface="OPPOSans B" pitchFamily="18" charset="-122"/>
                <a:cs typeface="OPPOSans B" pitchFamily="18" charset="-122"/>
              </a:rPr>
              <a:t>成本预算</a:t>
            </a:r>
            <a:endParaRPr kumimoji="0" lang="zh-CN" altLang="en-US" sz="1400" b="1" i="0" u="none" strike="noStrike" kern="0" cap="none" spc="0" normalizeH="0" baseline="0" noProof="0" dirty="0">
              <a:ln>
                <a:noFill/>
              </a:ln>
              <a:solidFill>
                <a:schemeClr val="bg1"/>
              </a:solidFill>
              <a:effectLst>
                <a:outerShdw blurRad="137160" dist="41148" dir="2699997" algn="tl">
                  <a:srgbClr val="000000">
                    <a:alpha val="40000"/>
                  </a:srgbClr>
                </a:outerShdw>
              </a:effectLst>
              <a:uLnTx/>
              <a:uFillTx/>
              <a:latin typeface="OPPOSans B" pitchFamily="18" charset="-122"/>
              <a:ea typeface="OPPOSans B" pitchFamily="18" charset="-122"/>
              <a:cs typeface="OPPOSans B" pitchFamily="18" charset="-122"/>
            </a:endParaRPr>
          </a:p>
        </p:txBody>
      </p:sp>
      <p:sp>
        <p:nvSpPr>
          <p:cNvPr id="48" name="不完整圆 235">
            <a:extLst>
              <a:ext uri="{FF2B5EF4-FFF2-40B4-BE49-F238E27FC236}">
                <a16:creationId xmlns:a16="http://schemas.microsoft.com/office/drawing/2014/main" id="{40547AD8-13C8-5C71-6FF5-1DA75380D4FE}"/>
              </a:ext>
            </a:extLst>
          </p:cNvPr>
          <p:cNvSpPr/>
          <p:nvPr/>
        </p:nvSpPr>
        <p:spPr>
          <a:xfrm>
            <a:off x="9801858" y="3066647"/>
            <a:ext cx="1320254" cy="17111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a:gsLst>
              <a:gs pos="0">
                <a:schemeClr val="accent2">
                  <a:alpha val="50000"/>
                </a:schemeClr>
              </a:gs>
              <a:gs pos="99000">
                <a:schemeClr val="accent3">
                  <a:alpha val="0"/>
                </a:schemeClr>
              </a:gs>
            </a:gsLst>
            <a:lin ang="16200000" scaled="0"/>
          </a:gradFill>
          <a:ln w="25400">
            <a:gradFill>
              <a:gsLst>
                <a:gs pos="0">
                  <a:schemeClr val="accent2"/>
                </a:gs>
                <a:gs pos="100000">
                  <a:schemeClr val="accent3">
                    <a:alpha val="0"/>
                  </a:schemeClr>
                </a:gs>
              </a:gsLst>
              <a:lin ang="16200000" scaled="0"/>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OPPOSans B" pitchFamily="18" charset="-122"/>
              <a:ea typeface="OPPOSans B" pitchFamily="18" charset="-122"/>
              <a:cs typeface="OPPOSans B" pitchFamily="18" charset="-122"/>
            </a:endParaRPr>
          </a:p>
        </p:txBody>
      </p:sp>
      <p:sp>
        <p:nvSpPr>
          <p:cNvPr id="49" name="椭圆 48">
            <a:extLst>
              <a:ext uri="{FF2B5EF4-FFF2-40B4-BE49-F238E27FC236}">
                <a16:creationId xmlns:a16="http://schemas.microsoft.com/office/drawing/2014/main" id="{0F143B28-25EF-555F-5D28-2639F95F2BD7}"/>
              </a:ext>
            </a:extLst>
          </p:cNvPr>
          <p:cNvSpPr>
            <a:spLocks noChangeAspect="1"/>
          </p:cNvSpPr>
          <p:nvPr/>
        </p:nvSpPr>
        <p:spPr>
          <a:xfrm>
            <a:off x="10139871" y="2505195"/>
            <a:ext cx="648000" cy="664853"/>
          </a:xfrm>
          <a:prstGeom prst="ellipse">
            <a:avLst/>
          </a:prstGeom>
          <a:solidFill>
            <a:schemeClr val="accent2"/>
          </a:solidFill>
          <a:ln w="38100" cap="flat" cmpd="sng" algn="ctr">
            <a:no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kern="0" dirty="0">
                <a:solidFill>
                  <a:schemeClr val="bg1"/>
                </a:solidFill>
                <a:effectLst>
                  <a:outerShdw blurRad="137160" dist="41148" dir="2699997" algn="tl">
                    <a:srgbClr val="000000">
                      <a:alpha val="40000"/>
                    </a:srgbClr>
                  </a:outerShdw>
                </a:effectLst>
                <a:latin typeface="OPPOSans B" pitchFamily="18" charset="-122"/>
                <a:ea typeface="OPPOSans B" pitchFamily="18" charset="-122"/>
                <a:cs typeface="OPPOSans B" pitchFamily="18" charset="-122"/>
              </a:rPr>
              <a:t>资金预算</a:t>
            </a:r>
            <a:endParaRPr kumimoji="0" lang="zh-CN" altLang="en-US" sz="1400" b="1" i="0" u="none" strike="noStrike" kern="0" cap="none" spc="0" normalizeH="0" baseline="0" noProof="0" dirty="0">
              <a:ln>
                <a:noFill/>
              </a:ln>
              <a:solidFill>
                <a:schemeClr val="bg1"/>
              </a:solidFill>
              <a:effectLst>
                <a:outerShdw blurRad="137160" dist="41148" dir="2699997" algn="tl">
                  <a:srgbClr val="000000">
                    <a:alpha val="40000"/>
                  </a:srgbClr>
                </a:outerShdw>
              </a:effectLst>
              <a:uLnTx/>
              <a:uFillTx/>
              <a:latin typeface="OPPOSans B" pitchFamily="18" charset="-122"/>
              <a:ea typeface="OPPOSans B" pitchFamily="18" charset="-122"/>
              <a:cs typeface="OPPOSans B" pitchFamily="18" charset="-122"/>
            </a:endParaRPr>
          </a:p>
        </p:txBody>
      </p:sp>
      <p:grpSp>
        <p:nvGrpSpPr>
          <p:cNvPr id="9" name="组合 8">
            <a:extLst>
              <a:ext uri="{FF2B5EF4-FFF2-40B4-BE49-F238E27FC236}">
                <a16:creationId xmlns:a16="http://schemas.microsoft.com/office/drawing/2014/main" id="{97B18626-6863-C9A0-025D-CC604885B657}"/>
              </a:ext>
            </a:extLst>
          </p:cNvPr>
          <p:cNvGrpSpPr/>
          <p:nvPr/>
        </p:nvGrpSpPr>
        <p:grpSpPr>
          <a:xfrm>
            <a:off x="3547532" y="2646409"/>
            <a:ext cx="429718" cy="429718"/>
            <a:chOff x="3701982" y="3003482"/>
            <a:chExt cx="593220" cy="593220"/>
          </a:xfrm>
          <a:solidFill>
            <a:schemeClr val="accent2"/>
          </a:solidFill>
          <a:effectLst/>
        </p:grpSpPr>
        <p:sp>
          <p:nvSpPr>
            <p:cNvPr id="13" name="椭圆 12">
              <a:extLst>
                <a:ext uri="{FF2B5EF4-FFF2-40B4-BE49-F238E27FC236}">
                  <a16:creationId xmlns:a16="http://schemas.microsoft.com/office/drawing/2014/main" id="{47E9818F-C205-DB53-126E-394909F1993C}"/>
                </a:ext>
              </a:extLst>
            </p:cNvPr>
            <p:cNvSpPr/>
            <p:nvPr/>
          </p:nvSpPr>
          <p:spPr>
            <a:xfrm>
              <a:off x="3701982" y="3003482"/>
              <a:ext cx="593220" cy="593220"/>
            </a:xfrm>
            <a:prstGeom prst="ellipse">
              <a:avLst/>
            </a:prstGeom>
            <a:grp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srgbClr val="FFFFFF"/>
                </a:solidFill>
                <a:effectLst/>
                <a:uLnTx/>
                <a:uFillTx/>
                <a:latin typeface="HarmonyOS Sans SC Light" panose="00000400000000000000" pitchFamily="2" charset="-122"/>
                <a:ea typeface="HarmonyOS Sans SC Light" panose="00000400000000000000" pitchFamily="2" charset="-122"/>
                <a:cs typeface="+mn-cs"/>
              </a:endParaRPr>
            </a:p>
          </p:txBody>
        </p:sp>
        <p:sp>
          <p:nvSpPr>
            <p:cNvPr id="55" name="箭头: V 形 21">
              <a:extLst>
                <a:ext uri="{FF2B5EF4-FFF2-40B4-BE49-F238E27FC236}">
                  <a16:creationId xmlns:a16="http://schemas.microsoft.com/office/drawing/2014/main" id="{CE947348-0E9D-5804-DDB1-392D1130DC17}"/>
                </a:ext>
              </a:extLst>
            </p:cNvPr>
            <p:cNvSpPr/>
            <p:nvPr/>
          </p:nvSpPr>
          <p:spPr>
            <a:xfrm>
              <a:off x="3905807" y="3154046"/>
              <a:ext cx="195169" cy="292090"/>
            </a:xfrm>
            <a:prstGeom prst="chevron">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black"/>
                </a:solidFill>
                <a:effectLst/>
                <a:uLnTx/>
                <a:uFillTx/>
                <a:latin typeface="HarmonyOS Sans SC Light" panose="00000400000000000000" pitchFamily="2" charset="-122"/>
                <a:ea typeface="HarmonyOS Sans SC Light" panose="00000400000000000000" pitchFamily="2" charset="-122"/>
                <a:cs typeface="+mn-cs"/>
              </a:endParaRPr>
            </a:p>
          </p:txBody>
        </p:sp>
      </p:grpSp>
      <p:grpSp>
        <p:nvGrpSpPr>
          <p:cNvPr id="56" name="组合 55">
            <a:extLst>
              <a:ext uri="{FF2B5EF4-FFF2-40B4-BE49-F238E27FC236}">
                <a16:creationId xmlns:a16="http://schemas.microsoft.com/office/drawing/2014/main" id="{CD569FEB-37D3-8CD0-A4CD-92AFD154A053}"/>
              </a:ext>
            </a:extLst>
          </p:cNvPr>
          <p:cNvGrpSpPr/>
          <p:nvPr/>
        </p:nvGrpSpPr>
        <p:grpSpPr>
          <a:xfrm>
            <a:off x="6226132" y="2636929"/>
            <a:ext cx="429718" cy="429718"/>
            <a:chOff x="3701982" y="3003482"/>
            <a:chExt cx="593220" cy="593220"/>
          </a:xfrm>
          <a:solidFill>
            <a:schemeClr val="accent2"/>
          </a:solidFill>
          <a:effectLst/>
        </p:grpSpPr>
        <p:sp>
          <p:nvSpPr>
            <p:cNvPr id="58" name="椭圆 57">
              <a:extLst>
                <a:ext uri="{FF2B5EF4-FFF2-40B4-BE49-F238E27FC236}">
                  <a16:creationId xmlns:a16="http://schemas.microsoft.com/office/drawing/2014/main" id="{D675370E-3F3A-FC30-9F9A-F557CD24606E}"/>
                </a:ext>
              </a:extLst>
            </p:cNvPr>
            <p:cNvSpPr/>
            <p:nvPr/>
          </p:nvSpPr>
          <p:spPr>
            <a:xfrm>
              <a:off x="3701982" y="3003482"/>
              <a:ext cx="593220" cy="593220"/>
            </a:xfrm>
            <a:prstGeom prst="ellipse">
              <a:avLst/>
            </a:prstGeom>
            <a:grp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srgbClr val="FFFFFF"/>
                </a:solidFill>
                <a:effectLst/>
                <a:uLnTx/>
                <a:uFillTx/>
                <a:latin typeface="HarmonyOS Sans SC Light" panose="00000400000000000000" pitchFamily="2" charset="-122"/>
                <a:ea typeface="HarmonyOS Sans SC Light" panose="00000400000000000000" pitchFamily="2" charset="-122"/>
                <a:cs typeface="+mn-cs"/>
              </a:endParaRPr>
            </a:p>
          </p:txBody>
        </p:sp>
        <p:sp>
          <p:nvSpPr>
            <p:cNvPr id="59" name="箭头: V 形 21">
              <a:extLst>
                <a:ext uri="{FF2B5EF4-FFF2-40B4-BE49-F238E27FC236}">
                  <a16:creationId xmlns:a16="http://schemas.microsoft.com/office/drawing/2014/main" id="{8683E515-8EAA-1EBF-37EB-480A73E1468D}"/>
                </a:ext>
              </a:extLst>
            </p:cNvPr>
            <p:cNvSpPr/>
            <p:nvPr/>
          </p:nvSpPr>
          <p:spPr>
            <a:xfrm>
              <a:off x="3905807" y="3154046"/>
              <a:ext cx="195169" cy="292090"/>
            </a:xfrm>
            <a:prstGeom prst="chevron">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black"/>
                </a:solidFill>
                <a:effectLst/>
                <a:uLnTx/>
                <a:uFillTx/>
                <a:latin typeface="HarmonyOS Sans SC Light" panose="00000400000000000000" pitchFamily="2" charset="-122"/>
                <a:ea typeface="HarmonyOS Sans SC Light" panose="00000400000000000000" pitchFamily="2" charset="-122"/>
                <a:cs typeface="+mn-cs"/>
              </a:endParaRPr>
            </a:p>
          </p:txBody>
        </p:sp>
      </p:grpSp>
      <p:grpSp>
        <p:nvGrpSpPr>
          <p:cNvPr id="60" name="组合 59">
            <a:extLst>
              <a:ext uri="{FF2B5EF4-FFF2-40B4-BE49-F238E27FC236}">
                <a16:creationId xmlns:a16="http://schemas.microsoft.com/office/drawing/2014/main" id="{63577FAD-A51A-D4EA-943C-918AC7E0E65D}"/>
              </a:ext>
            </a:extLst>
          </p:cNvPr>
          <p:cNvGrpSpPr/>
          <p:nvPr/>
        </p:nvGrpSpPr>
        <p:grpSpPr>
          <a:xfrm>
            <a:off x="8860829" y="2636929"/>
            <a:ext cx="429718" cy="429718"/>
            <a:chOff x="3701982" y="3003482"/>
            <a:chExt cx="593220" cy="593220"/>
          </a:xfrm>
          <a:solidFill>
            <a:schemeClr val="accent2"/>
          </a:solidFill>
          <a:effectLst/>
        </p:grpSpPr>
        <p:sp>
          <p:nvSpPr>
            <p:cNvPr id="61" name="椭圆 60">
              <a:extLst>
                <a:ext uri="{FF2B5EF4-FFF2-40B4-BE49-F238E27FC236}">
                  <a16:creationId xmlns:a16="http://schemas.microsoft.com/office/drawing/2014/main" id="{942777BA-B8FF-A5B5-63E7-8D12C41FE886}"/>
                </a:ext>
              </a:extLst>
            </p:cNvPr>
            <p:cNvSpPr/>
            <p:nvPr/>
          </p:nvSpPr>
          <p:spPr>
            <a:xfrm>
              <a:off x="3701982" y="3003482"/>
              <a:ext cx="593220" cy="593220"/>
            </a:xfrm>
            <a:prstGeom prst="ellipse">
              <a:avLst/>
            </a:prstGeom>
            <a:grp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srgbClr val="FFFFFF"/>
                </a:solidFill>
                <a:effectLst/>
                <a:uLnTx/>
                <a:uFillTx/>
                <a:latin typeface="HarmonyOS Sans SC Light" panose="00000400000000000000" pitchFamily="2" charset="-122"/>
                <a:ea typeface="HarmonyOS Sans SC Light" panose="00000400000000000000" pitchFamily="2" charset="-122"/>
                <a:cs typeface="+mn-cs"/>
              </a:endParaRPr>
            </a:p>
          </p:txBody>
        </p:sp>
        <p:sp>
          <p:nvSpPr>
            <p:cNvPr id="62" name="箭头: V 形 21">
              <a:extLst>
                <a:ext uri="{FF2B5EF4-FFF2-40B4-BE49-F238E27FC236}">
                  <a16:creationId xmlns:a16="http://schemas.microsoft.com/office/drawing/2014/main" id="{25B0F3B8-055D-1488-522C-0C7EF45BC491}"/>
                </a:ext>
              </a:extLst>
            </p:cNvPr>
            <p:cNvSpPr/>
            <p:nvPr/>
          </p:nvSpPr>
          <p:spPr>
            <a:xfrm>
              <a:off x="3905807" y="3154046"/>
              <a:ext cx="195169" cy="292090"/>
            </a:xfrm>
            <a:prstGeom prst="chevron">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black"/>
                </a:solidFill>
                <a:effectLst/>
                <a:uLnTx/>
                <a:uFillTx/>
                <a:latin typeface="HarmonyOS Sans SC Light" panose="00000400000000000000" pitchFamily="2" charset="-122"/>
                <a:ea typeface="HarmonyOS Sans SC Light" panose="00000400000000000000" pitchFamily="2" charset="-122"/>
                <a:cs typeface="+mn-cs"/>
              </a:endParaRPr>
            </a:p>
          </p:txBody>
        </p:sp>
      </p:grpSp>
      <p:sp>
        <p:nvSpPr>
          <p:cNvPr id="17" name="矩形: 圆角 103">
            <a:extLst>
              <a:ext uri="{FF2B5EF4-FFF2-40B4-BE49-F238E27FC236}">
                <a16:creationId xmlns:a16="http://schemas.microsoft.com/office/drawing/2014/main" id="{59BF05E2-3863-38BE-9B66-C69168B9B305}"/>
              </a:ext>
            </a:extLst>
          </p:cNvPr>
          <p:cNvSpPr/>
          <p:nvPr/>
        </p:nvSpPr>
        <p:spPr>
          <a:xfrm>
            <a:off x="492947" y="5979434"/>
            <a:ext cx="11274165" cy="420253"/>
          </a:xfrm>
          <a:prstGeom prst="roundRect">
            <a:avLst>
              <a:gd name="adj" fmla="val 0"/>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思源黑体 CN Light"/>
              <a:cs typeface="+mn-cs"/>
            </a:endParaRPr>
          </a:p>
        </p:txBody>
      </p:sp>
      <p:sp>
        <p:nvSpPr>
          <p:cNvPr id="18" name="文本框 17">
            <a:extLst>
              <a:ext uri="{FF2B5EF4-FFF2-40B4-BE49-F238E27FC236}">
                <a16:creationId xmlns:a16="http://schemas.microsoft.com/office/drawing/2014/main" id="{5F523C7A-7B27-EB70-0737-2E6A4A3EFEC9}"/>
              </a:ext>
            </a:extLst>
          </p:cNvPr>
          <p:cNvSpPr txBox="1"/>
          <p:nvPr/>
        </p:nvSpPr>
        <p:spPr>
          <a:xfrm>
            <a:off x="560663" y="5981692"/>
            <a:ext cx="11063245" cy="329962"/>
          </a:xfrm>
          <a:prstGeom prst="rect">
            <a:avLst/>
          </a:prstGeom>
          <a:noFill/>
        </p:spPr>
        <p:txBody>
          <a:bodyPr wrap="square" tIns="0" bIns="0"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1600" b="1" dirty="0">
                <a:solidFill>
                  <a:schemeClr val="tx2"/>
                </a:solidFill>
                <a:ea typeface="OPPOSans M" pitchFamily="18" charset="-122"/>
              </a:rPr>
              <a:t>问题：我们的公司组织、业务单元处于什么样的发展阶段？</a:t>
            </a:r>
            <a:endParaRPr lang="zh-CN" altLang="en-US" sz="1200" b="1" dirty="0">
              <a:solidFill>
                <a:schemeClr val="tx2"/>
              </a:solidFill>
              <a:ea typeface="OPPOSans M" pitchFamily="18" charset="-122"/>
            </a:endParaRPr>
          </a:p>
        </p:txBody>
      </p:sp>
      <p:cxnSp>
        <p:nvCxnSpPr>
          <p:cNvPr id="7" name="直线连接符 7">
            <a:extLst>
              <a:ext uri="{FF2B5EF4-FFF2-40B4-BE49-F238E27FC236}">
                <a16:creationId xmlns:a16="http://schemas.microsoft.com/office/drawing/2014/main" id="{39E245EC-F7EF-CB11-9276-123D8E28538F}"/>
              </a:ext>
            </a:extLst>
          </p:cNvPr>
          <p:cNvCxnSpPr>
            <a:cxnSpLocks/>
          </p:cNvCxnSpPr>
          <p:nvPr/>
        </p:nvCxnSpPr>
        <p:spPr>
          <a:xfrm>
            <a:off x="522611" y="791094"/>
            <a:ext cx="11056273"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1057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圆角 103">
            <a:extLst>
              <a:ext uri="{FF2B5EF4-FFF2-40B4-BE49-F238E27FC236}">
                <a16:creationId xmlns:a16="http://schemas.microsoft.com/office/drawing/2014/main" id="{E612F888-F4C6-AD02-D72B-73AE5D61ACF4}"/>
              </a:ext>
            </a:extLst>
          </p:cNvPr>
          <p:cNvSpPr/>
          <p:nvPr/>
        </p:nvSpPr>
        <p:spPr>
          <a:xfrm>
            <a:off x="421341" y="1094866"/>
            <a:ext cx="11394290" cy="420253"/>
          </a:xfrm>
          <a:prstGeom prst="roundRect">
            <a:avLst>
              <a:gd name="adj" fmla="val 0"/>
            </a:avLst>
          </a:prstGeom>
          <a:solidFill>
            <a:srgbClr val="143268"/>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思源黑体 CN Light"/>
              <a:cs typeface="+mn-cs"/>
            </a:endParaRPr>
          </a:p>
        </p:txBody>
      </p:sp>
      <p:sp>
        <p:nvSpPr>
          <p:cNvPr id="25" name="文本框 24">
            <a:extLst>
              <a:ext uri="{FF2B5EF4-FFF2-40B4-BE49-F238E27FC236}">
                <a16:creationId xmlns:a16="http://schemas.microsoft.com/office/drawing/2014/main" id="{95E7F87C-4CF5-802F-F920-6E43AFA4DB0E}"/>
              </a:ext>
            </a:extLst>
          </p:cNvPr>
          <p:cNvSpPr txBox="1"/>
          <p:nvPr/>
        </p:nvSpPr>
        <p:spPr>
          <a:xfrm>
            <a:off x="909680" y="1105456"/>
            <a:ext cx="10561448" cy="325410"/>
          </a:xfrm>
          <a:prstGeom prst="rect">
            <a:avLst/>
          </a:prstGeom>
          <a:noFill/>
        </p:spPr>
        <p:txBody>
          <a:bodyPr wrap="square" tIns="0" bIns="0"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1600" b="1" dirty="0">
                <a:solidFill>
                  <a:schemeClr val="bg1"/>
                </a:solidFill>
                <a:ea typeface="OPPOSans M" pitchFamily="18" charset="-122"/>
              </a:rPr>
              <a:t>不同类型企业的预算起点</a:t>
            </a:r>
            <a:endParaRPr lang="zh-CN" altLang="en-US" sz="1200" b="1" dirty="0">
              <a:solidFill>
                <a:schemeClr val="bg1"/>
              </a:solidFill>
              <a:ea typeface="OPPOSans M" pitchFamily="18" charset="-122"/>
            </a:endParaRPr>
          </a:p>
        </p:txBody>
      </p:sp>
      <p:sp>
        <p:nvSpPr>
          <p:cNvPr id="15" name="文本框 14">
            <a:extLst>
              <a:ext uri="{FF2B5EF4-FFF2-40B4-BE49-F238E27FC236}">
                <a16:creationId xmlns:a16="http://schemas.microsoft.com/office/drawing/2014/main" id="{54E50169-B28C-38C7-0101-EC97F9842190}"/>
              </a:ext>
            </a:extLst>
          </p:cNvPr>
          <p:cNvSpPr txBox="1"/>
          <p:nvPr/>
        </p:nvSpPr>
        <p:spPr>
          <a:xfrm>
            <a:off x="421341" y="232951"/>
            <a:ext cx="8218918" cy="523220"/>
          </a:xfrm>
          <a:prstGeom prst="rect">
            <a:avLst/>
          </a:prstGeom>
          <a:noFill/>
        </p:spPr>
        <p:txBody>
          <a:bodyPr wrap="square" rtlCol="0">
            <a:spAutoFit/>
          </a:bodyPr>
          <a:lstStyle/>
          <a:p>
            <a:r>
              <a:rPr lang="zh-CN" altLang="en-US" sz="2800" b="1" dirty="0">
                <a:solidFill>
                  <a:schemeClr val="tx2"/>
                </a:solidFill>
                <a:latin typeface="微软雅黑" panose="020B0503020204020204" pitchFamily="34" charset="-122"/>
                <a:ea typeface="微软雅黑" panose="020B0503020204020204" pitchFamily="34" charset="-122"/>
              </a:rPr>
              <a:t>不同类型企业有着不同的预算</a:t>
            </a:r>
            <a:r>
              <a:rPr lang="zh-CN" altLang="en-US" sz="2800" b="1" dirty="0">
                <a:solidFill>
                  <a:schemeClr val="accent2"/>
                </a:solidFill>
                <a:latin typeface="微软雅黑" panose="020B0503020204020204" pitchFamily="34" charset="-122"/>
                <a:ea typeface="微软雅黑" panose="020B0503020204020204" pitchFamily="34" charset="-122"/>
              </a:rPr>
              <a:t>起点</a:t>
            </a:r>
          </a:p>
        </p:txBody>
      </p:sp>
      <p:sp>
        <p:nvSpPr>
          <p:cNvPr id="2" name="矩形: 圆角 455">
            <a:extLst>
              <a:ext uri="{FF2B5EF4-FFF2-40B4-BE49-F238E27FC236}">
                <a16:creationId xmlns:a16="http://schemas.microsoft.com/office/drawing/2014/main" id="{28F6BF7F-001F-B2A1-7A8B-79BD41060F96}"/>
              </a:ext>
            </a:extLst>
          </p:cNvPr>
          <p:cNvSpPr/>
          <p:nvPr>
            <p:custDataLst>
              <p:tags r:id="rId1"/>
            </p:custDataLst>
          </p:nvPr>
        </p:nvSpPr>
        <p:spPr>
          <a:xfrm>
            <a:off x="466831" y="1671677"/>
            <a:ext cx="2253698" cy="1003685"/>
          </a:xfrm>
          <a:prstGeom prst="roundRect">
            <a:avLst>
              <a:gd name="adj" fmla="val 0"/>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944" b="0" i="0" u="none" strike="noStrike" kern="1200" cap="none" spc="0" normalizeH="0" baseline="0" noProof="0" dirty="0">
              <a:ln>
                <a:noFill/>
              </a:ln>
              <a:solidFill>
                <a:srgbClr val="FFFFFF"/>
              </a:solidFill>
              <a:effectLst>
                <a:outerShdw blurRad="137160" dist="41148" dir="2699997" algn="tl">
                  <a:srgbClr val="000000">
                    <a:alpha val="40000"/>
                  </a:srgbClr>
                </a:outerShdw>
              </a:effectLst>
              <a:uLnTx/>
              <a:uFillTx/>
              <a:latin typeface="思源黑体 CN Bold"/>
              <a:ea typeface="思源黑体 CN Bold"/>
              <a:cs typeface="+mn-cs"/>
            </a:endParaRPr>
          </a:p>
        </p:txBody>
      </p:sp>
      <p:sp>
        <p:nvSpPr>
          <p:cNvPr id="3" name="矩形 2">
            <a:extLst>
              <a:ext uri="{FF2B5EF4-FFF2-40B4-BE49-F238E27FC236}">
                <a16:creationId xmlns:a16="http://schemas.microsoft.com/office/drawing/2014/main" id="{38048A0F-8110-C3D8-E636-3B37EFA4E295}"/>
              </a:ext>
            </a:extLst>
          </p:cNvPr>
          <p:cNvSpPr/>
          <p:nvPr/>
        </p:nvSpPr>
        <p:spPr>
          <a:xfrm>
            <a:off x="714391" y="1678817"/>
            <a:ext cx="1693838" cy="1631216"/>
          </a:xfrm>
          <a:prstGeom prst="rect">
            <a:avLst/>
          </a:prstGeom>
        </p:spPr>
        <p:txBody>
          <a:bodyPr wrap="square">
            <a:spAutoFit/>
          </a:bodyPr>
          <a:lstStyle/>
          <a:p>
            <a:pPr algn="ctr"/>
            <a:r>
              <a:rPr kumimoji="1" lang="en-US" altLang="zh-CN" sz="10000" b="1" dirty="0">
                <a:gradFill>
                  <a:gsLst>
                    <a:gs pos="44000">
                      <a:schemeClr val="bg2">
                        <a:alpha val="0"/>
                      </a:schemeClr>
                    </a:gs>
                    <a:gs pos="0">
                      <a:schemeClr val="bg2">
                        <a:alpha val="21000"/>
                      </a:schemeClr>
                    </a:gs>
                  </a:gsLst>
                  <a:lin ang="5400000" scaled="0"/>
                </a:gradFill>
                <a:latin typeface="OPPOSans B" panose="00020600040101010101" pitchFamily="18" charset="-122"/>
                <a:ea typeface="OPPOSans B" panose="00020600040101010101" pitchFamily="18" charset="-122"/>
                <a:cs typeface="OPPOSans B" panose="00020600040101010101" pitchFamily="18" charset="-122"/>
              </a:rPr>
              <a:t>1</a:t>
            </a:r>
            <a:endParaRPr lang="zh-CN" altLang="en-US" sz="10000" b="1" dirty="0">
              <a:gradFill>
                <a:gsLst>
                  <a:gs pos="44000">
                    <a:schemeClr val="bg2">
                      <a:alpha val="0"/>
                    </a:schemeClr>
                  </a:gs>
                  <a:gs pos="0">
                    <a:schemeClr val="bg2">
                      <a:alpha val="21000"/>
                    </a:schemeClr>
                  </a:gs>
                </a:gsLst>
                <a:lin ang="5400000" scaled="0"/>
              </a:gra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4" name="文本框 3">
            <a:extLst>
              <a:ext uri="{FF2B5EF4-FFF2-40B4-BE49-F238E27FC236}">
                <a16:creationId xmlns:a16="http://schemas.microsoft.com/office/drawing/2014/main" id="{139F84DD-8A73-A02D-B546-9030B983B847}"/>
              </a:ext>
            </a:extLst>
          </p:cNvPr>
          <p:cNvSpPr txBox="1"/>
          <p:nvPr/>
        </p:nvSpPr>
        <p:spPr>
          <a:xfrm>
            <a:off x="738807" y="2080604"/>
            <a:ext cx="1644987" cy="362869"/>
          </a:xfrm>
          <a:prstGeom prst="rect">
            <a:avLst/>
          </a:prstGeom>
          <a:noFill/>
          <a:effectLst/>
        </p:spPr>
        <p:txBody>
          <a:bodyPr wrap="square" lIns="85039" tIns="42520" rIns="85039" bIns="42520"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a:solidFill>
                  <a:srgbClr val="FFFFFF"/>
                </a:solidFill>
              </a:rPr>
              <a:t>创业型企业</a:t>
            </a:r>
            <a:endParaRPr kumimoji="0" lang="zh-CN" altLang="en-US" b="1" i="0" u="none" strike="noStrike" kern="1200" cap="none" spc="0" normalizeH="0" baseline="0" noProof="0" dirty="0">
              <a:ln>
                <a:noFill/>
              </a:ln>
              <a:solidFill>
                <a:srgbClr val="FFFFFF"/>
              </a:solidFill>
              <a:effectLst/>
              <a:uLnTx/>
              <a:uFillTx/>
              <a:ea typeface="思源宋体 CN Heavy" panose="02020900000000000000" pitchFamily="18" charset="-122"/>
              <a:cs typeface="+mn-cs"/>
            </a:endParaRPr>
          </a:p>
        </p:txBody>
      </p:sp>
      <p:sp>
        <p:nvSpPr>
          <p:cNvPr id="6" name="矩形: 圆角 455">
            <a:extLst>
              <a:ext uri="{FF2B5EF4-FFF2-40B4-BE49-F238E27FC236}">
                <a16:creationId xmlns:a16="http://schemas.microsoft.com/office/drawing/2014/main" id="{13C524AA-50EE-BC46-4668-70CBC45F847A}"/>
              </a:ext>
            </a:extLst>
          </p:cNvPr>
          <p:cNvSpPr/>
          <p:nvPr>
            <p:custDataLst>
              <p:tags r:id="rId2"/>
            </p:custDataLst>
          </p:nvPr>
        </p:nvSpPr>
        <p:spPr>
          <a:xfrm>
            <a:off x="3448974" y="1649830"/>
            <a:ext cx="2253698" cy="1003685"/>
          </a:xfrm>
          <a:prstGeom prst="roundRect">
            <a:avLst>
              <a:gd name="adj" fmla="val 0"/>
            </a:avLst>
          </a:prstGeom>
          <a:solidFill>
            <a:schemeClr val="accent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944" b="0" i="0" u="none" strike="noStrike" kern="1200" cap="none" spc="0" normalizeH="0" baseline="0" noProof="0" dirty="0">
              <a:ln>
                <a:noFill/>
              </a:ln>
              <a:solidFill>
                <a:srgbClr val="FFFFFF"/>
              </a:solidFill>
              <a:effectLst>
                <a:outerShdw blurRad="137160" dist="41148" dir="2699997" algn="tl">
                  <a:srgbClr val="000000">
                    <a:alpha val="40000"/>
                  </a:srgbClr>
                </a:outerShdw>
              </a:effectLst>
              <a:uLnTx/>
              <a:uFillTx/>
              <a:latin typeface="思源黑体 CN Bold"/>
              <a:ea typeface="思源黑体 CN Bold"/>
              <a:cs typeface="+mn-cs"/>
            </a:endParaRPr>
          </a:p>
        </p:txBody>
      </p:sp>
      <p:sp>
        <p:nvSpPr>
          <p:cNvPr id="8" name="文本框 7">
            <a:extLst>
              <a:ext uri="{FF2B5EF4-FFF2-40B4-BE49-F238E27FC236}">
                <a16:creationId xmlns:a16="http://schemas.microsoft.com/office/drawing/2014/main" id="{0F5CED80-5FF2-903C-A55E-02E9A2D4DC68}"/>
              </a:ext>
            </a:extLst>
          </p:cNvPr>
          <p:cNvSpPr txBox="1"/>
          <p:nvPr/>
        </p:nvSpPr>
        <p:spPr>
          <a:xfrm>
            <a:off x="3720950" y="2058757"/>
            <a:ext cx="1644987" cy="455202"/>
          </a:xfrm>
          <a:prstGeom prst="rect">
            <a:avLst/>
          </a:prstGeom>
          <a:noFill/>
          <a:effectLst/>
        </p:spPr>
        <p:txBody>
          <a:bodyPr wrap="square" lIns="85039" tIns="42520" rIns="85039" bIns="42520" rtlCol="0">
            <a:spAutoFit/>
          </a:bodyPr>
          <a:lstStyle>
            <a:defPPr>
              <a:defRPr lang="en-US"/>
            </a:defPPr>
            <a:lvl1pPr marR="0" lvl="0" indent="0" algn="ctr" defTabSz="914400" fontAlgn="auto">
              <a:lnSpc>
                <a:spcPct val="100000"/>
              </a:lnSpc>
              <a:spcBef>
                <a:spcPts val="0"/>
              </a:spcBef>
              <a:spcAft>
                <a:spcPts val="0"/>
              </a:spcAft>
              <a:buClrTx/>
              <a:buSzTx/>
              <a:buFontTx/>
              <a:buNone/>
              <a:tabLst/>
              <a:defRPr b="1">
                <a:solidFill>
                  <a:srgbClr val="FFFFFF"/>
                </a:solidFill>
                <a:latin typeface="思源宋体 CN Heavy" panose="02020900000000000000" pitchFamily="18" charset="-122"/>
                <a:ea typeface="思源宋体 CN Heavy" panose="02020900000000000000" pitchFamily="18" charset="-122"/>
              </a:defRPr>
            </a:lvl1pPr>
          </a:lstStyle>
          <a:p>
            <a:r>
              <a:rPr lang="zh-CN" altLang="en-US" dirty="0"/>
              <a:t>蓝海企业</a:t>
            </a:r>
          </a:p>
        </p:txBody>
      </p:sp>
      <p:sp>
        <p:nvSpPr>
          <p:cNvPr id="11" name="矩形: 圆角 455">
            <a:extLst>
              <a:ext uri="{FF2B5EF4-FFF2-40B4-BE49-F238E27FC236}">
                <a16:creationId xmlns:a16="http://schemas.microsoft.com/office/drawing/2014/main" id="{17B76EC8-2893-8A39-AFB8-E48FC193821D}"/>
              </a:ext>
            </a:extLst>
          </p:cNvPr>
          <p:cNvSpPr/>
          <p:nvPr>
            <p:custDataLst>
              <p:tags r:id="rId3"/>
            </p:custDataLst>
          </p:nvPr>
        </p:nvSpPr>
        <p:spPr>
          <a:xfrm>
            <a:off x="6583891" y="1640660"/>
            <a:ext cx="2253698" cy="1003685"/>
          </a:xfrm>
          <a:prstGeom prst="roundRect">
            <a:avLst>
              <a:gd name="adj" fmla="val 0"/>
            </a:avLst>
          </a:prstGeom>
          <a:solidFill>
            <a:schemeClr val="accent3"/>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944" b="0" i="0" u="none" strike="noStrike" kern="1200" cap="none" spc="0" normalizeH="0" baseline="0" noProof="0" dirty="0">
              <a:ln>
                <a:noFill/>
              </a:ln>
              <a:solidFill>
                <a:srgbClr val="FFFFFF"/>
              </a:solidFill>
              <a:effectLst>
                <a:outerShdw blurRad="137160" dist="41148" dir="2699997" algn="tl">
                  <a:srgbClr val="000000">
                    <a:alpha val="40000"/>
                  </a:srgbClr>
                </a:outerShdw>
              </a:effectLst>
              <a:uLnTx/>
              <a:uFillTx/>
              <a:latin typeface="思源黑体 CN Bold"/>
              <a:ea typeface="思源黑体 CN Bold"/>
              <a:cs typeface="+mn-cs"/>
            </a:endParaRPr>
          </a:p>
        </p:txBody>
      </p:sp>
      <p:sp>
        <p:nvSpPr>
          <p:cNvPr id="12" name="矩形 11">
            <a:extLst>
              <a:ext uri="{FF2B5EF4-FFF2-40B4-BE49-F238E27FC236}">
                <a16:creationId xmlns:a16="http://schemas.microsoft.com/office/drawing/2014/main" id="{CD221A99-BF2B-6A6B-797B-8D67C90719E2}"/>
              </a:ext>
            </a:extLst>
          </p:cNvPr>
          <p:cNvSpPr/>
          <p:nvPr/>
        </p:nvSpPr>
        <p:spPr>
          <a:xfrm>
            <a:off x="6716836" y="1647800"/>
            <a:ext cx="1923169" cy="1631216"/>
          </a:xfrm>
          <a:prstGeom prst="rect">
            <a:avLst/>
          </a:prstGeom>
        </p:spPr>
        <p:txBody>
          <a:bodyPr wrap="square">
            <a:spAutoFit/>
          </a:bodyPr>
          <a:lstStyle/>
          <a:p>
            <a:pPr algn="ctr"/>
            <a:r>
              <a:rPr kumimoji="1" lang="en-US" altLang="zh-CN" sz="10000" b="1" dirty="0">
                <a:gradFill>
                  <a:gsLst>
                    <a:gs pos="44000">
                      <a:schemeClr val="bg2">
                        <a:alpha val="0"/>
                      </a:schemeClr>
                    </a:gs>
                    <a:gs pos="0">
                      <a:schemeClr val="bg2">
                        <a:alpha val="21000"/>
                      </a:schemeClr>
                    </a:gs>
                  </a:gsLst>
                  <a:lin ang="5400000" scaled="0"/>
                </a:gradFill>
                <a:latin typeface="OPPOSans B" panose="00020600040101010101" pitchFamily="18" charset="-122"/>
                <a:ea typeface="OPPOSans B" panose="00020600040101010101" pitchFamily="18" charset="-122"/>
                <a:cs typeface="OPPOSans B" panose="00020600040101010101" pitchFamily="18" charset="-122"/>
              </a:rPr>
              <a:t>03</a:t>
            </a:r>
            <a:endParaRPr lang="zh-CN" altLang="en-US" sz="10000" b="1" dirty="0">
              <a:gradFill>
                <a:gsLst>
                  <a:gs pos="44000">
                    <a:schemeClr val="bg2">
                      <a:alpha val="0"/>
                    </a:schemeClr>
                  </a:gs>
                  <a:gs pos="0">
                    <a:schemeClr val="bg2">
                      <a:alpha val="21000"/>
                    </a:schemeClr>
                  </a:gs>
                </a:gsLst>
                <a:lin ang="5400000" scaled="0"/>
              </a:gra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13" name="文本框 12">
            <a:extLst>
              <a:ext uri="{FF2B5EF4-FFF2-40B4-BE49-F238E27FC236}">
                <a16:creationId xmlns:a16="http://schemas.microsoft.com/office/drawing/2014/main" id="{2AEE9174-2834-5A7E-B0AE-87894DB68091}"/>
              </a:ext>
            </a:extLst>
          </p:cNvPr>
          <p:cNvSpPr txBox="1"/>
          <p:nvPr/>
        </p:nvSpPr>
        <p:spPr>
          <a:xfrm>
            <a:off x="6855867" y="2049587"/>
            <a:ext cx="1644987" cy="455202"/>
          </a:xfrm>
          <a:prstGeom prst="rect">
            <a:avLst/>
          </a:prstGeom>
          <a:noFill/>
          <a:effectLst/>
        </p:spPr>
        <p:txBody>
          <a:bodyPr wrap="square" lIns="85039" tIns="42520" rIns="85039" bIns="42520" rtlCol="0">
            <a:spAutoFit/>
          </a:bodyPr>
          <a:lstStyle>
            <a:defPPr>
              <a:defRPr lang="en-US"/>
            </a:defPPr>
            <a:lvl1pPr marR="0" lvl="0" indent="0" algn="ctr" defTabSz="914400" fontAlgn="auto">
              <a:lnSpc>
                <a:spcPct val="100000"/>
              </a:lnSpc>
              <a:spcBef>
                <a:spcPts val="0"/>
              </a:spcBef>
              <a:spcAft>
                <a:spcPts val="0"/>
              </a:spcAft>
              <a:buClrTx/>
              <a:buSzTx/>
              <a:buFontTx/>
              <a:buNone/>
              <a:tabLst/>
              <a:defRPr b="1">
                <a:solidFill>
                  <a:srgbClr val="FFFFFF"/>
                </a:solidFill>
                <a:latin typeface="思源宋体 CN Heavy" panose="02020900000000000000" pitchFamily="18" charset="-122"/>
                <a:ea typeface="思源宋体 CN Heavy" panose="02020900000000000000" pitchFamily="18" charset="-122"/>
              </a:defRPr>
            </a:lvl1pPr>
          </a:lstStyle>
          <a:p>
            <a:r>
              <a:rPr lang="zh-CN" altLang="en-US" dirty="0"/>
              <a:t>垄断型企业</a:t>
            </a:r>
          </a:p>
        </p:txBody>
      </p:sp>
      <p:sp>
        <p:nvSpPr>
          <p:cNvPr id="26" name="矩形: 圆角 455">
            <a:extLst>
              <a:ext uri="{FF2B5EF4-FFF2-40B4-BE49-F238E27FC236}">
                <a16:creationId xmlns:a16="http://schemas.microsoft.com/office/drawing/2014/main" id="{D2907ECB-C0C6-2E4B-648D-6C14F975AFDE}"/>
              </a:ext>
            </a:extLst>
          </p:cNvPr>
          <p:cNvSpPr/>
          <p:nvPr>
            <p:custDataLst>
              <p:tags r:id="rId4"/>
            </p:custDataLst>
          </p:nvPr>
        </p:nvSpPr>
        <p:spPr>
          <a:xfrm>
            <a:off x="9513415" y="1640660"/>
            <a:ext cx="2253698" cy="1003685"/>
          </a:xfrm>
          <a:prstGeom prst="roundRect">
            <a:avLst>
              <a:gd name="adj" fmla="val 0"/>
            </a:avLst>
          </a:prstGeom>
          <a:solidFill>
            <a:schemeClr val="tx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944" b="0" i="0" u="none" strike="noStrike" kern="1200" cap="none" spc="0" normalizeH="0" baseline="0" noProof="0" dirty="0">
              <a:ln>
                <a:noFill/>
              </a:ln>
              <a:solidFill>
                <a:srgbClr val="FFFFFF"/>
              </a:solidFill>
              <a:effectLst>
                <a:outerShdw blurRad="137160" dist="41148" dir="2699997" algn="tl">
                  <a:srgbClr val="000000">
                    <a:alpha val="40000"/>
                  </a:srgbClr>
                </a:outerShdw>
              </a:effectLst>
              <a:uLnTx/>
              <a:uFillTx/>
              <a:latin typeface="思源黑体 CN Bold"/>
              <a:ea typeface="思源黑体 CN Bold"/>
              <a:cs typeface="+mn-cs"/>
            </a:endParaRPr>
          </a:p>
        </p:txBody>
      </p:sp>
      <p:sp>
        <p:nvSpPr>
          <p:cNvPr id="27" name="矩形 26">
            <a:extLst>
              <a:ext uri="{FF2B5EF4-FFF2-40B4-BE49-F238E27FC236}">
                <a16:creationId xmlns:a16="http://schemas.microsoft.com/office/drawing/2014/main" id="{C027012C-CF39-CC46-0B9B-26CBE94CEBAB}"/>
              </a:ext>
            </a:extLst>
          </p:cNvPr>
          <p:cNvSpPr/>
          <p:nvPr/>
        </p:nvSpPr>
        <p:spPr>
          <a:xfrm>
            <a:off x="9646360" y="1647800"/>
            <a:ext cx="1923169" cy="1631216"/>
          </a:xfrm>
          <a:prstGeom prst="rect">
            <a:avLst/>
          </a:prstGeom>
        </p:spPr>
        <p:txBody>
          <a:bodyPr wrap="square">
            <a:spAutoFit/>
          </a:bodyPr>
          <a:lstStyle/>
          <a:p>
            <a:pPr algn="ctr"/>
            <a:r>
              <a:rPr kumimoji="1" lang="en-US" altLang="zh-CN" sz="10000" b="1" dirty="0">
                <a:gradFill>
                  <a:gsLst>
                    <a:gs pos="44000">
                      <a:schemeClr val="bg2">
                        <a:alpha val="0"/>
                      </a:schemeClr>
                    </a:gs>
                    <a:gs pos="0">
                      <a:schemeClr val="bg2">
                        <a:alpha val="21000"/>
                      </a:schemeClr>
                    </a:gs>
                  </a:gsLst>
                  <a:lin ang="5400000" scaled="0"/>
                </a:gradFill>
                <a:latin typeface="OPPOSans B" panose="00020600040101010101" pitchFamily="18" charset="-122"/>
                <a:ea typeface="OPPOSans B" panose="00020600040101010101" pitchFamily="18" charset="-122"/>
                <a:cs typeface="OPPOSans B" panose="00020600040101010101" pitchFamily="18" charset="-122"/>
              </a:rPr>
              <a:t>04</a:t>
            </a:r>
            <a:endParaRPr lang="zh-CN" altLang="en-US" sz="10000" b="1" dirty="0">
              <a:gradFill>
                <a:gsLst>
                  <a:gs pos="44000">
                    <a:schemeClr val="bg2">
                      <a:alpha val="0"/>
                    </a:schemeClr>
                  </a:gs>
                  <a:gs pos="0">
                    <a:schemeClr val="bg2">
                      <a:alpha val="21000"/>
                    </a:schemeClr>
                  </a:gs>
                </a:gsLst>
                <a:lin ang="5400000" scaled="0"/>
              </a:gra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28" name="文本框 27">
            <a:extLst>
              <a:ext uri="{FF2B5EF4-FFF2-40B4-BE49-F238E27FC236}">
                <a16:creationId xmlns:a16="http://schemas.microsoft.com/office/drawing/2014/main" id="{3634DE33-99B4-036E-32C3-ED627B7FD073}"/>
              </a:ext>
            </a:extLst>
          </p:cNvPr>
          <p:cNvSpPr txBox="1"/>
          <p:nvPr/>
        </p:nvSpPr>
        <p:spPr>
          <a:xfrm>
            <a:off x="9785391" y="2049587"/>
            <a:ext cx="1644987" cy="362869"/>
          </a:xfrm>
          <a:prstGeom prst="rect">
            <a:avLst/>
          </a:prstGeom>
          <a:noFill/>
          <a:effectLst/>
        </p:spPr>
        <p:txBody>
          <a:bodyPr wrap="square" lIns="85039" tIns="42520" rIns="85039" bIns="42520" rtlCol="0">
            <a:spAutoFit/>
          </a:bodyPr>
          <a:lstStyle>
            <a:defPPr>
              <a:defRPr lang="en-US"/>
            </a:defPPr>
            <a:lvl1pPr marR="0" lvl="0" indent="0" algn="ctr" defTabSz="914400" fontAlgn="auto">
              <a:lnSpc>
                <a:spcPct val="100000"/>
              </a:lnSpc>
              <a:spcBef>
                <a:spcPts val="0"/>
              </a:spcBef>
              <a:spcAft>
                <a:spcPts val="0"/>
              </a:spcAft>
              <a:buClrTx/>
              <a:buSzTx/>
              <a:buFontTx/>
              <a:buNone/>
              <a:tabLst/>
              <a:defRPr b="1">
                <a:solidFill>
                  <a:srgbClr val="FFFFFF"/>
                </a:solidFill>
                <a:latin typeface="思源宋体 CN Heavy" panose="02020900000000000000" pitchFamily="18" charset="-122"/>
                <a:ea typeface="思源宋体 CN Heavy" panose="02020900000000000000" pitchFamily="18" charset="-122"/>
              </a:defRPr>
            </a:lvl1pPr>
          </a:lstStyle>
          <a:p>
            <a:r>
              <a:rPr lang="zh-CN" altLang="en-US" b="1" i="0" dirty="0">
                <a:solidFill>
                  <a:schemeClr val="bg1"/>
                </a:solidFill>
                <a:effectLst/>
                <a:latin typeface="-apple-system"/>
              </a:rPr>
              <a:t>多元化企业</a:t>
            </a:r>
            <a:endParaRPr lang="zh-CN" altLang="en-US" dirty="0">
              <a:solidFill>
                <a:schemeClr val="bg1"/>
              </a:solidFill>
            </a:endParaRPr>
          </a:p>
        </p:txBody>
      </p:sp>
      <p:sp>
        <p:nvSpPr>
          <p:cNvPr id="42" name="矩形: 圆角 41">
            <a:extLst>
              <a:ext uri="{FF2B5EF4-FFF2-40B4-BE49-F238E27FC236}">
                <a16:creationId xmlns:a16="http://schemas.microsoft.com/office/drawing/2014/main" id="{116F2C83-E40C-3B91-94D9-6C3DF9CD67D0}"/>
              </a:ext>
            </a:extLst>
          </p:cNvPr>
          <p:cNvSpPr/>
          <p:nvPr/>
        </p:nvSpPr>
        <p:spPr>
          <a:xfrm>
            <a:off x="466831" y="3317564"/>
            <a:ext cx="2253698" cy="2520394"/>
          </a:xfrm>
          <a:prstGeom prst="roundRect">
            <a:avLst>
              <a:gd name="adj" fmla="val 4341"/>
            </a:avLst>
          </a:prstGeom>
          <a:solidFill>
            <a:srgbClr val="F3F4F7"/>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latin typeface="微软雅黑" panose="020B0503020204020204" pitchFamily="34" charset="-122"/>
              <a:ea typeface="微软雅黑" panose="020B0503020204020204" pitchFamily="34" charset="-122"/>
            </a:endParaRPr>
          </a:p>
        </p:txBody>
      </p:sp>
      <p:sp>
        <p:nvSpPr>
          <p:cNvPr id="43" name="矩形: 圆角 42">
            <a:extLst>
              <a:ext uri="{FF2B5EF4-FFF2-40B4-BE49-F238E27FC236}">
                <a16:creationId xmlns:a16="http://schemas.microsoft.com/office/drawing/2014/main" id="{BA1251D9-33EE-E04C-78F9-AB530F7B653C}"/>
              </a:ext>
            </a:extLst>
          </p:cNvPr>
          <p:cNvSpPr/>
          <p:nvPr/>
        </p:nvSpPr>
        <p:spPr>
          <a:xfrm>
            <a:off x="3448974" y="3295717"/>
            <a:ext cx="2253698" cy="2520394"/>
          </a:xfrm>
          <a:prstGeom prst="roundRect">
            <a:avLst>
              <a:gd name="adj" fmla="val 4341"/>
            </a:avLst>
          </a:prstGeom>
          <a:solidFill>
            <a:srgbClr val="F3F4F7"/>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zh-CN" altLang="en-US" sz="1800" dirty="0">
              <a:latin typeface="微软雅黑" panose="020B0503020204020204" pitchFamily="34" charset="-122"/>
              <a:ea typeface="微软雅黑" panose="020B0503020204020204" pitchFamily="34" charset="-122"/>
            </a:endParaRPr>
          </a:p>
        </p:txBody>
      </p:sp>
      <p:sp>
        <p:nvSpPr>
          <p:cNvPr id="44" name="矩形: 圆角 43">
            <a:extLst>
              <a:ext uri="{FF2B5EF4-FFF2-40B4-BE49-F238E27FC236}">
                <a16:creationId xmlns:a16="http://schemas.microsoft.com/office/drawing/2014/main" id="{11E66851-9826-6325-BD81-5E7A0C0FAD78}"/>
              </a:ext>
            </a:extLst>
          </p:cNvPr>
          <p:cNvSpPr/>
          <p:nvPr/>
        </p:nvSpPr>
        <p:spPr>
          <a:xfrm>
            <a:off x="6583891" y="3286547"/>
            <a:ext cx="2253698" cy="2520394"/>
          </a:xfrm>
          <a:prstGeom prst="roundRect">
            <a:avLst>
              <a:gd name="adj" fmla="val 4341"/>
            </a:avLst>
          </a:prstGeom>
          <a:solidFill>
            <a:srgbClr val="F3F4F7"/>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zh-CN" altLang="en-US" sz="1800" dirty="0">
              <a:latin typeface="微软雅黑" panose="020B0503020204020204" pitchFamily="34" charset="-122"/>
              <a:ea typeface="微软雅黑" panose="020B0503020204020204" pitchFamily="34" charset="-122"/>
            </a:endParaRPr>
          </a:p>
        </p:txBody>
      </p:sp>
      <p:sp>
        <p:nvSpPr>
          <p:cNvPr id="45" name="矩形: 圆角 44">
            <a:extLst>
              <a:ext uri="{FF2B5EF4-FFF2-40B4-BE49-F238E27FC236}">
                <a16:creationId xmlns:a16="http://schemas.microsoft.com/office/drawing/2014/main" id="{F490E925-8104-FBD7-1E45-7D9BF6923440}"/>
              </a:ext>
            </a:extLst>
          </p:cNvPr>
          <p:cNvSpPr/>
          <p:nvPr/>
        </p:nvSpPr>
        <p:spPr>
          <a:xfrm>
            <a:off x="9522191" y="3286547"/>
            <a:ext cx="2253698" cy="2520394"/>
          </a:xfrm>
          <a:prstGeom prst="roundRect">
            <a:avLst>
              <a:gd name="adj" fmla="val 4341"/>
            </a:avLst>
          </a:prstGeom>
          <a:solidFill>
            <a:srgbClr val="F3F4F7"/>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zh-CN" altLang="en-US" sz="1800" dirty="0">
              <a:latin typeface="微软雅黑" panose="020B0503020204020204" pitchFamily="34" charset="-122"/>
              <a:ea typeface="微软雅黑" panose="020B0503020204020204" pitchFamily="34" charset="-122"/>
            </a:endParaRPr>
          </a:p>
        </p:txBody>
      </p:sp>
      <p:sp>
        <p:nvSpPr>
          <p:cNvPr id="47" name="文本框 46">
            <a:extLst>
              <a:ext uri="{FF2B5EF4-FFF2-40B4-BE49-F238E27FC236}">
                <a16:creationId xmlns:a16="http://schemas.microsoft.com/office/drawing/2014/main" id="{917685C5-813C-48E1-6515-85DED5F40D04}"/>
              </a:ext>
            </a:extLst>
          </p:cNvPr>
          <p:cNvSpPr txBox="1"/>
          <p:nvPr/>
        </p:nvSpPr>
        <p:spPr>
          <a:xfrm>
            <a:off x="575089" y="3359726"/>
            <a:ext cx="2036818" cy="22753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200" dirty="0"/>
              <a:t>预算的起点通常是资金</a:t>
            </a:r>
            <a:endParaRPr lang="en-US" altLang="zh-CN" sz="1200" dirty="0"/>
          </a:p>
          <a:p>
            <a:pPr marL="285750" indent="-285750">
              <a:lnSpc>
                <a:spcPct val="150000"/>
              </a:lnSpc>
              <a:buFont typeface="Arial" panose="020B0604020202020204" pitchFamily="34" charset="0"/>
              <a:buChar char="•"/>
            </a:pPr>
            <a:endParaRPr lang="en-US" altLang="zh-CN" sz="1200" dirty="0"/>
          </a:p>
          <a:p>
            <a:pPr marL="285750" indent="-285750">
              <a:lnSpc>
                <a:spcPct val="150000"/>
              </a:lnSpc>
              <a:buFont typeface="Arial" panose="020B0604020202020204" pitchFamily="34" charset="0"/>
              <a:buChar char="•"/>
            </a:pPr>
            <a:r>
              <a:rPr lang="zh-CN" altLang="en-US" sz="1200" dirty="0"/>
              <a:t>在这个阶段，企业的主要关注点是确保有足够的资金来支持产品开发和市场开拓</a:t>
            </a:r>
            <a:endParaRPr lang="en-US" altLang="zh-CN" sz="1200" dirty="0"/>
          </a:p>
          <a:p>
            <a:pPr marL="285750" indent="-285750">
              <a:lnSpc>
                <a:spcPct val="150000"/>
              </a:lnSpc>
              <a:buFont typeface="Arial" panose="020B0604020202020204" pitchFamily="34" charset="0"/>
              <a:buChar char="•"/>
            </a:pPr>
            <a:endParaRPr lang="en-US" altLang="zh-CN" sz="1200" dirty="0"/>
          </a:p>
          <a:p>
            <a:pPr marL="285750" indent="-285750">
              <a:lnSpc>
                <a:spcPct val="150000"/>
              </a:lnSpc>
              <a:buFont typeface="Arial" panose="020B0604020202020204" pitchFamily="34" charset="0"/>
              <a:buChar char="•"/>
            </a:pPr>
            <a:r>
              <a:rPr lang="zh-CN" altLang="en-US" sz="1200" dirty="0"/>
              <a:t>确保企业能够生存下来。</a:t>
            </a:r>
          </a:p>
        </p:txBody>
      </p:sp>
      <p:sp>
        <p:nvSpPr>
          <p:cNvPr id="49" name="文本框 48">
            <a:extLst>
              <a:ext uri="{FF2B5EF4-FFF2-40B4-BE49-F238E27FC236}">
                <a16:creationId xmlns:a16="http://schemas.microsoft.com/office/drawing/2014/main" id="{9DEA743A-6E06-D7A6-CA51-0CBDB8067EA2}"/>
              </a:ext>
            </a:extLst>
          </p:cNvPr>
          <p:cNvSpPr txBox="1"/>
          <p:nvPr/>
        </p:nvSpPr>
        <p:spPr>
          <a:xfrm>
            <a:off x="3464349" y="3342903"/>
            <a:ext cx="2162054" cy="199836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200" dirty="0"/>
              <a:t>蓝海企业通常指的是那些在未被充分竞争的市场中运营的企业</a:t>
            </a:r>
            <a:endParaRPr lang="en-US" altLang="zh-CN" sz="1200" dirty="0"/>
          </a:p>
          <a:p>
            <a:pPr marL="285750" indent="-285750">
              <a:lnSpc>
                <a:spcPct val="150000"/>
              </a:lnSpc>
              <a:buFont typeface="Arial" panose="020B0604020202020204" pitchFamily="34" charset="0"/>
              <a:buChar char="•"/>
            </a:pPr>
            <a:endParaRPr lang="en-US" altLang="zh-CN" sz="1200" dirty="0"/>
          </a:p>
          <a:p>
            <a:pPr marL="285750" indent="-285750">
              <a:lnSpc>
                <a:spcPct val="150000"/>
              </a:lnSpc>
              <a:buFont typeface="Arial" panose="020B0604020202020204" pitchFamily="34" charset="0"/>
              <a:buChar char="•"/>
            </a:pPr>
            <a:r>
              <a:rPr lang="zh-CN" altLang="en-US" sz="1200" dirty="0"/>
              <a:t>它们可能会将预算的起点放在创新和市场扩张上，以保持其市场领先地位</a:t>
            </a:r>
          </a:p>
        </p:txBody>
      </p:sp>
      <p:sp>
        <p:nvSpPr>
          <p:cNvPr id="50" name="矩形: 圆角 49">
            <a:extLst>
              <a:ext uri="{FF2B5EF4-FFF2-40B4-BE49-F238E27FC236}">
                <a16:creationId xmlns:a16="http://schemas.microsoft.com/office/drawing/2014/main" id="{34CD2A63-6CC3-7303-1FF5-D042994B173E}"/>
              </a:ext>
            </a:extLst>
          </p:cNvPr>
          <p:cNvSpPr/>
          <p:nvPr/>
        </p:nvSpPr>
        <p:spPr>
          <a:xfrm>
            <a:off x="489818" y="2813094"/>
            <a:ext cx="2221935" cy="366235"/>
          </a:xfrm>
          <a:prstGeom prst="roundRect">
            <a:avLst>
              <a:gd name="adj" fmla="val 24585"/>
            </a:avLst>
          </a:prstGeom>
          <a:solidFill>
            <a:schemeClr val="bg1"/>
          </a:solidFill>
          <a:ln w="22225" cap="flat" cmpd="sng" algn="ctr">
            <a:solidFill>
              <a:schemeClr val="accent3">
                <a:lumMod val="7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2"/>
                </a:solidFill>
                <a:latin typeface="微软雅黑" panose="020B0503020204020204" pitchFamily="34" charset="-122"/>
                <a:ea typeface="微软雅黑" panose="020B0503020204020204" pitchFamily="34" charset="-122"/>
              </a:rPr>
              <a:t>起点：资金</a:t>
            </a:r>
          </a:p>
        </p:txBody>
      </p:sp>
      <p:sp>
        <p:nvSpPr>
          <p:cNvPr id="52" name="矩形: 圆角 51">
            <a:extLst>
              <a:ext uri="{FF2B5EF4-FFF2-40B4-BE49-F238E27FC236}">
                <a16:creationId xmlns:a16="http://schemas.microsoft.com/office/drawing/2014/main" id="{DFAF1E97-1211-60B6-0901-A17279C15881}"/>
              </a:ext>
            </a:extLst>
          </p:cNvPr>
          <p:cNvSpPr/>
          <p:nvPr/>
        </p:nvSpPr>
        <p:spPr>
          <a:xfrm>
            <a:off x="6592667" y="2784905"/>
            <a:ext cx="2221935" cy="366235"/>
          </a:xfrm>
          <a:prstGeom prst="roundRect">
            <a:avLst>
              <a:gd name="adj" fmla="val 24585"/>
            </a:avLst>
          </a:prstGeom>
          <a:noFill/>
          <a:ln w="22225" cap="flat" cmpd="sng" algn="ctr">
            <a:solidFill>
              <a:schemeClr val="accent3">
                <a:lumMod val="7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2"/>
                </a:solidFill>
                <a:latin typeface="微软雅黑" panose="020B0503020204020204" pitchFamily="34" charset="-122"/>
                <a:ea typeface="微软雅黑" panose="020B0503020204020204" pitchFamily="34" charset="-122"/>
              </a:rPr>
              <a:t>起点：利润</a:t>
            </a:r>
          </a:p>
        </p:txBody>
      </p:sp>
      <p:sp>
        <p:nvSpPr>
          <p:cNvPr id="53" name="矩形: 圆角 52">
            <a:extLst>
              <a:ext uri="{FF2B5EF4-FFF2-40B4-BE49-F238E27FC236}">
                <a16:creationId xmlns:a16="http://schemas.microsoft.com/office/drawing/2014/main" id="{D663AC66-A6FE-9B14-FDE5-7AF253F3BF4B}"/>
              </a:ext>
            </a:extLst>
          </p:cNvPr>
          <p:cNvSpPr/>
          <p:nvPr/>
        </p:nvSpPr>
        <p:spPr>
          <a:xfrm>
            <a:off x="9525747" y="2791529"/>
            <a:ext cx="2221935" cy="366235"/>
          </a:xfrm>
          <a:prstGeom prst="roundRect">
            <a:avLst>
              <a:gd name="adj" fmla="val 24585"/>
            </a:avLst>
          </a:prstGeom>
          <a:noFill/>
          <a:ln w="22225" cap="flat" cmpd="sng" algn="ctr">
            <a:solidFill>
              <a:schemeClr val="accent3">
                <a:lumMod val="7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2"/>
                </a:solidFill>
                <a:latin typeface="微软雅黑" panose="020B0503020204020204" pitchFamily="34" charset="-122"/>
                <a:ea typeface="微软雅黑" panose="020B0503020204020204" pitchFamily="34" charset="-122"/>
              </a:rPr>
              <a:t>起点：现金流</a:t>
            </a:r>
          </a:p>
        </p:txBody>
      </p:sp>
      <p:sp>
        <p:nvSpPr>
          <p:cNvPr id="51" name="矩形: 圆角 50">
            <a:extLst>
              <a:ext uri="{FF2B5EF4-FFF2-40B4-BE49-F238E27FC236}">
                <a16:creationId xmlns:a16="http://schemas.microsoft.com/office/drawing/2014/main" id="{565F2CDB-0D7B-4C08-38A5-1C25C65D8CBD}"/>
              </a:ext>
            </a:extLst>
          </p:cNvPr>
          <p:cNvSpPr/>
          <p:nvPr/>
        </p:nvSpPr>
        <p:spPr>
          <a:xfrm>
            <a:off x="3461331" y="2792165"/>
            <a:ext cx="2221935" cy="366235"/>
          </a:xfrm>
          <a:prstGeom prst="roundRect">
            <a:avLst>
              <a:gd name="adj" fmla="val 24585"/>
            </a:avLst>
          </a:prstGeom>
          <a:noFill/>
          <a:ln w="22225" cap="flat" cmpd="sng" algn="ctr">
            <a:solidFill>
              <a:schemeClr val="accent3">
                <a:lumMod val="7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2"/>
                </a:solidFill>
                <a:latin typeface="微软雅黑" panose="020B0503020204020204" pitchFamily="34" charset="-122"/>
                <a:ea typeface="微软雅黑" panose="020B0503020204020204" pitchFamily="34" charset="-122"/>
              </a:rPr>
              <a:t>起点：创新</a:t>
            </a:r>
            <a:r>
              <a:rPr lang="en-US" altLang="zh-CN" sz="1400" b="1" dirty="0">
                <a:solidFill>
                  <a:schemeClr val="accent2"/>
                </a:solidFill>
                <a:latin typeface="微软雅黑" panose="020B0503020204020204" pitchFamily="34" charset="-122"/>
                <a:ea typeface="微软雅黑" panose="020B0503020204020204" pitchFamily="34" charset="-122"/>
              </a:rPr>
              <a:t>&amp;</a:t>
            </a:r>
            <a:r>
              <a:rPr lang="zh-CN" altLang="en-US" sz="1400" b="1" dirty="0">
                <a:solidFill>
                  <a:schemeClr val="accent2"/>
                </a:solidFill>
                <a:latin typeface="微软雅黑" panose="020B0503020204020204" pitchFamily="34" charset="-122"/>
                <a:ea typeface="微软雅黑" panose="020B0503020204020204" pitchFamily="34" charset="-122"/>
              </a:rPr>
              <a:t>市场扩张</a:t>
            </a:r>
          </a:p>
        </p:txBody>
      </p:sp>
      <p:sp>
        <p:nvSpPr>
          <p:cNvPr id="54" name="文本框 53">
            <a:extLst>
              <a:ext uri="{FF2B5EF4-FFF2-40B4-BE49-F238E27FC236}">
                <a16:creationId xmlns:a16="http://schemas.microsoft.com/office/drawing/2014/main" id="{FF29F373-B918-1F71-F50A-4307E5A402D9}"/>
              </a:ext>
            </a:extLst>
          </p:cNvPr>
          <p:cNvSpPr txBox="1"/>
          <p:nvPr/>
        </p:nvSpPr>
        <p:spPr>
          <a:xfrm>
            <a:off x="6554103" y="3399077"/>
            <a:ext cx="2162054" cy="144437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200" dirty="0"/>
              <a:t>预算的起点可能是利润</a:t>
            </a:r>
            <a:endParaRPr lang="en-US" altLang="zh-CN" sz="1200" dirty="0"/>
          </a:p>
          <a:p>
            <a:pPr marL="285750" indent="-285750">
              <a:lnSpc>
                <a:spcPct val="150000"/>
              </a:lnSpc>
              <a:buFont typeface="Arial" panose="020B0604020202020204" pitchFamily="34" charset="0"/>
              <a:buChar char="•"/>
            </a:pPr>
            <a:endParaRPr lang="en-US" altLang="zh-CN" sz="1200" dirty="0"/>
          </a:p>
          <a:p>
            <a:pPr marL="285750" indent="-285750">
              <a:lnSpc>
                <a:spcPct val="150000"/>
              </a:lnSpc>
              <a:buFont typeface="Arial" panose="020B0604020202020204" pitchFamily="34" charset="0"/>
              <a:buChar char="•"/>
            </a:pPr>
            <a:r>
              <a:rPr lang="zh-CN" altLang="en-US" sz="1200" dirty="0"/>
              <a:t>由于这类企业在市场上具有主导地位，它们更关注如何维持和增加利润</a:t>
            </a:r>
          </a:p>
        </p:txBody>
      </p:sp>
      <p:sp>
        <p:nvSpPr>
          <p:cNvPr id="55" name="文本框 54">
            <a:extLst>
              <a:ext uri="{FF2B5EF4-FFF2-40B4-BE49-F238E27FC236}">
                <a16:creationId xmlns:a16="http://schemas.microsoft.com/office/drawing/2014/main" id="{0136E7C5-0669-982D-BC0C-6C7F3830988B}"/>
              </a:ext>
            </a:extLst>
          </p:cNvPr>
          <p:cNvSpPr txBox="1"/>
          <p:nvPr/>
        </p:nvSpPr>
        <p:spPr>
          <a:xfrm>
            <a:off x="9555687" y="3405701"/>
            <a:ext cx="2162054" cy="144783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200" b="0" i="0" dirty="0">
                <a:solidFill>
                  <a:srgbClr val="060607"/>
                </a:solidFill>
                <a:effectLst/>
                <a:latin typeface="-apple-system"/>
              </a:rPr>
              <a:t>预算起点需要考虑不同业务线的需求和优先级</a:t>
            </a:r>
            <a:endParaRPr lang="en-US" altLang="zh-CN" sz="1200" dirty="0"/>
          </a:p>
          <a:p>
            <a:pPr>
              <a:lnSpc>
                <a:spcPct val="150000"/>
              </a:lnSpc>
            </a:pPr>
            <a:endParaRPr lang="en-US" altLang="zh-CN" sz="1200" dirty="0"/>
          </a:p>
          <a:p>
            <a:pPr marL="285750" indent="-285750">
              <a:lnSpc>
                <a:spcPct val="150000"/>
              </a:lnSpc>
              <a:buFont typeface="Arial" panose="020B0604020202020204" pitchFamily="34" charset="0"/>
              <a:buChar char="•"/>
            </a:pPr>
            <a:r>
              <a:rPr lang="zh-CN" altLang="en-US" sz="1200" b="0" i="0" dirty="0">
                <a:solidFill>
                  <a:srgbClr val="060607"/>
                </a:solidFill>
                <a:effectLst/>
                <a:latin typeface="-apple-system"/>
              </a:rPr>
              <a:t>需要合理分配资源，以支持各业务线的发展</a:t>
            </a:r>
            <a:endParaRPr lang="zh-CN" altLang="en-US" sz="1200" dirty="0"/>
          </a:p>
        </p:txBody>
      </p:sp>
      <p:sp>
        <p:nvSpPr>
          <p:cNvPr id="57" name="矩形 56">
            <a:extLst>
              <a:ext uri="{FF2B5EF4-FFF2-40B4-BE49-F238E27FC236}">
                <a16:creationId xmlns:a16="http://schemas.microsoft.com/office/drawing/2014/main" id="{8E8BD9DF-DE78-FEBA-9AC3-6AF64D5BD2F7}"/>
              </a:ext>
            </a:extLst>
          </p:cNvPr>
          <p:cNvSpPr/>
          <p:nvPr/>
        </p:nvSpPr>
        <p:spPr>
          <a:xfrm>
            <a:off x="3585500" y="1656970"/>
            <a:ext cx="1923169" cy="1631216"/>
          </a:xfrm>
          <a:prstGeom prst="rect">
            <a:avLst/>
          </a:prstGeom>
        </p:spPr>
        <p:txBody>
          <a:bodyPr wrap="square">
            <a:spAutoFit/>
          </a:bodyPr>
          <a:lstStyle/>
          <a:p>
            <a:pPr algn="ctr"/>
            <a:r>
              <a:rPr kumimoji="1" lang="en-US" altLang="zh-CN" sz="10000" b="1" dirty="0">
                <a:gradFill>
                  <a:gsLst>
                    <a:gs pos="44000">
                      <a:schemeClr val="bg2">
                        <a:alpha val="0"/>
                      </a:schemeClr>
                    </a:gs>
                    <a:gs pos="0">
                      <a:schemeClr val="bg2">
                        <a:alpha val="21000"/>
                      </a:schemeClr>
                    </a:gs>
                  </a:gsLst>
                  <a:lin ang="5400000" scaled="0"/>
                </a:gradFill>
                <a:latin typeface="OPPOSans B" panose="00020600040101010101" pitchFamily="18" charset="-122"/>
                <a:ea typeface="OPPOSans B" panose="00020600040101010101" pitchFamily="18" charset="-122"/>
                <a:cs typeface="OPPOSans B" panose="00020600040101010101" pitchFamily="18" charset="-122"/>
              </a:rPr>
              <a:t>02</a:t>
            </a:r>
            <a:endParaRPr lang="zh-CN" altLang="en-US" sz="10000" b="1" dirty="0">
              <a:gradFill>
                <a:gsLst>
                  <a:gs pos="44000">
                    <a:schemeClr val="bg2">
                      <a:alpha val="0"/>
                    </a:schemeClr>
                  </a:gs>
                  <a:gs pos="0">
                    <a:schemeClr val="bg2">
                      <a:alpha val="21000"/>
                    </a:schemeClr>
                  </a:gs>
                </a:gsLst>
                <a:lin ang="5400000" scaled="0"/>
              </a:gradFill>
              <a:latin typeface="OPPOSans B" panose="00020600040101010101" pitchFamily="18" charset="-122"/>
              <a:ea typeface="OPPOSans B" panose="00020600040101010101" pitchFamily="18" charset="-122"/>
              <a:cs typeface="OPPOSans B" panose="00020600040101010101" pitchFamily="18" charset="-122"/>
            </a:endParaRPr>
          </a:p>
        </p:txBody>
      </p:sp>
      <p:sp>
        <p:nvSpPr>
          <p:cNvPr id="5" name="矩形: 圆角 103">
            <a:extLst>
              <a:ext uri="{FF2B5EF4-FFF2-40B4-BE49-F238E27FC236}">
                <a16:creationId xmlns:a16="http://schemas.microsoft.com/office/drawing/2014/main" id="{C9963E35-5FC9-AB63-DD02-E58C95C3747B}"/>
              </a:ext>
            </a:extLst>
          </p:cNvPr>
          <p:cNvSpPr/>
          <p:nvPr/>
        </p:nvSpPr>
        <p:spPr>
          <a:xfrm>
            <a:off x="372823" y="5979434"/>
            <a:ext cx="11394290" cy="420253"/>
          </a:xfrm>
          <a:prstGeom prst="roundRect">
            <a:avLst>
              <a:gd name="adj" fmla="val 0"/>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思源黑体 CN Light"/>
              <a:cs typeface="+mn-cs"/>
            </a:endParaRPr>
          </a:p>
        </p:txBody>
      </p:sp>
      <p:sp>
        <p:nvSpPr>
          <p:cNvPr id="7" name="文本框 6">
            <a:extLst>
              <a:ext uri="{FF2B5EF4-FFF2-40B4-BE49-F238E27FC236}">
                <a16:creationId xmlns:a16="http://schemas.microsoft.com/office/drawing/2014/main" id="{FE2395E2-DBD7-71A3-CB17-201E37DD897E}"/>
              </a:ext>
            </a:extLst>
          </p:cNvPr>
          <p:cNvSpPr txBox="1"/>
          <p:nvPr/>
        </p:nvSpPr>
        <p:spPr>
          <a:xfrm>
            <a:off x="560663" y="6016417"/>
            <a:ext cx="11063245" cy="329962"/>
          </a:xfrm>
          <a:prstGeom prst="rect">
            <a:avLst/>
          </a:prstGeom>
          <a:noFill/>
        </p:spPr>
        <p:txBody>
          <a:bodyPr wrap="square" tIns="0" bIns="0"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1600" b="1" dirty="0">
                <a:ea typeface="OPPOSans M" pitchFamily="18" charset="-122"/>
              </a:rPr>
              <a:t>问题：我们的公司在市场中属于什么类型的企业</a:t>
            </a:r>
            <a:endParaRPr lang="zh-CN" altLang="en-US" sz="1200" b="1" dirty="0">
              <a:ea typeface="OPPOSans M" pitchFamily="18" charset="-122"/>
            </a:endParaRPr>
          </a:p>
        </p:txBody>
      </p:sp>
      <p:cxnSp>
        <p:nvCxnSpPr>
          <p:cNvPr id="34" name="直线连接符 7">
            <a:extLst>
              <a:ext uri="{FF2B5EF4-FFF2-40B4-BE49-F238E27FC236}">
                <a16:creationId xmlns:a16="http://schemas.microsoft.com/office/drawing/2014/main" id="{2477E6D8-9746-4826-B50A-E46480A2F162}"/>
              </a:ext>
            </a:extLst>
          </p:cNvPr>
          <p:cNvCxnSpPr>
            <a:cxnSpLocks/>
          </p:cNvCxnSpPr>
          <p:nvPr/>
        </p:nvCxnSpPr>
        <p:spPr>
          <a:xfrm>
            <a:off x="421341" y="859164"/>
            <a:ext cx="1139429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648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id="{BCBDC31E-7F97-4D57-C7E9-6C69783CCC85}"/>
              </a:ext>
            </a:extLst>
          </p:cNvPr>
          <p:cNvSpPr/>
          <p:nvPr/>
        </p:nvSpPr>
        <p:spPr>
          <a:xfrm>
            <a:off x="443748" y="5538942"/>
            <a:ext cx="11406238" cy="1057241"/>
          </a:xfrm>
          <a:prstGeom prst="rect">
            <a:avLst/>
          </a:prstGeom>
          <a:solidFill>
            <a:srgbClr val="F3F4F7"/>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sp>
        <p:nvSpPr>
          <p:cNvPr id="2" name="矩形 1">
            <a:extLst>
              <a:ext uri="{FF2B5EF4-FFF2-40B4-BE49-F238E27FC236}">
                <a16:creationId xmlns:a16="http://schemas.microsoft.com/office/drawing/2014/main" id="{7184F0EC-455A-D8E5-A08E-F508E978A2E1}"/>
              </a:ext>
            </a:extLst>
          </p:cNvPr>
          <p:cNvSpPr/>
          <p:nvPr/>
        </p:nvSpPr>
        <p:spPr>
          <a:xfrm>
            <a:off x="443749" y="1123271"/>
            <a:ext cx="11379226" cy="404295"/>
          </a:xfrm>
          <a:prstGeom prst="rect">
            <a:avLst/>
          </a:prstGeom>
          <a:solidFill>
            <a:schemeClr val="accent2">
              <a:lumMod val="20000"/>
              <a:lumOff val="80000"/>
            </a:schemeClr>
          </a:solid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12" name="矩形: 圆角 11">
            <a:extLst>
              <a:ext uri="{FF2B5EF4-FFF2-40B4-BE49-F238E27FC236}">
                <a16:creationId xmlns:a16="http://schemas.microsoft.com/office/drawing/2014/main" id="{7ACDAF6C-D8ED-5A90-4491-61BB7EE29452}"/>
              </a:ext>
            </a:extLst>
          </p:cNvPr>
          <p:cNvSpPr/>
          <p:nvPr/>
        </p:nvSpPr>
        <p:spPr>
          <a:xfrm>
            <a:off x="443749" y="1669866"/>
            <a:ext cx="425668" cy="3701474"/>
          </a:xfrm>
          <a:prstGeom prst="roundRect">
            <a:avLst>
              <a:gd name="adj" fmla="val 4347"/>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a:solidFill>
                  <a:schemeClr val="bg1"/>
                </a:solidFill>
                <a:latin typeface="+mn-ea"/>
              </a:rPr>
              <a:t>面向的人群</a:t>
            </a:r>
            <a:endParaRPr lang="zh-CN" altLang="en-US" sz="1200" b="1" dirty="0">
              <a:solidFill>
                <a:schemeClr val="bg1"/>
              </a:solidFill>
              <a:latin typeface="+mn-ea"/>
            </a:endParaRPr>
          </a:p>
        </p:txBody>
      </p:sp>
      <p:sp>
        <p:nvSpPr>
          <p:cNvPr id="13" name="文本框 12">
            <a:extLst>
              <a:ext uri="{FF2B5EF4-FFF2-40B4-BE49-F238E27FC236}">
                <a16:creationId xmlns:a16="http://schemas.microsoft.com/office/drawing/2014/main" id="{3C81C229-1F3A-81E1-C2A8-1359D85FF815}"/>
              </a:ext>
            </a:extLst>
          </p:cNvPr>
          <p:cNvSpPr txBox="1"/>
          <p:nvPr/>
        </p:nvSpPr>
        <p:spPr>
          <a:xfrm>
            <a:off x="578589" y="1167664"/>
            <a:ext cx="11406238" cy="369332"/>
          </a:xfrm>
          <a:prstGeom prst="rect">
            <a:avLst/>
          </a:prstGeom>
          <a:noFill/>
        </p:spPr>
        <p:txBody>
          <a:bodyPr wrap="square">
            <a:spAutoFit/>
          </a:bodyPr>
          <a:lstStyle/>
          <a:p>
            <a:pPr>
              <a:spcBef>
                <a:spcPts val="1200"/>
              </a:spcBef>
              <a:spcAft>
                <a:spcPts val="1200"/>
              </a:spcAft>
            </a:pPr>
            <a:r>
              <a:rPr lang="zh-CN" altLang="en-US" b="1"/>
              <a:t>核心预算方法理论与应用 </a:t>
            </a:r>
            <a:r>
              <a:rPr lang="en-US" altLang="zh-CN" b="1"/>
              <a:t>(Methodology)</a:t>
            </a:r>
            <a:endParaRPr lang="zh-CN" altLang="en-US" sz="1400" b="1">
              <a:solidFill>
                <a:srgbClr val="0F1115"/>
              </a:solidFill>
              <a:latin typeface="quote-cjk-patch"/>
            </a:endParaRPr>
          </a:p>
        </p:txBody>
      </p:sp>
      <p:sp>
        <p:nvSpPr>
          <p:cNvPr id="14" name="文本框 13">
            <a:extLst>
              <a:ext uri="{FF2B5EF4-FFF2-40B4-BE49-F238E27FC236}">
                <a16:creationId xmlns:a16="http://schemas.microsoft.com/office/drawing/2014/main" id="{39BDC81C-4AA6-839B-BF68-63369088D006}"/>
              </a:ext>
            </a:extLst>
          </p:cNvPr>
          <p:cNvSpPr txBox="1"/>
          <p:nvPr/>
        </p:nvSpPr>
        <p:spPr>
          <a:xfrm>
            <a:off x="373569" y="185649"/>
            <a:ext cx="5583806" cy="480131"/>
          </a:xfrm>
          <a:prstGeom prst="rect">
            <a:avLst/>
          </a:prstGeom>
          <a:noFill/>
        </p:spPr>
        <p:txBody>
          <a:bodyPr wrap="square" rtlCol="0">
            <a:spAutoFit/>
          </a:bodyPr>
          <a:lstStyle/>
          <a:p>
            <a:pPr>
              <a:lnSpc>
                <a:spcPct val="90000"/>
              </a:lnSpc>
              <a:spcBef>
                <a:spcPct val="0"/>
              </a:spcBef>
            </a:pPr>
            <a:r>
              <a:rPr lang="zh-CN" altLang="en-US" sz="2800" b="1">
                <a:solidFill>
                  <a:schemeClr val="tx2"/>
                </a:solidFill>
                <a:latin typeface="微软雅黑" panose="020B0503020204020204" pitchFamily="34" charset="-122"/>
                <a:ea typeface="微软雅黑" panose="020B0503020204020204" pitchFamily="34" charset="-122"/>
              </a:rPr>
              <a:t>预算方法的</a:t>
            </a:r>
            <a:r>
              <a:rPr lang="zh-CN" altLang="en-US" sz="2800" b="1" dirty="0">
                <a:solidFill>
                  <a:schemeClr val="tx2"/>
                </a:solidFill>
                <a:latin typeface="微软雅黑" panose="020B0503020204020204" pitchFamily="34" charset="-122"/>
                <a:ea typeface="微软雅黑" panose="020B0503020204020204" pitchFamily="34" charset="-122"/>
              </a:rPr>
              <a:t>选择</a:t>
            </a:r>
          </a:p>
        </p:txBody>
      </p:sp>
      <p:cxnSp>
        <p:nvCxnSpPr>
          <p:cNvPr id="15" name="直线连接符 7">
            <a:extLst>
              <a:ext uri="{FF2B5EF4-FFF2-40B4-BE49-F238E27FC236}">
                <a16:creationId xmlns:a16="http://schemas.microsoft.com/office/drawing/2014/main" id="{ED8B04D3-F19F-06D2-2EFF-8276A63F5A0A}"/>
              </a:ext>
            </a:extLst>
          </p:cNvPr>
          <p:cNvCxnSpPr>
            <a:cxnSpLocks/>
          </p:cNvCxnSpPr>
          <p:nvPr/>
        </p:nvCxnSpPr>
        <p:spPr>
          <a:xfrm>
            <a:off x="522611" y="791094"/>
            <a:ext cx="11056273"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6" name="组合 25">
            <a:extLst>
              <a:ext uri="{FF2B5EF4-FFF2-40B4-BE49-F238E27FC236}">
                <a16:creationId xmlns:a16="http://schemas.microsoft.com/office/drawing/2014/main" id="{4AAA7D93-C0F7-74AD-B73B-8FEBAF026536}"/>
              </a:ext>
            </a:extLst>
          </p:cNvPr>
          <p:cNvGrpSpPr/>
          <p:nvPr/>
        </p:nvGrpSpPr>
        <p:grpSpPr>
          <a:xfrm>
            <a:off x="963627" y="1669865"/>
            <a:ext cx="10850211" cy="3912901"/>
            <a:chOff x="895970" y="2501200"/>
            <a:chExt cx="11730979" cy="3561432"/>
          </a:xfrm>
        </p:grpSpPr>
        <p:grpSp>
          <p:nvGrpSpPr>
            <p:cNvPr id="16" name="组合 15">
              <a:extLst>
                <a:ext uri="{FF2B5EF4-FFF2-40B4-BE49-F238E27FC236}">
                  <a16:creationId xmlns:a16="http://schemas.microsoft.com/office/drawing/2014/main" id="{BB9D00FC-13AF-F6CE-BFE4-0BAA94E88690}"/>
                </a:ext>
              </a:extLst>
            </p:cNvPr>
            <p:cNvGrpSpPr/>
            <p:nvPr/>
          </p:nvGrpSpPr>
          <p:grpSpPr>
            <a:xfrm>
              <a:off x="895970" y="2501201"/>
              <a:ext cx="5789445" cy="3561431"/>
              <a:chOff x="895970" y="2501201"/>
              <a:chExt cx="10889661" cy="3561431"/>
            </a:xfrm>
          </p:grpSpPr>
          <p:sp>
            <p:nvSpPr>
              <p:cNvPr id="3" name="矩形 2">
                <a:extLst>
                  <a:ext uri="{FF2B5EF4-FFF2-40B4-BE49-F238E27FC236}">
                    <a16:creationId xmlns:a16="http://schemas.microsoft.com/office/drawing/2014/main" id="{FB891F08-0832-5159-D6EC-F6C6FE94348B}"/>
                  </a:ext>
                </a:extLst>
              </p:cNvPr>
              <p:cNvSpPr/>
              <p:nvPr/>
            </p:nvSpPr>
            <p:spPr>
              <a:xfrm>
                <a:off x="6372177" y="2861757"/>
                <a:ext cx="5413454" cy="3008440"/>
              </a:xfrm>
              <a:prstGeom prst="rect">
                <a:avLst/>
              </a:prstGeom>
              <a:solidFill>
                <a:schemeClr val="bg1"/>
              </a:solid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4" name="矩形 3">
                <a:extLst>
                  <a:ext uri="{FF2B5EF4-FFF2-40B4-BE49-F238E27FC236}">
                    <a16:creationId xmlns:a16="http://schemas.microsoft.com/office/drawing/2014/main" id="{727F5133-3D9F-A0E0-B2C2-20B8B154D1E5}"/>
                  </a:ext>
                </a:extLst>
              </p:cNvPr>
              <p:cNvSpPr/>
              <p:nvPr/>
            </p:nvSpPr>
            <p:spPr>
              <a:xfrm>
                <a:off x="895970" y="2861758"/>
                <a:ext cx="5203655" cy="3008440"/>
              </a:xfrm>
              <a:prstGeom prst="rect">
                <a:avLst/>
              </a:prstGeom>
              <a:solidFill>
                <a:schemeClr val="bg1"/>
              </a:solid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5" name="文本框 4">
                <a:extLst>
                  <a:ext uri="{FF2B5EF4-FFF2-40B4-BE49-F238E27FC236}">
                    <a16:creationId xmlns:a16="http://schemas.microsoft.com/office/drawing/2014/main" id="{8357C325-95FC-D35E-C43F-8BBA39E43888}"/>
                  </a:ext>
                </a:extLst>
              </p:cNvPr>
              <p:cNvSpPr txBox="1"/>
              <p:nvPr/>
            </p:nvSpPr>
            <p:spPr>
              <a:xfrm>
                <a:off x="1070845" y="3195639"/>
                <a:ext cx="4853906" cy="2308324"/>
              </a:xfrm>
              <a:prstGeom prst="rect">
                <a:avLst/>
              </a:prstGeom>
              <a:noFill/>
            </p:spPr>
            <p:txBody>
              <a:bodyPr wrap="square">
                <a:spAutoFit/>
              </a:bodyPr>
              <a:lstStyle/>
              <a:p>
                <a:r>
                  <a:rPr lang="zh-CN" altLang="en-US" sz="1200" b="1">
                    <a:solidFill>
                      <a:schemeClr val="accent2">
                        <a:lumMod val="75000"/>
                      </a:schemeClr>
                    </a:solidFill>
                  </a:rPr>
                  <a:t>内容</a:t>
                </a:r>
                <a:r>
                  <a:rPr lang="zh-CN" altLang="en-US" sz="1200" b="1"/>
                  <a:t>：</a:t>
                </a:r>
                <a:r>
                  <a:rPr lang="zh-CN" altLang="en-US" sz="1200"/>
                  <a:t> 基于上一年的实际业绩，增加一个增量（如通货膨胀率</a:t>
                </a:r>
                <a:r>
                  <a:rPr lang="en-US" altLang="zh-CN" sz="1200"/>
                  <a:t>+</a:t>
                </a:r>
                <a:r>
                  <a:rPr lang="zh-CN" altLang="en-US" sz="1200"/>
                  <a:t>增长百分比）来编制新预算。</a:t>
                </a:r>
                <a:endParaRPr lang="en-US" altLang="zh-CN" sz="1200"/>
              </a:p>
              <a:p>
                <a:endParaRPr lang="zh-CN" altLang="en-US" sz="1200"/>
              </a:p>
              <a:p>
                <a:r>
                  <a:rPr lang="zh-CN" altLang="en-US" sz="1200" b="1">
                    <a:solidFill>
                      <a:schemeClr val="accent2">
                        <a:lumMod val="75000"/>
                      </a:schemeClr>
                    </a:solidFill>
                  </a:rPr>
                  <a:t>优点： </a:t>
                </a:r>
                <a:r>
                  <a:rPr lang="zh-CN" altLang="en-US" sz="1200"/>
                  <a:t>简单、快捷、易于操作。</a:t>
                </a:r>
                <a:endParaRPr lang="en-US" altLang="zh-CN" sz="1200"/>
              </a:p>
              <a:p>
                <a:endParaRPr lang="zh-CN" altLang="en-US" sz="1200"/>
              </a:p>
              <a:p>
                <a:r>
                  <a:rPr lang="zh-CN" altLang="en-US" sz="1200" b="1">
                    <a:solidFill>
                      <a:schemeClr val="accent2">
                        <a:lumMod val="75000"/>
                      </a:schemeClr>
                    </a:solidFill>
                  </a:rPr>
                  <a:t>缺点： </a:t>
                </a:r>
                <a:r>
                  <a:rPr lang="zh-CN" altLang="en-US" sz="1200"/>
                  <a:t>可能固化历史的不合理开支，缺乏创新。</a:t>
                </a:r>
                <a:endParaRPr lang="en-US" altLang="zh-CN" sz="1200"/>
              </a:p>
              <a:p>
                <a:endParaRPr lang="zh-CN" altLang="en-US" sz="1200"/>
              </a:p>
              <a:p>
                <a:r>
                  <a:rPr lang="zh-CN" altLang="en-US" sz="1200" b="1">
                    <a:solidFill>
                      <a:schemeClr val="accent2">
                        <a:lumMod val="75000"/>
                      </a:schemeClr>
                    </a:solidFill>
                  </a:rPr>
                  <a:t>应用场景： </a:t>
                </a:r>
                <a:r>
                  <a:rPr lang="zh-CN" altLang="en-US" sz="1200"/>
                  <a:t>适用于业务稳定、变化不大的成熟费用项目，如部分行政管理费用。</a:t>
                </a:r>
              </a:p>
            </p:txBody>
          </p:sp>
          <p:sp>
            <p:nvSpPr>
              <p:cNvPr id="6" name="文本框 5">
                <a:extLst>
                  <a:ext uri="{FF2B5EF4-FFF2-40B4-BE49-F238E27FC236}">
                    <a16:creationId xmlns:a16="http://schemas.microsoft.com/office/drawing/2014/main" id="{1EDC3C53-7742-57C4-40E4-E8C835000BE6}"/>
                  </a:ext>
                </a:extLst>
              </p:cNvPr>
              <p:cNvSpPr txBox="1"/>
              <p:nvPr/>
            </p:nvSpPr>
            <p:spPr>
              <a:xfrm>
                <a:off x="6506410" y="3200310"/>
                <a:ext cx="5185011" cy="2862322"/>
              </a:xfrm>
              <a:prstGeom prst="rect">
                <a:avLst/>
              </a:prstGeom>
              <a:noFill/>
            </p:spPr>
            <p:txBody>
              <a:bodyPr wrap="square">
                <a:spAutoFit/>
              </a:bodyPr>
              <a:lstStyle/>
              <a:p>
                <a:r>
                  <a:rPr lang="zh-CN" altLang="en-US" sz="1200" b="1">
                    <a:solidFill>
                      <a:schemeClr val="accent2">
                        <a:lumMod val="75000"/>
                      </a:schemeClr>
                    </a:solidFill>
                  </a:rPr>
                  <a:t>内容： </a:t>
                </a:r>
                <a:r>
                  <a:rPr lang="zh-CN" altLang="en-US" sz="1200"/>
                  <a:t>不以历史为基础，而是从“零”开始，重新审视每一项开支的必要性和成本效益。每个预算单位都需要为其所有活动进行论证。</a:t>
                </a:r>
                <a:endParaRPr lang="en-US" altLang="zh-CN" sz="1200"/>
              </a:p>
              <a:p>
                <a:endParaRPr lang="zh-CN" altLang="en-US" sz="1200"/>
              </a:p>
              <a:p>
                <a:r>
                  <a:rPr lang="zh-CN" altLang="en-US" sz="1200" b="1">
                    <a:solidFill>
                      <a:schemeClr val="accent2">
                        <a:lumMod val="75000"/>
                      </a:schemeClr>
                    </a:solidFill>
                  </a:rPr>
                  <a:t>优点： </a:t>
                </a:r>
                <a:r>
                  <a:rPr lang="zh-CN" altLang="en-US" sz="1200"/>
                  <a:t>能有效消除冗余成本，优化资源配置，将资金投入到效率最高的地方。</a:t>
                </a:r>
              </a:p>
              <a:p>
                <a:r>
                  <a:rPr lang="zh-CN" altLang="en-US" sz="1200" b="1">
                    <a:solidFill>
                      <a:schemeClr val="accent2">
                        <a:lumMod val="75000"/>
                      </a:schemeClr>
                    </a:solidFill>
                  </a:rPr>
                  <a:t>缺点： </a:t>
                </a:r>
                <a:r>
                  <a:rPr lang="zh-CN" altLang="en-US" sz="1200"/>
                  <a:t>编制复杂、耗时耗力。</a:t>
                </a:r>
                <a:endParaRPr lang="en-US" altLang="zh-CN" sz="1200"/>
              </a:p>
              <a:p>
                <a:endParaRPr lang="zh-CN" altLang="en-US" sz="1200"/>
              </a:p>
              <a:p>
                <a:r>
                  <a:rPr lang="zh-CN" altLang="en-US" sz="1200" b="1">
                    <a:solidFill>
                      <a:schemeClr val="accent2">
                        <a:lumMod val="75000"/>
                      </a:schemeClr>
                    </a:solidFill>
                  </a:rPr>
                  <a:t>应用场景： </a:t>
                </a:r>
                <a:r>
                  <a:rPr lang="zh-CN" altLang="en-US" sz="1200"/>
                  <a:t>适用于市场费用、研发项目（酌量性成本）</a:t>
                </a:r>
                <a:r>
                  <a:rPr lang="zh-CN" altLang="en-US" sz="1200" b="1"/>
                  <a:t>。</a:t>
                </a:r>
                <a:endParaRPr lang="en-US" altLang="zh-CN" sz="1200" b="1"/>
              </a:p>
              <a:p>
                <a:endParaRPr lang="en-US" altLang="zh-CN" sz="1200" b="1"/>
              </a:p>
              <a:p>
                <a:r>
                  <a:rPr lang="zh-CN" altLang="en-US" sz="1200" b="1">
                    <a:solidFill>
                      <a:schemeClr val="accent3"/>
                    </a:solidFill>
                  </a:rPr>
                  <a:t>今年对市场、差旅将采用零基预算法</a:t>
                </a:r>
                <a:endParaRPr lang="zh-CN" altLang="en-US" sz="1200">
                  <a:solidFill>
                    <a:schemeClr val="accent3"/>
                  </a:solidFill>
                </a:endParaRPr>
              </a:p>
            </p:txBody>
          </p:sp>
          <p:grpSp>
            <p:nvGrpSpPr>
              <p:cNvPr id="7" name="组合 6">
                <a:extLst>
                  <a:ext uri="{FF2B5EF4-FFF2-40B4-BE49-F238E27FC236}">
                    <a16:creationId xmlns:a16="http://schemas.microsoft.com/office/drawing/2014/main" id="{E8887215-4910-AFA5-C471-051D5C7E372F}"/>
                  </a:ext>
                </a:extLst>
              </p:cNvPr>
              <p:cNvGrpSpPr/>
              <p:nvPr/>
            </p:nvGrpSpPr>
            <p:grpSpPr>
              <a:xfrm>
                <a:off x="895971" y="2501201"/>
                <a:ext cx="10889660" cy="482009"/>
                <a:chOff x="921544" y="1571683"/>
                <a:chExt cx="10137609" cy="482009"/>
              </a:xfrm>
              <a:solidFill>
                <a:schemeClr val="tx1">
                  <a:lumMod val="85000"/>
                  <a:lumOff val="15000"/>
                </a:schemeClr>
              </a:solidFill>
            </p:grpSpPr>
            <p:sp>
              <p:nvSpPr>
                <p:cNvPr id="8" name="箭头: 五边形 7">
                  <a:extLst>
                    <a:ext uri="{FF2B5EF4-FFF2-40B4-BE49-F238E27FC236}">
                      <a16:creationId xmlns:a16="http://schemas.microsoft.com/office/drawing/2014/main" id="{BE73EA23-6A2C-F1F8-7057-9663F4B3F4F3}"/>
                    </a:ext>
                  </a:extLst>
                </p:cNvPr>
                <p:cNvSpPr/>
                <p:nvPr/>
              </p:nvSpPr>
              <p:spPr>
                <a:xfrm>
                  <a:off x="921544" y="1571683"/>
                  <a:ext cx="5103628" cy="482009"/>
                </a:xfrm>
                <a:prstGeom prst="homePlat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bg1"/>
                      </a:solidFill>
                      <a:latin typeface="+mj-ea"/>
                      <a:ea typeface="+mj-ea"/>
                      <a:cs typeface="思源黑体 CN Bold" panose="020B0800000000000000" charset="-122"/>
                    </a:rPr>
                    <a:t>增量预算法</a:t>
                  </a:r>
                  <a:endParaRPr lang="en-US" altLang="zh-CN" sz="1400" b="1">
                    <a:solidFill>
                      <a:schemeClr val="bg1"/>
                    </a:solidFill>
                    <a:latin typeface="+mj-ea"/>
                    <a:ea typeface="+mj-ea"/>
                    <a:cs typeface="思源黑体 CN Bold" panose="020B0800000000000000" charset="-122"/>
                  </a:endParaRPr>
                </a:p>
                <a:p>
                  <a:pPr algn="ctr"/>
                  <a:r>
                    <a:rPr lang="en-US" altLang="zh-CN" sz="1200" b="1"/>
                    <a:t>Incremental Budgeting</a:t>
                  </a:r>
                  <a:endParaRPr lang="zh-CN" altLang="en-US" sz="1050" b="1" dirty="0">
                    <a:solidFill>
                      <a:schemeClr val="bg1"/>
                    </a:solidFill>
                    <a:latin typeface="+mj-ea"/>
                    <a:ea typeface="+mj-ea"/>
                    <a:cs typeface="思源黑体 CN Bold" panose="020B0800000000000000" charset="-122"/>
                  </a:endParaRPr>
                </a:p>
              </p:txBody>
            </p:sp>
            <p:sp>
              <p:nvSpPr>
                <p:cNvPr id="9" name="箭头: V 形 8">
                  <a:extLst>
                    <a:ext uri="{FF2B5EF4-FFF2-40B4-BE49-F238E27FC236}">
                      <a16:creationId xmlns:a16="http://schemas.microsoft.com/office/drawing/2014/main" id="{D4560284-B31A-17D3-9672-CC105F6F35E5}"/>
                    </a:ext>
                  </a:extLst>
                </p:cNvPr>
                <p:cNvSpPr/>
                <p:nvPr/>
              </p:nvSpPr>
              <p:spPr>
                <a:xfrm>
                  <a:off x="5955524" y="1571683"/>
                  <a:ext cx="5103629" cy="482009"/>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bg1"/>
                    </a:solidFill>
                    <a:latin typeface="+mj-ea"/>
                    <a:ea typeface="+mj-ea"/>
                    <a:cs typeface="思源黑体 CN Bold" panose="020B0800000000000000" charset="-122"/>
                  </a:endParaRPr>
                </a:p>
              </p:txBody>
            </p:sp>
          </p:grpSp>
          <p:sp>
            <p:nvSpPr>
              <p:cNvPr id="10" name="文本框 9">
                <a:extLst>
                  <a:ext uri="{FF2B5EF4-FFF2-40B4-BE49-F238E27FC236}">
                    <a16:creationId xmlns:a16="http://schemas.microsoft.com/office/drawing/2014/main" id="{9C0B5B2E-FC89-777F-E85B-7577A4058D32}"/>
                  </a:ext>
                </a:extLst>
              </p:cNvPr>
              <p:cNvSpPr txBox="1"/>
              <p:nvPr/>
            </p:nvSpPr>
            <p:spPr>
              <a:xfrm>
                <a:off x="6943148" y="2524480"/>
                <a:ext cx="4069919" cy="492443"/>
              </a:xfrm>
              <a:prstGeom prst="rect">
                <a:avLst/>
              </a:prstGeom>
              <a:noFill/>
            </p:spPr>
            <p:txBody>
              <a:bodyPr wrap="square">
                <a:spAutoFit/>
              </a:bodyPr>
              <a:lstStyle/>
              <a:p>
                <a:pPr algn="ctr"/>
                <a:r>
                  <a:rPr lang="zh-CN" altLang="en-US" sz="1400" b="1" i="0">
                    <a:solidFill>
                      <a:schemeClr val="bg1"/>
                    </a:solidFill>
                    <a:effectLst/>
                    <a:latin typeface="quote-cjk-patch"/>
                  </a:rPr>
                  <a:t>零基预算法</a:t>
                </a:r>
                <a:endParaRPr lang="en-US" altLang="zh-CN" sz="1400" b="1" i="0">
                  <a:solidFill>
                    <a:schemeClr val="bg1"/>
                  </a:solidFill>
                  <a:effectLst/>
                  <a:latin typeface="quote-cjk-patch"/>
                </a:endParaRPr>
              </a:p>
              <a:p>
                <a:pPr algn="ctr"/>
                <a:r>
                  <a:rPr lang="en-US" altLang="zh-CN" sz="1200" b="1">
                    <a:solidFill>
                      <a:schemeClr val="bg1"/>
                    </a:solidFill>
                  </a:rPr>
                  <a:t>Zero-Based Budgeting - ZBB</a:t>
                </a:r>
                <a:endParaRPr lang="zh-CN" altLang="en-US" sz="1050" b="1">
                  <a:solidFill>
                    <a:schemeClr val="bg1"/>
                  </a:solidFill>
                </a:endParaRPr>
              </a:p>
            </p:txBody>
          </p:sp>
        </p:grpSp>
        <p:grpSp>
          <p:nvGrpSpPr>
            <p:cNvPr id="17" name="组合 16">
              <a:extLst>
                <a:ext uri="{FF2B5EF4-FFF2-40B4-BE49-F238E27FC236}">
                  <a16:creationId xmlns:a16="http://schemas.microsoft.com/office/drawing/2014/main" id="{A72BCA19-3DB9-8FFE-9C75-69AA6044B4A9}"/>
                </a:ext>
              </a:extLst>
            </p:cNvPr>
            <p:cNvGrpSpPr/>
            <p:nvPr/>
          </p:nvGrpSpPr>
          <p:grpSpPr>
            <a:xfrm>
              <a:off x="6837504" y="2501200"/>
              <a:ext cx="5789445" cy="3368997"/>
              <a:chOff x="895970" y="2501201"/>
              <a:chExt cx="10889661" cy="3368997"/>
            </a:xfrm>
          </p:grpSpPr>
          <p:sp>
            <p:nvSpPr>
              <p:cNvPr id="18" name="矩形 17">
                <a:extLst>
                  <a:ext uri="{FF2B5EF4-FFF2-40B4-BE49-F238E27FC236}">
                    <a16:creationId xmlns:a16="http://schemas.microsoft.com/office/drawing/2014/main" id="{8F1B4274-49F2-D45D-8B78-9AA5511A33BE}"/>
                  </a:ext>
                </a:extLst>
              </p:cNvPr>
              <p:cNvSpPr/>
              <p:nvPr/>
            </p:nvSpPr>
            <p:spPr>
              <a:xfrm>
                <a:off x="6372177" y="2861757"/>
                <a:ext cx="5413454" cy="3008440"/>
              </a:xfrm>
              <a:prstGeom prst="rect">
                <a:avLst/>
              </a:prstGeom>
              <a:solidFill>
                <a:schemeClr val="bg1"/>
              </a:solid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19" name="矩形 18">
                <a:extLst>
                  <a:ext uri="{FF2B5EF4-FFF2-40B4-BE49-F238E27FC236}">
                    <a16:creationId xmlns:a16="http://schemas.microsoft.com/office/drawing/2014/main" id="{BD7971A9-F81A-7E89-4594-CCE9188F2351}"/>
                  </a:ext>
                </a:extLst>
              </p:cNvPr>
              <p:cNvSpPr/>
              <p:nvPr/>
            </p:nvSpPr>
            <p:spPr>
              <a:xfrm>
                <a:off x="895970" y="2861758"/>
                <a:ext cx="5203655" cy="3008440"/>
              </a:xfrm>
              <a:prstGeom prst="rect">
                <a:avLst/>
              </a:prstGeom>
              <a:solidFill>
                <a:schemeClr val="bg1"/>
              </a:solid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j-ea"/>
                  <a:ea typeface="+mj-ea"/>
                </a:endParaRPr>
              </a:p>
            </p:txBody>
          </p:sp>
          <p:sp>
            <p:nvSpPr>
              <p:cNvPr id="21" name="文本框 20">
                <a:extLst>
                  <a:ext uri="{FF2B5EF4-FFF2-40B4-BE49-F238E27FC236}">
                    <a16:creationId xmlns:a16="http://schemas.microsoft.com/office/drawing/2014/main" id="{AA03A7EA-3B0D-0828-0D39-F16ADB5134BF}"/>
                  </a:ext>
                </a:extLst>
              </p:cNvPr>
              <p:cNvSpPr txBox="1"/>
              <p:nvPr/>
            </p:nvSpPr>
            <p:spPr>
              <a:xfrm>
                <a:off x="6678462" y="3200310"/>
                <a:ext cx="4766948" cy="2492990"/>
              </a:xfrm>
              <a:prstGeom prst="rect">
                <a:avLst/>
              </a:prstGeom>
              <a:noFill/>
            </p:spPr>
            <p:txBody>
              <a:bodyPr wrap="square">
                <a:spAutoFit/>
              </a:bodyPr>
              <a:lstStyle/>
              <a:p>
                <a:r>
                  <a:rPr lang="zh-CN" altLang="en-US" sz="1200" b="1">
                    <a:solidFill>
                      <a:schemeClr val="accent2">
                        <a:lumMod val="75000"/>
                      </a:schemeClr>
                    </a:solidFill>
                  </a:rPr>
                  <a:t>内容： </a:t>
                </a:r>
                <a:r>
                  <a:rPr lang="zh-CN" altLang="en-US" sz="1200"/>
                  <a:t>基于“作业消耗资源，产品消耗作业”的原理，先预测业务量（活动），再根据成本动因来分配资源。</a:t>
                </a:r>
                <a:endParaRPr lang="en-US" altLang="zh-CN" sz="1200"/>
              </a:p>
              <a:p>
                <a:endParaRPr lang="zh-CN" altLang="en-US" sz="1200"/>
              </a:p>
              <a:p>
                <a:r>
                  <a:rPr lang="zh-CN" altLang="en-US" sz="1200" b="1">
                    <a:solidFill>
                      <a:schemeClr val="accent2">
                        <a:lumMod val="75000"/>
                      </a:schemeClr>
                    </a:solidFill>
                  </a:rPr>
                  <a:t>优点： </a:t>
                </a:r>
                <a:r>
                  <a:rPr lang="zh-CN" altLang="en-US" sz="1200"/>
                  <a:t>预算分配更为精确，与业务驱动因素紧密相连。</a:t>
                </a:r>
                <a:endParaRPr lang="en-US" altLang="zh-CN" sz="1200"/>
              </a:p>
              <a:p>
                <a:endParaRPr lang="zh-CN" altLang="en-US" sz="1200"/>
              </a:p>
              <a:p>
                <a:r>
                  <a:rPr lang="zh-CN" altLang="en-US" sz="1200" b="1">
                    <a:solidFill>
                      <a:schemeClr val="accent2">
                        <a:lumMod val="75000"/>
                      </a:schemeClr>
                    </a:solidFill>
                  </a:rPr>
                  <a:t>缺点： </a:t>
                </a:r>
                <a:r>
                  <a:rPr lang="zh-CN" altLang="en-US" sz="1200"/>
                  <a:t>实施复杂，需要完善的管理会计系统支持。</a:t>
                </a:r>
                <a:endParaRPr lang="en-US" altLang="zh-CN" sz="1200"/>
              </a:p>
              <a:p>
                <a:endParaRPr lang="zh-CN" altLang="en-US" sz="1200"/>
              </a:p>
              <a:p>
                <a:r>
                  <a:rPr lang="zh-CN" altLang="en-US" sz="1200">
                    <a:solidFill>
                      <a:schemeClr val="accent2">
                        <a:lumMod val="75000"/>
                      </a:schemeClr>
                    </a:solidFill>
                  </a:rPr>
                  <a:t>应用场景： </a:t>
                </a:r>
                <a:r>
                  <a:rPr lang="zh-CN" altLang="en-US" sz="1200"/>
                  <a:t>运营流程复杂、间接费用占比高的制造业或服务业。</a:t>
                </a:r>
              </a:p>
            </p:txBody>
          </p:sp>
          <p:sp>
            <p:nvSpPr>
              <p:cNvPr id="25" name="箭头: V 形 24">
                <a:extLst>
                  <a:ext uri="{FF2B5EF4-FFF2-40B4-BE49-F238E27FC236}">
                    <a16:creationId xmlns:a16="http://schemas.microsoft.com/office/drawing/2014/main" id="{74867F42-603E-53F3-B17F-44351D8038C0}"/>
                  </a:ext>
                </a:extLst>
              </p:cNvPr>
              <p:cNvSpPr/>
              <p:nvPr/>
            </p:nvSpPr>
            <p:spPr>
              <a:xfrm>
                <a:off x="6303392" y="2501201"/>
                <a:ext cx="5482239" cy="482009"/>
              </a:xfrm>
              <a:prstGeom prst="chevron">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bg1"/>
                  </a:solidFill>
                  <a:latin typeface="+mj-ea"/>
                  <a:ea typeface="+mj-ea"/>
                  <a:cs typeface="思源黑体 CN Bold" panose="020B0800000000000000" charset="-122"/>
                </a:endParaRPr>
              </a:p>
            </p:txBody>
          </p:sp>
          <p:sp>
            <p:nvSpPr>
              <p:cNvPr id="23" name="文本框 22">
                <a:extLst>
                  <a:ext uri="{FF2B5EF4-FFF2-40B4-BE49-F238E27FC236}">
                    <a16:creationId xmlns:a16="http://schemas.microsoft.com/office/drawing/2014/main" id="{60E60958-8776-D739-AFD7-D74E44324D7C}"/>
                  </a:ext>
                </a:extLst>
              </p:cNvPr>
              <p:cNvSpPr txBox="1"/>
              <p:nvPr/>
            </p:nvSpPr>
            <p:spPr>
              <a:xfrm>
                <a:off x="6863187" y="2528256"/>
                <a:ext cx="4075062" cy="469359"/>
              </a:xfrm>
              <a:prstGeom prst="rect">
                <a:avLst/>
              </a:prstGeom>
              <a:noFill/>
            </p:spPr>
            <p:txBody>
              <a:bodyPr wrap="square">
                <a:spAutoFit/>
              </a:bodyPr>
              <a:lstStyle/>
              <a:p>
                <a:pPr algn="ctr"/>
                <a:r>
                  <a:rPr lang="zh-CN" altLang="en-US" sz="1400" b="1" i="0">
                    <a:solidFill>
                      <a:schemeClr val="bg1"/>
                    </a:solidFill>
                    <a:effectLst/>
                    <a:latin typeface="quote-cjk-patch"/>
                  </a:rPr>
                  <a:t>基于活动的预算</a:t>
                </a:r>
                <a:endParaRPr lang="en-US" altLang="zh-CN" sz="1400" b="1" i="0">
                  <a:solidFill>
                    <a:schemeClr val="bg1"/>
                  </a:solidFill>
                  <a:effectLst/>
                  <a:latin typeface="quote-cjk-patch"/>
                </a:endParaRPr>
              </a:p>
              <a:p>
                <a:pPr algn="ctr"/>
                <a:r>
                  <a:rPr lang="en-US" altLang="zh-CN" sz="1050" b="1">
                    <a:solidFill>
                      <a:schemeClr val="bg1"/>
                    </a:solidFill>
                  </a:rPr>
                  <a:t>Activity-Based Budgeting - ABB</a:t>
                </a:r>
                <a:endParaRPr lang="zh-CN" altLang="en-US" sz="900" b="1">
                  <a:solidFill>
                    <a:schemeClr val="bg1"/>
                  </a:solidFill>
                </a:endParaRPr>
              </a:p>
            </p:txBody>
          </p:sp>
        </p:grpSp>
      </p:grpSp>
      <p:sp>
        <p:nvSpPr>
          <p:cNvPr id="28" name="文本框 27">
            <a:extLst>
              <a:ext uri="{FF2B5EF4-FFF2-40B4-BE49-F238E27FC236}">
                <a16:creationId xmlns:a16="http://schemas.microsoft.com/office/drawing/2014/main" id="{D2EF4072-20DC-6011-B08C-6BE71E17D68C}"/>
              </a:ext>
            </a:extLst>
          </p:cNvPr>
          <p:cNvSpPr txBox="1"/>
          <p:nvPr/>
        </p:nvSpPr>
        <p:spPr>
          <a:xfrm>
            <a:off x="6541693" y="2340511"/>
            <a:ext cx="2318738" cy="2667397"/>
          </a:xfrm>
          <a:prstGeom prst="rect">
            <a:avLst/>
          </a:prstGeom>
          <a:noFill/>
        </p:spPr>
        <p:txBody>
          <a:bodyPr wrap="square">
            <a:spAutoFit/>
          </a:bodyPr>
          <a:lstStyle/>
          <a:p>
            <a:pPr algn="l">
              <a:spcBef>
                <a:spcPts val="300"/>
              </a:spcBef>
            </a:pPr>
            <a:r>
              <a:rPr lang="zh-CN" altLang="en-US" sz="1200" b="1">
                <a:solidFill>
                  <a:schemeClr val="accent2">
                    <a:lumMod val="75000"/>
                  </a:schemeClr>
                </a:solidFill>
              </a:rPr>
              <a:t>内容： </a:t>
            </a:r>
            <a:r>
              <a:rPr lang="zh-CN" altLang="en-US" sz="1200" b="0" i="0">
                <a:solidFill>
                  <a:srgbClr val="0F1115"/>
                </a:solidFill>
                <a:effectLst/>
                <a:latin typeface="quote-cjk-patch"/>
              </a:rPr>
              <a:t>不是基于一个固定的业务量，而是根据不同的业务量水平（如</a:t>
            </a:r>
            <a:r>
              <a:rPr lang="en-US" altLang="zh-CN" sz="1200" b="0" i="0">
                <a:solidFill>
                  <a:srgbClr val="0F1115"/>
                </a:solidFill>
                <a:effectLst/>
                <a:latin typeface="quote-cjk-patch"/>
              </a:rPr>
              <a:t>70%, 100%, 120%</a:t>
            </a:r>
            <a:r>
              <a:rPr lang="zh-CN" altLang="en-US" sz="1200" b="0" i="0">
                <a:solidFill>
                  <a:srgbClr val="0F1115"/>
                </a:solidFill>
                <a:effectLst/>
                <a:latin typeface="quote-cjk-patch"/>
              </a:rPr>
              <a:t>的产能利用率）分别编制预算。</a:t>
            </a:r>
            <a:endParaRPr lang="en-US" altLang="zh-CN" sz="1200" b="0" i="0">
              <a:solidFill>
                <a:srgbClr val="0F1115"/>
              </a:solidFill>
              <a:effectLst/>
              <a:latin typeface="quote-cjk-patch"/>
            </a:endParaRPr>
          </a:p>
          <a:p>
            <a:pPr algn="l">
              <a:spcBef>
                <a:spcPts val="300"/>
              </a:spcBef>
            </a:pPr>
            <a:endParaRPr lang="zh-CN" altLang="en-US" sz="1200" b="0" i="0">
              <a:solidFill>
                <a:srgbClr val="0F1115"/>
              </a:solidFill>
              <a:effectLst/>
              <a:latin typeface="quote-cjk-patch"/>
            </a:endParaRPr>
          </a:p>
          <a:p>
            <a:pPr algn="l">
              <a:spcBef>
                <a:spcPts val="450"/>
              </a:spcBef>
            </a:pPr>
            <a:r>
              <a:rPr lang="zh-CN" altLang="en-US" sz="1200" b="1">
                <a:solidFill>
                  <a:schemeClr val="accent2">
                    <a:lumMod val="75000"/>
                  </a:schemeClr>
                </a:solidFill>
              </a:rPr>
              <a:t>优点： </a:t>
            </a:r>
            <a:r>
              <a:rPr lang="zh-CN" altLang="en-US" sz="1200" b="0" i="0">
                <a:solidFill>
                  <a:srgbClr val="0F1115"/>
                </a:solidFill>
                <a:effectLst/>
                <a:latin typeface="quote-cjk-patch"/>
              </a:rPr>
              <a:t>使预算与实际业绩更具有可比性，更适用于业绩评价。</a:t>
            </a:r>
            <a:endParaRPr lang="en-US" altLang="zh-CN" sz="1200" b="0" i="0">
              <a:solidFill>
                <a:srgbClr val="0F1115"/>
              </a:solidFill>
              <a:effectLst/>
              <a:latin typeface="quote-cjk-patch"/>
            </a:endParaRPr>
          </a:p>
          <a:p>
            <a:pPr algn="l">
              <a:spcBef>
                <a:spcPts val="450"/>
              </a:spcBef>
            </a:pPr>
            <a:endParaRPr lang="zh-CN" altLang="en-US" sz="1200" b="0" i="0">
              <a:solidFill>
                <a:srgbClr val="0F1115"/>
              </a:solidFill>
              <a:effectLst/>
              <a:latin typeface="quote-cjk-patch"/>
            </a:endParaRPr>
          </a:p>
          <a:p>
            <a:pPr algn="l">
              <a:spcBef>
                <a:spcPts val="450"/>
              </a:spcBef>
            </a:pPr>
            <a:r>
              <a:rPr lang="zh-CN" altLang="en-US" sz="1200" b="1">
                <a:solidFill>
                  <a:schemeClr val="accent2">
                    <a:lumMod val="75000"/>
                  </a:schemeClr>
                </a:solidFill>
              </a:rPr>
              <a:t>缺点： </a:t>
            </a:r>
            <a:r>
              <a:rPr lang="zh-CN" altLang="en-US" sz="1200" b="0" i="0">
                <a:solidFill>
                  <a:srgbClr val="0F1115"/>
                </a:solidFill>
                <a:effectLst/>
                <a:latin typeface="quote-cjk-patch"/>
              </a:rPr>
              <a:t>编制工作量较大。</a:t>
            </a:r>
            <a:endParaRPr lang="en-US" altLang="zh-CN" sz="1200" b="0" i="0">
              <a:solidFill>
                <a:srgbClr val="0F1115"/>
              </a:solidFill>
              <a:effectLst/>
              <a:latin typeface="quote-cjk-patch"/>
            </a:endParaRPr>
          </a:p>
          <a:p>
            <a:pPr algn="l">
              <a:spcBef>
                <a:spcPts val="450"/>
              </a:spcBef>
            </a:pPr>
            <a:endParaRPr lang="zh-CN" altLang="en-US" sz="1200" b="0" i="0">
              <a:solidFill>
                <a:srgbClr val="0F1115"/>
              </a:solidFill>
              <a:effectLst/>
              <a:latin typeface="quote-cjk-patch"/>
            </a:endParaRPr>
          </a:p>
          <a:p>
            <a:pPr algn="l">
              <a:spcBef>
                <a:spcPts val="450"/>
              </a:spcBef>
            </a:pPr>
            <a:r>
              <a:rPr lang="zh-CN" altLang="en-US" sz="1200" b="1">
                <a:solidFill>
                  <a:schemeClr val="accent2">
                    <a:lumMod val="75000"/>
                  </a:schemeClr>
                </a:solidFill>
              </a:rPr>
              <a:t>应用场景： </a:t>
            </a:r>
            <a:r>
              <a:rPr lang="zh-CN" altLang="en-US" sz="1200" b="0" i="0">
                <a:solidFill>
                  <a:srgbClr val="0F1115"/>
                </a:solidFill>
                <a:effectLst/>
                <a:latin typeface="quote-cjk-patch"/>
              </a:rPr>
              <a:t>生产成本预算、变动费用预算。</a:t>
            </a:r>
          </a:p>
        </p:txBody>
      </p:sp>
      <p:sp>
        <p:nvSpPr>
          <p:cNvPr id="29" name="箭头: V 形 28">
            <a:extLst>
              <a:ext uri="{FF2B5EF4-FFF2-40B4-BE49-F238E27FC236}">
                <a16:creationId xmlns:a16="http://schemas.microsoft.com/office/drawing/2014/main" id="{B5C13803-D8EE-9C2E-DA23-04B34ABFB0D4}"/>
              </a:ext>
            </a:extLst>
          </p:cNvPr>
          <p:cNvSpPr/>
          <p:nvPr/>
        </p:nvSpPr>
        <p:spPr>
          <a:xfrm>
            <a:off x="6422278" y="1678699"/>
            <a:ext cx="2695780" cy="536570"/>
          </a:xfrm>
          <a:prstGeom prst="chevron">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a:solidFill>
                  <a:schemeClr val="bg1"/>
                </a:solidFill>
                <a:latin typeface="+mj-ea"/>
                <a:ea typeface="+mj-ea"/>
                <a:cs typeface="思源黑体 CN Bold" panose="020B0800000000000000" charset="-122"/>
              </a:rPr>
              <a:t>弹性预算法</a:t>
            </a:r>
            <a:endParaRPr lang="en-US" altLang="zh-CN" sz="1400" b="1">
              <a:solidFill>
                <a:schemeClr val="bg1"/>
              </a:solidFill>
              <a:latin typeface="+mj-ea"/>
              <a:ea typeface="+mj-ea"/>
              <a:cs typeface="思源黑体 CN Bold" panose="020B0800000000000000" charset="-122"/>
            </a:endParaRPr>
          </a:p>
          <a:p>
            <a:pPr algn="ctr"/>
            <a:r>
              <a:rPr lang="en-US" altLang="zh-CN" sz="1200" b="1"/>
              <a:t>Flexible Budgeting</a:t>
            </a:r>
            <a:endParaRPr lang="zh-CN" altLang="en-US" sz="1050" b="1" dirty="0">
              <a:solidFill>
                <a:schemeClr val="bg1"/>
              </a:solidFill>
              <a:latin typeface="+mj-ea"/>
              <a:ea typeface="+mj-ea"/>
              <a:cs typeface="思源黑体 CN Bold" panose="020B0800000000000000" charset="-122"/>
            </a:endParaRPr>
          </a:p>
        </p:txBody>
      </p:sp>
      <p:sp>
        <p:nvSpPr>
          <p:cNvPr id="31" name="文本框 30">
            <a:extLst>
              <a:ext uri="{FF2B5EF4-FFF2-40B4-BE49-F238E27FC236}">
                <a16:creationId xmlns:a16="http://schemas.microsoft.com/office/drawing/2014/main" id="{7FEA0510-40E7-52C9-9182-27AE335EC43C}"/>
              </a:ext>
            </a:extLst>
          </p:cNvPr>
          <p:cNvSpPr txBox="1"/>
          <p:nvPr/>
        </p:nvSpPr>
        <p:spPr>
          <a:xfrm>
            <a:off x="6541693" y="4966127"/>
            <a:ext cx="2379294" cy="276999"/>
          </a:xfrm>
          <a:prstGeom prst="rect">
            <a:avLst/>
          </a:prstGeom>
          <a:noFill/>
        </p:spPr>
        <p:txBody>
          <a:bodyPr wrap="square">
            <a:spAutoFit/>
          </a:bodyPr>
          <a:lstStyle/>
          <a:p>
            <a:r>
              <a:rPr lang="zh-CN" altLang="en-US" sz="1200" b="1">
                <a:solidFill>
                  <a:schemeClr val="accent3"/>
                </a:solidFill>
              </a:rPr>
              <a:t>成本预算采用了弹性预算原理</a:t>
            </a:r>
            <a:endParaRPr lang="zh-CN" altLang="en-US" sz="1000">
              <a:solidFill>
                <a:schemeClr val="accent3"/>
              </a:solidFill>
            </a:endParaRPr>
          </a:p>
        </p:txBody>
      </p:sp>
      <p:sp>
        <p:nvSpPr>
          <p:cNvPr id="33" name="文本框 32">
            <a:extLst>
              <a:ext uri="{FF2B5EF4-FFF2-40B4-BE49-F238E27FC236}">
                <a16:creationId xmlns:a16="http://schemas.microsoft.com/office/drawing/2014/main" id="{EC55C031-7396-BE54-948A-431A1569A1C6}"/>
              </a:ext>
            </a:extLst>
          </p:cNvPr>
          <p:cNvSpPr txBox="1"/>
          <p:nvPr/>
        </p:nvSpPr>
        <p:spPr>
          <a:xfrm>
            <a:off x="9393326" y="916409"/>
            <a:ext cx="2614518" cy="369332"/>
          </a:xfrm>
          <a:prstGeom prst="rect">
            <a:avLst/>
          </a:prstGeom>
          <a:noFill/>
        </p:spPr>
        <p:txBody>
          <a:bodyPr wrap="square">
            <a:spAutoFit/>
          </a:bodyPr>
          <a:lstStyle/>
          <a:p>
            <a:r>
              <a:rPr lang="zh-CN" altLang="en-US" b="1" i="0">
                <a:solidFill>
                  <a:schemeClr val="accent2">
                    <a:lumMod val="75000"/>
                  </a:schemeClr>
                </a:solidFill>
                <a:effectLst/>
                <a:latin typeface="quote-cjk-patch"/>
              </a:rPr>
              <a:t>科学编制，精准预测</a:t>
            </a:r>
            <a:endParaRPr lang="zh-CN" altLang="en-US" b="1">
              <a:solidFill>
                <a:schemeClr val="accent2">
                  <a:lumMod val="75000"/>
                </a:schemeClr>
              </a:solidFill>
            </a:endParaRPr>
          </a:p>
        </p:txBody>
      </p:sp>
      <p:sp>
        <p:nvSpPr>
          <p:cNvPr id="35" name="文本框 34">
            <a:extLst>
              <a:ext uri="{FF2B5EF4-FFF2-40B4-BE49-F238E27FC236}">
                <a16:creationId xmlns:a16="http://schemas.microsoft.com/office/drawing/2014/main" id="{B65811F8-952C-E392-9072-0B8AE5478DE8}"/>
              </a:ext>
            </a:extLst>
          </p:cNvPr>
          <p:cNvSpPr txBox="1"/>
          <p:nvPr/>
        </p:nvSpPr>
        <p:spPr>
          <a:xfrm>
            <a:off x="522610" y="5572826"/>
            <a:ext cx="11300363" cy="1023357"/>
          </a:xfrm>
          <a:prstGeom prst="rect">
            <a:avLst/>
          </a:prstGeom>
          <a:noFill/>
        </p:spPr>
        <p:txBody>
          <a:bodyPr wrap="square">
            <a:spAutoFit/>
          </a:bodyPr>
          <a:lstStyle/>
          <a:p>
            <a:pPr algn="l">
              <a:spcBef>
                <a:spcPts val="300"/>
              </a:spcBef>
            </a:pPr>
            <a:r>
              <a:rPr lang="zh-CN" altLang="en-US" sz="1200" b="0" i="0">
                <a:solidFill>
                  <a:srgbClr val="0F1115"/>
                </a:solidFill>
                <a:effectLst/>
                <a:latin typeface="quote-cjk-patch"/>
              </a:rPr>
              <a:t>本次预算编制我们采用了</a:t>
            </a:r>
            <a:r>
              <a:rPr lang="zh-CN" altLang="en-US" sz="1200" b="1" i="0">
                <a:solidFill>
                  <a:srgbClr val="0F1115"/>
                </a:solidFill>
                <a:effectLst/>
                <a:latin typeface="quote-cjk-patch"/>
              </a:rPr>
              <a:t>组合方法</a:t>
            </a:r>
            <a:r>
              <a:rPr lang="zh-CN" altLang="en-US" sz="1200" b="0" i="0">
                <a:solidFill>
                  <a:srgbClr val="0F1115"/>
                </a:solidFill>
                <a:effectLst/>
                <a:latin typeface="quote-cjk-patch"/>
              </a:rPr>
              <a:t>：</a:t>
            </a:r>
          </a:p>
          <a:p>
            <a:pPr marL="171450" indent="-171450" algn="l">
              <a:spcBef>
                <a:spcPts val="450"/>
              </a:spcBef>
              <a:buFont typeface="Arial" panose="020B0604020202020204" pitchFamily="34" charset="0"/>
              <a:buChar char="•"/>
            </a:pPr>
            <a:r>
              <a:rPr lang="zh-CN" altLang="en-US" sz="1200" b="1" i="0">
                <a:solidFill>
                  <a:srgbClr val="0F1115"/>
                </a:solidFill>
                <a:effectLst/>
                <a:latin typeface="quote-cjk-patch"/>
              </a:rPr>
              <a:t>对于市场与研发费用，我们推行零基预算法</a:t>
            </a:r>
            <a:r>
              <a:rPr lang="en-US" altLang="zh-CN" sz="1200" b="1" i="0">
                <a:solidFill>
                  <a:srgbClr val="0F1115"/>
                </a:solidFill>
                <a:effectLst/>
                <a:latin typeface="quote-cjk-patch"/>
              </a:rPr>
              <a:t>(ZBB)</a:t>
            </a:r>
            <a:r>
              <a:rPr lang="zh-CN" altLang="en-US" sz="1200" b="0" i="0">
                <a:solidFill>
                  <a:srgbClr val="0F1115"/>
                </a:solidFill>
                <a:effectLst/>
                <a:latin typeface="quote-cjk-patch"/>
              </a:rPr>
              <a:t>，确保每一笔投入都指向明确的战略产出。</a:t>
            </a:r>
          </a:p>
          <a:p>
            <a:pPr marL="171450" indent="-171450" algn="l">
              <a:spcBef>
                <a:spcPts val="450"/>
              </a:spcBef>
              <a:buFont typeface="Arial" panose="020B0604020202020204" pitchFamily="34" charset="0"/>
              <a:buChar char="•"/>
            </a:pPr>
            <a:r>
              <a:rPr lang="zh-CN" altLang="en-US" sz="1200" b="1" i="0">
                <a:solidFill>
                  <a:srgbClr val="0F1115"/>
                </a:solidFill>
                <a:effectLst/>
                <a:latin typeface="quote-cjk-patch"/>
              </a:rPr>
              <a:t>对于生产成本，我们采用弹性预算法</a:t>
            </a:r>
            <a:r>
              <a:rPr lang="zh-CN" altLang="en-US" sz="1200" b="0" i="0">
                <a:solidFill>
                  <a:srgbClr val="0F1115"/>
                </a:solidFill>
                <a:effectLst/>
                <a:latin typeface="quote-cjk-patch"/>
              </a:rPr>
              <a:t>，以应对市场需求的波动。</a:t>
            </a:r>
          </a:p>
          <a:p>
            <a:pPr marL="171450" indent="-171450" algn="l">
              <a:spcBef>
                <a:spcPts val="450"/>
              </a:spcBef>
              <a:buFont typeface="Arial" panose="020B0604020202020204" pitchFamily="34" charset="0"/>
              <a:buChar char="•"/>
            </a:pPr>
            <a:r>
              <a:rPr lang="zh-CN" altLang="en-US" sz="1200" b="1" i="0">
                <a:solidFill>
                  <a:srgbClr val="0F1115"/>
                </a:solidFill>
                <a:effectLst/>
                <a:latin typeface="quote-cjk-patch"/>
              </a:rPr>
              <a:t>总体框架以增量预算为基础</a:t>
            </a:r>
            <a:r>
              <a:rPr lang="zh-CN" altLang="en-US" sz="1200" b="0" i="0">
                <a:solidFill>
                  <a:srgbClr val="0F1115"/>
                </a:solidFill>
                <a:effectLst/>
                <a:latin typeface="quote-cjk-patch"/>
              </a:rPr>
              <a:t>，但通过</a:t>
            </a:r>
            <a:r>
              <a:rPr lang="en-US" altLang="zh-CN" sz="1200" b="0" i="0">
                <a:solidFill>
                  <a:srgbClr val="0F1115"/>
                </a:solidFill>
                <a:effectLst/>
                <a:latin typeface="quote-cjk-patch"/>
              </a:rPr>
              <a:t>ZBB</a:t>
            </a:r>
            <a:r>
              <a:rPr lang="zh-CN" altLang="en-US" sz="1200" b="0" i="0">
                <a:solidFill>
                  <a:srgbClr val="0F1115"/>
                </a:solidFill>
                <a:effectLst/>
                <a:latin typeface="quote-cjk-patch"/>
              </a:rPr>
              <a:t>和</a:t>
            </a:r>
            <a:r>
              <a:rPr lang="en-US" altLang="zh-CN" sz="1200" b="0" i="0">
                <a:solidFill>
                  <a:srgbClr val="0F1115"/>
                </a:solidFill>
                <a:effectLst/>
                <a:latin typeface="quote-cjk-patch"/>
              </a:rPr>
              <a:t>ABB</a:t>
            </a:r>
            <a:r>
              <a:rPr lang="zh-CN" altLang="en-US" sz="1200" b="0" i="0">
                <a:solidFill>
                  <a:srgbClr val="0F1115"/>
                </a:solidFill>
                <a:effectLst/>
                <a:latin typeface="quote-cjk-patch"/>
              </a:rPr>
              <a:t>方法对关键项目进行深度审视和优化。</a:t>
            </a:r>
          </a:p>
        </p:txBody>
      </p:sp>
    </p:spTree>
    <p:extLst>
      <p:ext uri="{BB962C8B-B14F-4D97-AF65-F5344CB8AC3E}">
        <p14:creationId xmlns:p14="http://schemas.microsoft.com/office/powerpoint/2010/main" val="2538741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任意形状 242">
            <a:extLst>
              <a:ext uri="{FF2B5EF4-FFF2-40B4-BE49-F238E27FC236}">
                <a16:creationId xmlns:a16="http://schemas.microsoft.com/office/drawing/2014/main" id="{C672E9C5-B5DD-41B2-87BD-9724B8EEABF7}"/>
              </a:ext>
            </a:extLst>
          </p:cNvPr>
          <p:cNvSpPr/>
          <p:nvPr/>
        </p:nvSpPr>
        <p:spPr>
          <a:xfrm flipV="1">
            <a:off x="4539944" y="2159363"/>
            <a:ext cx="4152951" cy="567603"/>
          </a:xfrm>
          <a:custGeom>
            <a:avLst/>
            <a:gdLst>
              <a:gd name="connsiteX0" fmla="*/ 0 w 2691410"/>
              <a:gd name="connsiteY0" fmla="*/ 1108704 h 1108704"/>
              <a:gd name="connsiteX1" fmla="*/ 1275110 w 2691410"/>
              <a:gd name="connsiteY1" fmla="*/ 1108704 h 1108704"/>
              <a:gd name="connsiteX2" fmla="*/ 1345704 w 2691410"/>
              <a:gd name="connsiteY2" fmla="*/ 1037806 h 1108704"/>
              <a:gd name="connsiteX3" fmla="*/ 1416298 w 2691410"/>
              <a:gd name="connsiteY3" fmla="*/ 1108704 h 1108704"/>
              <a:gd name="connsiteX4" fmla="*/ 2691410 w 2691410"/>
              <a:gd name="connsiteY4" fmla="*/ 1108704 h 1108704"/>
              <a:gd name="connsiteX5" fmla="*/ 2691410 w 2691410"/>
              <a:gd name="connsiteY5" fmla="*/ 0 h 1108704"/>
              <a:gd name="connsiteX6" fmla="*/ 0 w 2691410"/>
              <a:gd name="connsiteY6" fmla="*/ 0 h 1108704"/>
              <a:gd name="connsiteX7" fmla="*/ 0 w 2691410"/>
              <a:gd name="connsiteY7" fmla="*/ 1108704 h 11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1410" h="1108704">
                <a:moveTo>
                  <a:pt x="0" y="1108704"/>
                </a:moveTo>
                <a:lnTo>
                  <a:pt x="1275110" y="1108704"/>
                </a:lnTo>
                <a:lnTo>
                  <a:pt x="1345704" y="1037806"/>
                </a:lnTo>
                <a:lnTo>
                  <a:pt x="1416298" y="1108704"/>
                </a:lnTo>
                <a:lnTo>
                  <a:pt x="2691410" y="1108704"/>
                </a:lnTo>
                <a:lnTo>
                  <a:pt x="2691410" y="0"/>
                </a:lnTo>
                <a:lnTo>
                  <a:pt x="0" y="0"/>
                </a:lnTo>
                <a:lnTo>
                  <a:pt x="0" y="110870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p>
        </p:txBody>
      </p:sp>
      <p:sp>
        <p:nvSpPr>
          <p:cNvPr id="52" name="任意形状 236">
            <a:extLst>
              <a:ext uri="{FF2B5EF4-FFF2-40B4-BE49-F238E27FC236}">
                <a16:creationId xmlns:a16="http://schemas.microsoft.com/office/drawing/2014/main" id="{A8819666-1863-4FDE-A3AA-38A24910D848}"/>
              </a:ext>
            </a:extLst>
          </p:cNvPr>
          <p:cNvSpPr/>
          <p:nvPr/>
        </p:nvSpPr>
        <p:spPr>
          <a:xfrm flipV="1">
            <a:off x="582404" y="2159366"/>
            <a:ext cx="3881442" cy="543667"/>
          </a:xfrm>
          <a:custGeom>
            <a:avLst/>
            <a:gdLst>
              <a:gd name="connsiteX0" fmla="*/ 0 w 2691410"/>
              <a:gd name="connsiteY0" fmla="*/ 1108704 h 1108704"/>
              <a:gd name="connsiteX1" fmla="*/ 1275110 w 2691410"/>
              <a:gd name="connsiteY1" fmla="*/ 1108704 h 1108704"/>
              <a:gd name="connsiteX2" fmla="*/ 1345704 w 2691410"/>
              <a:gd name="connsiteY2" fmla="*/ 1037806 h 1108704"/>
              <a:gd name="connsiteX3" fmla="*/ 1416298 w 2691410"/>
              <a:gd name="connsiteY3" fmla="*/ 1108704 h 1108704"/>
              <a:gd name="connsiteX4" fmla="*/ 2691410 w 2691410"/>
              <a:gd name="connsiteY4" fmla="*/ 1108704 h 1108704"/>
              <a:gd name="connsiteX5" fmla="*/ 2691410 w 2691410"/>
              <a:gd name="connsiteY5" fmla="*/ 0 h 1108704"/>
              <a:gd name="connsiteX6" fmla="*/ 0 w 2691410"/>
              <a:gd name="connsiteY6" fmla="*/ 0 h 1108704"/>
              <a:gd name="connsiteX7" fmla="*/ 0 w 2691410"/>
              <a:gd name="connsiteY7" fmla="*/ 1108704 h 11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1410" h="1108704">
                <a:moveTo>
                  <a:pt x="0" y="1108704"/>
                </a:moveTo>
                <a:lnTo>
                  <a:pt x="1275110" y="1108704"/>
                </a:lnTo>
                <a:lnTo>
                  <a:pt x="1345704" y="1037806"/>
                </a:lnTo>
                <a:lnTo>
                  <a:pt x="1416298" y="1108704"/>
                </a:lnTo>
                <a:lnTo>
                  <a:pt x="2691410" y="1108704"/>
                </a:lnTo>
                <a:lnTo>
                  <a:pt x="2691410" y="0"/>
                </a:lnTo>
                <a:lnTo>
                  <a:pt x="0" y="0"/>
                </a:lnTo>
                <a:lnTo>
                  <a:pt x="0" y="1108704"/>
                </a:lnTo>
                <a:close/>
              </a:path>
            </a:pathLst>
          </a:custGeom>
          <a:solidFill>
            <a:srgbClr val="143268"/>
          </a:solidFill>
          <a:ln w="12700" cap="flat" cmpd="sng" algn="ctr">
            <a:noFill/>
            <a:prstDash val="dash"/>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OPPOSans B" pitchFamily="18" charset="-122"/>
              <a:ea typeface="OPPOSans B" pitchFamily="18" charset="-122"/>
              <a:cs typeface="OPPOSans B" pitchFamily="18" charset="-122"/>
            </a:endParaRPr>
          </a:p>
        </p:txBody>
      </p:sp>
      <p:sp>
        <p:nvSpPr>
          <p:cNvPr id="49" name="右箭头 24">
            <a:extLst>
              <a:ext uri="{FF2B5EF4-FFF2-40B4-BE49-F238E27FC236}">
                <a16:creationId xmlns:a16="http://schemas.microsoft.com/office/drawing/2014/main" id="{F7E9A6ED-870E-459F-B7A9-E77023A9B1FA}"/>
              </a:ext>
            </a:extLst>
          </p:cNvPr>
          <p:cNvSpPr/>
          <p:nvPr/>
        </p:nvSpPr>
        <p:spPr>
          <a:xfrm rot="16200000">
            <a:off x="7084870" y="3685231"/>
            <a:ext cx="3062970" cy="1160657"/>
          </a:xfrm>
          <a:prstGeom prst="rightArrow">
            <a:avLst>
              <a:gd name="adj1" fmla="val 66490"/>
              <a:gd name="adj2" fmla="val 63054"/>
            </a:avLst>
          </a:prstGeom>
          <a:solidFill>
            <a:srgbClr val="61C2BB"/>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90204"/>
              <a:ea typeface="思源黑体 CN Light"/>
              <a:cs typeface="+mn-cs"/>
            </a:endParaRPr>
          </a:p>
        </p:txBody>
      </p:sp>
      <p:sp>
        <p:nvSpPr>
          <p:cNvPr id="50" name="矩形 49">
            <a:extLst>
              <a:ext uri="{FF2B5EF4-FFF2-40B4-BE49-F238E27FC236}">
                <a16:creationId xmlns:a16="http://schemas.microsoft.com/office/drawing/2014/main" id="{EC710B2D-F35F-41C1-83C6-6D862E3EB76F}"/>
              </a:ext>
            </a:extLst>
          </p:cNvPr>
          <p:cNvSpPr/>
          <p:nvPr/>
        </p:nvSpPr>
        <p:spPr>
          <a:xfrm>
            <a:off x="4539944" y="2750902"/>
            <a:ext cx="4152952" cy="30461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313131"/>
              </a:solidFill>
              <a:effectLst/>
              <a:uLnTx/>
              <a:uFillTx/>
              <a:latin typeface="等线"/>
              <a:ea typeface="等线" panose="02010600030101010101" pitchFamily="2" charset="-122"/>
              <a:cs typeface="+mn-cs"/>
            </a:endParaRPr>
          </a:p>
        </p:txBody>
      </p:sp>
      <p:sp>
        <p:nvSpPr>
          <p:cNvPr id="46" name="右箭头 24">
            <a:extLst>
              <a:ext uri="{FF2B5EF4-FFF2-40B4-BE49-F238E27FC236}">
                <a16:creationId xmlns:a16="http://schemas.microsoft.com/office/drawing/2014/main" id="{CFD0724B-FC76-4C16-9734-D3AB93D02E1A}"/>
              </a:ext>
            </a:extLst>
          </p:cNvPr>
          <p:cNvSpPr/>
          <p:nvPr/>
        </p:nvSpPr>
        <p:spPr>
          <a:xfrm rot="5400000">
            <a:off x="-572728" y="3701843"/>
            <a:ext cx="3053250" cy="1160657"/>
          </a:xfrm>
          <a:prstGeom prst="rightArrow">
            <a:avLst>
              <a:gd name="adj1" fmla="val 66490"/>
              <a:gd name="adj2" fmla="val 63054"/>
            </a:avLst>
          </a:prstGeom>
          <a:solidFill>
            <a:srgbClr val="143268"/>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panose="020B0604020202090204"/>
              <a:ea typeface="思源黑体 CN Light"/>
              <a:cs typeface="+mn-cs"/>
            </a:endParaRPr>
          </a:p>
        </p:txBody>
      </p:sp>
      <p:sp>
        <p:nvSpPr>
          <p:cNvPr id="48" name="矩形 47">
            <a:extLst>
              <a:ext uri="{FF2B5EF4-FFF2-40B4-BE49-F238E27FC236}">
                <a16:creationId xmlns:a16="http://schemas.microsoft.com/office/drawing/2014/main" id="{9350367C-EC1C-43D8-8F1C-71053208ECD4}"/>
              </a:ext>
            </a:extLst>
          </p:cNvPr>
          <p:cNvSpPr/>
          <p:nvPr/>
        </p:nvSpPr>
        <p:spPr>
          <a:xfrm>
            <a:off x="923644" y="2750784"/>
            <a:ext cx="3540202" cy="305324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313131"/>
              </a:solidFill>
              <a:effectLst/>
              <a:uLnTx/>
              <a:uFillTx/>
              <a:latin typeface="等线"/>
              <a:ea typeface="等线" panose="02010600030101010101" pitchFamily="2" charset="-122"/>
              <a:cs typeface="+mn-cs"/>
            </a:endParaRPr>
          </a:p>
        </p:txBody>
      </p:sp>
      <p:sp>
        <p:nvSpPr>
          <p:cNvPr id="2" name="文本框 1">
            <a:extLst>
              <a:ext uri="{FF2B5EF4-FFF2-40B4-BE49-F238E27FC236}">
                <a16:creationId xmlns:a16="http://schemas.microsoft.com/office/drawing/2014/main" id="{3E570E38-6D04-4338-A98F-F34441B6E8F6}"/>
              </a:ext>
            </a:extLst>
          </p:cNvPr>
          <p:cNvSpPr txBox="1"/>
          <p:nvPr/>
        </p:nvSpPr>
        <p:spPr>
          <a:xfrm>
            <a:off x="373569" y="185649"/>
            <a:ext cx="5583806" cy="480131"/>
          </a:xfrm>
          <a:prstGeom prst="rect">
            <a:avLst/>
          </a:prstGeom>
          <a:noFill/>
        </p:spPr>
        <p:txBody>
          <a:bodyPr wrap="square" rtlCol="0">
            <a:spAutoFit/>
          </a:bodyPr>
          <a:lstStyle/>
          <a:p>
            <a:pPr>
              <a:lnSpc>
                <a:spcPct val="90000"/>
              </a:lnSpc>
              <a:spcBef>
                <a:spcPct val="0"/>
              </a:spcBef>
            </a:pPr>
            <a:r>
              <a:rPr lang="zh-CN" altLang="en-US" sz="2800" b="1" dirty="0">
                <a:solidFill>
                  <a:schemeClr val="tx2"/>
                </a:solidFill>
                <a:latin typeface="微软雅黑" panose="020B0503020204020204" pitchFamily="34" charset="-122"/>
                <a:ea typeface="微软雅黑" panose="020B0503020204020204" pitchFamily="34" charset="-122"/>
              </a:rPr>
              <a:t>预算模式的选择</a:t>
            </a:r>
          </a:p>
        </p:txBody>
      </p:sp>
      <p:sp>
        <p:nvSpPr>
          <p:cNvPr id="6" name="文本框 5">
            <a:extLst>
              <a:ext uri="{FF2B5EF4-FFF2-40B4-BE49-F238E27FC236}">
                <a16:creationId xmlns:a16="http://schemas.microsoft.com/office/drawing/2014/main" id="{C01C0A8C-384E-4A6E-9CDC-5EB32E860C15}"/>
              </a:ext>
            </a:extLst>
          </p:cNvPr>
          <p:cNvSpPr txBox="1"/>
          <p:nvPr/>
        </p:nvSpPr>
        <p:spPr>
          <a:xfrm>
            <a:off x="1534226" y="2790517"/>
            <a:ext cx="2665252" cy="2123658"/>
          </a:xfrm>
          <a:prstGeom prst="rect">
            <a:avLst/>
          </a:prstGeom>
          <a:noFill/>
        </p:spPr>
        <p:txBody>
          <a:bodyPr wrap="square" rtlCol="0">
            <a:spAutoFit/>
          </a:bodyPr>
          <a:lstStyle/>
          <a:p>
            <a:endParaRPr lang="en-US" altLang="zh-CN" dirty="0"/>
          </a:p>
          <a:p>
            <a:endParaRPr lang="en-US" altLang="zh-CN" dirty="0"/>
          </a:p>
          <a:p>
            <a:r>
              <a:rPr lang="zh-CN" altLang="en-US" sz="1600" b="1" dirty="0">
                <a:solidFill>
                  <a:srgbClr val="44546A"/>
                </a:solidFill>
                <a:latin typeface="+mj-ea"/>
                <a:ea typeface="+mj-ea"/>
              </a:rPr>
              <a:t>集团下达两个关键预算指标：</a:t>
            </a:r>
            <a:endParaRPr lang="en-US" altLang="zh-CN" sz="1600" b="1" dirty="0">
              <a:solidFill>
                <a:srgbClr val="44546A"/>
              </a:solidFill>
              <a:latin typeface="+mj-ea"/>
              <a:ea typeface="+mj-ea"/>
            </a:endParaRPr>
          </a:p>
          <a:p>
            <a:endParaRPr lang="en-US" altLang="zh-CN" sz="1600" b="1" dirty="0">
              <a:solidFill>
                <a:srgbClr val="44546A"/>
              </a:solidFill>
              <a:latin typeface="+mj-ea"/>
              <a:ea typeface="+mj-ea"/>
            </a:endParaRPr>
          </a:p>
          <a:p>
            <a:endParaRPr lang="en-US" altLang="zh-CN" sz="1600" b="1" dirty="0">
              <a:solidFill>
                <a:srgbClr val="44546A"/>
              </a:solidFill>
              <a:latin typeface="+mj-ea"/>
              <a:ea typeface="+mj-ea"/>
            </a:endParaRPr>
          </a:p>
          <a:p>
            <a:r>
              <a:rPr lang="zh-CN" altLang="en-US" sz="1600" b="1" dirty="0">
                <a:solidFill>
                  <a:srgbClr val="44546A"/>
                </a:solidFill>
                <a:latin typeface="+mj-ea"/>
                <a:ea typeface="+mj-ea"/>
              </a:rPr>
              <a:t>财务掌握更完整的数据</a:t>
            </a:r>
            <a:endParaRPr lang="en-US" altLang="zh-CN" sz="1600" b="1" dirty="0">
              <a:solidFill>
                <a:srgbClr val="44546A"/>
              </a:solidFill>
              <a:latin typeface="+mj-ea"/>
              <a:ea typeface="+mj-ea"/>
            </a:endParaRPr>
          </a:p>
          <a:p>
            <a:endParaRPr lang="en-US" altLang="zh-CN" sz="1600" b="1" dirty="0">
              <a:solidFill>
                <a:srgbClr val="44546A"/>
              </a:solidFill>
              <a:latin typeface="+mj-ea"/>
              <a:ea typeface="+mj-ea"/>
            </a:endParaRPr>
          </a:p>
          <a:p>
            <a:r>
              <a:rPr lang="zh-CN" altLang="en-US" sz="1600" b="1" dirty="0">
                <a:solidFill>
                  <a:srgbClr val="44546A"/>
                </a:solidFill>
                <a:latin typeface="+mj-ea"/>
                <a:ea typeface="+mj-ea"/>
              </a:rPr>
              <a:t>通过质询沟通最终确定</a:t>
            </a:r>
            <a:endParaRPr lang="en-US" altLang="zh-CN" b="1" dirty="0">
              <a:solidFill>
                <a:srgbClr val="44546A"/>
              </a:solidFill>
              <a:latin typeface="+mj-ea"/>
              <a:ea typeface="+mj-ea"/>
            </a:endParaRPr>
          </a:p>
        </p:txBody>
      </p:sp>
      <p:sp>
        <p:nvSpPr>
          <p:cNvPr id="7" name="文本框 6">
            <a:extLst>
              <a:ext uri="{FF2B5EF4-FFF2-40B4-BE49-F238E27FC236}">
                <a16:creationId xmlns:a16="http://schemas.microsoft.com/office/drawing/2014/main" id="{2FF1FD14-8CBE-480E-AC96-0CE6CCD3F471}"/>
              </a:ext>
            </a:extLst>
          </p:cNvPr>
          <p:cNvSpPr txBox="1"/>
          <p:nvPr/>
        </p:nvSpPr>
        <p:spPr>
          <a:xfrm>
            <a:off x="4702630" y="2901367"/>
            <a:ext cx="3851958" cy="1877437"/>
          </a:xfrm>
          <a:prstGeom prst="rect">
            <a:avLst/>
          </a:prstGeom>
          <a:noFill/>
        </p:spPr>
        <p:txBody>
          <a:bodyPr wrap="square" rtlCol="0">
            <a:spAutoFit/>
          </a:bodyPr>
          <a:lstStyle/>
          <a:p>
            <a:endParaRPr lang="en-US" altLang="zh-CN" dirty="0"/>
          </a:p>
          <a:p>
            <a:endParaRPr lang="en-US" altLang="zh-CN" dirty="0"/>
          </a:p>
          <a:p>
            <a:r>
              <a:rPr lang="zh-CN" altLang="en-US" sz="1600" b="1" dirty="0">
                <a:solidFill>
                  <a:srgbClr val="44546A"/>
                </a:solidFill>
                <a:latin typeface="+mj-ea"/>
                <a:ea typeface="+mj-ea"/>
              </a:rPr>
              <a:t>新的业务</a:t>
            </a:r>
            <a:r>
              <a:rPr lang="zh-CN" altLang="en-US" sz="1600" b="1" dirty="0">
                <a:solidFill>
                  <a:schemeClr val="accent2">
                    <a:lumMod val="75000"/>
                  </a:schemeClr>
                </a:solidFill>
                <a:latin typeface="+mj-ea"/>
                <a:ea typeface="+mj-ea"/>
              </a:rPr>
              <a:t>缺</a:t>
            </a:r>
            <a:r>
              <a:rPr lang="zh-CN" altLang="en-US" sz="1600" b="1" dirty="0">
                <a:solidFill>
                  <a:srgbClr val="44546A"/>
                </a:solidFill>
                <a:latin typeface="+mj-ea"/>
                <a:ea typeface="+mj-ea"/>
              </a:rPr>
              <a:t>少详实的</a:t>
            </a:r>
            <a:r>
              <a:rPr lang="zh-CN" altLang="en-US" sz="1600" b="1" dirty="0">
                <a:solidFill>
                  <a:schemeClr val="accent2">
                    <a:lumMod val="75000"/>
                  </a:schemeClr>
                </a:solidFill>
                <a:latin typeface="+mj-ea"/>
                <a:ea typeface="+mj-ea"/>
              </a:rPr>
              <a:t>历史数据</a:t>
            </a:r>
            <a:r>
              <a:rPr lang="zh-CN" altLang="en-US" sz="1600" b="1" dirty="0">
                <a:solidFill>
                  <a:srgbClr val="44546A"/>
                </a:solidFill>
                <a:latin typeface="+mj-ea"/>
                <a:ea typeface="+mj-ea"/>
              </a:rPr>
              <a:t>信息</a:t>
            </a:r>
            <a:endParaRPr lang="en-US" altLang="zh-CN" sz="1600" b="1" dirty="0">
              <a:solidFill>
                <a:srgbClr val="44546A"/>
              </a:solidFill>
              <a:latin typeface="+mj-ea"/>
              <a:ea typeface="+mj-ea"/>
            </a:endParaRPr>
          </a:p>
          <a:p>
            <a:endParaRPr lang="en-US" altLang="zh-CN" sz="1600" b="1" dirty="0">
              <a:solidFill>
                <a:srgbClr val="44546A"/>
              </a:solidFill>
              <a:latin typeface="+mj-ea"/>
              <a:ea typeface="+mj-ea"/>
            </a:endParaRPr>
          </a:p>
          <a:p>
            <a:r>
              <a:rPr lang="zh-CN" altLang="en-US" sz="1600" b="1" dirty="0">
                <a:solidFill>
                  <a:srgbClr val="44546A"/>
                </a:solidFill>
                <a:latin typeface="+mj-ea"/>
                <a:ea typeface="+mj-ea"/>
              </a:rPr>
              <a:t>集团给予相对灵活的浮动区间</a:t>
            </a:r>
            <a:endParaRPr lang="en-US" altLang="zh-CN" sz="1600" b="1" dirty="0">
              <a:solidFill>
                <a:srgbClr val="44546A"/>
              </a:solidFill>
              <a:latin typeface="+mj-ea"/>
              <a:ea typeface="+mj-ea"/>
            </a:endParaRPr>
          </a:p>
          <a:p>
            <a:endParaRPr lang="en-US" altLang="zh-CN" sz="1600" b="1" dirty="0">
              <a:solidFill>
                <a:srgbClr val="44546A"/>
              </a:solidFill>
              <a:latin typeface="+mj-ea"/>
              <a:ea typeface="+mj-ea"/>
            </a:endParaRPr>
          </a:p>
          <a:p>
            <a:r>
              <a:rPr lang="zh-CN" altLang="en-US" sz="1600" b="1" dirty="0">
                <a:solidFill>
                  <a:srgbClr val="44546A"/>
                </a:solidFill>
                <a:latin typeface="+mj-ea"/>
                <a:ea typeface="+mj-ea"/>
              </a:rPr>
              <a:t>能够更好地发挥各公司的</a:t>
            </a:r>
            <a:r>
              <a:rPr lang="zh-CN" altLang="en-US" sz="1600" b="1" dirty="0">
                <a:solidFill>
                  <a:schemeClr val="accent2">
                    <a:lumMod val="75000"/>
                  </a:schemeClr>
                </a:solidFill>
                <a:latin typeface="+mj-ea"/>
                <a:ea typeface="+mj-ea"/>
              </a:rPr>
              <a:t>自主性</a:t>
            </a:r>
            <a:endParaRPr lang="en-US" altLang="zh-CN" sz="1600" b="1" dirty="0">
              <a:solidFill>
                <a:schemeClr val="accent2">
                  <a:lumMod val="75000"/>
                </a:schemeClr>
              </a:solidFill>
              <a:latin typeface="+mj-ea"/>
              <a:ea typeface="+mj-ea"/>
            </a:endParaRPr>
          </a:p>
        </p:txBody>
      </p:sp>
      <p:sp>
        <p:nvSpPr>
          <p:cNvPr id="8" name="文本框 7">
            <a:extLst>
              <a:ext uri="{FF2B5EF4-FFF2-40B4-BE49-F238E27FC236}">
                <a16:creationId xmlns:a16="http://schemas.microsoft.com/office/drawing/2014/main" id="{0FAD9CF6-6264-433C-8DCF-E32E3856D419}"/>
              </a:ext>
            </a:extLst>
          </p:cNvPr>
          <p:cNvSpPr txBox="1"/>
          <p:nvPr/>
        </p:nvSpPr>
        <p:spPr>
          <a:xfrm>
            <a:off x="538025" y="1118225"/>
            <a:ext cx="11226837" cy="787311"/>
          </a:xfrm>
          <a:prstGeom prst="rect">
            <a:avLst/>
          </a:prstGeom>
          <a:noFill/>
          <a:ln w="12700">
            <a:solidFill>
              <a:schemeClr val="tx1">
                <a:lumMod val="50000"/>
                <a:lumOff val="50000"/>
              </a:schemeClr>
            </a:solidFill>
            <a:prstDash val="dash"/>
          </a:ln>
        </p:spPr>
        <p:txBody>
          <a:bodyPr wrap="square">
            <a:spAutoFit/>
          </a:bodyPr>
          <a:lstStyle/>
          <a:p>
            <a:pPr>
              <a:lnSpc>
                <a:spcPct val="150000"/>
              </a:lnSpc>
            </a:pPr>
            <a:r>
              <a:rPr lang="zh-CN" altLang="en-US" sz="1200" b="0" i="0" dirty="0">
                <a:solidFill>
                  <a:srgbClr val="3E3E3E"/>
                </a:solidFill>
                <a:effectLst/>
                <a:latin typeface="微软雅黑" panose="020B0503020204020204" pitchFamily="34" charset="-122"/>
                <a:ea typeface="微软雅黑" panose="020B0503020204020204" pitchFamily="34" charset="-122"/>
              </a:rPr>
              <a:t>谁能在此博弈过程中有更多的</a:t>
            </a:r>
            <a:r>
              <a:rPr lang="zh-CN" altLang="en-US" sz="1600" b="1" i="0" dirty="0">
                <a:solidFill>
                  <a:srgbClr val="28A7A7"/>
                </a:solidFill>
                <a:effectLst/>
                <a:latin typeface="微软雅黑" panose="020B0503020204020204" pitchFamily="34" charset="-122"/>
                <a:ea typeface="微软雅黑" panose="020B0503020204020204" pitchFamily="34" charset="-122"/>
              </a:rPr>
              <a:t>话语权</a:t>
            </a:r>
            <a:r>
              <a:rPr lang="zh-CN" altLang="en-US" sz="1200" b="0" i="0" dirty="0">
                <a:solidFill>
                  <a:srgbClr val="3E3E3E"/>
                </a:solidFill>
                <a:effectLst/>
                <a:latin typeface="微软雅黑" panose="020B0503020204020204" pitchFamily="34" charset="-122"/>
                <a:ea typeface="微软雅黑" panose="020B0503020204020204" pitchFamily="34" charset="-122"/>
              </a:rPr>
              <a:t>，取决于谁在这个过程中掌握</a:t>
            </a:r>
            <a:r>
              <a:rPr lang="zh-CN" altLang="en-US" sz="1600" b="1" i="0" dirty="0">
                <a:solidFill>
                  <a:srgbClr val="28A7A7"/>
                </a:solidFill>
                <a:effectLst/>
                <a:latin typeface="微软雅黑" panose="020B0503020204020204" pitchFamily="34" charset="-122"/>
                <a:ea typeface="微软雅黑" panose="020B0503020204020204" pitchFamily="34" charset="-122"/>
              </a:rPr>
              <a:t>更丰富的信息</a:t>
            </a:r>
            <a:r>
              <a:rPr lang="zh-CN" altLang="en-US" sz="1200" b="0" i="0" dirty="0">
                <a:solidFill>
                  <a:srgbClr val="3E3E3E"/>
                </a:solidFill>
                <a:effectLst/>
                <a:latin typeface="微软雅黑" panose="020B0503020204020204" pitchFamily="34" charset="-122"/>
                <a:ea typeface="微软雅黑" panose="020B0503020204020204" pitchFamily="34" charset="-122"/>
              </a:rPr>
              <a:t>，谁更有鲜明的</a:t>
            </a:r>
            <a:r>
              <a:rPr lang="zh-CN" altLang="en-US" sz="1600" b="1" i="0" dirty="0">
                <a:solidFill>
                  <a:srgbClr val="28A7A7"/>
                </a:solidFill>
                <a:effectLst/>
                <a:latin typeface="微软雅黑" panose="020B0503020204020204" pitchFamily="34" charset="-122"/>
                <a:ea typeface="微软雅黑" panose="020B0503020204020204" pitchFamily="34" charset="-122"/>
              </a:rPr>
              <a:t>决断力</a:t>
            </a:r>
            <a:r>
              <a:rPr lang="zh-CN" altLang="en-US" sz="1200" b="0" i="0" dirty="0">
                <a:solidFill>
                  <a:srgbClr val="3E3E3E"/>
                </a:solidFill>
                <a:effectLst/>
                <a:latin typeface="微软雅黑" panose="020B0503020204020204" pitchFamily="34" charset="-122"/>
                <a:ea typeface="微软雅黑" panose="020B0503020204020204" pitchFamily="34" charset="-122"/>
              </a:rPr>
              <a:t>。如果是自上而下为主，意味着预算编制时</a:t>
            </a:r>
            <a:r>
              <a:rPr lang="zh-CN" altLang="en-US" sz="1400" b="1" dirty="0">
                <a:solidFill>
                  <a:srgbClr val="339D93"/>
                </a:solidFill>
                <a:latin typeface="微软雅黑" panose="020B0503020204020204" pitchFamily="34" charset="-122"/>
                <a:ea typeface="微软雅黑" panose="020B0503020204020204" pitchFamily="34" charset="-122"/>
              </a:rPr>
              <a:t>上级占主导地位</a:t>
            </a:r>
            <a:r>
              <a:rPr lang="zh-CN" altLang="en-US" sz="1200" b="0" i="0" dirty="0">
                <a:solidFill>
                  <a:srgbClr val="3E3E3E"/>
                </a:solidFill>
                <a:effectLst/>
                <a:latin typeface="微软雅黑" panose="020B0503020204020204" pitchFamily="34" charset="-122"/>
                <a:ea typeface="微软雅黑" panose="020B0503020204020204" pitchFamily="34" charset="-122"/>
              </a:rPr>
              <a:t>。如果是自下而上为主，意味着</a:t>
            </a:r>
            <a:r>
              <a:rPr lang="zh-CN" altLang="en-US" sz="1400" b="1" i="0" dirty="0">
                <a:solidFill>
                  <a:srgbClr val="339D93"/>
                </a:solidFill>
                <a:effectLst/>
                <a:latin typeface="微软雅黑" panose="020B0503020204020204" pitchFamily="34" charset="-122"/>
                <a:ea typeface="微软雅黑" panose="020B0503020204020204" pitchFamily="34" charset="-122"/>
              </a:rPr>
              <a:t>下级占主导地位</a:t>
            </a:r>
            <a:r>
              <a:rPr lang="zh-CN" altLang="en-US" sz="1200" b="0" i="0" dirty="0">
                <a:solidFill>
                  <a:srgbClr val="3E3E3E"/>
                </a:solidFill>
                <a:effectLst/>
                <a:latin typeface="微软雅黑" panose="020B0503020204020204" pitchFamily="34" charset="-122"/>
                <a:ea typeface="微软雅黑" panose="020B0503020204020204" pitchFamily="34" charset="-122"/>
              </a:rPr>
              <a:t>的。如何选择也要看组织环境应该把</a:t>
            </a:r>
            <a:r>
              <a:rPr lang="zh-CN" altLang="en-US" sz="1600" b="1" i="0" dirty="0">
                <a:solidFill>
                  <a:srgbClr val="28A7A7"/>
                </a:solidFill>
                <a:effectLst/>
                <a:latin typeface="微软雅黑" panose="020B0503020204020204" pitchFamily="34" charset="-122"/>
                <a:ea typeface="微软雅黑" panose="020B0503020204020204" pitchFamily="34" charset="-122"/>
              </a:rPr>
              <a:t>主导权交给谁。</a:t>
            </a:r>
            <a:endParaRPr lang="zh-CN" altLang="en-US" sz="1200" b="1" i="0" dirty="0">
              <a:solidFill>
                <a:srgbClr val="28A7A7"/>
              </a:solidFill>
              <a:effectLst/>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E62027FE-572F-437C-983D-5921F41B037E}"/>
              </a:ext>
            </a:extLst>
          </p:cNvPr>
          <p:cNvSpPr txBox="1"/>
          <p:nvPr/>
        </p:nvSpPr>
        <p:spPr>
          <a:xfrm>
            <a:off x="706914" y="5988275"/>
            <a:ext cx="10946921" cy="307777"/>
          </a:xfrm>
          <a:prstGeom prst="rect">
            <a:avLst/>
          </a:prstGeom>
          <a:solidFill>
            <a:schemeClr val="bg2"/>
          </a:solidFill>
          <a:ln>
            <a:solidFill>
              <a:schemeClr val="bg1">
                <a:lumMod val="75000"/>
              </a:schemeClr>
            </a:solidFill>
            <a:prstDash val="sysDash"/>
          </a:ln>
        </p:spPr>
        <p:txBody>
          <a:bodyPr wrap="square">
            <a:spAutoFit/>
          </a:bodyPr>
          <a:lstStyle>
            <a:defPPr>
              <a:defRPr lang="zh-CN"/>
            </a:defPPr>
            <a:lvl1pPr algn="just">
              <a:defRPr b="1">
                <a:solidFill>
                  <a:schemeClr val="accent4"/>
                </a:solidFill>
                <a:latin typeface="微软雅黑" panose="020B0503020204020204" pitchFamily="34" charset="-122"/>
                <a:ea typeface="微软雅黑" panose="020B0503020204020204" pitchFamily="34" charset="-122"/>
                <a:cs typeface="Open Sans" panose="020B0606030504020204" pitchFamily="34" charset="0"/>
              </a:defRPr>
            </a:lvl1pPr>
          </a:lstStyle>
          <a:p>
            <a:pPr algn="ctr"/>
            <a:r>
              <a:rPr lang="zh-CN" altLang="en-US" sz="1400" dirty="0">
                <a:solidFill>
                  <a:srgbClr val="28A7A7"/>
                </a:solidFill>
              </a:rPr>
              <a:t>化解博弈矛盾的关键：</a:t>
            </a:r>
            <a:r>
              <a:rPr lang="zh-CN" altLang="en-US" sz="1400" dirty="0">
                <a:solidFill>
                  <a:schemeClr val="tx1">
                    <a:lumMod val="65000"/>
                    <a:lumOff val="35000"/>
                  </a:schemeClr>
                </a:solidFill>
              </a:rPr>
              <a:t>通过设定合适的博弈</a:t>
            </a:r>
            <a:r>
              <a:rPr lang="zh-CN" altLang="en-US" sz="1400" dirty="0">
                <a:solidFill>
                  <a:srgbClr val="28A7A7"/>
                </a:solidFill>
              </a:rPr>
              <a:t>规则</a:t>
            </a:r>
            <a:r>
              <a:rPr lang="zh-CN" altLang="en-US" sz="1400" dirty="0">
                <a:solidFill>
                  <a:schemeClr val="tx1">
                    <a:lumMod val="65000"/>
                    <a:lumOff val="35000"/>
                  </a:schemeClr>
                </a:solidFill>
              </a:rPr>
              <a:t>的质询会，沟通讨论使双方信服</a:t>
            </a:r>
            <a:endParaRPr lang="en-US" altLang="zh-CN" sz="1400" dirty="0">
              <a:solidFill>
                <a:schemeClr val="tx1">
                  <a:lumMod val="65000"/>
                  <a:lumOff val="35000"/>
                </a:schemeClr>
              </a:solidFill>
            </a:endParaRPr>
          </a:p>
        </p:txBody>
      </p:sp>
      <p:sp>
        <p:nvSpPr>
          <p:cNvPr id="12" name="矩形 11">
            <a:extLst>
              <a:ext uri="{FF2B5EF4-FFF2-40B4-BE49-F238E27FC236}">
                <a16:creationId xmlns:a16="http://schemas.microsoft.com/office/drawing/2014/main" id="{35E91EB5-3A75-48B9-A885-D2FF8313D8EF}"/>
              </a:ext>
            </a:extLst>
          </p:cNvPr>
          <p:cNvSpPr/>
          <p:nvPr/>
        </p:nvSpPr>
        <p:spPr>
          <a:xfrm>
            <a:off x="582404" y="2192616"/>
            <a:ext cx="1934930" cy="461665"/>
          </a:xfrm>
          <a:prstGeom prst="rect">
            <a:avLst/>
          </a:prstGeom>
        </p:spPr>
        <p:txBody>
          <a:bodyPr wrap="square">
            <a:spAutoFit/>
          </a:bodyPr>
          <a:lstStyle/>
          <a:p>
            <a:r>
              <a:rPr lang="zh-CN" altLang="en-US" sz="2400" b="1">
                <a:solidFill>
                  <a:schemeClr val="bg1"/>
                </a:solidFill>
              </a:rPr>
              <a:t>存量业务</a:t>
            </a:r>
            <a:endParaRPr lang="en-US" altLang="zh-CN" sz="2400" b="1" dirty="0">
              <a:solidFill>
                <a:schemeClr val="bg1"/>
              </a:solidFill>
            </a:endParaRPr>
          </a:p>
        </p:txBody>
      </p:sp>
      <p:sp>
        <p:nvSpPr>
          <p:cNvPr id="36" name="矩形 35">
            <a:extLst>
              <a:ext uri="{FF2B5EF4-FFF2-40B4-BE49-F238E27FC236}">
                <a16:creationId xmlns:a16="http://schemas.microsoft.com/office/drawing/2014/main" id="{6161A64C-9716-40C6-B9DE-09B58D6071E1}"/>
              </a:ext>
            </a:extLst>
          </p:cNvPr>
          <p:cNvSpPr/>
          <p:nvPr/>
        </p:nvSpPr>
        <p:spPr>
          <a:xfrm>
            <a:off x="4563488" y="2215422"/>
            <a:ext cx="1942308" cy="461665"/>
          </a:xfrm>
          <a:prstGeom prst="rect">
            <a:avLst/>
          </a:prstGeom>
        </p:spPr>
        <p:txBody>
          <a:bodyPr wrap="square">
            <a:spAutoFit/>
          </a:bodyPr>
          <a:lstStyle/>
          <a:p>
            <a:r>
              <a:rPr lang="zh-CN" altLang="en-US" sz="2400" b="1" dirty="0">
                <a:solidFill>
                  <a:schemeClr val="bg1"/>
                </a:solidFill>
              </a:rPr>
              <a:t>新业务</a:t>
            </a:r>
            <a:endParaRPr lang="en-US" altLang="zh-CN" sz="2400" b="1" dirty="0">
              <a:solidFill>
                <a:schemeClr val="bg1"/>
              </a:solidFill>
            </a:endParaRPr>
          </a:p>
        </p:txBody>
      </p:sp>
      <p:sp>
        <p:nvSpPr>
          <p:cNvPr id="47" name="文本框 46">
            <a:extLst>
              <a:ext uri="{FF2B5EF4-FFF2-40B4-BE49-F238E27FC236}">
                <a16:creationId xmlns:a16="http://schemas.microsoft.com/office/drawing/2014/main" id="{8C04FF8A-04DE-4311-B0D9-84EE8FF99007}"/>
              </a:ext>
            </a:extLst>
          </p:cNvPr>
          <p:cNvSpPr txBox="1"/>
          <p:nvPr/>
        </p:nvSpPr>
        <p:spPr>
          <a:xfrm>
            <a:off x="852324" y="3120572"/>
            <a:ext cx="615553" cy="2258934"/>
          </a:xfrm>
          <a:prstGeom prst="rect">
            <a:avLst/>
          </a:prstGeom>
          <a:noFill/>
        </p:spPr>
        <p:txBody>
          <a:bodyPr vert="ea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b="1" spc="100" dirty="0">
                <a:solidFill>
                  <a:schemeClr val="accent1"/>
                </a:solidFill>
                <a:latin typeface="微软雅黑" panose="020B0503020204020204" pitchFamily="34" charset="-122"/>
                <a:ea typeface="微软雅黑" panose="020B0503020204020204" pitchFamily="34" charset="-122"/>
                <a:cs typeface="OPPOSans R" pitchFamily="18" charset="-122"/>
              </a:rPr>
              <a:t>自上而下</a:t>
            </a:r>
            <a:endParaRPr kumimoji="0" lang="zh-CN" altLang="en-US" sz="2800" b="1" i="0" u="none" strike="noStrike" kern="1200" cap="none" spc="1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OPPOSans R" pitchFamily="18" charset="-122"/>
            </a:endParaRPr>
          </a:p>
        </p:txBody>
      </p:sp>
      <p:sp>
        <p:nvSpPr>
          <p:cNvPr id="51" name="文本框 50">
            <a:extLst>
              <a:ext uri="{FF2B5EF4-FFF2-40B4-BE49-F238E27FC236}">
                <a16:creationId xmlns:a16="http://schemas.microsoft.com/office/drawing/2014/main" id="{EC2DB9AE-1F56-4853-B46C-DD23DD669866}"/>
              </a:ext>
            </a:extLst>
          </p:cNvPr>
          <p:cNvSpPr txBox="1"/>
          <p:nvPr/>
        </p:nvSpPr>
        <p:spPr>
          <a:xfrm>
            <a:off x="8113240" y="3064694"/>
            <a:ext cx="615553" cy="1961284"/>
          </a:xfrm>
          <a:prstGeom prst="rect">
            <a:avLst/>
          </a:prstGeom>
          <a:noFill/>
        </p:spPr>
        <p:txBody>
          <a:bodyPr vert="ea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b="1" spc="100" dirty="0">
                <a:solidFill>
                  <a:schemeClr val="accent2"/>
                </a:solidFill>
                <a:latin typeface="微软雅黑" panose="020B0503020204020204" pitchFamily="34" charset="-122"/>
                <a:ea typeface="微软雅黑" panose="020B0503020204020204" pitchFamily="34" charset="-122"/>
                <a:cs typeface="OPPOSans R" pitchFamily="18" charset="-122"/>
              </a:rPr>
              <a:t>自下而上</a:t>
            </a:r>
            <a:endParaRPr kumimoji="0" lang="zh-CN" altLang="en-US" sz="2800" b="1" i="0" u="none" strike="noStrike" kern="1200" cap="none" spc="10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OPPOSans R" pitchFamily="18" charset="-122"/>
            </a:endParaRPr>
          </a:p>
        </p:txBody>
      </p:sp>
      <p:sp>
        <p:nvSpPr>
          <p:cNvPr id="55" name="矩形 54">
            <a:extLst>
              <a:ext uri="{FF2B5EF4-FFF2-40B4-BE49-F238E27FC236}">
                <a16:creationId xmlns:a16="http://schemas.microsoft.com/office/drawing/2014/main" id="{E8A2D5D8-D64F-4134-B0B2-6BFC9D895B80}"/>
              </a:ext>
            </a:extLst>
          </p:cNvPr>
          <p:cNvSpPr/>
          <p:nvPr/>
        </p:nvSpPr>
        <p:spPr>
          <a:xfrm>
            <a:off x="2884038" y="3577573"/>
            <a:ext cx="1711992" cy="369332"/>
          </a:xfrm>
          <a:prstGeom prst="rect">
            <a:avLst/>
          </a:prstGeom>
        </p:spPr>
        <p:txBody>
          <a:bodyPr wrap="square">
            <a:spAutoFit/>
          </a:bodyPr>
          <a:lstStyle/>
          <a:p>
            <a:r>
              <a:rPr lang="en-US" altLang="zh-CN" b="1" dirty="0">
                <a:solidFill>
                  <a:schemeClr val="accent2">
                    <a:lumMod val="75000"/>
                  </a:schemeClr>
                </a:solidFill>
                <a:latin typeface="+mj-ea"/>
              </a:rPr>
              <a:t>   </a:t>
            </a:r>
            <a:r>
              <a:rPr lang="zh-CN" altLang="en-US" sz="1400" b="1" dirty="0">
                <a:solidFill>
                  <a:schemeClr val="accent2">
                    <a:lumMod val="75000"/>
                  </a:schemeClr>
                </a:solidFill>
                <a:latin typeface="+mj-ea"/>
              </a:rPr>
              <a:t>利润率指标</a:t>
            </a:r>
            <a:endParaRPr lang="en-US" altLang="zh-CN" b="1" dirty="0">
              <a:solidFill>
                <a:schemeClr val="accent2">
                  <a:lumMod val="75000"/>
                </a:schemeClr>
              </a:solidFill>
              <a:latin typeface="+mj-ea"/>
            </a:endParaRPr>
          </a:p>
        </p:txBody>
      </p:sp>
      <p:sp>
        <p:nvSpPr>
          <p:cNvPr id="56" name="矩形 55">
            <a:extLst>
              <a:ext uri="{FF2B5EF4-FFF2-40B4-BE49-F238E27FC236}">
                <a16:creationId xmlns:a16="http://schemas.microsoft.com/office/drawing/2014/main" id="{D477CF58-7C89-434B-95A4-433D393333A9}"/>
              </a:ext>
            </a:extLst>
          </p:cNvPr>
          <p:cNvSpPr/>
          <p:nvPr/>
        </p:nvSpPr>
        <p:spPr>
          <a:xfrm>
            <a:off x="1732245" y="3599562"/>
            <a:ext cx="971741" cy="369332"/>
          </a:xfrm>
          <a:prstGeom prst="rect">
            <a:avLst/>
          </a:prstGeom>
        </p:spPr>
        <p:txBody>
          <a:bodyPr wrap="none">
            <a:spAutoFit/>
          </a:bodyPr>
          <a:lstStyle/>
          <a:p>
            <a:r>
              <a:rPr lang="zh-CN" altLang="en-US" b="1" dirty="0">
                <a:solidFill>
                  <a:schemeClr val="accent2">
                    <a:lumMod val="75000"/>
                  </a:schemeClr>
                </a:solidFill>
                <a:latin typeface="+mj-ea"/>
              </a:rPr>
              <a:t> </a:t>
            </a:r>
            <a:r>
              <a:rPr lang="zh-CN" altLang="en-US" sz="1400" b="1" dirty="0">
                <a:solidFill>
                  <a:schemeClr val="accent2">
                    <a:lumMod val="75000"/>
                  </a:schemeClr>
                </a:solidFill>
                <a:latin typeface="+mj-ea"/>
              </a:rPr>
              <a:t>收入指标</a:t>
            </a:r>
            <a:endParaRPr lang="zh-CN" altLang="en-US" dirty="0">
              <a:solidFill>
                <a:schemeClr val="accent2">
                  <a:lumMod val="75000"/>
                </a:schemeClr>
              </a:solidFill>
            </a:endParaRPr>
          </a:p>
        </p:txBody>
      </p:sp>
      <p:sp>
        <p:nvSpPr>
          <p:cNvPr id="4" name="任意形状 242">
            <a:extLst>
              <a:ext uri="{FF2B5EF4-FFF2-40B4-BE49-F238E27FC236}">
                <a16:creationId xmlns:a16="http://schemas.microsoft.com/office/drawing/2014/main" id="{F68CE1DB-9C8E-BB43-A544-A6328F609DB8}"/>
              </a:ext>
            </a:extLst>
          </p:cNvPr>
          <p:cNvSpPr/>
          <p:nvPr/>
        </p:nvSpPr>
        <p:spPr>
          <a:xfrm flipV="1">
            <a:off x="9196684" y="2165502"/>
            <a:ext cx="2568178" cy="567603"/>
          </a:xfrm>
          <a:custGeom>
            <a:avLst/>
            <a:gdLst>
              <a:gd name="connsiteX0" fmla="*/ 0 w 2691410"/>
              <a:gd name="connsiteY0" fmla="*/ 1108704 h 1108704"/>
              <a:gd name="connsiteX1" fmla="*/ 1275110 w 2691410"/>
              <a:gd name="connsiteY1" fmla="*/ 1108704 h 1108704"/>
              <a:gd name="connsiteX2" fmla="*/ 1345704 w 2691410"/>
              <a:gd name="connsiteY2" fmla="*/ 1037806 h 1108704"/>
              <a:gd name="connsiteX3" fmla="*/ 1416298 w 2691410"/>
              <a:gd name="connsiteY3" fmla="*/ 1108704 h 1108704"/>
              <a:gd name="connsiteX4" fmla="*/ 2691410 w 2691410"/>
              <a:gd name="connsiteY4" fmla="*/ 1108704 h 1108704"/>
              <a:gd name="connsiteX5" fmla="*/ 2691410 w 2691410"/>
              <a:gd name="connsiteY5" fmla="*/ 0 h 1108704"/>
              <a:gd name="connsiteX6" fmla="*/ 0 w 2691410"/>
              <a:gd name="connsiteY6" fmla="*/ 0 h 1108704"/>
              <a:gd name="connsiteX7" fmla="*/ 0 w 2691410"/>
              <a:gd name="connsiteY7" fmla="*/ 1108704 h 110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1410" h="1108704">
                <a:moveTo>
                  <a:pt x="0" y="1108704"/>
                </a:moveTo>
                <a:lnTo>
                  <a:pt x="1275110" y="1108704"/>
                </a:lnTo>
                <a:lnTo>
                  <a:pt x="1345704" y="1037806"/>
                </a:lnTo>
                <a:lnTo>
                  <a:pt x="1416298" y="1108704"/>
                </a:lnTo>
                <a:lnTo>
                  <a:pt x="2691410" y="1108704"/>
                </a:lnTo>
                <a:lnTo>
                  <a:pt x="2691410" y="0"/>
                </a:lnTo>
                <a:lnTo>
                  <a:pt x="0" y="0"/>
                </a:lnTo>
                <a:lnTo>
                  <a:pt x="0" y="1108704"/>
                </a:ln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dirty="0"/>
          </a:p>
        </p:txBody>
      </p:sp>
      <p:sp>
        <p:nvSpPr>
          <p:cNvPr id="5" name="矩形 4">
            <a:extLst>
              <a:ext uri="{FF2B5EF4-FFF2-40B4-BE49-F238E27FC236}">
                <a16:creationId xmlns:a16="http://schemas.microsoft.com/office/drawing/2014/main" id="{E9626933-6985-0A76-B317-3E52C12D152B}"/>
              </a:ext>
            </a:extLst>
          </p:cNvPr>
          <p:cNvSpPr/>
          <p:nvPr/>
        </p:nvSpPr>
        <p:spPr>
          <a:xfrm>
            <a:off x="9222202" y="2220551"/>
            <a:ext cx="2387393" cy="461665"/>
          </a:xfrm>
          <a:prstGeom prst="rect">
            <a:avLst/>
          </a:prstGeom>
        </p:spPr>
        <p:txBody>
          <a:bodyPr wrap="square">
            <a:spAutoFit/>
          </a:bodyPr>
          <a:lstStyle/>
          <a:p>
            <a:r>
              <a:rPr lang="zh-CN" altLang="en-US" sz="2400" b="1" dirty="0">
                <a:solidFill>
                  <a:schemeClr val="bg1"/>
                </a:solidFill>
              </a:rPr>
              <a:t>发展储备金预算</a:t>
            </a:r>
            <a:endParaRPr lang="en-US" altLang="zh-CN" sz="2400" b="1" dirty="0">
              <a:solidFill>
                <a:schemeClr val="bg1"/>
              </a:solidFill>
            </a:endParaRPr>
          </a:p>
        </p:txBody>
      </p:sp>
      <p:sp>
        <p:nvSpPr>
          <p:cNvPr id="10" name="矩形 9">
            <a:extLst>
              <a:ext uri="{FF2B5EF4-FFF2-40B4-BE49-F238E27FC236}">
                <a16:creationId xmlns:a16="http://schemas.microsoft.com/office/drawing/2014/main" id="{6BC472C1-B116-28A7-333A-B84CABD5789B}"/>
              </a:ext>
            </a:extLst>
          </p:cNvPr>
          <p:cNvSpPr/>
          <p:nvPr/>
        </p:nvSpPr>
        <p:spPr>
          <a:xfrm>
            <a:off x="9222202" y="2767750"/>
            <a:ext cx="2542660" cy="30461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313131"/>
              </a:solidFill>
              <a:effectLst/>
              <a:uLnTx/>
              <a:uFillTx/>
              <a:latin typeface="等线"/>
              <a:ea typeface="等线" panose="02010600030101010101" pitchFamily="2" charset="-122"/>
              <a:cs typeface="+mn-cs"/>
            </a:endParaRPr>
          </a:p>
        </p:txBody>
      </p:sp>
      <p:sp>
        <p:nvSpPr>
          <p:cNvPr id="11" name="文本框 10">
            <a:extLst>
              <a:ext uri="{FF2B5EF4-FFF2-40B4-BE49-F238E27FC236}">
                <a16:creationId xmlns:a16="http://schemas.microsoft.com/office/drawing/2014/main" id="{9716DD02-2D6B-026E-B380-BB6A98FB4937}"/>
              </a:ext>
            </a:extLst>
          </p:cNvPr>
          <p:cNvSpPr txBox="1"/>
          <p:nvPr/>
        </p:nvSpPr>
        <p:spPr>
          <a:xfrm>
            <a:off x="9258099" y="3335836"/>
            <a:ext cx="2568962" cy="1304203"/>
          </a:xfrm>
          <a:prstGeom prst="rect">
            <a:avLst/>
          </a:prstGeom>
          <a:noFill/>
        </p:spPr>
        <p:txBody>
          <a:bodyPr wrap="square" rtlCol="0">
            <a:spAutoFit/>
          </a:bodyPr>
          <a:lstStyle/>
          <a:p>
            <a:pPr marL="171450" indent="-171450" defTabSz="914400">
              <a:lnSpc>
                <a:spcPct val="150000"/>
              </a:lnSpc>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配合增长配置</a:t>
            </a:r>
            <a:r>
              <a:rPr lang="zh-CN" altLang="en-US" sz="1400" b="1" dirty="0">
                <a:solidFill>
                  <a:schemeClr val="accent2">
                    <a:lumMod val="75000"/>
                  </a:schemeClr>
                </a:solidFill>
                <a:latin typeface="微软雅黑" panose="020B0503020204020204" pitchFamily="34" charset="-122"/>
                <a:ea typeface="微软雅黑" panose="020B0503020204020204" pitchFamily="34" charset="-122"/>
              </a:rPr>
              <a:t>市场投入</a:t>
            </a:r>
            <a:r>
              <a:rPr lang="zh-CN" altLang="en-US" sz="1400" dirty="0">
                <a:latin typeface="微软雅黑" panose="020B0503020204020204" pitchFamily="34" charset="-122"/>
                <a:ea typeface="微软雅黑" panose="020B0503020204020204" pitchFamily="34" charset="-122"/>
              </a:rPr>
              <a:t>和</a:t>
            </a:r>
            <a:r>
              <a:rPr lang="zh-CN" altLang="en-US" sz="1400" b="1" dirty="0">
                <a:solidFill>
                  <a:schemeClr val="accent2">
                    <a:lumMod val="75000"/>
                  </a:schemeClr>
                </a:solidFill>
                <a:latin typeface="微软雅黑" panose="020B0503020204020204" pitchFamily="34" charset="-122"/>
                <a:ea typeface="微软雅黑" panose="020B0503020204020204" pitchFamily="34" charset="-122"/>
              </a:rPr>
              <a:t>人力储备</a:t>
            </a:r>
            <a:r>
              <a:rPr lang="zh-CN" altLang="en-US" sz="1400" dirty="0">
                <a:latin typeface="微软雅黑" panose="020B0503020204020204" pitchFamily="34" charset="-122"/>
                <a:ea typeface="微软雅黑" panose="020B0503020204020204" pitchFamily="34" charset="-122"/>
              </a:rPr>
              <a:t>费用预算</a:t>
            </a:r>
            <a:endParaRPr lang="en-US" altLang="zh-CN" sz="1400" dirty="0">
              <a:latin typeface="微软雅黑" panose="020B0503020204020204" pitchFamily="34" charset="-122"/>
              <a:ea typeface="微软雅黑" panose="020B0503020204020204" pitchFamily="34" charset="-122"/>
            </a:endParaRPr>
          </a:p>
          <a:p>
            <a:pPr marL="171450" indent="-171450" defTabSz="914400">
              <a:lnSpc>
                <a:spcPct val="150000"/>
              </a:lnSpc>
              <a:buFont typeface="Arial" panose="020B0604020202020204" pitchFamily="34" charset="0"/>
              <a:buChar char="•"/>
              <a:defRPr/>
            </a:pPr>
            <a:r>
              <a:rPr lang="zh-CN" altLang="en-US" sz="1050" b="1" dirty="0">
                <a:solidFill>
                  <a:srgbClr val="D58E0D"/>
                </a:solidFill>
                <a:latin typeface="微软雅黑" panose="020B0503020204020204" pitchFamily="34" charset="-122"/>
                <a:ea typeface="微软雅黑" panose="020B0503020204020204" pitchFamily="34" charset="-122"/>
              </a:rPr>
              <a:t>（可考虑</a:t>
            </a:r>
            <a:r>
              <a:rPr lang="zh-CN" altLang="en-US" sz="1050" b="1">
                <a:solidFill>
                  <a:srgbClr val="D58E0D"/>
                </a:solidFill>
                <a:latin typeface="微软雅黑" panose="020B0503020204020204" pitchFamily="34" charset="-122"/>
                <a:ea typeface="微软雅黑" panose="020B0503020204020204" pitchFamily="34" charset="-122"/>
              </a:rPr>
              <a:t>不纳入高增长公司</a:t>
            </a:r>
            <a:r>
              <a:rPr lang="zh-CN" altLang="en-US" sz="1050" b="1" dirty="0">
                <a:solidFill>
                  <a:srgbClr val="D58E0D"/>
                </a:solidFill>
                <a:latin typeface="微软雅黑" panose="020B0503020204020204" pitchFamily="34" charset="-122"/>
                <a:ea typeface="微软雅黑" panose="020B0503020204020204" pitchFamily="34" charset="-122"/>
              </a:rPr>
              <a:t>考核）</a:t>
            </a:r>
            <a:endParaRPr lang="en-US" altLang="zh-CN" sz="1400" b="1" dirty="0">
              <a:solidFill>
                <a:srgbClr val="D58E0D"/>
              </a:solidFill>
              <a:latin typeface="微软雅黑" panose="020B0503020204020204" pitchFamily="34" charset="-122"/>
              <a:ea typeface="微软雅黑" panose="020B0503020204020204" pitchFamily="34" charset="-122"/>
            </a:endParaRPr>
          </a:p>
          <a:p>
            <a:pPr lvl="0" defTabSz="914400">
              <a:lnSpc>
                <a:spcPct val="150000"/>
              </a:lnSpc>
              <a:defRPr/>
            </a:pPr>
            <a:endParaRPr lang="en-US" altLang="zh-CN" sz="1400" dirty="0">
              <a:latin typeface="微软雅黑" panose="020B0503020204020204" pitchFamily="34" charset="-122"/>
              <a:ea typeface="微软雅黑" panose="020B0503020204020204" pitchFamily="34" charset="-122"/>
            </a:endParaRPr>
          </a:p>
        </p:txBody>
      </p:sp>
      <p:cxnSp>
        <p:nvCxnSpPr>
          <p:cNvPr id="13" name="直线连接符 7">
            <a:extLst>
              <a:ext uri="{FF2B5EF4-FFF2-40B4-BE49-F238E27FC236}">
                <a16:creationId xmlns:a16="http://schemas.microsoft.com/office/drawing/2014/main" id="{A88CA4F5-80F8-4D37-3933-F27EB53FC9B4}"/>
              </a:ext>
            </a:extLst>
          </p:cNvPr>
          <p:cNvCxnSpPr>
            <a:cxnSpLocks/>
          </p:cNvCxnSpPr>
          <p:nvPr/>
        </p:nvCxnSpPr>
        <p:spPr>
          <a:xfrm>
            <a:off x="522611" y="791094"/>
            <a:ext cx="11056273"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3256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矩形: 圆角 40">
            <a:extLst>
              <a:ext uri="{FF2B5EF4-FFF2-40B4-BE49-F238E27FC236}">
                <a16:creationId xmlns:a16="http://schemas.microsoft.com/office/drawing/2014/main" id="{9E28E3BE-E340-4EC4-92A8-19F4F4B14D35}"/>
              </a:ext>
            </a:extLst>
          </p:cNvPr>
          <p:cNvSpPr/>
          <p:nvPr/>
        </p:nvSpPr>
        <p:spPr>
          <a:xfrm flipH="1">
            <a:off x="414904" y="924054"/>
            <a:ext cx="11459846" cy="5492832"/>
          </a:xfrm>
          <a:prstGeom prst="roundRect">
            <a:avLst>
              <a:gd name="adj" fmla="val 0"/>
            </a:avLst>
          </a:prstGeom>
          <a:solidFill>
            <a:srgbClr val="FBFBFB"/>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等线"/>
              <a:ea typeface="思源黑体 CN Normal"/>
              <a:cs typeface="+mn-cs"/>
            </a:endParaRPr>
          </a:p>
        </p:txBody>
      </p:sp>
      <p:sp>
        <p:nvSpPr>
          <p:cNvPr id="21" name="文本框 20">
            <a:extLst>
              <a:ext uri="{FF2B5EF4-FFF2-40B4-BE49-F238E27FC236}">
                <a16:creationId xmlns:a16="http://schemas.microsoft.com/office/drawing/2014/main" id="{C34D88FF-FD6E-487B-9257-110D902D5165}"/>
              </a:ext>
            </a:extLst>
          </p:cNvPr>
          <p:cNvSpPr txBox="1"/>
          <p:nvPr/>
        </p:nvSpPr>
        <p:spPr>
          <a:xfrm>
            <a:off x="373569" y="185649"/>
            <a:ext cx="5583806" cy="480131"/>
          </a:xfrm>
          <a:prstGeom prst="rect">
            <a:avLst/>
          </a:prstGeom>
          <a:noFill/>
        </p:spPr>
        <p:txBody>
          <a:bodyPr wrap="square" rtlCol="0">
            <a:spAutoFit/>
          </a:bodyPr>
          <a:lstStyle/>
          <a:p>
            <a:pPr>
              <a:lnSpc>
                <a:spcPct val="90000"/>
              </a:lnSpc>
              <a:spcBef>
                <a:spcPct val="0"/>
              </a:spcBef>
            </a:pPr>
            <a:r>
              <a:rPr lang="zh-CN" altLang="en-US" sz="2800" b="1" dirty="0">
                <a:solidFill>
                  <a:schemeClr val="tx2"/>
                </a:solidFill>
                <a:latin typeface="微软雅黑" panose="020B0503020204020204" pitchFamily="34" charset="-122"/>
                <a:ea typeface="微软雅黑" panose="020B0503020204020204" pitchFamily="34" charset="-122"/>
              </a:rPr>
              <a:t>预算编制流程</a:t>
            </a:r>
          </a:p>
        </p:txBody>
      </p:sp>
      <p:sp>
        <p:nvSpPr>
          <p:cNvPr id="46" name="箭头: 右 45">
            <a:extLst>
              <a:ext uri="{FF2B5EF4-FFF2-40B4-BE49-F238E27FC236}">
                <a16:creationId xmlns:a16="http://schemas.microsoft.com/office/drawing/2014/main" id="{2B0FD466-3F73-46F1-A762-0DC812DAF9F7}"/>
              </a:ext>
            </a:extLst>
          </p:cNvPr>
          <p:cNvSpPr/>
          <p:nvPr/>
        </p:nvSpPr>
        <p:spPr>
          <a:xfrm>
            <a:off x="4098099" y="3433681"/>
            <a:ext cx="597022" cy="236426"/>
          </a:xfrm>
          <a:prstGeom prst="rightArrow">
            <a:avLst/>
          </a:prstGeom>
          <a:solidFill>
            <a:srgbClr val="61C5B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箭头: 右 46">
            <a:extLst>
              <a:ext uri="{FF2B5EF4-FFF2-40B4-BE49-F238E27FC236}">
                <a16:creationId xmlns:a16="http://schemas.microsoft.com/office/drawing/2014/main" id="{F3D538BA-7ECA-47DD-A8F6-C4BA6F21CD90}"/>
              </a:ext>
            </a:extLst>
          </p:cNvPr>
          <p:cNvSpPr/>
          <p:nvPr/>
        </p:nvSpPr>
        <p:spPr>
          <a:xfrm>
            <a:off x="4091155" y="4002902"/>
            <a:ext cx="597022" cy="236426"/>
          </a:xfrm>
          <a:prstGeom prst="rightArrow">
            <a:avLst/>
          </a:prstGeom>
          <a:solidFill>
            <a:srgbClr val="61C5B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a:extLst>
              <a:ext uri="{FF2B5EF4-FFF2-40B4-BE49-F238E27FC236}">
                <a16:creationId xmlns:a16="http://schemas.microsoft.com/office/drawing/2014/main" id="{F108193E-3FF4-4AC6-442C-016006B5EB5A}"/>
              </a:ext>
            </a:extLst>
          </p:cNvPr>
          <p:cNvSpPr/>
          <p:nvPr/>
        </p:nvSpPr>
        <p:spPr>
          <a:xfrm>
            <a:off x="765973" y="1557727"/>
            <a:ext cx="1515953" cy="404734"/>
          </a:xfrm>
          <a:prstGeom prst="roundRect">
            <a:avLst>
              <a:gd name="adj" fmla="val 50000"/>
            </a:avLst>
          </a:prstGeom>
          <a:solidFill>
            <a:srgbClr val="1432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a:solidFill>
                <a:schemeClr val="tx1"/>
              </a:solidFill>
            </a:endParaRPr>
          </a:p>
        </p:txBody>
      </p:sp>
      <p:sp>
        <p:nvSpPr>
          <p:cNvPr id="14" name="Rectangle 8">
            <a:extLst>
              <a:ext uri="{FF2B5EF4-FFF2-40B4-BE49-F238E27FC236}">
                <a16:creationId xmlns:a16="http://schemas.microsoft.com/office/drawing/2014/main" id="{7C0543A8-DAEE-B98F-E76B-6EEE81714108}"/>
              </a:ext>
            </a:extLst>
          </p:cNvPr>
          <p:cNvSpPr/>
          <p:nvPr/>
        </p:nvSpPr>
        <p:spPr>
          <a:xfrm>
            <a:off x="986479" y="1643530"/>
            <a:ext cx="1062427" cy="264747"/>
          </a:xfrm>
          <a:prstGeom prst="rect">
            <a:avLst/>
          </a:prstGeom>
          <a:noFill/>
        </p:spPr>
        <p:txBody>
          <a:bodyPr wrap="square" lIns="0" tIns="0" rIns="0" bIns="36000"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zh-CN" altLang="en-US" sz="1300" b="1" dirty="0">
                <a:solidFill>
                  <a:schemeClr val="bg1"/>
                </a:solidFill>
                <a:latin typeface="OPPOSans M" pitchFamily="18" charset="-122"/>
                <a:ea typeface="OPPOSans M" pitchFamily="18" charset="-122"/>
                <a:cs typeface="OPPOSans M" pitchFamily="18" charset="-122"/>
              </a:rPr>
              <a:t>预算准备</a:t>
            </a:r>
            <a:endParaRPr kumimoji="0" lang="en-US" altLang="x-none" sz="1300" b="1" u="none" strike="noStrike" kern="1200" cap="none" spc="0" normalizeH="0" baseline="0" noProof="0" dirty="0">
              <a:ln>
                <a:noFill/>
              </a:ln>
              <a:solidFill>
                <a:schemeClr val="bg1"/>
              </a:solidFill>
              <a:effectLst/>
              <a:uLnTx/>
              <a:uFillTx/>
              <a:latin typeface="OPPOSans M" pitchFamily="18" charset="-122"/>
              <a:ea typeface="OPPOSans M" pitchFamily="18" charset="-122"/>
              <a:cs typeface="OPPOSans M" pitchFamily="18" charset="-122"/>
            </a:endParaRPr>
          </a:p>
        </p:txBody>
      </p:sp>
      <p:sp>
        <p:nvSpPr>
          <p:cNvPr id="19" name="圆角矩形 18">
            <a:extLst>
              <a:ext uri="{FF2B5EF4-FFF2-40B4-BE49-F238E27FC236}">
                <a16:creationId xmlns:a16="http://schemas.microsoft.com/office/drawing/2014/main" id="{DAB12643-F958-E7D8-EAB6-39C89B874189}"/>
              </a:ext>
            </a:extLst>
          </p:cNvPr>
          <p:cNvSpPr/>
          <p:nvPr/>
        </p:nvSpPr>
        <p:spPr>
          <a:xfrm>
            <a:off x="759717" y="2528076"/>
            <a:ext cx="1515953" cy="404734"/>
          </a:xfrm>
          <a:prstGeom prst="roundRect">
            <a:avLst>
              <a:gd name="adj" fmla="val 50000"/>
            </a:avLst>
          </a:prstGeom>
          <a:solidFill>
            <a:schemeClr val="bg2"/>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a:solidFill>
                <a:schemeClr val="tx1"/>
              </a:solidFill>
            </a:endParaRPr>
          </a:p>
        </p:txBody>
      </p:sp>
      <p:sp>
        <p:nvSpPr>
          <p:cNvPr id="20" name="Rectangle 8">
            <a:extLst>
              <a:ext uri="{FF2B5EF4-FFF2-40B4-BE49-F238E27FC236}">
                <a16:creationId xmlns:a16="http://schemas.microsoft.com/office/drawing/2014/main" id="{61E588CB-96F3-71C1-5DFD-6D8479F1561C}"/>
              </a:ext>
            </a:extLst>
          </p:cNvPr>
          <p:cNvSpPr/>
          <p:nvPr/>
        </p:nvSpPr>
        <p:spPr>
          <a:xfrm>
            <a:off x="986478" y="2661094"/>
            <a:ext cx="1062427" cy="264747"/>
          </a:xfrm>
          <a:prstGeom prst="rect">
            <a:avLst/>
          </a:prstGeom>
          <a:noFill/>
        </p:spPr>
        <p:txBody>
          <a:bodyPr wrap="square" lIns="0" tIns="0" rIns="0" bIns="36000"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zh-CN" altLang="en-US" sz="1300" b="1" dirty="0">
                <a:latin typeface="OPPOSans M" pitchFamily="18" charset="-122"/>
                <a:ea typeface="OPPOSans M" pitchFamily="18" charset="-122"/>
                <a:cs typeface="OPPOSans M" pitchFamily="18" charset="-122"/>
              </a:rPr>
              <a:t>确定原则</a:t>
            </a:r>
            <a:endParaRPr kumimoji="0" lang="en-US" altLang="x-none" sz="1300" b="1" u="none" strike="noStrike" kern="1200" cap="none" spc="0" normalizeH="0" baseline="0" noProof="0" dirty="0">
              <a:ln>
                <a:noFill/>
              </a:ln>
              <a:effectLst/>
              <a:uLnTx/>
              <a:uFillTx/>
              <a:latin typeface="OPPOSans M" pitchFamily="18" charset="-122"/>
              <a:ea typeface="OPPOSans M" pitchFamily="18" charset="-122"/>
              <a:cs typeface="OPPOSans M" pitchFamily="18" charset="-122"/>
            </a:endParaRPr>
          </a:p>
        </p:txBody>
      </p:sp>
      <p:sp>
        <p:nvSpPr>
          <p:cNvPr id="22" name="圆角矩形 21">
            <a:extLst>
              <a:ext uri="{FF2B5EF4-FFF2-40B4-BE49-F238E27FC236}">
                <a16:creationId xmlns:a16="http://schemas.microsoft.com/office/drawing/2014/main" id="{457A7A0D-9F70-BE6E-223F-FD9D550C1075}"/>
              </a:ext>
            </a:extLst>
          </p:cNvPr>
          <p:cNvSpPr/>
          <p:nvPr/>
        </p:nvSpPr>
        <p:spPr>
          <a:xfrm>
            <a:off x="765973" y="3476168"/>
            <a:ext cx="1515953" cy="404734"/>
          </a:xfrm>
          <a:prstGeom prst="roundRect">
            <a:avLst>
              <a:gd name="adj" fmla="val 50000"/>
            </a:avLst>
          </a:prstGeom>
          <a:solidFill>
            <a:srgbClr val="1432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a:solidFill>
                <a:schemeClr val="tx1"/>
              </a:solidFill>
            </a:endParaRPr>
          </a:p>
        </p:txBody>
      </p:sp>
      <p:sp>
        <p:nvSpPr>
          <p:cNvPr id="23" name="Rectangle 8">
            <a:extLst>
              <a:ext uri="{FF2B5EF4-FFF2-40B4-BE49-F238E27FC236}">
                <a16:creationId xmlns:a16="http://schemas.microsoft.com/office/drawing/2014/main" id="{5F6383B4-5AD8-57D0-843E-108A856EA8FC}"/>
              </a:ext>
            </a:extLst>
          </p:cNvPr>
          <p:cNvSpPr/>
          <p:nvPr/>
        </p:nvSpPr>
        <p:spPr>
          <a:xfrm>
            <a:off x="1010390" y="3545086"/>
            <a:ext cx="1062427" cy="264747"/>
          </a:xfrm>
          <a:prstGeom prst="rect">
            <a:avLst/>
          </a:prstGeom>
          <a:noFill/>
        </p:spPr>
        <p:txBody>
          <a:bodyPr wrap="square" lIns="0" tIns="0" rIns="0" bIns="36000"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zh-CN" altLang="en-US" sz="1300" b="1" dirty="0">
                <a:solidFill>
                  <a:schemeClr val="bg1"/>
                </a:solidFill>
                <a:latin typeface="OPPOSans M" pitchFamily="18" charset="-122"/>
                <a:ea typeface="OPPOSans M" pitchFamily="18" charset="-122"/>
                <a:cs typeface="OPPOSans M" pitchFamily="18" charset="-122"/>
              </a:rPr>
              <a:t>预算编制</a:t>
            </a:r>
            <a:endParaRPr kumimoji="0" lang="en-US" altLang="x-none" sz="1300" b="1" u="none" strike="noStrike" kern="1200" cap="none" spc="0" normalizeH="0" baseline="0" noProof="0" dirty="0">
              <a:ln>
                <a:noFill/>
              </a:ln>
              <a:solidFill>
                <a:schemeClr val="bg1"/>
              </a:solidFill>
              <a:effectLst/>
              <a:uLnTx/>
              <a:uFillTx/>
              <a:latin typeface="OPPOSans M" pitchFamily="18" charset="-122"/>
              <a:ea typeface="OPPOSans M" pitchFamily="18" charset="-122"/>
              <a:cs typeface="OPPOSans M" pitchFamily="18" charset="-122"/>
            </a:endParaRPr>
          </a:p>
        </p:txBody>
      </p:sp>
      <p:sp>
        <p:nvSpPr>
          <p:cNvPr id="25" name="圆角矩形 24">
            <a:extLst>
              <a:ext uri="{FF2B5EF4-FFF2-40B4-BE49-F238E27FC236}">
                <a16:creationId xmlns:a16="http://schemas.microsoft.com/office/drawing/2014/main" id="{DD0B4630-44FB-A58B-79D1-031D51FCDB3F}"/>
              </a:ext>
            </a:extLst>
          </p:cNvPr>
          <p:cNvSpPr/>
          <p:nvPr/>
        </p:nvSpPr>
        <p:spPr>
          <a:xfrm>
            <a:off x="759717" y="4560604"/>
            <a:ext cx="1515953" cy="404734"/>
          </a:xfrm>
          <a:prstGeom prst="roundRect">
            <a:avLst>
              <a:gd name="adj" fmla="val 50000"/>
            </a:avLst>
          </a:prstGeom>
          <a:solidFill>
            <a:srgbClr val="F2F2F2"/>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a:solidFill>
                <a:schemeClr val="tx1"/>
              </a:solidFill>
            </a:endParaRPr>
          </a:p>
        </p:txBody>
      </p:sp>
      <p:sp>
        <p:nvSpPr>
          <p:cNvPr id="26" name="Rectangle 8">
            <a:extLst>
              <a:ext uri="{FF2B5EF4-FFF2-40B4-BE49-F238E27FC236}">
                <a16:creationId xmlns:a16="http://schemas.microsoft.com/office/drawing/2014/main" id="{5ECD769D-9D48-3F04-C843-7E94205F67F4}"/>
              </a:ext>
            </a:extLst>
          </p:cNvPr>
          <p:cNvSpPr/>
          <p:nvPr/>
        </p:nvSpPr>
        <p:spPr>
          <a:xfrm>
            <a:off x="983911" y="4637034"/>
            <a:ext cx="1062427" cy="264747"/>
          </a:xfrm>
          <a:prstGeom prst="rect">
            <a:avLst/>
          </a:prstGeom>
          <a:noFill/>
        </p:spPr>
        <p:txBody>
          <a:bodyPr wrap="square" lIns="0" tIns="0" rIns="0" bIns="36000"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300" b="1" u="none" strike="noStrike" kern="1200" cap="none" spc="0" normalizeH="0" baseline="0" noProof="0" dirty="0">
                <a:ln>
                  <a:noFill/>
                </a:ln>
                <a:effectLst/>
                <a:uLnTx/>
                <a:uFillTx/>
                <a:latin typeface="OPPOSans M" pitchFamily="18" charset="-122"/>
                <a:ea typeface="OPPOSans M" pitchFamily="18" charset="-122"/>
                <a:cs typeface="OPPOSans M" pitchFamily="18" charset="-122"/>
              </a:rPr>
              <a:t>预算平衡</a:t>
            </a:r>
            <a:endParaRPr kumimoji="0" lang="en-US" altLang="x-none" sz="1300" b="1" u="none" strike="noStrike" kern="1200" cap="none" spc="0" normalizeH="0" baseline="0" noProof="0" dirty="0">
              <a:ln>
                <a:noFill/>
              </a:ln>
              <a:effectLst/>
              <a:uLnTx/>
              <a:uFillTx/>
              <a:latin typeface="OPPOSans M" pitchFamily="18" charset="-122"/>
              <a:ea typeface="OPPOSans M" pitchFamily="18" charset="-122"/>
              <a:cs typeface="OPPOSans M" pitchFamily="18" charset="-122"/>
            </a:endParaRPr>
          </a:p>
        </p:txBody>
      </p:sp>
      <p:sp>
        <p:nvSpPr>
          <p:cNvPr id="28" name="圆角矩形 27">
            <a:extLst>
              <a:ext uri="{FF2B5EF4-FFF2-40B4-BE49-F238E27FC236}">
                <a16:creationId xmlns:a16="http://schemas.microsoft.com/office/drawing/2014/main" id="{47E233EF-009E-8529-2986-B13E06AD0738}"/>
              </a:ext>
            </a:extLst>
          </p:cNvPr>
          <p:cNvSpPr/>
          <p:nvPr/>
        </p:nvSpPr>
        <p:spPr>
          <a:xfrm>
            <a:off x="761844" y="5561184"/>
            <a:ext cx="1515953" cy="404734"/>
          </a:xfrm>
          <a:prstGeom prst="roundRect">
            <a:avLst>
              <a:gd name="adj" fmla="val 50000"/>
            </a:avLst>
          </a:prstGeom>
          <a:solidFill>
            <a:srgbClr val="1432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a:solidFill>
                <a:schemeClr val="tx1"/>
              </a:solidFill>
            </a:endParaRPr>
          </a:p>
        </p:txBody>
      </p:sp>
      <p:sp>
        <p:nvSpPr>
          <p:cNvPr id="29" name="Rectangle 8">
            <a:extLst>
              <a:ext uri="{FF2B5EF4-FFF2-40B4-BE49-F238E27FC236}">
                <a16:creationId xmlns:a16="http://schemas.microsoft.com/office/drawing/2014/main" id="{FBC0D7B8-C5B7-D244-BBB8-B57BB27C6ADB}"/>
              </a:ext>
            </a:extLst>
          </p:cNvPr>
          <p:cNvSpPr/>
          <p:nvPr/>
        </p:nvSpPr>
        <p:spPr>
          <a:xfrm>
            <a:off x="1006262" y="5638821"/>
            <a:ext cx="1062427" cy="256027"/>
          </a:xfrm>
          <a:prstGeom prst="rect">
            <a:avLst/>
          </a:prstGeom>
          <a:noFill/>
        </p:spPr>
        <p:txBody>
          <a:bodyPr wrap="square" lIns="0" tIns="0" rIns="0" bIns="36000"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zh-CN" altLang="en-US" sz="1300" b="1" dirty="0">
                <a:solidFill>
                  <a:schemeClr val="bg1"/>
                </a:solidFill>
                <a:latin typeface="OPPOSans M" pitchFamily="18" charset="-122"/>
                <a:ea typeface="OPPOSans M" pitchFamily="18" charset="-122"/>
                <a:cs typeface="OPPOSans M" pitchFamily="18" charset="-122"/>
              </a:rPr>
              <a:t>预算下达执行</a:t>
            </a:r>
            <a:endParaRPr kumimoji="0" lang="en-US" altLang="x-none" sz="1300" b="1" u="none" strike="noStrike" kern="1200" cap="none" spc="0" normalizeH="0" baseline="0" noProof="0" dirty="0">
              <a:ln>
                <a:noFill/>
              </a:ln>
              <a:solidFill>
                <a:schemeClr val="bg1"/>
              </a:solidFill>
              <a:effectLst/>
              <a:uLnTx/>
              <a:uFillTx/>
              <a:latin typeface="OPPOSans M" pitchFamily="18" charset="-122"/>
              <a:ea typeface="OPPOSans M" pitchFamily="18" charset="-122"/>
              <a:cs typeface="OPPOSans M" pitchFamily="18" charset="-122"/>
            </a:endParaRPr>
          </a:p>
        </p:txBody>
      </p:sp>
      <p:sp>
        <p:nvSpPr>
          <p:cNvPr id="10" name="矩形 9">
            <a:extLst>
              <a:ext uri="{FF2B5EF4-FFF2-40B4-BE49-F238E27FC236}">
                <a16:creationId xmlns:a16="http://schemas.microsoft.com/office/drawing/2014/main" id="{617A5775-8FDF-4541-A553-6F24121DDB95}"/>
              </a:ext>
            </a:extLst>
          </p:cNvPr>
          <p:cNvSpPr/>
          <p:nvPr/>
        </p:nvSpPr>
        <p:spPr>
          <a:xfrm>
            <a:off x="5147253" y="1325283"/>
            <a:ext cx="2772334" cy="1167692"/>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1200" b="1"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明确战略目标梳理战略策略</a:t>
            </a:r>
            <a:endParaRPr lang="en-US" altLang="zh-CN" sz="1200" b="1" dirty="0">
              <a:solidFill>
                <a:schemeClr val="tx2"/>
              </a:solidFill>
              <a:latin typeface="微软雅黑" panose="020B0503020204020204" pitchFamily="34" charset="-122"/>
              <a:ea typeface="微软雅黑" panose="020B0503020204020204" pitchFamily="34" charset="-122"/>
              <a:cs typeface="Open Sans" panose="020B0606030504020204" pitchFamily="34" charset="0"/>
            </a:endParaRPr>
          </a:p>
          <a:p>
            <a:pPr marL="342900" indent="-342900">
              <a:lnSpc>
                <a:spcPct val="150000"/>
              </a:lnSpc>
              <a:buFont typeface="Wingdings" panose="05000000000000000000" pitchFamily="2" charset="2"/>
              <a:buChar char="Ø"/>
            </a:pPr>
            <a:r>
              <a:rPr lang="zh-CN" altLang="en-US" sz="1200" b="1"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整体分析（历史及现状分析）</a:t>
            </a:r>
            <a:endParaRPr lang="en-US" altLang="zh-CN" sz="1200" b="1" dirty="0">
              <a:solidFill>
                <a:schemeClr val="tx2"/>
              </a:solidFill>
              <a:latin typeface="微软雅黑" panose="020B0503020204020204" pitchFamily="34" charset="-122"/>
              <a:ea typeface="微软雅黑" panose="020B0503020204020204" pitchFamily="34" charset="-122"/>
              <a:cs typeface="Open Sans" panose="020B0606030504020204" pitchFamily="34" charset="0"/>
            </a:endParaRPr>
          </a:p>
          <a:p>
            <a:pPr marL="342900" indent="-342900">
              <a:lnSpc>
                <a:spcPct val="150000"/>
              </a:lnSpc>
              <a:buFont typeface="Wingdings" panose="05000000000000000000" pitchFamily="2" charset="2"/>
              <a:buChar char="Ø"/>
            </a:pPr>
            <a:r>
              <a:rPr lang="zh-CN" altLang="en-US" sz="1200" b="1"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大方向和核心目标初步确定</a:t>
            </a:r>
            <a:endParaRPr lang="en-US" altLang="zh-CN" sz="1200" b="1" dirty="0">
              <a:solidFill>
                <a:schemeClr val="tx2"/>
              </a:solidFill>
              <a:latin typeface="微软雅黑" panose="020B0503020204020204" pitchFamily="34" charset="-122"/>
              <a:ea typeface="微软雅黑" panose="020B0503020204020204" pitchFamily="34" charset="-122"/>
              <a:cs typeface="Open Sans" panose="020B0606030504020204" pitchFamily="34" charset="0"/>
            </a:endParaRPr>
          </a:p>
          <a:p>
            <a:pPr marL="342900" indent="-342900">
              <a:lnSpc>
                <a:spcPct val="150000"/>
              </a:lnSpc>
              <a:buFont typeface="Wingdings" panose="05000000000000000000" pitchFamily="2" charset="2"/>
              <a:buChar char="Ø"/>
            </a:pPr>
            <a:r>
              <a:rPr lang="zh-CN" altLang="en-US" sz="1200" b="1"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年度经营计划</a:t>
            </a:r>
            <a:endParaRPr lang="en-US" altLang="zh-CN" sz="1200" b="1" dirty="0">
              <a:solidFill>
                <a:schemeClr val="tx2"/>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27" name="文本框 26">
            <a:extLst>
              <a:ext uri="{FF2B5EF4-FFF2-40B4-BE49-F238E27FC236}">
                <a16:creationId xmlns:a16="http://schemas.microsoft.com/office/drawing/2014/main" id="{A246368F-4FA7-4542-A836-824B928C9F81}"/>
              </a:ext>
            </a:extLst>
          </p:cNvPr>
          <p:cNvSpPr txBox="1"/>
          <p:nvPr/>
        </p:nvSpPr>
        <p:spPr>
          <a:xfrm>
            <a:off x="5147253" y="2533561"/>
            <a:ext cx="2897474" cy="613694"/>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zh-CN" altLang="en-US" sz="1200" b="1" dirty="0">
                <a:solidFill>
                  <a:srgbClr val="61C2BB"/>
                </a:solidFill>
                <a:latin typeface="微软雅黑" panose="020B0503020204020204" pitchFamily="34" charset="-122"/>
                <a:ea typeface="微软雅黑" panose="020B0503020204020204" pitchFamily="34" charset="-122"/>
              </a:rPr>
              <a:t>根据年度经营计划制定公司目标</a:t>
            </a:r>
            <a:endParaRPr lang="en-US" altLang="zh-CN" sz="1200" b="1" dirty="0">
              <a:solidFill>
                <a:srgbClr val="61C2BB"/>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1200" b="1" dirty="0">
                <a:solidFill>
                  <a:schemeClr val="tx2"/>
                </a:solidFill>
                <a:latin typeface="微软雅黑" panose="020B0503020204020204" pitchFamily="34" charset="-122"/>
                <a:ea typeface="微软雅黑" panose="020B0503020204020204" pitchFamily="34" charset="-122"/>
              </a:rPr>
              <a:t>初步任务在部门与项目</a:t>
            </a:r>
            <a:r>
              <a:rPr lang="zh-CN" altLang="en-US" sz="1200" b="1">
                <a:solidFill>
                  <a:schemeClr val="tx2"/>
                </a:solidFill>
                <a:latin typeface="微软雅黑" panose="020B0503020204020204" pitchFamily="34" charset="-122"/>
                <a:ea typeface="微软雅黑" panose="020B0503020204020204" pitchFamily="34" charset="-122"/>
              </a:rPr>
              <a:t>之间分配</a:t>
            </a:r>
            <a:endParaRPr lang="en-US" altLang="zh-CN" sz="1200" b="1" dirty="0">
              <a:solidFill>
                <a:schemeClr val="tx2"/>
              </a:solidFill>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CC7C048B-6257-4B24-B960-AD0C8FDBD8D8}"/>
              </a:ext>
            </a:extLst>
          </p:cNvPr>
          <p:cNvSpPr txBox="1"/>
          <p:nvPr/>
        </p:nvSpPr>
        <p:spPr>
          <a:xfrm>
            <a:off x="5151880" y="3222509"/>
            <a:ext cx="2897474" cy="1167692"/>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zh-CN" altLang="en-US" sz="1200" b="1" dirty="0">
                <a:solidFill>
                  <a:schemeClr val="tx2"/>
                </a:solidFill>
                <a:latin typeface="微软雅黑" panose="020B0503020204020204" pitchFamily="34" charset="-122"/>
                <a:ea typeface="微软雅黑" panose="020B0503020204020204" pitchFamily="34" charset="-122"/>
              </a:rPr>
              <a:t>收入、成本预算</a:t>
            </a:r>
            <a:endParaRPr lang="en-US" altLang="zh-CN" sz="1200" b="1" dirty="0">
              <a:solidFill>
                <a:schemeClr val="tx2"/>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1200" b="1" dirty="0">
                <a:solidFill>
                  <a:schemeClr val="tx2"/>
                </a:solidFill>
                <a:latin typeface="微软雅黑" panose="020B0503020204020204" pitchFamily="34" charset="-122"/>
                <a:ea typeface="微软雅黑" panose="020B0503020204020204" pitchFamily="34" charset="-122"/>
              </a:rPr>
              <a:t>三项费用预算</a:t>
            </a:r>
            <a:endParaRPr lang="en-US" altLang="zh-CN" sz="1200" b="1" dirty="0">
              <a:solidFill>
                <a:schemeClr val="tx2"/>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ü"/>
            </a:pP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ü"/>
            </a:pP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31" name="文本框 30">
            <a:extLst>
              <a:ext uri="{FF2B5EF4-FFF2-40B4-BE49-F238E27FC236}">
                <a16:creationId xmlns:a16="http://schemas.microsoft.com/office/drawing/2014/main" id="{CE0210D0-58AE-48F1-8C78-746ED237F70E}"/>
              </a:ext>
            </a:extLst>
          </p:cNvPr>
          <p:cNvSpPr txBox="1"/>
          <p:nvPr/>
        </p:nvSpPr>
        <p:spPr>
          <a:xfrm>
            <a:off x="5155693" y="3784544"/>
            <a:ext cx="2897474" cy="613694"/>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zh-CN" altLang="en-US" sz="1200" b="1" dirty="0">
                <a:solidFill>
                  <a:schemeClr val="tx2"/>
                </a:solidFill>
                <a:latin typeface="微软雅黑" panose="020B0503020204020204" pitchFamily="34" charset="-122"/>
                <a:ea typeface="微软雅黑" panose="020B0503020204020204" pitchFamily="34" charset="-122"/>
              </a:rPr>
              <a:t>固定资产投资与改良</a:t>
            </a:r>
            <a:endParaRPr lang="en-US" altLang="zh-CN" sz="1200" b="1" dirty="0">
              <a:solidFill>
                <a:schemeClr val="tx2"/>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1200" b="1" dirty="0">
                <a:solidFill>
                  <a:schemeClr val="tx2"/>
                </a:solidFill>
                <a:latin typeface="微软雅黑" panose="020B0503020204020204" pitchFamily="34" charset="-122"/>
                <a:ea typeface="微软雅黑" panose="020B0503020204020204" pitchFamily="34" charset="-122"/>
              </a:rPr>
              <a:t>投融资预算</a:t>
            </a:r>
            <a:endParaRPr lang="en-US" altLang="zh-CN" sz="1200" b="1" dirty="0">
              <a:solidFill>
                <a:schemeClr val="tx2"/>
              </a:solidFill>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E1BE536C-F1EB-422C-B2A5-B55F47B1BAD6}"/>
              </a:ext>
            </a:extLst>
          </p:cNvPr>
          <p:cNvSpPr txBox="1"/>
          <p:nvPr/>
        </p:nvSpPr>
        <p:spPr>
          <a:xfrm>
            <a:off x="5140997" y="4449021"/>
            <a:ext cx="1743700" cy="890693"/>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zh-CN" altLang="en-US" sz="1200" b="1" dirty="0">
                <a:solidFill>
                  <a:schemeClr val="tx2"/>
                </a:solidFill>
                <a:latin typeface="微软雅黑" panose="020B0503020204020204" pitchFamily="34" charset="-122"/>
                <a:ea typeface="微软雅黑" panose="020B0503020204020204" pitchFamily="34" charset="-122"/>
              </a:rPr>
              <a:t>预算汇总</a:t>
            </a:r>
            <a:endParaRPr lang="en-US" altLang="zh-CN" sz="1200" b="1" dirty="0">
              <a:solidFill>
                <a:schemeClr val="tx2"/>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1200" b="1" dirty="0">
                <a:solidFill>
                  <a:schemeClr val="tx2"/>
                </a:solidFill>
                <a:latin typeface="微软雅黑" panose="020B0503020204020204" pitchFamily="34" charset="-122"/>
                <a:ea typeface="微软雅黑" panose="020B0503020204020204" pitchFamily="34" charset="-122"/>
              </a:rPr>
              <a:t>预算检验</a:t>
            </a:r>
            <a:endParaRPr lang="en-US" altLang="zh-CN" sz="1200" b="1" dirty="0">
              <a:solidFill>
                <a:schemeClr val="tx2"/>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1200" b="1" dirty="0">
                <a:solidFill>
                  <a:schemeClr val="tx2"/>
                </a:solidFill>
                <a:latin typeface="微软雅黑" panose="020B0503020204020204" pitchFamily="34" charset="-122"/>
                <a:ea typeface="微软雅黑" panose="020B0503020204020204" pitchFamily="34" charset="-122"/>
              </a:rPr>
              <a:t>预算质询</a:t>
            </a:r>
            <a:endParaRPr lang="en-US" altLang="zh-CN" sz="1200" b="1" dirty="0">
              <a:solidFill>
                <a:schemeClr val="tx2"/>
              </a:solidFill>
              <a:latin typeface="微软雅黑" panose="020B0503020204020204" pitchFamily="34" charset="-122"/>
              <a:ea typeface="微软雅黑" panose="020B0503020204020204" pitchFamily="34" charset="-122"/>
            </a:endParaRPr>
          </a:p>
        </p:txBody>
      </p:sp>
      <p:cxnSp>
        <p:nvCxnSpPr>
          <p:cNvPr id="33" name="直接连接符 32">
            <a:extLst>
              <a:ext uri="{FF2B5EF4-FFF2-40B4-BE49-F238E27FC236}">
                <a16:creationId xmlns:a16="http://schemas.microsoft.com/office/drawing/2014/main" id="{E7E8BA48-BC70-403E-8B0D-2E8774CC1AD1}"/>
              </a:ext>
            </a:extLst>
          </p:cNvPr>
          <p:cNvCxnSpPr>
            <a:cxnSpLocks/>
          </p:cNvCxnSpPr>
          <p:nvPr/>
        </p:nvCxnSpPr>
        <p:spPr>
          <a:xfrm flipV="1">
            <a:off x="587385" y="2443788"/>
            <a:ext cx="11114492" cy="17535"/>
          </a:xfrm>
          <a:prstGeom prst="line">
            <a:avLst/>
          </a:prstGeom>
          <a:ln w="12700"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9F3E46EC-1701-48B9-A107-6DC2ECB64468}"/>
              </a:ext>
            </a:extLst>
          </p:cNvPr>
          <p:cNvCxnSpPr>
            <a:cxnSpLocks/>
          </p:cNvCxnSpPr>
          <p:nvPr/>
        </p:nvCxnSpPr>
        <p:spPr>
          <a:xfrm>
            <a:off x="587385" y="3226071"/>
            <a:ext cx="11138624" cy="3944"/>
          </a:xfrm>
          <a:prstGeom prst="line">
            <a:avLst/>
          </a:prstGeom>
          <a:ln w="12700"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9EB0F867-1E76-493D-A700-76D257926628}"/>
              </a:ext>
            </a:extLst>
          </p:cNvPr>
          <p:cNvCxnSpPr>
            <a:cxnSpLocks/>
          </p:cNvCxnSpPr>
          <p:nvPr/>
        </p:nvCxnSpPr>
        <p:spPr>
          <a:xfrm flipV="1">
            <a:off x="587385" y="4414851"/>
            <a:ext cx="11114492" cy="26795"/>
          </a:xfrm>
          <a:prstGeom prst="line">
            <a:avLst/>
          </a:prstGeom>
          <a:ln w="12700"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C60C9C3-7FF5-4461-BFD6-E25F18731E1A}"/>
              </a:ext>
            </a:extLst>
          </p:cNvPr>
          <p:cNvCxnSpPr>
            <a:cxnSpLocks/>
          </p:cNvCxnSpPr>
          <p:nvPr/>
        </p:nvCxnSpPr>
        <p:spPr>
          <a:xfrm flipV="1">
            <a:off x="587385" y="5401158"/>
            <a:ext cx="11114492" cy="1"/>
          </a:xfrm>
          <a:prstGeom prst="line">
            <a:avLst/>
          </a:prstGeom>
          <a:ln w="12700"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E15717BA-C026-41A1-88C2-05FD79F0A670}"/>
              </a:ext>
            </a:extLst>
          </p:cNvPr>
          <p:cNvSpPr txBox="1"/>
          <p:nvPr/>
        </p:nvSpPr>
        <p:spPr>
          <a:xfrm>
            <a:off x="5140997" y="5433741"/>
            <a:ext cx="2778590" cy="890693"/>
          </a:xfrm>
          <a:prstGeom prst="rect">
            <a:avLst/>
          </a:prstGeom>
          <a:noFill/>
        </p:spPr>
        <p:txBody>
          <a:bodyPr wrap="square">
            <a:spAutoFit/>
          </a:bodyPr>
          <a:lstStyle>
            <a:defPPr>
              <a:defRPr lang="zh-CN"/>
            </a:defPPr>
            <a:lvl1pPr marL="342900" indent="-342900">
              <a:lnSpc>
                <a:spcPct val="150000"/>
              </a:lnSpc>
              <a:buFont typeface="Wingdings" panose="05000000000000000000" pitchFamily="2" charset="2"/>
              <a:buChar char="ü"/>
              <a:defRPr sz="1200" b="1">
                <a:solidFill>
                  <a:schemeClr val="tx1">
                    <a:lumMod val="75000"/>
                    <a:lumOff val="25000"/>
                  </a:schemeClr>
                </a:solidFill>
                <a:latin typeface="微软雅黑" panose="020B0503020204020204" pitchFamily="34" charset="-122"/>
                <a:ea typeface="微软雅黑" panose="020B0503020204020204" pitchFamily="34" charset="-122"/>
              </a:defRPr>
            </a:lvl1pPr>
          </a:lstStyle>
          <a:p>
            <a:pPr>
              <a:buFont typeface="Wingdings" panose="05000000000000000000" pitchFamily="2" charset="2"/>
              <a:buChar char="Ø"/>
            </a:pPr>
            <a:r>
              <a:rPr lang="zh-CN" altLang="en-US" dirty="0">
                <a:solidFill>
                  <a:schemeClr val="tx2"/>
                </a:solidFill>
              </a:rPr>
              <a:t>预算审议</a:t>
            </a:r>
            <a:endParaRPr lang="en-US" altLang="zh-CN" dirty="0">
              <a:solidFill>
                <a:schemeClr val="tx2"/>
              </a:solidFill>
            </a:endParaRPr>
          </a:p>
          <a:p>
            <a:pPr>
              <a:buFont typeface="Wingdings" panose="05000000000000000000" pitchFamily="2" charset="2"/>
              <a:buChar char="Ø"/>
            </a:pPr>
            <a:r>
              <a:rPr lang="zh-CN" altLang="en-US" dirty="0">
                <a:solidFill>
                  <a:schemeClr val="tx2"/>
                </a:solidFill>
              </a:rPr>
              <a:t>预算定稿下达</a:t>
            </a:r>
            <a:endParaRPr lang="en-US" altLang="zh-CN" dirty="0">
              <a:solidFill>
                <a:schemeClr val="tx2"/>
              </a:solidFill>
            </a:endParaRPr>
          </a:p>
          <a:p>
            <a:pPr>
              <a:buFont typeface="Wingdings" panose="05000000000000000000" pitchFamily="2" charset="2"/>
              <a:buChar char="Ø"/>
            </a:pPr>
            <a:r>
              <a:rPr lang="zh-CN" altLang="en-US" dirty="0">
                <a:solidFill>
                  <a:schemeClr val="tx2"/>
                </a:solidFill>
              </a:rPr>
              <a:t>过程分析</a:t>
            </a:r>
            <a:endParaRPr lang="en-US" altLang="zh-CN" dirty="0">
              <a:solidFill>
                <a:schemeClr val="tx2"/>
              </a:solidFill>
            </a:endParaRPr>
          </a:p>
        </p:txBody>
      </p:sp>
      <p:sp>
        <p:nvSpPr>
          <p:cNvPr id="44" name="矩形 43">
            <a:extLst>
              <a:ext uri="{FF2B5EF4-FFF2-40B4-BE49-F238E27FC236}">
                <a16:creationId xmlns:a16="http://schemas.microsoft.com/office/drawing/2014/main" id="{3961978D-E3D4-4958-ABA1-5E295A496F05}"/>
              </a:ext>
            </a:extLst>
          </p:cNvPr>
          <p:cNvSpPr/>
          <p:nvPr/>
        </p:nvSpPr>
        <p:spPr>
          <a:xfrm>
            <a:off x="3404746" y="3399005"/>
            <a:ext cx="890596"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anose="020B0503020204020204" pitchFamily="34" charset="-122"/>
                <a:ea typeface="微软雅黑" panose="020B0503020204020204" pitchFamily="34" charset="-122"/>
              </a:rPr>
              <a:t>经营预算</a:t>
            </a:r>
          </a:p>
        </p:txBody>
      </p:sp>
      <p:sp>
        <p:nvSpPr>
          <p:cNvPr id="45" name="矩形 44">
            <a:extLst>
              <a:ext uri="{FF2B5EF4-FFF2-40B4-BE49-F238E27FC236}">
                <a16:creationId xmlns:a16="http://schemas.microsoft.com/office/drawing/2014/main" id="{7A82BA67-5176-48FA-8A8D-552742B2FE88}"/>
              </a:ext>
            </a:extLst>
          </p:cNvPr>
          <p:cNvSpPr/>
          <p:nvPr/>
        </p:nvSpPr>
        <p:spPr>
          <a:xfrm>
            <a:off x="3413186" y="3938551"/>
            <a:ext cx="882155" cy="343616"/>
          </a:xfrm>
          <a:prstGeom prst="rect">
            <a:avLst/>
          </a:prstGeom>
          <a:solidFill>
            <a:srgbClr val="61C5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anose="020B0503020204020204" pitchFamily="34" charset="-122"/>
                <a:ea typeface="微软雅黑" panose="020B0503020204020204" pitchFamily="34" charset="-122"/>
              </a:rPr>
              <a:t>资本预算</a:t>
            </a:r>
          </a:p>
        </p:txBody>
      </p:sp>
      <p:sp>
        <p:nvSpPr>
          <p:cNvPr id="48" name="文本框 47">
            <a:extLst>
              <a:ext uri="{FF2B5EF4-FFF2-40B4-BE49-F238E27FC236}">
                <a16:creationId xmlns:a16="http://schemas.microsoft.com/office/drawing/2014/main" id="{60FE5CE1-6443-4F7A-9993-50D9B0180CAB}"/>
              </a:ext>
            </a:extLst>
          </p:cNvPr>
          <p:cNvSpPr txBox="1"/>
          <p:nvPr/>
        </p:nvSpPr>
        <p:spPr>
          <a:xfrm>
            <a:off x="9034622" y="1536539"/>
            <a:ext cx="1648799" cy="738664"/>
          </a:xfrm>
          <a:prstGeom prst="rect">
            <a:avLst/>
          </a:prstGeom>
          <a:noFill/>
        </p:spPr>
        <p:txBody>
          <a:bodyPr wrap="square" rtlCol="0">
            <a:spAutoFit/>
          </a:bodyPr>
          <a:lstStyle/>
          <a:p>
            <a:r>
              <a:rPr lang="zh-CN" altLang="en-US" sz="1400" b="1" dirty="0">
                <a:solidFill>
                  <a:schemeClr val="accent1"/>
                </a:solidFill>
                <a:latin typeface="微软雅黑" panose="020B0503020204020204" pitchFamily="34" charset="-122"/>
                <a:ea typeface="微软雅黑" panose="020B0503020204020204" pitchFamily="34" charset="-122"/>
                <a:cs typeface="Open Sans" panose="020B0606030504020204" pitchFamily="34" charset="0"/>
              </a:rPr>
              <a:t>集团公司</a:t>
            </a:r>
            <a:endParaRPr lang="en-US" altLang="zh-CN" sz="1400" b="1" dirty="0">
              <a:solidFill>
                <a:schemeClr val="accent1"/>
              </a:solidFill>
              <a:latin typeface="微软雅黑" panose="020B0503020204020204" pitchFamily="34" charset="-122"/>
              <a:ea typeface="微软雅黑" panose="020B0503020204020204" pitchFamily="34" charset="-122"/>
              <a:cs typeface="Open Sans" panose="020B0606030504020204" pitchFamily="34" charset="0"/>
            </a:endParaRPr>
          </a:p>
          <a:p>
            <a:endParaRPr lang="en-US" altLang="zh-CN" sz="1400" b="1" dirty="0">
              <a:solidFill>
                <a:schemeClr val="accent1"/>
              </a:solidFill>
              <a:latin typeface="微软雅黑" panose="020B0503020204020204" pitchFamily="34" charset="-122"/>
              <a:ea typeface="微软雅黑" panose="020B0503020204020204" pitchFamily="34" charset="-122"/>
              <a:cs typeface="Open Sans" panose="020B0606030504020204" pitchFamily="34" charset="0"/>
            </a:endParaRPr>
          </a:p>
          <a:p>
            <a:r>
              <a:rPr lang="zh-CN" altLang="en-US" sz="1400" b="1" dirty="0">
                <a:solidFill>
                  <a:schemeClr val="accent1"/>
                </a:solidFill>
                <a:latin typeface="微软雅黑" panose="020B0503020204020204" pitchFamily="34" charset="-122"/>
                <a:ea typeface="微软雅黑" panose="020B0503020204020204" pitchFamily="34" charset="-122"/>
                <a:cs typeface="Open Sans" panose="020B0606030504020204" pitchFamily="34" charset="0"/>
              </a:rPr>
              <a:t>各公司总经理</a:t>
            </a:r>
          </a:p>
        </p:txBody>
      </p:sp>
      <p:sp>
        <p:nvSpPr>
          <p:cNvPr id="49" name="文本框 48">
            <a:extLst>
              <a:ext uri="{FF2B5EF4-FFF2-40B4-BE49-F238E27FC236}">
                <a16:creationId xmlns:a16="http://schemas.microsoft.com/office/drawing/2014/main" id="{DCB82D61-1DF7-4426-8655-5A5F8FBE8CCB}"/>
              </a:ext>
            </a:extLst>
          </p:cNvPr>
          <p:cNvSpPr txBox="1"/>
          <p:nvPr/>
        </p:nvSpPr>
        <p:spPr>
          <a:xfrm>
            <a:off x="9043062" y="2536109"/>
            <a:ext cx="2409825" cy="469359"/>
          </a:xfrm>
          <a:prstGeom prst="rect">
            <a:avLst/>
          </a:prstGeom>
          <a:noFill/>
        </p:spPr>
        <p:txBody>
          <a:bodyPr wrap="square" rtlCol="0">
            <a:spAutoFit/>
          </a:bodyPr>
          <a:lstStyle>
            <a:defPPr>
              <a:defRPr lang="zh-CN"/>
            </a:defPPr>
            <a:lvl1pPr>
              <a:defRPr sz="1400" b="1">
                <a:solidFill>
                  <a:srgbClr val="0A9689"/>
                </a:solidFill>
                <a:latin typeface="微软雅黑" panose="020B0503020204020204" pitchFamily="34" charset="-122"/>
                <a:ea typeface="微软雅黑" panose="020B0503020204020204" pitchFamily="34" charset="-122"/>
                <a:cs typeface="Open Sans" panose="020B0606030504020204" pitchFamily="34" charset="0"/>
              </a:defRPr>
            </a:lvl1pPr>
          </a:lstStyle>
          <a:p>
            <a:endParaRPr lang="en-US" altLang="zh-CN" sz="1050" dirty="0">
              <a:solidFill>
                <a:srgbClr val="ED7D31"/>
              </a:solidFill>
            </a:endParaRPr>
          </a:p>
          <a:p>
            <a:r>
              <a:rPr lang="zh-CN" altLang="en-US" dirty="0">
                <a:solidFill>
                  <a:srgbClr val="61C2BB"/>
                </a:solidFill>
              </a:rPr>
              <a:t>各公司总经理</a:t>
            </a:r>
          </a:p>
        </p:txBody>
      </p:sp>
      <p:sp>
        <p:nvSpPr>
          <p:cNvPr id="50" name="文本框 49">
            <a:extLst>
              <a:ext uri="{FF2B5EF4-FFF2-40B4-BE49-F238E27FC236}">
                <a16:creationId xmlns:a16="http://schemas.microsoft.com/office/drawing/2014/main" id="{4F803DC3-F4D1-4AA3-B04B-305348C836E7}"/>
              </a:ext>
            </a:extLst>
          </p:cNvPr>
          <p:cNvSpPr txBox="1"/>
          <p:nvPr/>
        </p:nvSpPr>
        <p:spPr>
          <a:xfrm>
            <a:off x="9034622" y="3738444"/>
            <a:ext cx="1897713" cy="307777"/>
          </a:xfrm>
          <a:prstGeom prst="rect">
            <a:avLst/>
          </a:prstGeom>
          <a:noFill/>
        </p:spPr>
        <p:txBody>
          <a:bodyPr wrap="square" rtlCol="0">
            <a:spAutoFit/>
          </a:bodyPr>
          <a:lstStyle>
            <a:defPPr>
              <a:defRPr lang="zh-CN"/>
            </a:defPPr>
            <a:lvl1pPr>
              <a:defRPr sz="1400" b="1">
                <a:solidFill>
                  <a:srgbClr val="0A9689"/>
                </a:solidFill>
                <a:latin typeface="微软雅黑" panose="020B0503020204020204" pitchFamily="34" charset="-122"/>
                <a:ea typeface="微软雅黑" panose="020B0503020204020204" pitchFamily="34" charset="-122"/>
                <a:cs typeface="Open Sans" panose="020B0606030504020204" pitchFamily="34" charset="0"/>
              </a:defRPr>
            </a:lvl1pPr>
          </a:lstStyle>
          <a:p>
            <a:r>
              <a:rPr lang="zh-CN" altLang="en-US" dirty="0">
                <a:solidFill>
                  <a:schemeClr val="accent1"/>
                </a:solidFill>
              </a:rPr>
              <a:t>各公司预算编制小组</a:t>
            </a:r>
          </a:p>
        </p:txBody>
      </p:sp>
      <p:sp>
        <p:nvSpPr>
          <p:cNvPr id="51" name="文本框 50">
            <a:extLst>
              <a:ext uri="{FF2B5EF4-FFF2-40B4-BE49-F238E27FC236}">
                <a16:creationId xmlns:a16="http://schemas.microsoft.com/office/drawing/2014/main" id="{68255D94-B54A-4842-8A7C-1B885357F118}"/>
              </a:ext>
            </a:extLst>
          </p:cNvPr>
          <p:cNvSpPr txBox="1"/>
          <p:nvPr/>
        </p:nvSpPr>
        <p:spPr>
          <a:xfrm>
            <a:off x="9599704" y="4493262"/>
            <a:ext cx="2409825" cy="307777"/>
          </a:xfrm>
          <a:prstGeom prst="rect">
            <a:avLst/>
          </a:prstGeom>
          <a:noFill/>
        </p:spPr>
        <p:txBody>
          <a:bodyPr wrap="square" rtlCol="0">
            <a:spAutoFit/>
          </a:bodyPr>
          <a:lstStyle>
            <a:defPPr>
              <a:defRPr lang="zh-CN"/>
            </a:defPPr>
            <a:lvl1pPr>
              <a:defRPr sz="1400" b="1">
                <a:solidFill>
                  <a:srgbClr val="0A9689"/>
                </a:solidFill>
                <a:latin typeface="微软雅黑" panose="020B0503020204020204" pitchFamily="34" charset="-122"/>
                <a:ea typeface="微软雅黑" panose="020B0503020204020204" pitchFamily="34" charset="-122"/>
                <a:cs typeface="Open Sans" panose="020B0606030504020204" pitchFamily="34" charset="0"/>
              </a:defRPr>
            </a:lvl1pPr>
          </a:lstStyle>
          <a:p>
            <a:r>
              <a:rPr lang="zh-CN" altLang="en-US" dirty="0">
                <a:solidFill>
                  <a:schemeClr val="accent1"/>
                </a:solidFill>
              </a:rPr>
              <a:t>各公司预算编制小组</a:t>
            </a:r>
          </a:p>
        </p:txBody>
      </p:sp>
      <p:sp>
        <p:nvSpPr>
          <p:cNvPr id="52" name="文本框 51">
            <a:extLst>
              <a:ext uri="{FF2B5EF4-FFF2-40B4-BE49-F238E27FC236}">
                <a16:creationId xmlns:a16="http://schemas.microsoft.com/office/drawing/2014/main" id="{1A422BC8-1608-4E43-A12E-1F95710381FD}"/>
              </a:ext>
            </a:extLst>
          </p:cNvPr>
          <p:cNvSpPr txBox="1"/>
          <p:nvPr/>
        </p:nvSpPr>
        <p:spPr>
          <a:xfrm>
            <a:off x="9599704" y="5031937"/>
            <a:ext cx="2409825" cy="307777"/>
          </a:xfrm>
          <a:prstGeom prst="rect">
            <a:avLst/>
          </a:prstGeom>
          <a:noFill/>
        </p:spPr>
        <p:txBody>
          <a:bodyPr wrap="square" rtlCol="0">
            <a:spAutoFit/>
          </a:bodyPr>
          <a:lstStyle>
            <a:defPPr>
              <a:defRPr lang="zh-CN"/>
            </a:defPPr>
            <a:lvl1pPr>
              <a:defRPr sz="1400" b="1">
                <a:solidFill>
                  <a:srgbClr val="0A9689"/>
                </a:solidFill>
                <a:latin typeface="微软雅黑" panose="020B0503020204020204" pitchFamily="34" charset="-122"/>
                <a:ea typeface="微软雅黑" panose="020B0503020204020204" pitchFamily="34" charset="-122"/>
                <a:cs typeface="Open Sans" panose="020B0606030504020204" pitchFamily="34" charset="0"/>
              </a:defRPr>
            </a:lvl1pPr>
          </a:lstStyle>
          <a:p>
            <a:r>
              <a:rPr lang="zh-CN" altLang="en-US" dirty="0">
                <a:solidFill>
                  <a:schemeClr val="accent1"/>
                </a:solidFill>
              </a:rPr>
              <a:t>集团预算管理小组</a:t>
            </a:r>
            <a:endParaRPr lang="en-US" altLang="zh-CN" dirty="0">
              <a:solidFill>
                <a:schemeClr val="accent1"/>
              </a:solidFill>
            </a:endParaRPr>
          </a:p>
        </p:txBody>
      </p:sp>
      <p:sp>
        <p:nvSpPr>
          <p:cNvPr id="53" name="矩形 52">
            <a:extLst>
              <a:ext uri="{FF2B5EF4-FFF2-40B4-BE49-F238E27FC236}">
                <a16:creationId xmlns:a16="http://schemas.microsoft.com/office/drawing/2014/main" id="{8E35DE15-3819-4B50-87C0-02E9017F93FA}"/>
              </a:ext>
            </a:extLst>
          </p:cNvPr>
          <p:cNvSpPr/>
          <p:nvPr/>
        </p:nvSpPr>
        <p:spPr>
          <a:xfrm>
            <a:off x="9080895" y="4466665"/>
            <a:ext cx="468000" cy="360000"/>
          </a:xfrm>
          <a:prstGeom prst="rect">
            <a:avLst/>
          </a:prstGeom>
          <a:solidFill>
            <a:srgbClr val="C2DF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solidFill>
                  <a:schemeClr val="tx1"/>
                </a:solidFill>
                <a:latin typeface="微软雅黑" panose="020B0503020204020204" pitchFamily="34" charset="-122"/>
                <a:ea typeface="微软雅黑" panose="020B0503020204020204" pitchFamily="34" charset="-122"/>
              </a:rPr>
              <a:t>第一阶段</a:t>
            </a:r>
          </a:p>
        </p:txBody>
      </p:sp>
      <p:sp>
        <p:nvSpPr>
          <p:cNvPr id="54" name="矩形 53">
            <a:extLst>
              <a:ext uri="{FF2B5EF4-FFF2-40B4-BE49-F238E27FC236}">
                <a16:creationId xmlns:a16="http://schemas.microsoft.com/office/drawing/2014/main" id="{70868D45-B91F-413A-890E-71CDF3DAFDB2}"/>
              </a:ext>
            </a:extLst>
          </p:cNvPr>
          <p:cNvSpPr/>
          <p:nvPr/>
        </p:nvSpPr>
        <p:spPr>
          <a:xfrm>
            <a:off x="9080895" y="4989088"/>
            <a:ext cx="468000" cy="360000"/>
          </a:xfrm>
          <a:prstGeom prst="rect">
            <a:avLst/>
          </a:prstGeom>
          <a:solidFill>
            <a:srgbClr val="C2DF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tx1"/>
                </a:solidFill>
                <a:latin typeface="微软雅黑" panose="020B0503020204020204" pitchFamily="34" charset="-122"/>
                <a:ea typeface="微软雅黑" panose="020B0503020204020204" pitchFamily="34" charset="-122"/>
              </a:rPr>
              <a:t>第二阶段</a:t>
            </a:r>
          </a:p>
        </p:txBody>
      </p:sp>
      <p:sp>
        <p:nvSpPr>
          <p:cNvPr id="55" name="文本框 54">
            <a:extLst>
              <a:ext uri="{FF2B5EF4-FFF2-40B4-BE49-F238E27FC236}">
                <a16:creationId xmlns:a16="http://schemas.microsoft.com/office/drawing/2014/main" id="{B0D3719E-7FD6-4D88-A145-0A4492102028}"/>
              </a:ext>
            </a:extLst>
          </p:cNvPr>
          <p:cNvSpPr txBox="1"/>
          <p:nvPr/>
        </p:nvSpPr>
        <p:spPr>
          <a:xfrm>
            <a:off x="9007294" y="5594292"/>
            <a:ext cx="2105025" cy="954107"/>
          </a:xfrm>
          <a:prstGeom prst="rect">
            <a:avLst/>
          </a:prstGeom>
          <a:noFill/>
        </p:spPr>
        <p:txBody>
          <a:bodyPr wrap="square" rtlCol="0">
            <a:spAutoFit/>
          </a:bodyPr>
          <a:lstStyle>
            <a:defPPr>
              <a:defRPr lang="zh-CN"/>
            </a:defPPr>
            <a:lvl1pPr>
              <a:defRPr sz="1400" b="1">
                <a:solidFill>
                  <a:srgbClr val="0A9689"/>
                </a:solidFill>
                <a:latin typeface="微软雅黑" panose="020B0503020204020204" pitchFamily="34" charset="-122"/>
                <a:ea typeface="微软雅黑" panose="020B0503020204020204" pitchFamily="34" charset="-122"/>
                <a:cs typeface="Open Sans" panose="020B0606030504020204" pitchFamily="34" charset="0"/>
              </a:defRPr>
            </a:lvl1pPr>
          </a:lstStyle>
          <a:p>
            <a:r>
              <a:rPr lang="zh-CN" altLang="en-US" dirty="0">
                <a:solidFill>
                  <a:schemeClr val="accent1"/>
                </a:solidFill>
              </a:rPr>
              <a:t>经营委员会</a:t>
            </a:r>
            <a:endParaRPr lang="en-US" altLang="zh-CN" dirty="0">
              <a:solidFill>
                <a:schemeClr val="accent1"/>
              </a:solidFill>
            </a:endParaRPr>
          </a:p>
          <a:p>
            <a:endParaRPr lang="en-US" altLang="zh-CN" dirty="0">
              <a:solidFill>
                <a:schemeClr val="accent1"/>
              </a:solidFill>
            </a:endParaRPr>
          </a:p>
          <a:p>
            <a:r>
              <a:rPr lang="zh-CN" altLang="en-US" dirty="0">
                <a:solidFill>
                  <a:schemeClr val="accent1"/>
                </a:solidFill>
              </a:rPr>
              <a:t>预算管理小组</a:t>
            </a:r>
            <a:endParaRPr lang="en-US" altLang="zh-CN" dirty="0">
              <a:solidFill>
                <a:schemeClr val="accent1"/>
              </a:solidFill>
            </a:endParaRPr>
          </a:p>
          <a:p>
            <a:endParaRPr lang="zh-CN" altLang="en-US" dirty="0"/>
          </a:p>
        </p:txBody>
      </p:sp>
      <p:sp>
        <p:nvSpPr>
          <p:cNvPr id="18" name="矩形 17">
            <a:extLst>
              <a:ext uri="{FF2B5EF4-FFF2-40B4-BE49-F238E27FC236}">
                <a16:creationId xmlns:a16="http://schemas.microsoft.com/office/drawing/2014/main" id="{A107CD99-A0C8-47B5-91F8-372B58087AE3}"/>
              </a:ext>
            </a:extLst>
          </p:cNvPr>
          <p:cNvSpPr/>
          <p:nvPr/>
        </p:nvSpPr>
        <p:spPr>
          <a:xfrm>
            <a:off x="439586" y="976544"/>
            <a:ext cx="2726048" cy="324000"/>
          </a:xfrm>
          <a:prstGeom prst="rect">
            <a:avLst/>
          </a:prstGeom>
          <a:solidFill>
            <a:srgbClr val="1432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9EB7596A-E8C2-43C1-AF50-507046E82716}"/>
              </a:ext>
            </a:extLst>
          </p:cNvPr>
          <p:cNvSpPr/>
          <p:nvPr/>
        </p:nvSpPr>
        <p:spPr>
          <a:xfrm>
            <a:off x="3300413" y="976544"/>
            <a:ext cx="5418289" cy="324000"/>
          </a:xfrm>
          <a:prstGeom prst="rect">
            <a:avLst/>
          </a:prstGeom>
          <a:solidFill>
            <a:srgbClr val="61C2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a:extLst>
              <a:ext uri="{FF2B5EF4-FFF2-40B4-BE49-F238E27FC236}">
                <a16:creationId xmlns:a16="http://schemas.microsoft.com/office/drawing/2014/main" id="{666C6A3C-94B7-4920-895F-37E424C4E24D}"/>
              </a:ext>
            </a:extLst>
          </p:cNvPr>
          <p:cNvSpPr/>
          <p:nvPr/>
        </p:nvSpPr>
        <p:spPr>
          <a:xfrm>
            <a:off x="8853481" y="969962"/>
            <a:ext cx="2957627" cy="32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a:extLst>
              <a:ext uri="{FF2B5EF4-FFF2-40B4-BE49-F238E27FC236}">
                <a16:creationId xmlns:a16="http://schemas.microsoft.com/office/drawing/2014/main" id="{5D07B22D-BEC5-4E17-8EA1-701012A7BBC0}"/>
              </a:ext>
            </a:extLst>
          </p:cNvPr>
          <p:cNvSpPr txBox="1"/>
          <p:nvPr/>
        </p:nvSpPr>
        <p:spPr>
          <a:xfrm>
            <a:off x="1009094" y="955408"/>
            <a:ext cx="1094182" cy="338554"/>
          </a:xfrm>
          <a:prstGeom prst="rect">
            <a:avLst/>
          </a:prstGeom>
          <a:noFill/>
        </p:spPr>
        <p:txBody>
          <a:bodyPr wrap="square" rtlCol="0">
            <a:spAutoFit/>
          </a:bodyPr>
          <a:lstStyle/>
          <a:p>
            <a:r>
              <a:rPr lang="zh-CN" altLang="en-US" sz="1600" b="1" dirty="0">
                <a:solidFill>
                  <a:schemeClr val="bg1"/>
                </a:solidFill>
              </a:rPr>
              <a:t>  步     骤</a:t>
            </a:r>
          </a:p>
        </p:txBody>
      </p:sp>
      <p:sp>
        <p:nvSpPr>
          <p:cNvPr id="66" name="文本框 65">
            <a:extLst>
              <a:ext uri="{FF2B5EF4-FFF2-40B4-BE49-F238E27FC236}">
                <a16:creationId xmlns:a16="http://schemas.microsoft.com/office/drawing/2014/main" id="{09095DC1-7BC2-42D1-A408-B8BA6F966C7E}"/>
              </a:ext>
            </a:extLst>
          </p:cNvPr>
          <p:cNvSpPr txBox="1"/>
          <p:nvPr/>
        </p:nvSpPr>
        <p:spPr>
          <a:xfrm>
            <a:off x="4603113" y="973194"/>
            <a:ext cx="2298669" cy="338554"/>
          </a:xfrm>
          <a:prstGeom prst="rect">
            <a:avLst/>
          </a:prstGeom>
          <a:noFill/>
        </p:spPr>
        <p:txBody>
          <a:bodyPr wrap="square" rtlCol="0">
            <a:spAutoFit/>
          </a:bodyPr>
          <a:lstStyle/>
          <a:p>
            <a:r>
              <a:rPr lang="zh-CN" altLang="en-US" sz="1600" b="1" dirty="0">
                <a:solidFill>
                  <a:schemeClr val="bg1"/>
                </a:solidFill>
              </a:rPr>
              <a:t>      内       容</a:t>
            </a:r>
          </a:p>
        </p:txBody>
      </p:sp>
      <p:sp>
        <p:nvSpPr>
          <p:cNvPr id="67" name="文本框 66">
            <a:extLst>
              <a:ext uri="{FF2B5EF4-FFF2-40B4-BE49-F238E27FC236}">
                <a16:creationId xmlns:a16="http://schemas.microsoft.com/office/drawing/2014/main" id="{2A9D2CF4-E5A4-405F-AE3E-904B5380DA08}"/>
              </a:ext>
            </a:extLst>
          </p:cNvPr>
          <p:cNvSpPr txBox="1"/>
          <p:nvPr/>
        </p:nvSpPr>
        <p:spPr>
          <a:xfrm>
            <a:off x="9227033" y="962685"/>
            <a:ext cx="1997694" cy="338554"/>
          </a:xfrm>
          <a:prstGeom prst="rect">
            <a:avLst/>
          </a:prstGeom>
          <a:noFill/>
        </p:spPr>
        <p:txBody>
          <a:bodyPr wrap="square" rtlCol="0">
            <a:spAutoFit/>
          </a:bodyPr>
          <a:lstStyle/>
          <a:p>
            <a:r>
              <a:rPr lang="zh-CN" altLang="en-US" sz="1600" b="1" dirty="0">
                <a:solidFill>
                  <a:schemeClr val="bg1"/>
                </a:solidFill>
              </a:rPr>
              <a:t>           责任单位</a:t>
            </a:r>
          </a:p>
        </p:txBody>
      </p:sp>
      <p:cxnSp>
        <p:nvCxnSpPr>
          <p:cNvPr id="2" name="直线连接符 7">
            <a:extLst>
              <a:ext uri="{FF2B5EF4-FFF2-40B4-BE49-F238E27FC236}">
                <a16:creationId xmlns:a16="http://schemas.microsoft.com/office/drawing/2014/main" id="{4AF428CE-7DBF-5BC1-9646-C29BD41DB7C4}"/>
              </a:ext>
            </a:extLst>
          </p:cNvPr>
          <p:cNvCxnSpPr>
            <a:cxnSpLocks/>
          </p:cNvCxnSpPr>
          <p:nvPr/>
        </p:nvCxnSpPr>
        <p:spPr>
          <a:xfrm>
            <a:off x="421341" y="859164"/>
            <a:ext cx="1139429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35A8A821-8D27-4173-B1F1-7F044F364D43}"/>
              </a:ext>
            </a:extLst>
          </p:cNvPr>
          <p:cNvSpPr txBox="1"/>
          <p:nvPr/>
        </p:nvSpPr>
        <p:spPr>
          <a:xfrm>
            <a:off x="750602" y="1956414"/>
            <a:ext cx="1515953" cy="276999"/>
          </a:xfrm>
          <a:prstGeom prst="rect">
            <a:avLst/>
          </a:prstGeom>
          <a:noFill/>
        </p:spPr>
        <p:txBody>
          <a:bodyPr wrap="square" rtlCol="0">
            <a:spAutoFit/>
          </a:bodyPr>
          <a:lstStyle/>
          <a:p>
            <a:pPr algn="ctr"/>
            <a:r>
              <a:rPr lang="en-US" altLang="zh-CN" sz="1200" b="1">
                <a:latin typeface="+mn-ea"/>
              </a:rPr>
              <a:t>2025</a:t>
            </a:r>
            <a:r>
              <a:rPr lang="zh-CN" altLang="en-US" sz="1200" b="1">
                <a:latin typeface="+mn-ea"/>
              </a:rPr>
              <a:t>年</a:t>
            </a:r>
            <a:r>
              <a:rPr lang="en-US" altLang="zh-CN" sz="1200" b="1">
                <a:latin typeface="+mn-ea"/>
              </a:rPr>
              <a:t>9</a:t>
            </a:r>
            <a:r>
              <a:rPr lang="zh-CN" altLang="en-US" sz="1200" b="1">
                <a:latin typeface="+mn-ea"/>
              </a:rPr>
              <a:t>月</a:t>
            </a:r>
            <a:endParaRPr lang="en-US" altLang="zh-CN" sz="1200" b="1">
              <a:latin typeface="+mn-ea"/>
            </a:endParaRPr>
          </a:p>
        </p:txBody>
      </p:sp>
      <p:sp>
        <p:nvSpPr>
          <p:cNvPr id="4" name="文本框 3">
            <a:extLst>
              <a:ext uri="{FF2B5EF4-FFF2-40B4-BE49-F238E27FC236}">
                <a16:creationId xmlns:a16="http://schemas.microsoft.com/office/drawing/2014/main" id="{61C10144-5700-2863-AEAA-9ED7B11A2B6E}"/>
              </a:ext>
            </a:extLst>
          </p:cNvPr>
          <p:cNvSpPr txBox="1"/>
          <p:nvPr/>
        </p:nvSpPr>
        <p:spPr>
          <a:xfrm>
            <a:off x="750602" y="2944029"/>
            <a:ext cx="1515953" cy="276999"/>
          </a:xfrm>
          <a:prstGeom prst="rect">
            <a:avLst/>
          </a:prstGeom>
          <a:noFill/>
        </p:spPr>
        <p:txBody>
          <a:bodyPr wrap="square" rtlCol="0">
            <a:spAutoFit/>
          </a:bodyPr>
          <a:lstStyle/>
          <a:p>
            <a:pPr algn="ctr"/>
            <a:r>
              <a:rPr lang="en-US" altLang="zh-CN" sz="1200" b="1">
                <a:latin typeface="+mn-ea"/>
              </a:rPr>
              <a:t>2025</a:t>
            </a:r>
            <a:r>
              <a:rPr lang="zh-CN" altLang="en-US" sz="1200" b="1">
                <a:latin typeface="+mn-ea"/>
              </a:rPr>
              <a:t>年</a:t>
            </a:r>
            <a:r>
              <a:rPr lang="en-US" altLang="zh-CN" sz="1200" b="1">
                <a:latin typeface="+mn-ea"/>
              </a:rPr>
              <a:t>10</a:t>
            </a:r>
            <a:r>
              <a:rPr lang="zh-CN" altLang="en-US" sz="1200" b="1">
                <a:latin typeface="+mn-ea"/>
              </a:rPr>
              <a:t>月</a:t>
            </a:r>
            <a:endParaRPr lang="en-US" altLang="zh-CN" sz="1200" b="1">
              <a:latin typeface="+mn-ea"/>
            </a:endParaRPr>
          </a:p>
        </p:txBody>
      </p:sp>
      <p:sp>
        <p:nvSpPr>
          <p:cNvPr id="5" name="文本框 4">
            <a:extLst>
              <a:ext uri="{FF2B5EF4-FFF2-40B4-BE49-F238E27FC236}">
                <a16:creationId xmlns:a16="http://schemas.microsoft.com/office/drawing/2014/main" id="{2D294351-2909-C591-7350-801283F808D4}"/>
              </a:ext>
            </a:extLst>
          </p:cNvPr>
          <p:cNvSpPr txBox="1"/>
          <p:nvPr/>
        </p:nvSpPr>
        <p:spPr>
          <a:xfrm>
            <a:off x="757147" y="3956165"/>
            <a:ext cx="1515953" cy="276999"/>
          </a:xfrm>
          <a:prstGeom prst="rect">
            <a:avLst/>
          </a:prstGeom>
          <a:noFill/>
        </p:spPr>
        <p:txBody>
          <a:bodyPr wrap="square" rtlCol="0">
            <a:spAutoFit/>
          </a:bodyPr>
          <a:lstStyle/>
          <a:p>
            <a:pPr algn="ctr"/>
            <a:r>
              <a:rPr lang="en-US" altLang="zh-CN" sz="1200" b="1">
                <a:latin typeface="+mn-ea"/>
              </a:rPr>
              <a:t>2025</a:t>
            </a:r>
            <a:r>
              <a:rPr lang="zh-CN" altLang="en-US" sz="1200" b="1">
                <a:latin typeface="+mn-ea"/>
              </a:rPr>
              <a:t>年</a:t>
            </a:r>
            <a:r>
              <a:rPr lang="en-US" altLang="zh-CN" sz="1200" b="1">
                <a:latin typeface="+mn-ea"/>
              </a:rPr>
              <a:t>10-11</a:t>
            </a:r>
            <a:r>
              <a:rPr lang="zh-CN" altLang="en-US" sz="1200" b="1">
                <a:latin typeface="+mn-ea"/>
              </a:rPr>
              <a:t>月</a:t>
            </a:r>
            <a:endParaRPr lang="en-US" altLang="zh-CN" sz="1200" b="1">
              <a:latin typeface="+mn-ea"/>
            </a:endParaRPr>
          </a:p>
        </p:txBody>
      </p:sp>
      <p:sp>
        <p:nvSpPr>
          <p:cNvPr id="6" name="文本框 5">
            <a:extLst>
              <a:ext uri="{FF2B5EF4-FFF2-40B4-BE49-F238E27FC236}">
                <a16:creationId xmlns:a16="http://schemas.microsoft.com/office/drawing/2014/main" id="{1B5B87A8-6965-4E8C-CD95-A7C9042BB826}"/>
              </a:ext>
            </a:extLst>
          </p:cNvPr>
          <p:cNvSpPr txBox="1"/>
          <p:nvPr/>
        </p:nvSpPr>
        <p:spPr>
          <a:xfrm>
            <a:off x="752841" y="5030227"/>
            <a:ext cx="1515953" cy="276999"/>
          </a:xfrm>
          <a:prstGeom prst="rect">
            <a:avLst/>
          </a:prstGeom>
          <a:noFill/>
        </p:spPr>
        <p:txBody>
          <a:bodyPr wrap="square" rtlCol="0">
            <a:spAutoFit/>
          </a:bodyPr>
          <a:lstStyle/>
          <a:p>
            <a:pPr algn="ctr"/>
            <a:r>
              <a:rPr lang="en-US" altLang="zh-CN" sz="1200" b="1">
                <a:latin typeface="+mn-ea"/>
              </a:rPr>
              <a:t>2025</a:t>
            </a:r>
            <a:r>
              <a:rPr lang="zh-CN" altLang="en-US" sz="1200" b="1">
                <a:latin typeface="+mn-ea"/>
              </a:rPr>
              <a:t>年</a:t>
            </a:r>
            <a:r>
              <a:rPr lang="en-US" altLang="zh-CN" sz="1200" b="1">
                <a:latin typeface="+mn-ea"/>
              </a:rPr>
              <a:t>11-12</a:t>
            </a:r>
            <a:r>
              <a:rPr lang="zh-CN" altLang="en-US" sz="1200" b="1">
                <a:latin typeface="+mn-ea"/>
              </a:rPr>
              <a:t>月</a:t>
            </a:r>
            <a:endParaRPr lang="en-US" altLang="zh-CN" sz="1200" b="1">
              <a:latin typeface="+mn-ea"/>
            </a:endParaRPr>
          </a:p>
        </p:txBody>
      </p:sp>
      <p:sp>
        <p:nvSpPr>
          <p:cNvPr id="7" name="文本框 6">
            <a:extLst>
              <a:ext uri="{FF2B5EF4-FFF2-40B4-BE49-F238E27FC236}">
                <a16:creationId xmlns:a16="http://schemas.microsoft.com/office/drawing/2014/main" id="{2CC6A4D5-77EC-40B3-DDD9-9718D788DAF1}"/>
              </a:ext>
            </a:extLst>
          </p:cNvPr>
          <p:cNvSpPr txBox="1"/>
          <p:nvPr/>
        </p:nvSpPr>
        <p:spPr>
          <a:xfrm>
            <a:off x="439587" y="6023112"/>
            <a:ext cx="2200668" cy="276999"/>
          </a:xfrm>
          <a:prstGeom prst="rect">
            <a:avLst/>
          </a:prstGeom>
          <a:noFill/>
        </p:spPr>
        <p:txBody>
          <a:bodyPr wrap="square" rtlCol="0">
            <a:spAutoFit/>
          </a:bodyPr>
          <a:lstStyle/>
          <a:p>
            <a:pPr algn="ctr"/>
            <a:r>
              <a:rPr lang="en-US" altLang="zh-CN" sz="1200" b="1">
                <a:latin typeface="+mn-ea"/>
              </a:rPr>
              <a:t>2025</a:t>
            </a:r>
            <a:r>
              <a:rPr lang="zh-CN" altLang="en-US" sz="1200" b="1">
                <a:latin typeface="+mn-ea"/>
              </a:rPr>
              <a:t>年</a:t>
            </a:r>
            <a:r>
              <a:rPr lang="en-US" altLang="zh-CN" sz="1200" b="1">
                <a:latin typeface="+mn-ea"/>
              </a:rPr>
              <a:t>12</a:t>
            </a:r>
            <a:r>
              <a:rPr lang="zh-CN" altLang="en-US" sz="1200" b="1">
                <a:latin typeface="+mn-ea"/>
              </a:rPr>
              <a:t>月</a:t>
            </a:r>
            <a:r>
              <a:rPr lang="en-US" altLang="zh-CN" sz="1200" b="1">
                <a:latin typeface="+mn-ea"/>
              </a:rPr>
              <a:t>-2026</a:t>
            </a:r>
            <a:r>
              <a:rPr lang="zh-CN" altLang="en-US" sz="1200" b="1">
                <a:latin typeface="+mn-ea"/>
              </a:rPr>
              <a:t>年</a:t>
            </a:r>
            <a:r>
              <a:rPr lang="en-US" altLang="zh-CN" sz="1200" b="1">
                <a:latin typeface="+mn-ea"/>
              </a:rPr>
              <a:t>1</a:t>
            </a:r>
            <a:r>
              <a:rPr lang="zh-CN" altLang="en-US" sz="1200" b="1">
                <a:latin typeface="+mn-ea"/>
              </a:rPr>
              <a:t>月</a:t>
            </a:r>
            <a:endParaRPr lang="en-US" altLang="zh-CN" sz="1200" b="1">
              <a:latin typeface="+mn-ea"/>
            </a:endParaRPr>
          </a:p>
        </p:txBody>
      </p:sp>
    </p:spTree>
    <p:extLst>
      <p:ext uri="{BB962C8B-B14F-4D97-AF65-F5344CB8AC3E}">
        <p14:creationId xmlns:p14="http://schemas.microsoft.com/office/powerpoint/2010/main" val="1364341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26">
            <a:extLst>
              <a:ext uri="{FF2B5EF4-FFF2-40B4-BE49-F238E27FC236}">
                <a16:creationId xmlns:a16="http://schemas.microsoft.com/office/drawing/2014/main" id="{B8BFA9D1-88ED-8D0D-8107-97FCDB1849BC}"/>
              </a:ext>
            </a:extLst>
          </p:cNvPr>
          <p:cNvSpPr/>
          <p:nvPr/>
        </p:nvSpPr>
        <p:spPr>
          <a:xfrm>
            <a:off x="407670" y="1993900"/>
            <a:ext cx="1873553" cy="4498340"/>
          </a:xfrm>
          <a:prstGeom prst="roundRect">
            <a:avLst>
              <a:gd name="adj" fmla="val 2589"/>
            </a:avLst>
          </a:prstGeom>
          <a:gradFill>
            <a:gsLst>
              <a:gs pos="19000">
                <a:sysClr val="window" lastClr="FFFFFF"/>
              </a:gs>
              <a:gs pos="100000">
                <a:sysClr val="window" lastClr="FFFFFF"/>
              </a:gs>
            </a:gsLst>
            <a:lin ang="2700000" scaled="1"/>
          </a:gradFill>
          <a:ln w="12700" cap="flat" cmpd="sng" algn="ctr">
            <a:solidFill>
              <a:srgbClr val="1D78FA">
                <a:lumMod val="20000"/>
                <a:lumOff val="80000"/>
              </a:srgbClr>
            </a:solidFill>
            <a:prstDash val="solid"/>
            <a:miter lim="800000"/>
          </a:ln>
          <a:effectLst>
            <a:outerShdw blurRad="495300" dist="304800" dir="2700000" sx="95000" sy="95000" algn="tl" rotWithShape="0">
              <a:srgbClr val="1D78FA">
                <a:lumMod val="40000"/>
                <a:lumOff val="60000"/>
                <a:alpha val="10000"/>
              </a:srgbClr>
            </a:outerShdw>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panose="020B0500000000000000" charset="-122"/>
              <a:cs typeface="+mn-ea"/>
            </a:endParaRPr>
          </a:p>
        </p:txBody>
      </p:sp>
      <p:sp>
        <p:nvSpPr>
          <p:cNvPr id="3" name="矩形 2">
            <a:extLst>
              <a:ext uri="{FF2B5EF4-FFF2-40B4-BE49-F238E27FC236}">
                <a16:creationId xmlns:a16="http://schemas.microsoft.com/office/drawing/2014/main" id="{35EAB1AB-3E54-7B3E-C622-516F2FD3B240}"/>
              </a:ext>
            </a:extLst>
          </p:cNvPr>
          <p:cNvSpPr/>
          <p:nvPr/>
        </p:nvSpPr>
        <p:spPr>
          <a:xfrm>
            <a:off x="1857375" y="1279193"/>
            <a:ext cx="9925050" cy="64800"/>
          </a:xfrm>
          <a:prstGeom prst="rect">
            <a:avLst/>
          </a:prstGeom>
          <a:solidFill>
            <a:schemeClr val="accent1">
              <a:alpha val="3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椭圆 3">
            <a:extLst>
              <a:ext uri="{FF2B5EF4-FFF2-40B4-BE49-F238E27FC236}">
                <a16:creationId xmlns:a16="http://schemas.microsoft.com/office/drawing/2014/main" id="{E3AADD94-7AEB-6C0C-1FE6-47BC3C37A2C3}"/>
              </a:ext>
            </a:extLst>
          </p:cNvPr>
          <p:cNvSpPr/>
          <p:nvPr/>
        </p:nvSpPr>
        <p:spPr>
          <a:xfrm>
            <a:off x="9176385" y="1221740"/>
            <a:ext cx="179705" cy="179705"/>
          </a:xfrm>
          <a:prstGeom prst="ellips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9FCFD0D2-A342-8C21-DD88-EF56BD0B7BAE}"/>
              </a:ext>
            </a:extLst>
          </p:cNvPr>
          <p:cNvSpPr/>
          <p:nvPr/>
        </p:nvSpPr>
        <p:spPr>
          <a:xfrm>
            <a:off x="11643360" y="1221740"/>
            <a:ext cx="179705" cy="179705"/>
          </a:xfrm>
          <a:prstGeom prst="ellips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F4AADFD0-A327-78CE-9D85-ECF9003A64E5}"/>
              </a:ext>
            </a:extLst>
          </p:cNvPr>
          <p:cNvSpPr txBox="1"/>
          <p:nvPr/>
        </p:nvSpPr>
        <p:spPr>
          <a:xfrm>
            <a:off x="458470" y="1153795"/>
            <a:ext cx="1165225" cy="307777"/>
          </a:xfrm>
          <a:prstGeom prst="rect">
            <a:avLst/>
          </a:prstGeom>
          <a:noFill/>
        </p:spPr>
        <p:txBody>
          <a:bodyPr wrap="square" rtlCol="0">
            <a:spAutoFit/>
          </a:bodyPr>
          <a:lstStyle/>
          <a:p>
            <a:r>
              <a:rPr lang="zh-CN" altLang="en-US" sz="1400" b="1">
                <a:solidFill>
                  <a:schemeClr val="tx2">
                    <a:lumMod val="75000"/>
                  </a:schemeClr>
                </a:solidFill>
                <a:latin typeface="Microsoft YaHei Regular" charset="0"/>
                <a:ea typeface="Microsoft YaHei Regular" charset="0"/>
              </a:rPr>
              <a:t>预算流程</a:t>
            </a:r>
          </a:p>
        </p:txBody>
      </p:sp>
      <p:sp>
        <p:nvSpPr>
          <p:cNvPr id="7" name="矩形 6">
            <a:extLst>
              <a:ext uri="{FF2B5EF4-FFF2-40B4-BE49-F238E27FC236}">
                <a16:creationId xmlns:a16="http://schemas.microsoft.com/office/drawing/2014/main" id="{B653A985-2DAB-E959-7257-1003E11201E1}"/>
              </a:ext>
            </a:extLst>
          </p:cNvPr>
          <p:cNvSpPr/>
          <p:nvPr/>
        </p:nvSpPr>
        <p:spPr>
          <a:xfrm>
            <a:off x="1857375" y="1279193"/>
            <a:ext cx="4896000" cy="64800"/>
          </a:xfrm>
          <a:prstGeom prst="rect">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F746F881-309E-2D65-7B35-5F2A8FF6D9D3}"/>
              </a:ext>
            </a:extLst>
          </p:cNvPr>
          <p:cNvSpPr/>
          <p:nvPr/>
        </p:nvSpPr>
        <p:spPr>
          <a:xfrm>
            <a:off x="4242435" y="1221740"/>
            <a:ext cx="179705" cy="179705"/>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EAC68EE8-EAC3-6889-95F3-2D40A54078BB}"/>
              </a:ext>
            </a:extLst>
          </p:cNvPr>
          <p:cNvSpPr/>
          <p:nvPr/>
        </p:nvSpPr>
        <p:spPr>
          <a:xfrm>
            <a:off x="6709410" y="1221740"/>
            <a:ext cx="179705" cy="179705"/>
          </a:xfrm>
          <a:prstGeom prst="ellipse">
            <a:avLst/>
          </a:prstGeom>
          <a:solidFill>
            <a:schemeClr val="accent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6FB598F2-B7B8-D680-69EC-AA00A7F4FB44}"/>
              </a:ext>
            </a:extLst>
          </p:cNvPr>
          <p:cNvSpPr/>
          <p:nvPr/>
        </p:nvSpPr>
        <p:spPr>
          <a:xfrm>
            <a:off x="1775460" y="1221740"/>
            <a:ext cx="179705" cy="179705"/>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4B8668B8-7D80-AC49-6A37-A25DC2256EF2}"/>
              </a:ext>
            </a:extLst>
          </p:cNvPr>
          <p:cNvSpPr txBox="1"/>
          <p:nvPr/>
        </p:nvSpPr>
        <p:spPr>
          <a:xfrm>
            <a:off x="1623695" y="1464310"/>
            <a:ext cx="570865" cy="288290"/>
          </a:xfrm>
          <a:prstGeom prst="rect">
            <a:avLst/>
          </a:prstGeom>
          <a:noFill/>
        </p:spPr>
        <p:txBody>
          <a:bodyPr wrap="square" rtlCol="0">
            <a:noAutofit/>
          </a:bodyPr>
          <a:lstStyle/>
          <a:p>
            <a:r>
              <a:rPr lang="zh-CN" altLang="en-US" sz="1200">
                <a:latin typeface="Microsoft YaHei Regular" charset="0"/>
                <a:ea typeface="Microsoft YaHei Regular" charset="0"/>
              </a:rPr>
              <a:t>启动</a:t>
            </a:r>
          </a:p>
        </p:txBody>
      </p:sp>
      <p:sp>
        <p:nvSpPr>
          <p:cNvPr id="12" name="文本框 11">
            <a:extLst>
              <a:ext uri="{FF2B5EF4-FFF2-40B4-BE49-F238E27FC236}">
                <a16:creationId xmlns:a16="http://schemas.microsoft.com/office/drawing/2014/main" id="{D9AF1FF2-152F-758D-71FF-26AD66E95318}"/>
              </a:ext>
            </a:extLst>
          </p:cNvPr>
          <p:cNvSpPr txBox="1"/>
          <p:nvPr/>
        </p:nvSpPr>
        <p:spPr>
          <a:xfrm>
            <a:off x="3815491" y="1464310"/>
            <a:ext cx="1187293" cy="288290"/>
          </a:xfrm>
          <a:prstGeom prst="rect">
            <a:avLst/>
          </a:prstGeom>
          <a:noFill/>
        </p:spPr>
        <p:txBody>
          <a:bodyPr wrap="square" rtlCol="0">
            <a:noAutofit/>
          </a:bodyPr>
          <a:lstStyle/>
          <a:p>
            <a:r>
              <a:rPr lang="zh-CN" altLang="en-US" sz="1200">
                <a:latin typeface="Microsoft YaHei Regular" charset="0"/>
                <a:ea typeface="Microsoft YaHei Regular" charset="0"/>
              </a:rPr>
              <a:t>确定编制原则</a:t>
            </a:r>
          </a:p>
        </p:txBody>
      </p:sp>
      <p:sp>
        <p:nvSpPr>
          <p:cNvPr id="13" name="文本框 12">
            <a:extLst>
              <a:ext uri="{FF2B5EF4-FFF2-40B4-BE49-F238E27FC236}">
                <a16:creationId xmlns:a16="http://schemas.microsoft.com/office/drawing/2014/main" id="{DE54021B-55D5-8279-A29A-E5A301719E03}"/>
              </a:ext>
            </a:extLst>
          </p:cNvPr>
          <p:cNvSpPr txBox="1"/>
          <p:nvPr/>
        </p:nvSpPr>
        <p:spPr>
          <a:xfrm>
            <a:off x="6290676" y="1464310"/>
            <a:ext cx="1031240" cy="288290"/>
          </a:xfrm>
          <a:prstGeom prst="rect">
            <a:avLst/>
          </a:prstGeom>
          <a:noFill/>
        </p:spPr>
        <p:txBody>
          <a:bodyPr wrap="square" rtlCol="0">
            <a:noAutofit/>
          </a:bodyPr>
          <a:lstStyle/>
          <a:p>
            <a:pPr algn="ctr"/>
            <a:r>
              <a:rPr lang="zh-CN" altLang="en-US" sz="1200">
                <a:latin typeface="Microsoft YaHei Regular" charset="0"/>
                <a:ea typeface="Microsoft YaHei Regular" charset="0"/>
              </a:rPr>
              <a:t>预算编制</a:t>
            </a:r>
          </a:p>
        </p:txBody>
      </p:sp>
      <p:sp>
        <p:nvSpPr>
          <p:cNvPr id="14" name="文本框 13">
            <a:extLst>
              <a:ext uri="{FF2B5EF4-FFF2-40B4-BE49-F238E27FC236}">
                <a16:creationId xmlns:a16="http://schemas.microsoft.com/office/drawing/2014/main" id="{E44D03C0-04FC-F511-D79D-3257A4AD90EF}"/>
              </a:ext>
            </a:extLst>
          </p:cNvPr>
          <p:cNvSpPr txBox="1"/>
          <p:nvPr/>
        </p:nvSpPr>
        <p:spPr>
          <a:xfrm>
            <a:off x="8907003" y="1464310"/>
            <a:ext cx="1031240" cy="288290"/>
          </a:xfrm>
          <a:prstGeom prst="rect">
            <a:avLst/>
          </a:prstGeom>
          <a:noFill/>
        </p:spPr>
        <p:txBody>
          <a:bodyPr wrap="square" rtlCol="0">
            <a:noAutofit/>
          </a:bodyPr>
          <a:lstStyle/>
          <a:p>
            <a:r>
              <a:rPr lang="zh-CN" altLang="en-US" sz="1200">
                <a:latin typeface="Microsoft YaHei Regular" charset="0"/>
                <a:ea typeface="Microsoft YaHei Regular" charset="0"/>
              </a:rPr>
              <a:t>预算平衡</a:t>
            </a:r>
          </a:p>
        </p:txBody>
      </p:sp>
      <p:sp>
        <p:nvSpPr>
          <p:cNvPr id="21" name="椭圆 20">
            <a:extLst>
              <a:ext uri="{FF2B5EF4-FFF2-40B4-BE49-F238E27FC236}">
                <a16:creationId xmlns:a16="http://schemas.microsoft.com/office/drawing/2014/main" id="{6E371E6D-570E-9F2F-5AB1-B4B8FD810036}"/>
              </a:ext>
            </a:extLst>
          </p:cNvPr>
          <p:cNvSpPr/>
          <p:nvPr/>
        </p:nvSpPr>
        <p:spPr>
          <a:xfrm rot="19741494">
            <a:off x="602615" y="2162175"/>
            <a:ext cx="445770" cy="445770"/>
          </a:xfrm>
          <a:prstGeom prst="ellipse">
            <a:avLst/>
          </a:prstGeom>
          <a:solidFill>
            <a:schemeClr val="accent1">
              <a:lumMod val="20000"/>
              <a:lumOff val="80000"/>
              <a:alpha val="50000"/>
            </a:schemeClr>
          </a:solidFill>
          <a:ln w="12700" cap="flat" cmpd="sng" algn="ctr">
            <a:noFill/>
            <a:prstDash val="solid"/>
            <a:miter lim="800000"/>
          </a:ln>
          <a:effectLst/>
        </p:spPr>
        <p:txBody>
          <a:bodyPr rtlCol="0" anchor="ctr"/>
          <a:lstStyle/>
          <a:p>
            <a:pPr algn="ctr"/>
            <a:endParaRPr lang="zh-CN" altLang="en-US">
              <a:solidFill>
                <a:prstClr val="white"/>
              </a:solidFill>
              <a:latin typeface="Roboto"/>
              <a:ea typeface="思源黑体 CN Regular" panose="020B0500000000000000" charset="-122"/>
            </a:endParaRPr>
          </a:p>
        </p:txBody>
      </p:sp>
      <p:grpSp>
        <p:nvGrpSpPr>
          <p:cNvPr id="22" name="组合 21">
            <a:extLst>
              <a:ext uri="{FF2B5EF4-FFF2-40B4-BE49-F238E27FC236}">
                <a16:creationId xmlns:a16="http://schemas.microsoft.com/office/drawing/2014/main" id="{92239A0C-8358-0ECB-F0C2-75A5AB331E21}"/>
              </a:ext>
            </a:extLst>
          </p:cNvPr>
          <p:cNvGrpSpPr/>
          <p:nvPr/>
        </p:nvGrpSpPr>
        <p:grpSpPr>
          <a:xfrm>
            <a:off x="711835" y="2272665"/>
            <a:ext cx="229235" cy="229235"/>
            <a:chOff x="3576" y="7420"/>
            <a:chExt cx="804" cy="804"/>
          </a:xfrm>
        </p:grpSpPr>
        <p:sp>
          <p:nvSpPr>
            <p:cNvPr id="23" name="圆角矩形 50">
              <a:extLst>
                <a:ext uri="{FF2B5EF4-FFF2-40B4-BE49-F238E27FC236}">
                  <a16:creationId xmlns:a16="http://schemas.microsoft.com/office/drawing/2014/main" id="{AE60F6AD-A19B-B606-BECD-DABB9F4B7F5C}"/>
                </a:ext>
              </a:extLst>
            </p:cNvPr>
            <p:cNvSpPr/>
            <p:nvPr/>
          </p:nvSpPr>
          <p:spPr>
            <a:xfrm>
              <a:off x="3576" y="7420"/>
              <a:ext cx="804" cy="804"/>
            </a:xfrm>
            <a:prstGeom prst="roundRect">
              <a:avLst/>
            </a:prstGeom>
            <a:solidFill>
              <a:schemeClr val="accent2"/>
            </a:solidFill>
            <a:ln>
              <a:noFill/>
            </a:ln>
            <a:effectLst>
              <a:outerShdw blurRad="228600" dist="38100" dir="5400000" sx="112000" sy="112000" algn="t" rotWithShape="0">
                <a:schemeClr val="accent4">
                  <a:alpha val="32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4" name="组合 23">
              <a:extLst>
                <a:ext uri="{FF2B5EF4-FFF2-40B4-BE49-F238E27FC236}">
                  <a16:creationId xmlns:a16="http://schemas.microsoft.com/office/drawing/2014/main" id="{6CECF546-2072-6409-6F45-B2202B9AB3EA}"/>
                </a:ext>
              </a:extLst>
            </p:cNvPr>
            <p:cNvGrpSpPr/>
            <p:nvPr/>
          </p:nvGrpSpPr>
          <p:grpSpPr>
            <a:xfrm>
              <a:off x="3756" y="7618"/>
              <a:ext cx="428" cy="411"/>
              <a:chOff x="12929" y="5681"/>
              <a:chExt cx="517" cy="496"/>
            </a:xfrm>
            <a:solidFill>
              <a:schemeClr val="accent5"/>
            </a:solidFill>
          </p:grpSpPr>
          <p:sp>
            <p:nvSpPr>
              <p:cNvPr id="25" name="任意多边形: 形状 35">
                <a:extLst>
                  <a:ext uri="{FF2B5EF4-FFF2-40B4-BE49-F238E27FC236}">
                    <a16:creationId xmlns:a16="http://schemas.microsoft.com/office/drawing/2014/main" id="{EB32B8F4-8EC3-85E0-3A3E-51E3DD95366A}"/>
                  </a:ext>
                </a:extLst>
              </p:cNvPr>
              <p:cNvSpPr/>
              <p:nvPr/>
            </p:nvSpPr>
            <p:spPr>
              <a:xfrm>
                <a:off x="13290" y="5681"/>
                <a:ext cx="157" cy="124"/>
              </a:xfrm>
              <a:custGeom>
                <a:avLst/>
                <a:gdLst>
                  <a:gd name="connsiteX0" fmla="*/ 0 w 483970"/>
                  <a:gd name="connsiteY0" fmla="*/ 0 h 382972"/>
                  <a:gd name="connsiteX1" fmla="*/ 112495 w 483970"/>
                  <a:gd name="connsiteY1" fmla="*/ 112495 h 382972"/>
                  <a:gd name="connsiteX2" fmla="*/ 269992 w 483970"/>
                  <a:gd name="connsiteY2" fmla="*/ 33524 h 382972"/>
                  <a:gd name="connsiteX3" fmla="*/ 483970 w 483970"/>
                  <a:gd name="connsiteY3" fmla="*/ 315013 h 382972"/>
                  <a:gd name="connsiteX4" fmla="*/ 315459 w 483970"/>
                  <a:gd name="connsiteY4" fmla="*/ 213996 h 382972"/>
                  <a:gd name="connsiteX5" fmla="*/ 258979 w 483970"/>
                  <a:gd name="connsiteY5" fmla="*/ 236488 h 382972"/>
                  <a:gd name="connsiteX6" fmla="*/ 405463 w 483970"/>
                  <a:gd name="connsiteY6" fmla="*/ 382972 h 382972"/>
                  <a:gd name="connsiteX7" fmla="*/ 0 w 483970"/>
                  <a:gd name="connsiteY7" fmla="*/ 382972 h 382972"/>
                  <a:gd name="connsiteX8" fmla="*/ 0 w 483970"/>
                  <a:gd name="connsiteY8" fmla="*/ 0 h 382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3970" h="382972">
                    <a:moveTo>
                      <a:pt x="0" y="0"/>
                    </a:moveTo>
                    <a:lnTo>
                      <a:pt x="112495" y="112495"/>
                    </a:lnTo>
                    <a:cubicBezTo>
                      <a:pt x="146019" y="78525"/>
                      <a:pt x="202499" y="33524"/>
                      <a:pt x="269992" y="33524"/>
                    </a:cubicBezTo>
                    <a:cubicBezTo>
                      <a:pt x="371475" y="33524"/>
                      <a:pt x="472492" y="157516"/>
                      <a:pt x="483970" y="315013"/>
                    </a:cubicBezTo>
                    <a:cubicBezTo>
                      <a:pt x="483970" y="315013"/>
                      <a:pt x="393966" y="180008"/>
                      <a:pt x="315459" y="213996"/>
                    </a:cubicBezTo>
                    <a:cubicBezTo>
                      <a:pt x="292968" y="213996"/>
                      <a:pt x="270457" y="236488"/>
                      <a:pt x="258979" y="236488"/>
                    </a:cubicBezTo>
                    <a:lnTo>
                      <a:pt x="405463" y="382972"/>
                    </a:lnTo>
                    <a:lnTo>
                      <a:pt x="0" y="382972"/>
                    </a:lnTo>
                    <a:lnTo>
                      <a:pt x="0" y="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HarmonyOS Sans SC" panose="00000500000000000000" charset="-122"/>
                  <a:ea typeface="HarmonyOS Sans SC" panose="00000500000000000000" charset="-122"/>
                  <a:cs typeface="+mn-cs"/>
                </a:endParaRPr>
              </a:p>
            </p:txBody>
          </p:sp>
          <p:sp>
            <p:nvSpPr>
              <p:cNvPr id="26" name="任意多边形: 形状 36">
                <a:extLst>
                  <a:ext uri="{FF2B5EF4-FFF2-40B4-BE49-F238E27FC236}">
                    <a16:creationId xmlns:a16="http://schemas.microsoft.com/office/drawing/2014/main" id="{F191E007-D403-C91A-DB05-800FACEDF938}"/>
                  </a:ext>
                </a:extLst>
              </p:cNvPr>
              <p:cNvSpPr/>
              <p:nvPr/>
            </p:nvSpPr>
            <p:spPr>
              <a:xfrm>
                <a:off x="12929" y="5697"/>
                <a:ext cx="339" cy="339"/>
              </a:xfrm>
              <a:custGeom>
                <a:avLst/>
                <a:gdLst>
                  <a:gd name="connsiteX0" fmla="*/ 0 w 1058894"/>
                  <a:gd name="connsiteY0" fmla="*/ 0 h 1058912"/>
                  <a:gd name="connsiteX1" fmla="*/ 1058894 w 1058894"/>
                  <a:gd name="connsiteY1" fmla="*/ 0 h 1058912"/>
                  <a:gd name="connsiteX2" fmla="*/ 1058894 w 1058894"/>
                  <a:gd name="connsiteY2" fmla="*/ 1058912 h 1058912"/>
                  <a:gd name="connsiteX3" fmla="*/ 0 w 1058894"/>
                  <a:gd name="connsiteY3" fmla="*/ 1058912 h 1058912"/>
                  <a:gd name="connsiteX4" fmla="*/ 0 w 1058894"/>
                  <a:gd name="connsiteY4" fmla="*/ 0 h 1058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8894" h="1058912">
                    <a:moveTo>
                      <a:pt x="0" y="0"/>
                    </a:moveTo>
                    <a:lnTo>
                      <a:pt x="1058894" y="0"/>
                    </a:lnTo>
                    <a:lnTo>
                      <a:pt x="1058894" y="1058912"/>
                    </a:lnTo>
                    <a:lnTo>
                      <a:pt x="0" y="1058912"/>
                    </a:lnTo>
                    <a:lnTo>
                      <a:pt x="0" y="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HarmonyOS Sans SC" panose="00000500000000000000" charset="-122"/>
                  <a:ea typeface="HarmonyOS Sans SC" panose="00000500000000000000" charset="-122"/>
                  <a:cs typeface="+mn-cs"/>
                </a:endParaRPr>
              </a:p>
            </p:txBody>
          </p:sp>
          <p:sp>
            <p:nvSpPr>
              <p:cNvPr id="27" name="任意多边形: 形状 37">
                <a:extLst>
                  <a:ext uri="{FF2B5EF4-FFF2-40B4-BE49-F238E27FC236}">
                    <a16:creationId xmlns:a16="http://schemas.microsoft.com/office/drawing/2014/main" id="{EFBE0051-4989-B033-F522-B0159B3BE458}"/>
                  </a:ext>
                </a:extLst>
              </p:cNvPr>
              <p:cNvSpPr/>
              <p:nvPr/>
            </p:nvSpPr>
            <p:spPr>
              <a:xfrm>
                <a:off x="13072" y="5839"/>
                <a:ext cx="335" cy="339"/>
              </a:xfrm>
              <a:custGeom>
                <a:avLst/>
                <a:gdLst>
                  <a:gd name="connsiteX0" fmla="*/ 664443 w 1047415"/>
                  <a:gd name="connsiteY0" fmla="*/ 0 h 1058912"/>
                  <a:gd name="connsiteX1" fmla="*/ 1047415 w 1047415"/>
                  <a:gd name="connsiteY1" fmla="*/ 0 h 1058912"/>
                  <a:gd name="connsiteX2" fmla="*/ 1047415 w 1047415"/>
                  <a:gd name="connsiteY2" fmla="*/ 1058912 h 1058912"/>
                  <a:gd name="connsiteX3" fmla="*/ 0 w 1047415"/>
                  <a:gd name="connsiteY3" fmla="*/ 1058912 h 1058912"/>
                  <a:gd name="connsiteX4" fmla="*/ 0 w 1047415"/>
                  <a:gd name="connsiteY4" fmla="*/ 675940 h 1058912"/>
                  <a:gd name="connsiteX5" fmla="*/ 168529 w 1047415"/>
                  <a:gd name="connsiteY5" fmla="*/ 675940 h 1058912"/>
                  <a:gd name="connsiteX6" fmla="*/ 168529 w 1047415"/>
                  <a:gd name="connsiteY6" fmla="*/ 878439 h 1058912"/>
                  <a:gd name="connsiteX7" fmla="*/ 878439 w 1047415"/>
                  <a:gd name="connsiteY7" fmla="*/ 878439 h 1058912"/>
                  <a:gd name="connsiteX8" fmla="*/ 878439 w 1047415"/>
                  <a:gd name="connsiteY8" fmla="*/ 180008 h 1058912"/>
                  <a:gd name="connsiteX9" fmla="*/ 664443 w 1047415"/>
                  <a:gd name="connsiteY9" fmla="*/ 180008 h 1058912"/>
                  <a:gd name="connsiteX10" fmla="*/ 664443 w 1047415"/>
                  <a:gd name="connsiteY10" fmla="*/ 0 h 105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7415" h="1058912">
                    <a:moveTo>
                      <a:pt x="664443" y="0"/>
                    </a:moveTo>
                    <a:lnTo>
                      <a:pt x="1047415" y="0"/>
                    </a:lnTo>
                    <a:lnTo>
                      <a:pt x="1047415" y="1058912"/>
                    </a:lnTo>
                    <a:lnTo>
                      <a:pt x="0" y="1058912"/>
                    </a:lnTo>
                    <a:lnTo>
                      <a:pt x="0" y="675940"/>
                    </a:lnTo>
                    <a:lnTo>
                      <a:pt x="168529" y="675940"/>
                    </a:lnTo>
                    <a:lnTo>
                      <a:pt x="168529" y="878439"/>
                    </a:lnTo>
                    <a:lnTo>
                      <a:pt x="878439" y="878439"/>
                    </a:lnTo>
                    <a:lnTo>
                      <a:pt x="878439" y="180008"/>
                    </a:lnTo>
                    <a:lnTo>
                      <a:pt x="664443" y="180008"/>
                    </a:lnTo>
                    <a:lnTo>
                      <a:pt x="664443" y="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HarmonyOS Sans SC" panose="00000500000000000000" charset="-122"/>
                  <a:ea typeface="HarmonyOS Sans SC" panose="00000500000000000000" charset="-122"/>
                  <a:cs typeface="+mn-cs"/>
                </a:endParaRPr>
              </a:p>
            </p:txBody>
          </p:sp>
        </p:grpSp>
      </p:grpSp>
      <p:sp>
        <p:nvSpPr>
          <p:cNvPr id="28" name="文本框 27">
            <a:extLst>
              <a:ext uri="{FF2B5EF4-FFF2-40B4-BE49-F238E27FC236}">
                <a16:creationId xmlns:a16="http://schemas.microsoft.com/office/drawing/2014/main" id="{BE396D71-AA76-7CFA-7684-EC27C674CEF2}"/>
              </a:ext>
            </a:extLst>
          </p:cNvPr>
          <p:cNvSpPr txBox="1"/>
          <p:nvPr/>
        </p:nvSpPr>
        <p:spPr>
          <a:xfrm>
            <a:off x="1083254" y="2236148"/>
            <a:ext cx="1063625" cy="275590"/>
          </a:xfrm>
          <a:prstGeom prst="rect">
            <a:avLst/>
          </a:prstGeom>
          <a:noFill/>
        </p:spPr>
        <p:txBody>
          <a:bodyPr wrap="square" rtlCol="0">
            <a:spAutoFit/>
          </a:bodyPr>
          <a:lstStyle/>
          <a:p>
            <a:r>
              <a:rPr lang="zh-CN" altLang="en-US" sz="1200">
                <a:latin typeface="Microsoft YaHei Regular" charset="0"/>
                <a:ea typeface="Microsoft YaHei Regular" charset="0"/>
                <a:sym typeface="+mn-ea"/>
              </a:rPr>
              <a:t>预算目标</a:t>
            </a:r>
          </a:p>
        </p:txBody>
      </p:sp>
      <p:sp>
        <p:nvSpPr>
          <p:cNvPr id="30" name="文本框 29">
            <a:extLst>
              <a:ext uri="{FF2B5EF4-FFF2-40B4-BE49-F238E27FC236}">
                <a16:creationId xmlns:a16="http://schemas.microsoft.com/office/drawing/2014/main" id="{7A494C71-CB19-0242-7639-79E33A9CDBFB}"/>
              </a:ext>
            </a:extLst>
          </p:cNvPr>
          <p:cNvSpPr txBox="1"/>
          <p:nvPr/>
        </p:nvSpPr>
        <p:spPr>
          <a:xfrm>
            <a:off x="519633" y="2678098"/>
            <a:ext cx="1674927" cy="805542"/>
          </a:xfrm>
          <a:prstGeom prst="rect">
            <a:avLst/>
          </a:prstGeom>
          <a:noFill/>
        </p:spPr>
        <p:txBody>
          <a:bodyPr wrap="square" rtlCol="0">
            <a:spAutoFit/>
          </a:bodyPr>
          <a:lstStyle/>
          <a:p>
            <a:pPr>
              <a:lnSpc>
                <a:spcPct val="150000"/>
              </a:lnSpc>
            </a:pPr>
            <a:r>
              <a:rPr lang="zh-CN" altLang="en-US" sz="1000" b="1">
                <a:solidFill>
                  <a:schemeClr val="tx2"/>
                </a:solidFill>
              </a:rPr>
              <a:t>目标：</a:t>
            </a:r>
            <a:endParaRPr lang="en-US" altLang="zh-CN" sz="1000" b="1">
              <a:solidFill>
                <a:schemeClr val="tx2"/>
              </a:solidFill>
            </a:endParaRPr>
          </a:p>
          <a:p>
            <a:pPr>
              <a:lnSpc>
                <a:spcPct val="150000"/>
              </a:lnSpc>
            </a:pPr>
            <a:r>
              <a:rPr lang="zh-CN" altLang="en-US" sz="1000" b="1">
                <a:solidFill>
                  <a:schemeClr val="tx2"/>
                </a:solidFill>
              </a:rPr>
              <a:t>保守稳健、战略聚焦、现金为王、弹性灵活</a:t>
            </a:r>
            <a:endParaRPr lang="en-US" altLang="zh-CN" sz="1000" b="1">
              <a:solidFill>
                <a:schemeClr val="tx2"/>
              </a:solidFill>
            </a:endParaRPr>
          </a:p>
          <a:p>
            <a:pPr>
              <a:lnSpc>
                <a:spcPct val="150000"/>
              </a:lnSpc>
            </a:pPr>
            <a:endParaRPr lang="en-US" altLang="zh-CN" sz="100" b="1">
              <a:solidFill>
                <a:schemeClr val="tx2"/>
              </a:solidFill>
            </a:endParaRPr>
          </a:p>
        </p:txBody>
      </p:sp>
      <p:grpSp>
        <p:nvGrpSpPr>
          <p:cNvPr id="31" name="组合 30">
            <a:extLst>
              <a:ext uri="{FF2B5EF4-FFF2-40B4-BE49-F238E27FC236}">
                <a16:creationId xmlns:a16="http://schemas.microsoft.com/office/drawing/2014/main" id="{ADE22B0A-0ADE-A71A-4050-89E0197EC161}"/>
              </a:ext>
            </a:extLst>
          </p:cNvPr>
          <p:cNvGrpSpPr/>
          <p:nvPr/>
        </p:nvGrpSpPr>
        <p:grpSpPr>
          <a:xfrm>
            <a:off x="609480" y="3728750"/>
            <a:ext cx="445770" cy="445770"/>
            <a:chOff x="12297" y="1822"/>
            <a:chExt cx="1564" cy="1564"/>
          </a:xfrm>
        </p:grpSpPr>
        <p:sp>
          <p:nvSpPr>
            <p:cNvPr id="32" name="椭圆 31">
              <a:extLst>
                <a:ext uri="{FF2B5EF4-FFF2-40B4-BE49-F238E27FC236}">
                  <a16:creationId xmlns:a16="http://schemas.microsoft.com/office/drawing/2014/main" id="{C16D2C82-B9EF-C2FF-02BB-F59DECB78742}"/>
                </a:ext>
              </a:extLst>
            </p:cNvPr>
            <p:cNvSpPr/>
            <p:nvPr/>
          </p:nvSpPr>
          <p:spPr>
            <a:xfrm rot="19741494">
              <a:off x="12297" y="1822"/>
              <a:ext cx="1565" cy="1565"/>
            </a:xfrm>
            <a:prstGeom prst="ellipse">
              <a:avLst/>
            </a:prstGeom>
            <a:solidFill>
              <a:schemeClr val="accent1">
                <a:lumMod val="20000"/>
                <a:lumOff val="80000"/>
                <a:alpha val="50000"/>
              </a:schemeClr>
            </a:solidFill>
            <a:ln w="12700" cap="flat" cmpd="sng" algn="ctr">
              <a:noFill/>
              <a:prstDash val="solid"/>
              <a:miter lim="800000"/>
            </a:ln>
            <a:effectLst/>
          </p:spPr>
          <p:txBody>
            <a:bodyPr rtlCol="0" anchor="ctr"/>
            <a:lstStyle/>
            <a:p>
              <a:pPr algn="ctr"/>
              <a:endParaRPr lang="zh-CN" altLang="en-US">
                <a:solidFill>
                  <a:prstClr val="white"/>
                </a:solidFill>
                <a:latin typeface="Roboto"/>
                <a:ea typeface="思源黑体 CN Regular" panose="020B0500000000000000" charset="-122"/>
              </a:endParaRPr>
            </a:p>
          </p:txBody>
        </p:sp>
        <p:grpSp>
          <p:nvGrpSpPr>
            <p:cNvPr id="33" name="组合 32">
              <a:extLst>
                <a:ext uri="{FF2B5EF4-FFF2-40B4-BE49-F238E27FC236}">
                  <a16:creationId xmlns:a16="http://schemas.microsoft.com/office/drawing/2014/main" id="{B77D7BE2-A96D-4702-AA8B-E35B8E4551A1}"/>
                </a:ext>
              </a:extLst>
            </p:cNvPr>
            <p:cNvGrpSpPr/>
            <p:nvPr/>
          </p:nvGrpSpPr>
          <p:grpSpPr>
            <a:xfrm>
              <a:off x="12680" y="2209"/>
              <a:ext cx="804" cy="804"/>
              <a:chOff x="3576" y="7420"/>
              <a:chExt cx="804" cy="804"/>
            </a:xfrm>
          </p:grpSpPr>
          <p:sp>
            <p:nvSpPr>
              <p:cNvPr id="34" name="圆角矩形 61">
                <a:extLst>
                  <a:ext uri="{FF2B5EF4-FFF2-40B4-BE49-F238E27FC236}">
                    <a16:creationId xmlns:a16="http://schemas.microsoft.com/office/drawing/2014/main" id="{1A8763BA-DBE9-108A-5672-842AC9CDF513}"/>
                  </a:ext>
                </a:extLst>
              </p:cNvPr>
              <p:cNvSpPr/>
              <p:nvPr/>
            </p:nvSpPr>
            <p:spPr>
              <a:xfrm>
                <a:off x="3576" y="7420"/>
                <a:ext cx="804" cy="804"/>
              </a:xfrm>
              <a:prstGeom prst="roundRect">
                <a:avLst/>
              </a:prstGeom>
              <a:solidFill>
                <a:schemeClr val="accent4"/>
              </a:solidFill>
              <a:ln>
                <a:noFill/>
              </a:ln>
              <a:effectLst>
                <a:outerShdw blurRad="228600" dist="38100" dir="5400000" sx="112000" sy="112000" algn="t" rotWithShape="0">
                  <a:schemeClr val="accent4">
                    <a:alpha val="32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35" name="组合 34">
                <a:extLst>
                  <a:ext uri="{FF2B5EF4-FFF2-40B4-BE49-F238E27FC236}">
                    <a16:creationId xmlns:a16="http://schemas.microsoft.com/office/drawing/2014/main" id="{C93C0C9D-5FCF-0BB6-51FD-C484FE7E98AE}"/>
                  </a:ext>
                </a:extLst>
              </p:cNvPr>
              <p:cNvGrpSpPr/>
              <p:nvPr/>
            </p:nvGrpSpPr>
            <p:grpSpPr>
              <a:xfrm>
                <a:off x="3756" y="7618"/>
                <a:ext cx="428" cy="411"/>
                <a:chOff x="12929" y="5681"/>
                <a:chExt cx="517" cy="496"/>
              </a:xfrm>
              <a:solidFill>
                <a:schemeClr val="accent5"/>
              </a:solidFill>
            </p:grpSpPr>
            <p:sp>
              <p:nvSpPr>
                <p:cNvPr id="36" name="任意多边形: 形状 35">
                  <a:extLst>
                    <a:ext uri="{FF2B5EF4-FFF2-40B4-BE49-F238E27FC236}">
                      <a16:creationId xmlns:a16="http://schemas.microsoft.com/office/drawing/2014/main" id="{3A7CF78F-DAF7-E357-E66A-9ACEEE1371EF}"/>
                    </a:ext>
                  </a:extLst>
                </p:cNvPr>
                <p:cNvSpPr/>
                <p:nvPr/>
              </p:nvSpPr>
              <p:spPr>
                <a:xfrm>
                  <a:off x="13290" y="5681"/>
                  <a:ext cx="157" cy="124"/>
                </a:xfrm>
                <a:custGeom>
                  <a:avLst/>
                  <a:gdLst>
                    <a:gd name="connsiteX0" fmla="*/ 0 w 483970"/>
                    <a:gd name="connsiteY0" fmla="*/ 0 h 382972"/>
                    <a:gd name="connsiteX1" fmla="*/ 112495 w 483970"/>
                    <a:gd name="connsiteY1" fmla="*/ 112495 h 382972"/>
                    <a:gd name="connsiteX2" fmla="*/ 269992 w 483970"/>
                    <a:gd name="connsiteY2" fmla="*/ 33524 h 382972"/>
                    <a:gd name="connsiteX3" fmla="*/ 483970 w 483970"/>
                    <a:gd name="connsiteY3" fmla="*/ 315013 h 382972"/>
                    <a:gd name="connsiteX4" fmla="*/ 315459 w 483970"/>
                    <a:gd name="connsiteY4" fmla="*/ 213996 h 382972"/>
                    <a:gd name="connsiteX5" fmla="*/ 258979 w 483970"/>
                    <a:gd name="connsiteY5" fmla="*/ 236488 h 382972"/>
                    <a:gd name="connsiteX6" fmla="*/ 405463 w 483970"/>
                    <a:gd name="connsiteY6" fmla="*/ 382972 h 382972"/>
                    <a:gd name="connsiteX7" fmla="*/ 0 w 483970"/>
                    <a:gd name="connsiteY7" fmla="*/ 382972 h 382972"/>
                    <a:gd name="connsiteX8" fmla="*/ 0 w 483970"/>
                    <a:gd name="connsiteY8" fmla="*/ 0 h 382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3970" h="382972">
                      <a:moveTo>
                        <a:pt x="0" y="0"/>
                      </a:moveTo>
                      <a:lnTo>
                        <a:pt x="112495" y="112495"/>
                      </a:lnTo>
                      <a:cubicBezTo>
                        <a:pt x="146019" y="78525"/>
                        <a:pt x="202499" y="33524"/>
                        <a:pt x="269992" y="33524"/>
                      </a:cubicBezTo>
                      <a:cubicBezTo>
                        <a:pt x="371475" y="33524"/>
                        <a:pt x="472492" y="157516"/>
                        <a:pt x="483970" y="315013"/>
                      </a:cubicBezTo>
                      <a:cubicBezTo>
                        <a:pt x="483970" y="315013"/>
                        <a:pt x="393966" y="180008"/>
                        <a:pt x="315459" y="213996"/>
                      </a:cubicBezTo>
                      <a:cubicBezTo>
                        <a:pt x="292968" y="213996"/>
                        <a:pt x="270457" y="236488"/>
                        <a:pt x="258979" y="236488"/>
                      </a:cubicBezTo>
                      <a:lnTo>
                        <a:pt x="405463" y="382972"/>
                      </a:lnTo>
                      <a:lnTo>
                        <a:pt x="0" y="382972"/>
                      </a:lnTo>
                      <a:lnTo>
                        <a:pt x="0" y="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HarmonyOS Sans SC" panose="00000500000000000000" charset="-122"/>
                    <a:ea typeface="HarmonyOS Sans SC" panose="00000500000000000000" charset="-122"/>
                    <a:cs typeface="+mn-cs"/>
                  </a:endParaRPr>
                </a:p>
              </p:txBody>
            </p:sp>
            <p:sp>
              <p:nvSpPr>
                <p:cNvPr id="37" name="任意多边形: 形状 36">
                  <a:extLst>
                    <a:ext uri="{FF2B5EF4-FFF2-40B4-BE49-F238E27FC236}">
                      <a16:creationId xmlns:a16="http://schemas.microsoft.com/office/drawing/2014/main" id="{133F599F-7D07-4227-A8AD-23CBBE5B5A1C}"/>
                    </a:ext>
                  </a:extLst>
                </p:cNvPr>
                <p:cNvSpPr/>
                <p:nvPr/>
              </p:nvSpPr>
              <p:spPr>
                <a:xfrm>
                  <a:off x="12929" y="5697"/>
                  <a:ext cx="339" cy="339"/>
                </a:xfrm>
                <a:custGeom>
                  <a:avLst/>
                  <a:gdLst>
                    <a:gd name="connsiteX0" fmla="*/ 0 w 1058894"/>
                    <a:gd name="connsiteY0" fmla="*/ 0 h 1058912"/>
                    <a:gd name="connsiteX1" fmla="*/ 1058894 w 1058894"/>
                    <a:gd name="connsiteY1" fmla="*/ 0 h 1058912"/>
                    <a:gd name="connsiteX2" fmla="*/ 1058894 w 1058894"/>
                    <a:gd name="connsiteY2" fmla="*/ 1058912 h 1058912"/>
                    <a:gd name="connsiteX3" fmla="*/ 0 w 1058894"/>
                    <a:gd name="connsiteY3" fmla="*/ 1058912 h 1058912"/>
                    <a:gd name="connsiteX4" fmla="*/ 0 w 1058894"/>
                    <a:gd name="connsiteY4" fmla="*/ 0 h 1058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8894" h="1058912">
                      <a:moveTo>
                        <a:pt x="0" y="0"/>
                      </a:moveTo>
                      <a:lnTo>
                        <a:pt x="1058894" y="0"/>
                      </a:lnTo>
                      <a:lnTo>
                        <a:pt x="1058894" y="1058912"/>
                      </a:lnTo>
                      <a:lnTo>
                        <a:pt x="0" y="1058912"/>
                      </a:lnTo>
                      <a:lnTo>
                        <a:pt x="0" y="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HarmonyOS Sans SC" panose="00000500000000000000" charset="-122"/>
                    <a:ea typeface="HarmonyOS Sans SC" panose="00000500000000000000" charset="-122"/>
                    <a:cs typeface="+mn-cs"/>
                  </a:endParaRPr>
                </a:p>
              </p:txBody>
            </p:sp>
            <p:sp>
              <p:nvSpPr>
                <p:cNvPr id="38" name="任意多边形: 形状 37">
                  <a:extLst>
                    <a:ext uri="{FF2B5EF4-FFF2-40B4-BE49-F238E27FC236}">
                      <a16:creationId xmlns:a16="http://schemas.microsoft.com/office/drawing/2014/main" id="{DF23F81E-5E5A-40B4-230E-1859DE848A2A}"/>
                    </a:ext>
                  </a:extLst>
                </p:cNvPr>
                <p:cNvSpPr/>
                <p:nvPr/>
              </p:nvSpPr>
              <p:spPr>
                <a:xfrm>
                  <a:off x="13072" y="5839"/>
                  <a:ext cx="335" cy="339"/>
                </a:xfrm>
                <a:custGeom>
                  <a:avLst/>
                  <a:gdLst>
                    <a:gd name="connsiteX0" fmla="*/ 664443 w 1047415"/>
                    <a:gd name="connsiteY0" fmla="*/ 0 h 1058912"/>
                    <a:gd name="connsiteX1" fmla="*/ 1047415 w 1047415"/>
                    <a:gd name="connsiteY1" fmla="*/ 0 h 1058912"/>
                    <a:gd name="connsiteX2" fmla="*/ 1047415 w 1047415"/>
                    <a:gd name="connsiteY2" fmla="*/ 1058912 h 1058912"/>
                    <a:gd name="connsiteX3" fmla="*/ 0 w 1047415"/>
                    <a:gd name="connsiteY3" fmla="*/ 1058912 h 1058912"/>
                    <a:gd name="connsiteX4" fmla="*/ 0 w 1047415"/>
                    <a:gd name="connsiteY4" fmla="*/ 675940 h 1058912"/>
                    <a:gd name="connsiteX5" fmla="*/ 168529 w 1047415"/>
                    <a:gd name="connsiteY5" fmla="*/ 675940 h 1058912"/>
                    <a:gd name="connsiteX6" fmla="*/ 168529 w 1047415"/>
                    <a:gd name="connsiteY6" fmla="*/ 878439 h 1058912"/>
                    <a:gd name="connsiteX7" fmla="*/ 878439 w 1047415"/>
                    <a:gd name="connsiteY7" fmla="*/ 878439 h 1058912"/>
                    <a:gd name="connsiteX8" fmla="*/ 878439 w 1047415"/>
                    <a:gd name="connsiteY8" fmla="*/ 180008 h 1058912"/>
                    <a:gd name="connsiteX9" fmla="*/ 664443 w 1047415"/>
                    <a:gd name="connsiteY9" fmla="*/ 180008 h 1058912"/>
                    <a:gd name="connsiteX10" fmla="*/ 664443 w 1047415"/>
                    <a:gd name="connsiteY10" fmla="*/ 0 h 105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7415" h="1058912">
                      <a:moveTo>
                        <a:pt x="664443" y="0"/>
                      </a:moveTo>
                      <a:lnTo>
                        <a:pt x="1047415" y="0"/>
                      </a:lnTo>
                      <a:lnTo>
                        <a:pt x="1047415" y="1058912"/>
                      </a:lnTo>
                      <a:lnTo>
                        <a:pt x="0" y="1058912"/>
                      </a:lnTo>
                      <a:lnTo>
                        <a:pt x="0" y="675940"/>
                      </a:lnTo>
                      <a:lnTo>
                        <a:pt x="168529" y="675940"/>
                      </a:lnTo>
                      <a:lnTo>
                        <a:pt x="168529" y="878439"/>
                      </a:lnTo>
                      <a:lnTo>
                        <a:pt x="878439" y="878439"/>
                      </a:lnTo>
                      <a:lnTo>
                        <a:pt x="878439" y="180008"/>
                      </a:lnTo>
                      <a:lnTo>
                        <a:pt x="664443" y="180008"/>
                      </a:lnTo>
                      <a:lnTo>
                        <a:pt x="664443" y="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HarmonyOS Sans SC" panose="00000500000000000000" charset="-122"/>
                    <a:ea typeface="HarmonyOS Sans SC" panose="00000500000000000000" charset="-122"/>
                    <a:cs typeface="+mn-cs"/>
                  </a:endParaRPr>
                </a:p>
              </p:txBody>
            </p:sp>
          </p:grpSp>
        </p:grpSp>
      </p:grpSp>
      <p:sp>
        <p:nvSpPr>
          <p:cNvPr id="39" name="文本框 38">
            <a:extLst>
              <a:ext uri="{FF2B5EF4-FFF2-40B4-BE49-F238E27FC236}">
                <a16:creationId xmlns:a16="http://schemas.microsoft.com/office/drawing/2014/main" id="{091570A9-CFBC-4E67-DF56-12B2AC2C2BE4}"/>
              </a:ext>
            </a:extLst>
          </p:cNvPr>
          <p:cNvSpPr txBox="1"/>
          <p:nvPr/>
        </p:nvSpPr>
        <p:spPr>
          <a:xfrm>
            <a:off x="1080586" y="3846467"/>
            <a:ext cx="1063625" cy="275590"/>
          </a:xfrm>
          <a:prstGeom prst="rect">
            <a:avLst/>
          </a:prstGeom>
          <a:noFill/>
        </p:spPr>
        <p:txBody>
          <a:bodyPr wrap="square" rtlCol="0">
            <a:spAutoFit/>
          </a:bodyPr>
          <a:lstStyle/>
          <a:p>
            <a:r>
              <a:rPr lang="zh-CN" altLang="en-US" sz="1200">
                <a:latin typeface="Microsoft YaHei Regular" charset="0"/>
                <a:ea typeface="Microsoft YaHei Regular" charset="0"/>
                <a:sym typeface="+mn-ea"/>
              </a:rPr>
              <a:t>预算的意义</a:t>
            </a:r>
          </a:p>
        </p:txBody>
      </p:sp>
      <p:cxnSp>
        <p:nvCxnSpPr>
          <p:cNvPr id="44" name="直接连接符 43">
            <a:extLst>
              <a:ext uri="{FF2B5EF4-FFF2-40B4-BE49-F238E27FC236}">
                <a16:creationId xmlns:a16="http://schemas.microsoft.com/office/drawing/2014/main" id="{A093BC33-08C8-3F35-C50E-190F4A7C83B2}"/>
              </a:ext>
            </a:extLst>
          </p:cNvPr>
          <p:cNvCxnSpPr>
            <a:cxnSpLocks/>
          </p:cNvCxnSpPr>
          <p:nvPr/>
        </p:nvCxnSpPr>
        <p:spPr>
          <a:xfrm>
            <a:off x="464820" y="3483640"/>
            <a:ext cx="1729740" cy="0"/>
          </a:xfrm>
          <a:prstGeom prst="line">
            <a:avLst/>
          </a:prstGeom>
          <a:ln>
            <a:solidFill>
              <a:schemeClr val="accent1">
                <a:alpha val="11000"/>
              </a:schemeClr>
            </a:solidFill>
          </a:ln>
        </p:spPr>
        <p:style>
          <a:lnRef idx="2">
            <a:schemeClr val="accent1"/>
          </a:lnRef>
          <a:fillRef idx="0">
            <a:srgbClr val="FFFFFF"/>
          </a:fillRef>
          <a:effectRef idx="0">
            <a:srgbClr val="FFFFFF"/>
          </a:effectRef>
          <a:fontRef idx="minor">
            <a:schemeClr val="tx1"/>
          </a:fontRef>
        </p:style>
      </p:cxnSp>
      <p:grpSp>
        <p:nvGrpSpPr>
          <p:cNvPr id="73" name="组合 72">
            <a:extLst>
              <a:ext uri="{FF2B5EF4-FFF2-40B4-BE49-F238E27FC236}">
                <a16:creationId xmlns:a16="http://schemas.microsoft.com/office/drawing/2014/main" id="{833F42F7-95A9-58A3-1C7D-9F6CA07990BF}"/>
              </a:ext>
            </a:extLst>
          </p:cNvPr>
          <p:cNvGrpSpPr/>
          <p:nvPr/>
        </p:nvGrpSpPr>
        <p:grpSpPr>
          <a:xfrm>
            <a:off x="2403778" y="1999632"/>
            <a:ext cx="9419287" cy="4497705"/>
            <a:chOff x="3171190" y="1999632"/>
            <a:chExt cx="8651875" cy="4497705"/>
          </a:xfrm>
        </p:grpSpPr>
        <p:sp>
          <p:nvSpPr>
            <p:cNvPr id="15" name="矩形: 圆角 26">
              <a:extLst>
                <a:ext uri="{FF2B5EF4-FFF2-40B4-BE49-F238E27FC236}">
                  <a16:creationId xmlns:a16="http://schemas.microsoft.com/office/drawing/2014/main" id="{CA1C5B1A-4596-66A8-0BA3-2F1B0785E5D3}"/>
                </a:ext>
              </a:extLst>
            </p:cNvPr>
            <p:cNvSpPr/>
            <p:nvPr/>
          </p:nvSpPr>
          <p:spPr>
            <a:xfrm>
              <a:off x="3171190" y="1999632"/>
              <a:ext cx="8651875" cy="4497705"/>
            </a:xfrm>
            <a:prstGeom prst="roundRect">
              <a:avLst>
                <a:gd name="adj" fmla="val 2589"/>
              </a:avLst>
            </a:prstGeom>
            <a:gradFill>
              <a:gsLst>
                <a:gs pos="19000">
                  <a:sysClr val="window" lastClr="FFFFFF"/>
                </a:gs>
                <a:gs pos="100000">
                  <a:sysClr val="window" lastClr="FFFFFF"/>
                </a:gs>
              </a:gsLst>
              <a:lin ang="2700000" scaled="1"/>
            </a:gradFill>
            <a:ln w="12700" cap="flat" cmpd="sng" algn="ctr">
              <a:solidFill>
                <a:srgbClr val="1D78FA">
                  <a:lumMod val="20000"/>
                  <a:lumOff val="80000"/>
                </a:srgbClr>
              </a:solidFill>
              <a:prstDash val="solid"/>
              <a:miter lim="800000"/>
            </a:ln>
            <a:effectLst>
              <a:outerShdw blurRad="495300" dist="304800" dir="2700000" sx="95000" sy="95000" algn="tl" rotWithShape="0">
                <a:srgbClr val="1D78FA">
                  <a:lumMod val="40000"/>
                  <a:lumOff val="60000"/>
                  <a:alpha val="10000"/>
                </a:srgbClr>
              </a:outerShdw>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panose="020B0500000000000000" charset="-122"/>
                <a:cs typeface="+mn-ea"/>
              </a:endParaRPr>
            </a:p>
          </p:txBody>
        </p:sp>
        <p:sp>
          <p:nvSpPr>
            <p:cNvPr id="16" name="文本框 15">
              <a:extLst>
                <a:ext uri="{FF2B5EF4-FFF2-40B4-BE49-F238E27FC236}">
                  <a16:creationId xmlns:a16="http://schemas.microsoft.com/office/drawing/2014/main" id="{4337477F-176B-12B8-B6A4-632A4DC394EF}"/>
                </a:ext>
              </a:extLst>
            </p:cNvPr>
            <p:cNvSpPr txBox="1"/>
            <p:nvPr/>
          </p:nvSpPr>
          <p:spPr>
            <a:xfrm>
              <a:off x="3380105" y="2201545"/>
              <a:ext cx="2577270" cy="338554"/>
            </a:xfrm>
            <a:prstGeom prst="rect">
              <a:avLst/>
            </a:prstGeom>
            <a:noFill/>
          </p:spPr>
          <p:txBody>
            <a:bodyPr wrap="square" rtlCol="0">
              <a:spAutoFit/>
            </a:bodyPr>
            <a:lstStyle/>
            <a:p>
              <a:r>
                <a:rPr lang="zh-CN" altLang="en-US" sz="1600" b="1">
                  <a:solidFill>
                    <a:schemeClr val="accent4"/>
                  </a:solidFill>
                  <a:latin typeface="微软雅黑" panose="020B0703020204020201" charset="-122"/>
                  <a:ea typeface="微软雅黑" panose="020B0703020204020201" charset="-122"/>
                </a:rPr>
                <a:t>预算时间规划进度表</a:t>
              </a:r>
            </a:p>
          </p:txBody>
        </p:sp>
        <p:grpSp>
          <p:nvGrpSpPr>
            <p:cNvPr id="17" name="组合 16">
              <a:extLst>
                <a:ext uri="{FF2B5EF4-FFF2-40B4-BE49-F238E27FC236}">
                  <a16:creationId xmlns:a16="http://schemas.microsoft.com/office/drawing/2014/main" id="{24E783AD-847E-838C-3D67-DE9CBB7CB9FF}"/>
                </a:ext>
              </a:extLst>
            </p:cNvPr>
            <p:cNvGrpSpPr/>
            <p:nvPr/>
          </p:nvGrpSpPr>
          <p:grpSpPr>
            <a:xfrm>
              <a:off x="3460115" y="2663825"/>
              <a:ext cx="8171815" cy="71755"/>
              <a:chOff x="6952" y="2581"/>
              <a:chExt cx="12869" cy="113"/>
            </a:xfrm>
          </p:grpSpPr>
          <p:sp>
            <p:nvSpPr>
              <p:cNvPr id="18" name="椭圆 17">
                <a:extLst>
                  <a:ext uri="{FF2B5EF4-FFF2-40B4-BE49-F238E27FC236}">
                    <a16:creationId xmlns:a16="http://schemas.microsoft.com/office/drawing/2014/main" id="{7AEB26A1-AA43-AA8D-44C6-EFE62A1D6085}"/>
                  </a:ext>
                </a:extLst>
              </p:cNvPr>
              <p:cNvSpPr/>
              <p:nvPr/>
            </p:nvSpPr>
            <p:spPr>
              <a:xfrm>
                <a:off x="6952" y="2581"/>
                <a:ext cx="113" cy="113"/>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19" name="直接连接符 18">
                <a:extLst>
                  <a:ext uri="{FF2B5EF4-FFF2-40B4-BE49-F238E27FC236}">
                    <a16:creationId xmlns:a16="http://schemas.microsoft.com/office/drawing/2014/main" id="{EAFC3A37-7B34-C39B-F3FE-26B1E309EFDB}"/>
                  </a:ext>
                </a:extLst>
              </p:cNvPr>
              <p:cNvCxnSpPr>
                <a:stCxn id="18" idx="6"/>
              </p:cNvCxnSpPr>
              <p:nvPr/>
            </p:nvCxnSpPr>
            <p:spPr>
              <a:xfrm>
                <a:off x="7065" y="2638"/>
                <a:ext cx="12756" cy="0"/>
              </a:xfrm>
              <a:prstGeom prst="line">
                <a:avLst/>
              </a:prstGeom>
              <a:ln>
                <a:solidFill>
                  <a:schemeClr val="accent1">
                    <a:alpha val="11000"/>
                  </a:schemeClr>
                </a:solidFill>
              </a:ln>
            </p:spPr>
            <p:style>
              <a:lnRef idx="2">
                <a:schemeClr val="accent1"/>
              </a:lnRef>
              <a:fillRef idx="0">
                <a:srgbClr val="FFFFFF"/>
              </a:fillRef>
              <a:effectRef idx="0">
                <a:srgbClr val="FFFFFF"/>
              </a:effectRef>
              <a:fontRef idx="minor">
                <a:schemeClr val="tx1"/>
              </a:fontRef>
            </p:style>
          </p:cxnSp>
        </p:grpSp>
        <p:sp>
          <p:nvSpPr>
            <p:cNvPr id="54" name="矩形 53">
              <a:extLst>
                <a:ext uri="{FF2B5EF4-FFF2-40B4-BE49-F238E27FC236}">
                  <a16:creationId xmlns:a16="http://schemas.microsoft.com/office/drawing/2014/main" id="{B0614CA5-B0CF-9DED-F2E3-947B93A3020E}"/>
                </a:ext>
              </a:extLst>
            </p:cNvPr>
            <p:cNvSpPr/>
            <p:nvPr/>
          </p:nvSpPr>
          <p:spPr>
            <a:xfrm>
              <a:off x="3324224" y="3049905"/>
              <a:ext cx="1123315" cy="3089275"/>
            </a:xfrm>
            <a:prstGeom prst="rect">
              <a:avLst/>
            </a:prstGeom>
            <a:solidFill>
              <a:schemeClr val="tx2">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aphicFrame>
          <p:nvGraphicFramePr>
            <p:cNvPr id="55" name="表格 54">
              <a:extLst>
                <a:ext uri="{FF2B5EF4-FFF2-40B4-BE49-F238E27FC236}">
                  <a16:creationId xmlns:a16="http://schemas.microsoft.com/office/drawing/2014/main" id="{D4E96ED3-27FC-E08D-C009-96E4D477F958}"/>
                </a:ext>
              </a:extLst>
            </p:cNvPr>
            <p:cNvGraphicFramePr/>
            <p:nvPr>
              <p:custDataLst>
                <p:tags r:id="rId1"/>
              </p:custDataLst>
              <p:extLst>
                <p:ext uri="{D42A27DB-BD31-4B8C-83A1-F6EECF244321}">
                  <p14:modId xmlns:p14="http://schemas.microsoft.com/office/powerpoint/2010/main" val="1073693097"/>
                </p:ext>
              </p:extLst>
            </p:nvPr>
          </p:nvGraphicFramePr>
          <p:xfrm>
            <a:off x="4506770" y="3049905"/>
            <a:ext cx="7177874" cy="3089276"/>
          </p:xfrm>
          <a:graphic>
            <a:graphicData uri="http://schemas.openxmlformats.org/drawingml/2006/table">
              <a:tbl>
                <a:tblPr firstRow="1" bandRow="1">
                  <a:tableStyleId>{5C22544A-7EE6-4342-B048-85BDC9FD1C3A}</a:tableStyleId>
                </a:tblPr>
                <a:tblGrid>
                  <a:gridCol w="1302424">
                    <a:extLst>
                      <a:ext uri="{9D8B030D-6E8A-4147-A177-3AD203B41FA5}">
                        <a16:colId xmlns:a16="http://schemas.microsoft.com/office/drawing/2014/main" val="20000"/>
                      </a:ext>
                    </a:extLst>
                  </a:gridCol>
                  <a:gridCol w="1302424">
                    <a:extLst>
                      <a:ext uri="{9D8B030D-6E8A-4147-A177-3AD203B41FA5}">
                        <a16:colId xmlns:a16="http://schemas.microsoft.com/office/drawing/2014/main" val="20001"/>
                      </a:ext>
                    </a:extLst>
                  </a:gridCol>
                  <a:gridCol w="1302424">
                    <a:extLst>
                      <a:ext uri="{9D8B030D-6E8A-4147-A177-3AD203B41FA5}">
                        <a16:colId xmlns:a16="http://schemas.microsoft.com/office/drawing/2014/main" val="20002"/>
                      </a:ext>
                    </a:extLst>
                  </a:gridCol>
                  <a:gridCol w="1302424">
                    <a:extLst>
                      <a:ext uri="{9D8B030D-6E8A-4147-A177-3AD203B41FA5}">
                        <a16:colId xmlns:a16="http://schemas.microsoft.com/office/drawing/2014/main" val="20003"/>
                      </a:ext>
                    </a:extLst>
                  </a:gridCol>
                  <a:gridCol w="1302424">
                    <a:extLst>
                      <a:ext uri="{9D8B030D-6E8A-4147-A177-3AD203B41FA5}">
                        <a16:colId xmlns:a16="http://schemas.microsoft.com/office/drawing/2014/main" val="20004"/>
                      </a:ext>
                    </a:extLst>
                  </a:gridCol>
                  <a:gridCol w="1302424">
                    <a:extLst>
                      <a:ext uri="{9D8B030D-6E8A-4147-A177-3AD203B41FA5}">
                        <a16:colId xmlns:a16="http://schemas.microsoft.com/office/drawing/2014/main" val="20005"/>
                      </a:ext>
                    </a:extLst>
                  </a:gridCol>
                </a:tblGrid>
                <a:tr h="316898">
                  <a:tc gridSpan="4">
                    <a:txBody>
                      <a:bodyPr/>
                      <a:lstStyle/>
                      <a:p>
                        <a:pPr algn="ctr">
                          <a:buNone/>
                        </a:pPr>
                        <a:r>
                          <a:rPr lang="en-US" altLang="zh-CN" sz="1200">
                            <a:solidFill>
                              <a:schemeClr val="accent2">
                                <a:lumMod val="75000"/>
                              </a:schemeClr>
                            </a:solidFill>
                            <a:latin typeface="Microsoft YaHei Regular" charset="0"/>
                            <a:ea typeface="Microsoft YaHei Regular" charset="0"/>
                          </a:rPr>
                          <a:t>2025</a:t>
                        </a:r>
                        <a:r>
                          <a:rPr lang="zh-CN" altLang="en-US" sz="1200">
                            <a:solidFill>
                              <a:schemeClr val="accent2">
                                <a:lumMod val="75000"/>
                              </a:schemeClr>
                            </a:solidFill>
                            <a:latin typeface="Microsoft YaHei Regular" charset="0"/>
                            <a:ea typeface="Microsoft YaHei Regular" charset="0"/>
                          </a:rPr>
                          <a:t>年</a:t>
                        </a:r>
                      </a:p>
                    </a:txBody>
                    <a:tcPr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hMerge="1">
                    <a:txBody>
                      <a:bodyPr/>
                      <a:lstStyle/>
                      <a:p>
                        <a:pPr algn="ctr">
                          <a:buNone/>
                        </a:pPr>
                        <a:endParaRPr lang="zh-CN" altLang="en-US" sz="1000">
                          <a:solidFill>
                            <a:schemeClr val="bg2">
                              <a:lumMod val="75000"/>
                            </a:schemeClr>
                          </a:solidFill>
                          <a:latin typeface="Microsoft YaHei Regular" charset="0"/>
                          <a:ea typeface="Microsoft YaHei Regular" charset="0"/>
                          <a:sym typeface="+mn-ea"/>
                        </a:endParaRPr>
                      </a:p>
                    </a:txBody>
                    <a:tcPr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hMerge="1">
                    <a:txBody>
                      <a:bodyPr/>
                      <a:lstStyle/>
                      <a:p>
                        <a:pPr algn="ctr">
                          <a:buNone/>
                        </a:pPr>
                        <a:endParaRPr lang="zh-CN" altLang="en-US" sz="1000">
                          <a:solidFill>
                            <a:schemeClr val="bg2">
                              <a:lumMod val="75000"/>
                            </a:schemeClr>
                          </a:solidFill>
                          <a:latin typeface="Microsoft YaHei Regular" charset="0"/>
                          <a:ea typeface="Microsoft YaHei Regular" charset="0"/>
                          <a:sym typeface="+mn-ea"/>
                        </a:endParaRPr>
                      </a:p>
                    </a:txBody>
                    <a:tcPr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hMerge="1">
                    <a:txBody>
                      <a:bodyPr/>
                      <a:lstStyle/>
                      <a:p>
                        <a:pPr algn="ctr">
                          <a:buNone/>
                        </a:pPr>
                        <a:endParaRPr lang="zh-CN" altLang="en-US" sz="1000">
                          <a:solidFill>
                            <a:schemeClr val="bg2">
                              <a:lumMod val="75000"/>
                            </a:schemeClr>
                          </a:solidFill>
                          <a:latin typeface="Microsoft YaHei Regular" charset="0"/>
                          <a:ea typeface="Microsoft YaHei Regular" charset="0"/>
                          <a:sym typeface="+mn-ea"/>
                        </a:endParaRPr>
                      </a:p>
                    </a:txBody>
                    <a:tcPr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gridSpan="2">
                    <a:txBody>
                      <a:bodyPr/>
                      <a:lstStyle/>
                      <a:p>
                        <a:pPr algn="ctr">
                          <a:buNone/>
                        </a:pPr>
                        <a:r>
                          <a:rPr lang="en-US" altLang="zh-CN" sz="1200">
                            <a:solidFill>
                              <a:schemeClr val="accent2">
                                <a:lumMod val="75000"/>
                              </a:schemeClr>
                            </a:solidFill>
                            <a:latin typeface="Microsoft YaHei Regular" charset="0"/>
                            <a:ea typeface="Microsoft YaHei Regular" charset="0"/>
                          </a:rPr>
                          <a:t>2026</a:t>
                        </a:r>
                        <a:r>
                          <a:rPr lang="zh-CN" altLang="en-US" sz="1200">
                            <a:solidFill>
                              <a:schemeClr val="accent2">
                                <a:lumMod val="75000"/>
                              </a:schemeClr>
                            </a:solidFill>
                            <a:latin typeface="Microsoft YaHei Regular" charset="0"/>
                            <a:ea typeface="Microsoft YaHei Regular" charset="0"/>
                          </a:rPr>
                          <a:t>年</a:t>
                        </a:r>
                      </a:p>
                    </a:txBody>
                    <a:tcPr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hMerge="1">
                    <a:txBody>
                      <a:bodyPr/>
                      <a:lstStyle/>
                      <a:p>
                        <a:pPr algn="ctr">
                          <a:buNone/>
                        </a:pPr>
                        <a:endParaRPr lang="zh-CN" altLang="en-US" sz="1000">
                          <a:solidFill>
                            <a:schemeClr val="bg2">
                              <a:lumMod val="75000"/>
                            </a:schemeClr>
                          </a:solidFill>
                          <a:latin typeface="Microsoft YaHei Regular" charset="0"/>
                          <a:ea typeface="Microsoft YaHei Regular" charset="0"/>
                          <a:sym typeface="+mn-ea"/>
                        </a:endParaRPr>
                      </a:p>
                    </a:txBody>
                    <a:tcPr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mpd="sng">
                        <a:solidFill>
                          <a:schemeClr val="accent1">
                            <a:lumMod val="20000"/>
                            <a:lumOff val="80000"/>
                          </a:schemeClr>
                        </a:solidFill>
                        <a:prstDash val="solid"/>
                      </a:lnT>
                      <a:lnB>
                        <a:noFill/>
                      </a:lnB>
                      <a:noFill/>
                    </a:tcPr>
                  </a:tc>
                  <a:extLst>
                    <a:ext uri="{0D108BD9-81ED-4DB2-BD59-A6C34878D82A}">
                      <a16:rowId xmlns:a16="http://schemas.microsoft.com/office/drawing/2014/main" val="295859866"/>
                    </a:ext>
                  </a:extLst>
                </a:tr>
                <a:tr h="316898">
                  <a:tc>
                    <a:txBody>
                      <a:bodyPr/>
                      <a:lstStyle/>
                      <a:p>
                        <a:pPr algn="ctr">
                          <a:buNone/>
                        </a:pPr>
                        <a:r>
                          <a:rPr lang="en-US" altLang="zh-CN" sz="1000" b="1">
                            <a:solidFill>
                              <a:schemeClr val="accent4">
                                <a:lumMod val="75000"/>
                              </a:schemeClr>
                            </a:solidFill>
                            <a:latin typeface="Microsoft YaHei Regular" charset="0"/>
                            <a:ea typeface="Microsoft YaHei Regular" charset="0"/>
                          </a:rPr>
                          <a:t>9</a:t>
                        </a:r>
                        <a:r>
                          <a:rPr lang="zh-CN" altLang="en-US" sz="1000" b="1">
                            <a:solidFill>
                              <a:schemeClr val="accent4">
                                <a:lumMod val="75000"/>
                              </a:schemeClr>
                            </a:solidFill>
                            <a:latin typeface="Microsoft YaHei Regular" charset="0"/>
                            <a:ea typeface="Microsoft YaHei Regular" charset="0"/>
                          </a:rPr>
                          <a:t>月</a:t>
                        </a:r>
                        <a:endParaRPr lang="en-US" altLang="zh-CN" sz="1000" b="1">
                          <a:solidFill>
                            <a:schemeClr val="accent4">
                              <a:lumMod val="75000"/>
                            </a:schemeClr>
                          </a:solidFill>
                          <a:latin typeface="Microsoft YaHei Regular" charset="0"/>
                          <a:ea typeface="Microsoft YaHei Regular" charset="0"/>
                        </a:endParaRPr>
                      </a:p>
                    </a:txBody>
                    <a:tcPr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ctr">
                          <a:buNone/>
                        </a:pPr>
                        <a:r>
                          <a:rPr lang="en-US" altLang="zh-CN" sz="1000" b="1">
                            <a:solidFill>
                              <a:schemeClr val="accent4">
                                <a:lumMod val="75000"/>
                              </a:schemeClr>
                            </a:solidFill>
                            <a:latin typeface="Microsoft YaHei Regular" charset="0"/>
                            <a:ea typeface="Microsoft YaHei Regular" charset="0"/>
                            <a:sym typeface="+mn-ea"/>
                          </a:rPr>
                          <a:t>10</a:t>
                        </a:r>
                        <a:r>
                          <a:rPr lang="zh-CN" altLang="en-US" sz="1000" b="1">
                            <a:solidFill>
                              <a:schemeClr val="accent4">
                                <a:lumMod val="75000"/>
                              </a:schemeClr>
                            </a:solidFill>
                            <a:latin typeface="Microsoft YaHei Regular" charset="0"/>
                            <a:ea typeface="Microsoft YaHei Regular" charset="0"/>
                            <a:sym typeface="+mn-ea"/>
                          </a:rPr>
                          <a:t>月</a:t>
                        </a:r>
                      </a:p>
                    </a:txBody>
                    <a:tcPr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ctr">
                          <a:buNone/>
                        </a:pPr>
                        <a:r>
                          <a:rPr lang="en-US" altLang="zh-CN" sz="1000" b="1">
                            <a:solidFill>
                              <a:schemeClr val="accent4">
                                <a:lumMod val="75000"/>
                              </a:schemeClr>
                            </a:solidFill>
                            <a:latin typeface="Microsoft YaHei Regular" charset="0"/>
                            <a:ea typeface="Microsoft YaHei Regular" charset="0"/>
                            <a:sym typeface="+mn-ea"/>
                          </a:rPr>
                          <a:t>11</a:t>
                        </a:r>
                        <a:r>
                          <a:rPr lang="zh-CN" altLang="en-US" sz="1000" b="1">
                            <a:solidFill>
                              <a:schemeClr val="accent4">
                                <a:lumMod val="75000"/>
                              </a:schemeClr>
                            </a:solidFill>
                            <a:latin typeface="Microsoft YaHei Regular" charset="0"/>
                            <a:ea typeface="Microsoft YaHei Regular" charset="0"/>
                            <a:sym typeface="+mn-ea"/>
                          </a:rPr>
                          <a:t>月</a:t>
                        </a:r>
                      </a:p>
                    </a:txBody>
                    <a:tcPr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ctr">
                          <a:buNone/>
                        </a:pPr>
                        <a:r>
                          <a:rPr lang="en-US" altLang="zh-CN" sz="1000" b="1">
                            <a:solidFill>
                              <a:schemeClr val="accent4">
                                <a:lumMod val="75000"/>
                              </a:schemeClr>
                            </a:solidFill>
                            <a:latin typeface="Microsoft YaHei Regular" charset="0"/>
                            <a:ea typeface="Microsoft YaHei Regular" charset="0"/>
                            <a:sym typeface="+mn-ea"/>
                          </a:rPr>
                          <a:t>12</a:t>
                        </a:r>
                        <a:r>
                          <a:rPr lang="zh-CN" altLang="en-US" sz="1000" b="1">
                            <a:solidFill>
                              <a:schemeClr val="accent4">
                                <a:lumMod val="75000"/>
                              </a:schemeClr>
                            </a:solidFill>
                            <a:latin typeface="Microsoft YaHei Regular" charset="0"/>
                            <a:ea typeface="Microsoft YaHei Regular" charset="0"/>
                            <a:sym typeface="+mn-ea"/>
                          </a:rPr>
                          <a:t>月</a:t>
                        </a:r>
                      </a:p>
                    </a:txBody>
                    <a:tcPr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ctr">
                          <a:buNone/>
                        </a:pPr>
                        <a:r>
                          <a:rPr lang="en-US" altLang="zh-CN" sz="1000" b="1">
                            <a:solidFill>
                              <a:schemeClr val="accent4">
                                <a:lumMod val="75000"/>
                              </a:schemeClr>
                            </a:solidFill>
                            <a:latin typeface="Microsoft YaHei Regular" charset="0"/>
                            <a:ea typeface="Microsoft YaHei Regular" charset="0"/>
                          </a:rPr>
                          <a:t>1</a:t>
                        </a:r>
                        <a:r>
                          <a:rPr lang="zh-CN" altLang="en-US" sz="1000" b="1">
                            <a:solidFill>
                              <a:schemeClr val="accent4">
                                <a:lumMod val="75000"/>
                              </a:schemeClr>
                            </a:solidFill>
                            <a:latin typeface="Microsoft YaHei Regular" charset="0"/>
                            <a:ea typeface="Microsoft YaHei Regular" charset="0"/>
                          </a:rPr>
                          <a:t>月</a:t>
                        </a:r>
                        <a:endParaRPr lang="en-US" altLang="zh-CN" sz="1000" b="1">
                          <a:solidFill>
                            <a:schemeClr val="accent4">
                              <a:lumMod val="75000"/>
                            </a:schemeClr>
                          </a:solidFill>
                          <a:latin typeface="Microsoft YaHei Regular" charset="0"/>
                          <a:ea typeface="Microsoft YaHei Regular" charset="0"/>
                        </a:endParaRPr>
                      </a:p>
                    </a:txBody>
                    <a:tcPr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ctr">
                          <a:buNone/>
                        </a:pPr>
                        <a:r>
                          <a:rPr lang="en-US" altLang="zh-CN" sz="1000" b="1">
                            <a:solidFill>
                              <a:schemeClr val="accent4">
                                <a:lumMod val="75000"/>
                              </a:schemeClr>
                            </a:solidFill>
                            <a:latin typeface="Microsoft YaHei Regular" charset="0"/>
                            <a:ea typeface="Microsoft YaHei Regular" charset="0"/>
                            <a:sym typeface="+mn-ea"/>
                          </a:rPr>
                          <a:t>2</a:t>
                        </a:r>
                        <a:r>
                          <a:rPr lang="zh-CN" altLang="en-US" sz="1000" b="1">
                            <a:solidFill>
                              <a:schemeClr val="accent4">
                                <a:lumMod val="75000"/>
                              </a:schemeClr>
                            </a:solidFill>
                            <a:latin typeface="Microsoft YaHei Regular" charset="0"/>
                            <a:ea typeface="Microsoft YaHei Regular" charset="0"/>
                            <a:sym typeface="+mn-ea"/>
                          </a:rPr>
                          <a:t>月</a:t>
                        </a:r>
                        <a:r>
                          <a:rPr lang="en-US" altLang="zh-CN" sz="1000" b="1">
                            <a:solidFill>
                              <a:schemeClr val="accent4">
                                <a:lumMod val="75000"/>
                              </a:schemeClr>
                            </a:solidFill>
                            <a:latin typeface="Microsoft YaHei Regular" charset="0"/>
                            <a:ea typeface="Microsoft YaHei Regular" charset="0"/>
                            <a:sym typeface="+mn-ea"/>
                          </a:rPr>
                          <a:t>-12</a:t>
                        </a:r>
                        <a:r>
                          <a:rPr lang="zh-CN" altLang="en-US" sz="1000" b="1">
                            <a:solidFill>
                              <a:schemeClr val="accent4">
                                <a:lumMod val="75000"/>
                              </a:schemeClr>
                            </a:solidFill>
                            <a:latin typeface="Microsoft YaHei Regular" charset="0"/>
                            <a:ea typeface="Microsoft YaHei Regular" charset="0"/>
                            <a:sym typeface="+mn-ea"/>
                          </a:rPr>
                          <a:t>月</a:t>
                        </a:r>
                        <a:endParaRPr lang="en-US" altLang="zh-CN" sz="1000" b="1">
                          <a:solidFill>
                            <a:schemeClr val="accent4">
                              <a:lumMod val="75000"/>
                            </a:schemeClr>
                          </a:solidFill>
                          <a:latin typeface="Microsoft YaHei Regular" charset="0"/>
                          <a:ea typeface="Microsoft YaHei Regular" charset="0"/>
                          <a:sym typeface="+mn-ea"/>
                        </a:endParaRPr>
                      </a:p>
                    </a:txBody>
                    <a:tcPr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10001"/>
                    </a:ext>
                  </a:extLst>
                </a:tr>
                <a:tr h="491096">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0002"/>
                    </a:ext>
                  </a:extLst>
                </a:tr>
                <a:tr h="491096">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0003"/>
                    </a:ext>
                  </a:extLst>
                </a:tr>
                <a:tr h="491096">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0004"/>
                    </a:ext>
                  </a:extLst>
                </a:tr>
                <a:tr h="491096">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0005"/>
                    </a:ext>
                  </a:extLst>
                </a:tr>
                <a:tr h="491096">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buNone/>
                        </a:pPr>
                        <a:endParaRPr lang="zh-CN" altLang="en-US"/>
                      </a:p>
                    </a:txBody>
                    <a:tcPr>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56" name="矩形: 圆角 58">
              <a:extLst>
                <a:ext uri="{FF2B5EF4-FFF2-40B4-BE49-F238E27FC236}">
                  <a16:creationId xmlns:a16="http://schemas.microsoft.com/office/drawing/2014/main" id="{7CC223B3-DD11-63B7-2F1A-826BC13FB30B}"/>
                </a:ext>
              </a:extLst>
            </p:cNvPr>
            <p:cNvSpPr/>
            <p:nvPr/>
          </p:nvSpPr>
          <p:spPr>
            <a:xfrm flipH="1">
              <a:off x="4614555" y="3788092"/>
              <a:ext cx="1084659" cy="337185"/>
            </a:xfrm>
            <a:prstGeom prst="roundRect">
              <a:avLst>
                <a:gd name="adj" fmla="val 13782"/>
              </a:avLst>
            </a:prstGeom>
            <a:solidFill>
              <a:schemeClr val="accent1"/>
            </a:solidFill>
            <a:ln w="12700" cap="flat" cmpd="sng" algn="ctr">
              <a:noFill/>
              <a:prstDash val="solid"/>
              <a:miter lim="800000"/>
            </a:ln>
            <a:effectLst>
              <a:outerShdw blurRad="203200" dist="38100" dir="11400000" sx="104000" sy="104000" algn="tl" rotWithShape="0">
                <a:srgbClr val="256FFB">
                  <a:alpha val="23000"/>
                </a:srgbClr>
              </a:outerShdw>
            </a:effectLst>
          </p:spPr>
          <p:txBody>
            <a:bodyPr rtlCol="0" anchor="ctr"/>
            <a:lstStyle/>
            <a:p>
              <a:pPr algn="ctr"/>
              <a:r>
                <a:rPr lang="zh-CN" altLang="en-US" sz="1100" b="1">
                  <a:solidFill>
                    <a:schemeClr val="bg1"/>
                  </a:solidFill>
                  <a:latin typeface="Roboto Regular" charset="0"/>
                  <a:ea typeface="思源黑体 CN Regular" panose="020B0500000000000000" charset="-122"/>
                </a:rPr>
                <a:t>回顾与展望</a:t>
              </a:r>
            </a:p>
          </p:txBody>
        </p:sp>
        <p:sp>
          <p:nvSpPr>
            <p:cNvPr id="57" name="矩形: 圆角 58">
              <a:extLst>
                <a:ext uri="{FF2B5EF4-FFF2-40B4-BE49-F238E27FC236}">
                  <a16:creationId xmlns:a16="http://schemas.microsoft.com/office/drawing/2014/main" id="{D6ABF3CD-F103-240E-7DF5-F4FB0E406719}"/>
                </a:ext>
              </a:extLst>
            </p:cNvPr>
            <p:cNvSpPr/>
            <p:nvPr/>
          </p:nvSpPr>
          <p:spPr>
            <a:xfrm flipH="1">
              <a:off x="5807709" y="4236085"/>
              <a:ext cx="1019099" cy="337185"/>
            </a:xfrm>
            <a:prstGeom prst="roundRect">
              <a:avLst>
                <a:gd name="adj" fmla="val 13782"/>
              </a:avLst>
            </a:prstGeom>
            <a:solidFill>
              <a:schemeClr val="accent2"/>
            </a:solidFill>
            <a:ln w="12700" cap="flat" cmpd="sng" algn="ctr">
              <a:noFill/>
              <a:prstDash val="solid"/>
              <a:miter lim="800000"/>
            </a:ln>
            <a:effectLst>
              <a:outerShdw blurRad="203200" dist="38100" dir="11400000" sx="104000" sy="104000" algn="tl" rotWithShape="0">
                <a:srgbClr val="256FFB">
                  <a:alpha val="23000"/>
                </a:srgbClr>
              </a:outerShdw>
            </a:effectLst>
          </p:spPr>
          <p:txBody>
            <a:bodyPr rtlCol="0" anchor="ctr"/>
            <a:lstStyle/>
            <a:p>
              <a:pPr algn="ctr"/>
              <a:endParaRPr lang="zh-CN" altLang="en-US" b="1">
                <a:solidFill>
                  <a:schemeClr val="accent5"/>
                </a:solidFill>
                <a:latin typeface="Roboto Regular" charset="0"/>
                <a:ea typeface="思源黑体 CN Regular" panose="020B0500000000000000" charset="-122"/>
              </a:endParaRPr>
            </a:p>
          </p:txBody>
        </p:sp>
        <p:sp>
          <p:nvSpPr>
            <p:cNvPr id="58" name="矩形: 圆角 58">
              <a:extLst>
                <a:ext uri="{FF2B5EF4-FFF2-40B4-BE49-F238E27FC236}">
                  <a16:creationId xmlns:a16="http://schemas.microsoft.com/office/drawing/2014/main" id="{87D3B5CB-5376-DECB-7725-E62B4A7BBE2F}"/>
                </a:ext>
              </a:extLst>
            </p:cNvPr>
            <p:cNvSpPr/>
            <p:nvPr/>
          </p:nvSpPr>
          <p:spPr>
            <a:xfrm flipH="1">
              <a:off x="6165224" y="4722495"/>
              <a:ext cx="1874877" cy="337185"/>
            </a:xfrm>
            <a:prstGeom prst="roundRect">
              <a:avLst>
                <a:gd name="adj" fmla="val 13782"/>
              </a:avLst>
            </a:prstGeom>
            <a:solidFill>
              <a:schemeClr val="accent3"/>
            </a:solidFill>
            <a:ln w="12700" cap="flat" cmpd="sng" algn="ctr">
              <a:noFill/>
              <a:prstDash val="solid"/>
              <a:miter lim="800000"/>
            </a:ln>
            <a:effectLst>
              <a:outerShdw blurRad="203200" dist="38100" dir="11400000" sx="104000" sy="104000" algn="tl" rotWithShape="0">
                <a:srgbClr val="256FFB">
                  <a:alpha val="23000"/>
                </a:srgbClr>
              </a:outerShdw>
            </a:effectLst>
          </p:spPr>
          <p:txBody>
            <a:bodyPr rtlCol="0" anchor="ctr"/>
            <a:lstStyle/>
            <a:p>
              <a:pPr algn="ctr"/>
              <a:endParaRPr lang="zh-CN" altLang="en-US">
                <a:solidFill>
                  <a:schemeClr val="accent5"/>
                </a:solidFill>
                <a:latin typeface="Roboto Regular" charset="0"/>
                <a:ea typeface="思源黑体 CN Regular" panose="020B0500000000000000" charset="-122"/>
              </a:endParaRPr>
            </a:p>
          </p:txBody>
        </p:sp>
        <p:sp>
          <p:nvSpPr>
            <p:cNvPr id="59" name="矩形: 圆角 58">
              <a:extLst>
                <a:ext uri="{FF2B5EF4-FFF2-40B4-BE49-F238E27FC236}">
                  <a16:creationId xmlns:a16="http://schemas.microsoft.com/office/drawing/2014/main" id="{56C24659-AE80-1D79-1160-72614EF6B1FF}"/>
                </a:ext>
              </a:extLst>
            </p:cNvPr>
            <p:cNvSpPr/>
            <p:nvPr/>
          </p:nvSpPr>
          <p:spPr>
            <a:xfrm flipH="1">
              <a:off x="7752080" y="5208905"/>
              <a:ext cx="1490037" cy="337185"/>
            </a:xfrm>
            <a:prstGeom prst="roundRect">
              <a:avLst>
                <a:gd name="adj" fmla="val 13782"/>
              </a:avLst>
            </a:prstGeom>
            <a:solidFill>
              <a:schemeClr val="accent4"/>
            </a:solidFill>
            <a:ln w="12700" cap="flat" cmpd="sng" algn="ctr">
              <a:noFill/>
              <a:prstDash val="solid"/>
              <a:miter lim="800000"/>
            </a:ln>
            <a:effectLst>
              <a:outerShdw blurRad="203200" dist="38100" dir="11400000" sx="104000" sy="104000" algn="tl" rotWithShape="0">
                <a:srgbClr val="256FFB">
                  <a:alpha val="23000"/>
                </a:srgbClr>
              </a:outerShdw>
            </a:effectLst>
          </p:spPr>
          <p:txBody>
            <a:bodyPr rtlCol="0" anchor="ctr"/>
            <a:lstStyle/>
            <a:p>
              <a:pPr algn="ctr"/>
              <a:endParaRPr lang="zh-CN" altLang="en-US">
                <a:solidFill>
                  <a:schemeClr val="accent5"/>
                </a:solidFill>
                <a:latin typeface="Roboto Regular" charset="0"/>
                <a:ea typeface="思源黑体 CN Regular" panose="020B0500000000000000" charset="-122"/>
              </a:endParaRPr>
            </a:p>
          </p:txBody>
        </p:sp>
        <p:sp>
          <p:nvSpPr>
            <p:cNvPr id="60" name="矩形: 圆角 58">
              <a:extLst>
                <a:ext uri="{FF2B5EF4-FFF2-40B4-BE49-F238E27FC236}">
                  <a16:creationId xmlns:a16="http://schemas.microsoft.com/office/drawing/2014/main" id="{D09BB966-C7C6-5EB4-747A-6E4E8C3EF925}"/>
                </a:ext>
              </a:extLst>
            </p:cNvPr>
            <p:cNvSpPr/>
            <p:nvPr/>
          </p:nvSpPr>
          <p:spPr>
            <a:xfrm flipH="1">
              <a:off x="9439029" y="5704205"/>
              <a:ext cx="995045" cy="337185"/>
            </a:xfrm>
            <a:prstGeom prst="roundRect">
              <a:avLst>
                <a:gd name="adj" fmla="val 13782"/>
              </a:avLst>
            </a:prstGeom>
            <a:solidFill>
              <a:schemeClr val="accent3"/>
            </a:solidFill>
            <a:ln w="12700" cap="flat" cmpd="sng" algn="ctr">
              <a:noFill/>
              <a:prstDash val="solid"/>
              <a:miter lim="800000"/>
            </a:ln>
            <a:effectLst>
              <a:outerShdw blurRad="203200" dist="38100" dir="11400000" sx="104000" sy="104000" algn="tl" rotWithShape="0">
                <a:srgbClr val="256FFB">
                  <a:alpha val="23000"/>
                </a:srgbClr>
              </a:outerShdw>
            </a:effectLst>
          </p:spPr>
          <p:txBody>
            <a:bodyPr rtlCol="0" anchor="ctr"/>
            <a:lstStyle/>
            <a:p>
              <a:pPr algn="ctr"/>
              <a:endParaRPr lang="zh-CN" altLang="en-US">
                <a:solidFill>
                  <a:schemeClr val="accent5"/>
                </a:solidFill>
                <a:latin typeface="Roboto Regular" charset="0"/>
                <a:ea typeface="思源黑体 CN Regular" panose="020B0500000000000000" charset="-122"/>
              </a:endParaRPr>
            </a:p>
          </p:txBody>
        </p:sp>
        <p:sp>
          <p:nvSpPr>
            <p:cNvPr id="61" name="文本框 60">
              <a:extLst>
                <a:ext uri="{FF2B5EF4-FFF2-40B4-BE49-F238E27FC236}">
                  <a16:creationId xmlns:a16="http://schemas.microsoft.com/office/drawing/2014/main" id="{0E5F7DA2-408A-7DCF-6778-74C268C1F959}"/>
                </a:ext>
              </a:extLst>
            </p:cNvPr>
            <p:cNvSpPr txBox="1"/>
            <p:nvPr/>
          </p:nvSpPr>
          <p:spPr>
            <a:xfrm>
              <a:off x="4592882" y="4142409"/>
              <a:ext cx="1150692" cy="1106585"/>
            </a:xfrm>
            <a:prstGeom prst="rect">
              <a:avLst/>
            </a:prstGeom>
            <a:noFill/>
          </p:spPr>
          <p:txBody>
            <a:bodyPr wrap="square" rtlCol="0">
              <a:spAutoFit/>
            </a:bodyPr>
            <a:lstStyle/>
            <a:p>
              <a:pPr>
                <a:lnSpc>
                  <a:spcPct val="150000"/>
                </a:lnSpc>
              </a:pPr>
              <a:r>
                <a:rPr lang="zh-CN" altLang="en-US" sz="900">
                  <a:solidFill>
                    <a:schemeClr val="tx2"/>
                  </a:solidFill>
                  <a:latin typeface="微软雅黑" panose="020B0503020204020204" pitchFamily="34" charset="-122"/>
                  <a:ea typeface="微软雅黑" panose="020B0503020204020204" pitchFamily="34" charset="-122"/>
                  <a:cs typeface="Open Sans" panose="020B0606030504020204" pitchFamily="34" charset="0"/>
                </a:rPr>
                <a:t>明确战略目标</a:t>
              </a:r>
              <a:endParaRPr lang="en-US" altLang="zh-CN" sz="900">
                <a:solidFill>
                  <a:schemeClr val="tx2"/>
                </a:solidFill>
                <a:latin typeface="微软雅黑" panose="020B0503020204020204" pitchFamily="34" charset="-122"/>
                <a:ea typeface="微软雅黑" panose="020B0503020204020204" pitchFamily="34" charset="-122"/>
                <a:cs typeface="Open Sans" panose="020B0606030504020204" pitchFamily="34" charset="0"/>
              </a:endParaRPr>
            </a:p>
            <a:p>
              <a:pPr>
                <a:lnSpc>
                  <a:spcPct val="150000"/>
                </a:lnSpc>
              </a:pPr>
              <a:r>
                <a:rPr lang="zh-CN" altLang="en-US" sz="900">
                  <a:solidFill>
                    <a:schemeClr val="tx2"/>
                  </a:solidFill>
                  <a:latin typeface="微软雅黑" panose="020B0503020204020204" pitchFamily="34" charset="-122"/>
                  <a:ea typeface="微软雅黑" panose="020B0503020204020204" pitchFamily="34" charset="-122"/>
                  <a:cs typeface="Open Sans" panose="020B0606030504020204" pitchFamily="34" charset="0"/>
                </a:rPr>
                <a:t>梳理战略策略</a:t>
              </a:r>
              <a:endParaRPr lang="en-US" altLang="zh-CN" sz="900">
                <a:solidFill>
                  <a:schemeClr val="tx2"/>
                </a:solidFill>
                <a:latin typeface="微软雅黑" panose="020B0503020204020204" pitchFamily="34" charset="-122"/>
                <a:ea typeface="微软雅黑" panose="020B0503020204020204" pitchFamily="34" charset="-122"/>
                <a:cs typeface="Open Sans" panose="020B0606030504020204" pitchFamily="34" charset="0"/>
              </a:endParaRPr>
            </a:p>
            <a:p>
              <a:pPr>
                <a:lnSpc>
                  <a:spcPct val="150000"/>
                </a:lnSpc>
              </a:pPr>
              <a:r>
                <a:rPr lang="zh-CN" altLang="en-US" sz="900">
                  <a:solidFill>
                    <a:schemeClr val="tx2"/>
                  </a:solidFill>
                  <a:latin typeface="微软雅黑" panose="020B0503020204020204" pitchFamily="34" charset="-122"/>
                  <a:ea typeface="微软雅黑" panose="020B0503020204020204" pitchFamily="34" charset="-122"/>
                  <a:cs typeface="Open Sans" panose="020B0606030504020204" pitchFamily="34" charset="0"/>
                </a:rPr>
                <a:t>历史及现状分析</a:t>
              </a:r>
              <a:endParaRPr lang="en-US" altLang="zh-CN" sz="900">
                <a:solidFill>
                  <a:schemeClr val="tx2"/>
                </a:solidFill>
                <a:latin typeface="微软雅黑" panose="020B0503020204020204" pitchFamily="34" charset="-122"/>
                <a:ea typeface="微软雅黑" panose="020B0503020204020204" pitchFamily="34" charset="-122"/>
                <a:cs typeface="Open Sans" panose="020B0606030504020204" pitchFamily="34" charset="0"/>
              </a:endParaRPr>
            </a:p>
            <a:p>
              <a:pPr>
                <a:lnSpc>
                  <a:spcPct val="150000"/>
                </a:lnSpc>
              </a:pPr>
              <a:r>
                <a:rPr lang="zh-CN" altLang="en-US" sz="900">
                  <a:solidFill>
                    <a:schemeClr val="tx2"/>
                  </a:solidFill>
                  <a:latin typeface="微软雅黑" panose="020B0503020204020204" pitchFamily="34" charset="-122"/>
                  <a:ea typeface="微软雅黑" panose="020B0503020204020204" pitchFamily="34" charset="-122"/>
                  <a:cs typeface="Open Sans" panose="020B0606030504020204" pitchFamily="34" charset="0"/>
                </a:rPr>
                <a:t>方向和目标初步确定</a:t>
              </a:r>
              <a:endParaRPr lang="en-US" altLang="zh-CN" sz="900">
                <a:solidFill>
                  <a:schemeClr val="tx2"/>
                </a:solidFill>
                <a:latin typeface="微软雅黑" panose="020B0503020204020204" pitchFamily="34" charset="-122"/>
                <a:ea typeface="微软雅黑" panose="020B0503020204020204" pitchFamily="34" charset="-122"/>
                <a:cs typeface="Open Sans" panose="020B0606030504020204" pitchFamily="34" charset="0"/>
              </a:endParaRPr>
            </a:p>
            <a:p>
              <a:pPr>
                <a:lnSpc>
                  <a:spcPct val="150000"/>
                </a:lnSpc>
              </a:pPr>
              <a:r>
                <a:rPr lang="zh-CN" altLang="en-US" sz="900">
                  <a:solidFill>
                    <a:schemeClr val="tx2"/>
                  </a:solidFill>
                  <a:latin typeface="微软雅黑" panose="020B0503020204020204" pitchFamily="34" charset="-122"/>
                  <a:ea typeface="微软雅黑" panose="020B0503020204020204" pitchFamily="34" charset="-122"/>
                  <a:cs typeface="Open Sans" panose="020B0606030504020204" pitchFamily="34" charset="0"/>
                </a:rPr>
                <a:t>制定年度经营计划</a:t>
              </a:r>
              <a:endParaRPr lang="en-US" altLang="zh-CN" sz="9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62" name="文本框 61">
              <a:extLst>
                <a:ext uri="{FF2B5EF4-FFF2-40B4-BE49-F238E27FC236}">
                  <a16:creationId xmlns:a16="http://schemas.microsoft.com/office/drawing/2014/main" id="{4C0C195F-3951-C6B1-EAA7-5D6A666AF926}"/>
                </a:ext>
              </a:extLst>
            </p:cNvPr>
            <p:cNvSpPr txBox="1"/>
            <p:nvPr/>
          </p:nvSpPr>
          <p:spPr>
            <a:xfrm>
              <a:off x="5845611" y="4273488"/>
              <a:ext cx="992034" cy="253916"/>
            </a:xfrm>
            <a:prstGeom prst="rect">
              <a:avLst/>
            </a:prstGeom>
            <a:noFill/>
          </p:spPr>
          <p:txBody>
            <a:bodyPr wrap="square" rtlCol="0">
              <a:spAutoFit/>
            </a:bodyPr>
            <a:lstStyle/>
            <a:p>
              <a:r>
                <a:rPr lang="zh-CN" altLang="en-US" sz="1050" b="1">
                  <a:solidFill>
                    <a:schemeClr val="bg1"/>
                  </a:solidFill>
                  <a:latin typeface="Source Han Sans CN Regular" panose="020B0500000000000000" charset="-122"/>
                  <a:ea typeface="Source Han Sans CN Regular" panose="020B0500000000000000" charset="-122"/>
                  <a:cs typeface="Source Han Sans CN Regular" panose="020B0500000000000000" charset="-122"/>
                </a:rPr>
                <a:t>确定编制原则</a:t>
              </a:r>
            </a:p>
          </p:txBody>
        </p:sp>
        <p:sp>
          <p:nvSpPr>
            <p:cNvPr id="63" name="文本框 62">
              <a:extLst>
                <a:ext uri="{FF2B5EF4-FFF2-40B4-BE49-F238E27FC236}">
                  <a16:creationId xmlns:a16="http://schemas.microsoft.com/office/drawing/2014/main" id="{6F030AA3-88D9-4DB5-C345-CE538404EE2F}"/>
                </a:ext>
              </a:extLst>
            </p:cNvPr>
            <p:cNvSpPr txBox="1"/>
            <p:nvPr/>
          </p:nvSpPr>
          <p:spPr>
            <a:xfrm>
              <a:off x="6165224" y="4770304"/>
              <a:ext cx="1874878" cy="246221"/>
            </a:xfrm>
            <a:prstGeom prst="rect">
              <a:avLst/>
            </a:prstGeom>
            <a:noFill/>
          </p:spPr>
          <p:txBody>
            <a:bodyPr wrap="square" rtlCol="0">
              <a:spAutoFit/>
            </a:bodyPr>
            <a:lstStyle/>
            <a:p>
              <a:pPr algn="ctr"/>
              <a:r>
                <a:rPr lang="zh-CN" altLang="en-US" sz="1000" b="1">
                  <a:solidFill>
                    <a:schemeClr val="bg1"/>
                  </a:solidFill>
                  <a:latin typeface="Source Han Sans CN Regular" panose="020B0500000000000000" charset="-122"/>
                  <a:ea typeface="Source Han Sans CN Regular" panose="020B0500000000000000" charset="-122"/>
                  <a:cs typeface="Source Han Sans CN Regular" panose="020B0500000000000000" charset="-122"/>
                </a:rPr>
                <a:t>预算编制</a:t>
              </a:r>
            </a:p>
          </p:txBody>
        </p:sp>
        <p:sp>
          <p:nvSpPr>
            <p:cNvPr id="64" name="文本框 63">
              <a:extLst>
                <a:ext uri="{FF2B5EF4-FFF2-40B4-BE49-F238E27FC236}">
                  <a16:creationId xmlns:a16="http://schemas.microsoft.com/office/drawing/2014/main" id="{05FD1543-08AF-4EBC-DC67-F2485715FD8F}"/>
                </a:ext>
              </a:extLst>
            </p:cNvPr>
            <p:cNvSpPr txBox="1"/>
            <p:nvPr/>
          </p:nvSpPr>
          <p:spPr>
            <a:xfrm>
              <a:off x="7839609" y="5250180"/>
              <a:ext cx="1338425" cy="246221"/>
            </a:xfrm>
            <a:prstGeom prst="rect">
              <a:avLst/>
            </a:prstGeom>
            <a:noFill/>
          </p:spPr>
          <p:txBody>
            <a:bodyPr wrap="square" rtlCol="0">
              <a:spAutoFit/>
            </a:bodyPr>
            <a:lstStyle/>
            <a:p>
              <a:pPr algn="ctr"/>
              <a:r>
                <a:rPr lang="zh-CN" altLang="en-US" sz="1000">
                  <a:solidFill>
                    <a:schemeClr val="bg1"/>
                  </a:solidFill>
                  <a:latin typeface="Source Han Sans CN Regular" panose="020B0500000000000000" charset="-122"/>
                  <a:ea typeface="Source Han Sans CN Regular" panose="020B0500000000000000" charset="-122"/>
                  <a:cs typeface="Source Han Sans CN Regular" panose="020B0500000000000000" charset="-122"/>
                </a:rPr>
                <a:t>预算平衡</a:t>
              </a:r>
            </a:p>
          </p:txBody>
        </p:sp>
        <p:sp>
          <p:nvSpPr>
            <p:cNvPr id="65" name="文本框 64">
              <a:extLst>
                <a:ext uri="{FF2B5EF4-FFF2-40B4-BE49-F238E27FC236}">
                  <a16:creationId xmlns:a16="http://schemas.microsoft.com/office/drawing/2014/main" id="{D3F1B626-3FC5-2635-17EC-33CD04565D21}"/>
                </a:ext>
              </a:extLst>
            </p:cNvPr>
            <p:cNvSpPr txBox="1"/>
            <p:nvPr/>
          </p:nvSpPr>
          <p:spPr>
            <a:xfrm>
              <a:off x="9600694" y="5732780"/>
              <a:ext cx="892611" cy="246221"/>
            </a:xfrm>
            <a:prstGeom prst="rect">
              <a:avLst/>
            </a:prstGeom>
            <a:noFill/>
          </p:spPr>
          <p:txBody>
            <a:bodyPr wrap="square" rtlCol="0">
              <a:spAutoFit/>
            </a:bodyPr>
            <a:lstStyle/>
            <a:p>
              <a:r>
                <a:rPr lang="zh-CN" altLang="en-US" sz="1000">
                  <a:solidFill>
                    <a:schemeClr val="bg1"/>
                  </a:solidFill>
                  <a:latin typeface="Source Han Sans CN Regular" panose="020B0500000000000000" charset="-122"/>
                  <a:ea typeface="Source Han Sans CN Regular" panose="020B0500000000000000" charset="-122"/>
                  <a:cs typeface="Source Han Sans CN Regular" panose="020B0500000000000000" charset="-122"/>
                </a:rPr>
                <a:t>下达执行</a:t>
              </a:r>
            </a:p>
          </p:txBody>
        </p:sp>
        <p:sp>
          <p:nvSpPr>
            <p:cNvPr id="66" name="文本框 65">
              <a:extLst>
                <a:ext uri="{FF2B5EF4-FFF2-40B4-BE49-F238E27FC236}">
                  <a16:creationId xmlns:a16="http://schemas.microsoft.com/office/drawing/2014/main" id="{D4239905-B2CD-4E4A-17BB-6DD86F00E90F}"/>
                </a:ext>
              </a:extLst>
            </p:cNvPr>
            <p:cNvSpPr txBox="1"/>
            <p:nvPr/>
          </p:nvSpPr>
          <p:spPr>
            <a:xfrm>
              <a:off x="3477260" y="3826510"/>
              <a:ext cx="1095375" cy="260350"/>
            </a:xfrm>
            <a:prstGeom prst="rect">
              <a:avLst/>
            </a:prstGeom>
            <a:noFill/>
          </p:spPr>
          <p:txBody>
            <a:bodyPr wrap="square" rtlCol="0">
              <a:spAutoFit/>
            </a:bodyPr>
            <a:lstStyle/>
            <a:p>
              <a:r>
                <a:rPr lang="zh-CN" altLang="en-US" sz="1100">
                  <a:solidFill>
                    <a:schemeClr val="bg1"/>
                  </a:solidFill>
                  <a:latin typeface="Microsoft YaHei Regular" charset="0"/>
                  <a:ea typeface="Microsoft YaHei Regular" charset="0"/>
                </a:rPr>
                <a:t>预算前准备</a:t>
              </a:r>
            </a:p>
          </p:txBody>
        </p:sp>
        <p:sp>
          <p:nvSpPr>
            <p:cNvPr id="67" name="文本框 66">
              <a:extLst>
                <a:ext uri="{FF2B5EF4-FFF2-40B4-BE49-F238E27FC236}">
                  <a16:creationId xmlns:a16="http://schemas.microsoft.com/office/drawing/2014/main" id="{A7274916-187F-1679-46D9-B7E8F694EEB1}"/>
                </a:ext>
              </a:extLst>
            </p:cNvPr>
            <p:cNvSpPr txBox="1"/>
            <p:nvPr/>
          </p:nvSpPr>
          <p:spPr>
            <a:xfrm>
              <a:off x="3477259" y="4305935"/>
              <a:ext cx="1043305" cy="261610"/>
            </a:xfrm>
            <a:prstGeom prst="rect">
              <a:avLst/>
            </a:prstGeom>
            <a:noFill/>
          </p:spPr>
          <p:txBody>
            <a:bodyPr wrap="square" rtlCol="0">
              <a:spAutoFit/>
            </a:bodyPr>
            <a:lstStyle/>
            <a:p>
              <a:r>
                <a:rPr lang="zh-CN" altLang="en-US" sz="1100">
                  <a:solidFill>
                    <a:schemeClr val="bg1"/>
                  </a:solidFill>
                  <a:latin typeface="Microsoft YaHei Regular" charset="0"/>
                  <a:ea typeface="Microsoft YaHei Regular" charset="0"/>
                </a:rPr>
                <a:t>确定编制原则</a:t>
              </a:r>
            </a:p>
          </p:txBody>
        </p:sp>
        <p:sp>
          <p:nvSpPr>
            <p:cNvPr id="68" name="文本框 67">
              <a:extLst>
                <a:ext uri="{FF2B5EF4-FFF2-40B4-BE49-F238E27FC236}">
                  <a16:creationId xmlns:a16="http://schemas.microsoft.com/office/drawing/2014/main" id="{D379D042-44AE-D690-7B5F-8667301FEB8F}"/>
                </a:ext>
              </a:extLst>
            </p:cNvPr>
            <p:cNvSpPr txBox="1"/>
            <p:nvPr/>
          </p:nvSpPr>
          <p:spPr>
            <a:xfrm>
              <a:off x="3477260" y="4775835"/>
              <a:ext cx="916940" cy="261610"/>
            </a:xfrm>
            <a:prstGeom prst="rect">
              <a:avLst/>
            </a:prstGeom>
            <a:noFill/>
          </p:spPr>
          <p:txBody>
            <a:bodyPr wrap="square" rtlCol="0">
              <a:spAutoFit/>
            </a:bodyPr>
            <a:lstStyle/>
            <a:p>
              <a:r>
                <a:rPr lang="zh-CN" altLang="en-US" sz="1100">
                  <a:solidFill>
                    <a:schemeClr val="bg1"/>
                  </a:solidFill>
                  <a:latin typeface="Microsoft YaHei Regular" charset="0"/>
                  <a:ea typeface="Microsoft YaHei Regular" charset="0"/>
                </a:rPr>
                <a:t>预算编制</a:t>
              </a:r>
            </a:p>
          </p:txBody>
        </p:sp>
        <p:sp>
          <p:nvSpPr>
            <p:cNvPr id="69" name="文本框 68">
              <a:extLst>
                <a:ext uri="{FF2B5EF4-FFF2-40B4-BE49-F238E27FC236}">
                  <a16:creationId xmlns:a16="http://schemas.microsoft.com/office/drawing/2014/main" id="{F65075EE-326B-7498-41D5-E5E7240DC6D8}"/>
                </a:ext>
              </a:extLst>
            </p:cNvPr>
            <p:cNvSpPr txBox="1"/>
            <p:nvPr/>
          </p:nvSpPr>
          <p:spPr>
            <a:xfrm>
              <a:off x="3477260" y="5264785"/>
              <a:ext cx="1062990" cy="260350"/>
            </a:xfrm>
            <a:prstGeom prst="rect">
              <a:avLst/>
            </a:prstGeom>
            <a:noFill/>
          </p:spPr>
          <p:txBody>
            <a:bodyPr wrap="square" rtlCol="0">
              <a:spAutoFit/>
            </a:bodyPr>
            <a:lstStyle/>
            <a:p>
              <a:r>
                <a:rPr lang="zh-CN" altLang="en-US" sz="1100">
                  <a:solidFill>
                    <a:schemeClr val="bg1"/>
                  </a:solidFill>
                  <a:latin typeface="Microsoft YaHei Regular" charset="0"/>
                  <a:ea typeface="Microsoft YaHei Regular" charset="0"/>
                </a:rPr>
                <a:t>预算平衡</a:t>
              </a:r>
            </a:p>
          </p:txBody>
        </p:sp>
        <p:sp>
          <p:nvSpPr>
            <p:cNvPr id="70" name="文本框 69">
              <a:extLst>
                <a:ext uri="{FF2B5EF4-FFF2-40B4-BE49-F238E27FC236}">
                  <a16:creationId xmlns:a16="http://schemas.microsoft.com/office/drawing/2014/main" id="{68452FDF-6EEB-4850-F5B6-797223815D80}"/>
                </a:ext>
              </a:extLst>
            </p:cNvPr>
            <p:cNvSpPr txBox="1"/>
            <p:nvPr/>
          </p:nvSpPr>
          <p:spPr>
            <a:xfrm>
              <a:off x="3477260" y="5744210"/>
              <a:ext cx="1062990" cy="260350"/>
            </a:xfrm>
            <a:prstGeom prst="rect">
              <a:avLst/>
            </a:prstGeom>
            <a:noFill/>
          </p:spPr>
          <p:txBody>
            <a:bodyPr wrap="square" rtlCol="0">
              <a:spAutoFit/>
            </a:bodyPr>
            <a:lstStyle/>
            <a:p>
              <a:r>
                <a:rPr lang="zh-CN" altLang="en-US" sz="1100">
                  <a:solidFill>
                    <a:schemeClr val="bg1"/>
                  </a:solidFill>
                  <a:latin typeface="Microsoft YaHei Regular" charset="0"/>
                  <a:ea typeface="Microsoft YaHei Regular" charset="0"/>
                </a:rPr>
                <a:t>预算下达执行</a:t>
              </a:r>
            </a:p>
          </p:txBody>
        </p:sp>
      </p:grpSp>
      <p:sp>
        <p:nvSpPr>
          <p:cNvPr id="71" name="文本框 70">
            <a:extLst>
              <a:ext uri="{FF2B5EF4-FFF2-40B4-BE49-F238E27FC236}">
                <a16:creationId xmlns:a16="http://schemas.microsoft.com/office/drawing/2014/main" id="{F51172CC-95F6-3AAF-0B81-4E8573739CFB}"/>
              </a:ext>
            </a:extLst>
          </p:cNvPr>
          <p:cNvSpPr txBox="1"/>
          <p:nvPr/>
        </p:nvSpPr>
        <p:spPr>
          <a:xfrm>
            <a:off x="373569" y="185649"/>
            <a:ext cx="5583806" cy="480131"/>
          </a:xfrm>
          <a:prstGeom prst="rect">
            <a:avLst/>
          </a:prstGeom>
          <a:noFill/>
        </p:spPr>
        <p:txBody>
          <a:bodyPr wrap="square" rtlCol="0">
            <a:spAutoFit/>
          </a:bodyPr>
          <a:lstStyle/>
          <a:p>
            <a:pPr>
              <a:lnSpc>
                <a:spcPct val="90000"/>
              </a:lnSpc>
              <a:spcBef>
                <a:spcPct val="0"/>
              </a:spcBef>
            </a:pPr>
            <a:r>
              <a:rPr lang="zh-CN" altLang="en-US" sz="2800" b="1">
                <a:solidFill>
                  <a:schemeClr val="tx2"/>
                </a:solidFill>
                <a:latin typeface="微软雅黑" panose="020B0503020204020204" pitchFamily="34" charset="-122"/>
                <a:ea typeface="微软雅黑" panose="020B0503020204020204" pitchFamily="34" charset="-122"/>
              </a:rPr>
              <a:t>预算时间轴甘特图</a:t>
            </a:r>
            <a:endParaRPr lang="en-US" altLang="zh-CN" sz="2800" b="1">
              <a:solidFill>
                <a:schemeClr val="tx2"/>
              </a:solidFill>
              <a:latin typeface="微软雅黑" panose="020B0503020204020204" pitchFamily="34" charset="-122"/>
              <a:ea typeface="微软雅黑" panose="020B0503020204020204" pitchFamily="34" charset="-122"/>
            </a:endParaRPr>
          </a:p>
        </p:txBody>
      </p:sp>
      <p:cxnSp>
        <p:nvCxnSpPr>
          <p:cNvPr id="72" name="直线连接符 7">
            <a:extLst>
              <a:ext uri="{FF2B5EF4-FFF2-40B4-BE49-F238E27FC236}">
                <a16:creationId xmlns:a16="http://schemas.microsoft.com/office/drawing/2014/main" id="{1B142C22-91B7-D3C8-0642-7B99B3872C1E}"/>
              </a:ext>
            </a:extLst>
          </p:cNvPr>
          <p:cNvCxnSpPr>
            <a:cxnSpLocks/>
          </p:cNvCxnSpPr>
          <p:nvPr/>
        </p:nvCxnSpPr>
        <p:spPr>
          <a:xfrm>
            <a:off x="421341" y="859164"/>
            <a:ext cx="1139429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6" name="文本框 75">
            <a:extLst>
              <a:ext uri="{FF2B5EF4-FFF2-40B4-BE49-F238E27FC236}">
                <a16:creationId xmlns:a16="http://schemas.microsoft.com/office/drawing/2014/main" id="{A3AEB8FF-716A-DCF7-9B9C-C7C98749AB22}"/>
              </a:ext>
            </a:extLst>
          </p:cNvPr>
          <p:cNvSpPr txBox="1"/>
          <p:nvPr/>
        </p:nvSpPr>
        <p:spPr>
          <a:xfrm>
            <a:off x="5278589" y="3720479"/>
            <a:ext cx="1048819" cy="507831"/>
          </a:xfrm>
          <a:prstGeom prst="rect">
            <a:avLst/>
          </a:prstGeom>
          <a:noFill/>
        </p:spPr>
        <p:txBody>
          <a:bodyPr wrap="square">
            <a:spAutoFit/>
          </a:bodyPr>
          <a:lstStyle/>
          <a:p>
            <a:r>
              <a:rPr lang="zh-CN" altLang="en-US" sz="900">
                <a:solidFill>
                  <a:schemeClr val="tx2"/>
                </a:solidFill>
                <a:latin typeface="微软雅黑" panose="020B0503020204020204" pitchFamily="34" charset="-122"/>
                <a:ea typeface="微软雅黑" panose="020B0503020204020204" pitchFamily="34" charset="-122"/>
                <a:cs typeface="Open Sans" panose="020B0606030504020204" pitchFamily="34" charset="0"/>
              </a:rPr>
              <a:t>分解集团目标</a:t>
            </a:r>
            <a:endParaRPr lang="en-US" altLang="zh-CN" sz="900">
              <a:solidFill>
                <a:schemeClr val="tx2"/>
              </a:solidFill>
              <a:latin typeface="微软雅黑" panose="020B0503020204020204" pitchFamily="34" charset="-122"/>
              <a:ea typeface="微软雅黑" panose="020B0503020204020204" pitchFamily="34" charset="-122"/>
              <a:cs typeface="Open Sans" panose="020B0606030504020204" pitchFamily="34" charset="0"/>
            </a:endParaRPr>
          </a:p>
          <a:p>
            <a:r>
              <a:rPr lang="zh-CN" altLang="en-US" sz="900">
                <a:solidFill>
                  <a:schemeClr val="tx2"/>
                </a:solidFill>
                <a:latin typeface="微软雅黑" panose="020B0503020204020204" pitchFamily="34" charset="-122"/>
                <a:ea typeface="微软雅黑" panose="020B0503020204020204" pitchFamily="34" charset="-122"/>
                <a:cs typeface="Open Sans" panose="020B0606030504020204" pitchFamily="34" charset="0"/>
              </a:rPr>
              <a:t>初步任务在部门与项目之间分配</a:t>
            </a:r>
            <a:endParaRPr lang="en-US" altLang="zh-CN" sz="9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77" name="文本框 76">
            <a:extLst>
              <a:ext uri="{FF2B5EF4-FFF2-40B4-BE49-F238E27FC236}">
                <a16:creationId xmlns:a16="http://schemas.microsoft.com/office/drawing/2014/main" id="{7DCCAD5C-B750-4353-49C1-00F1E113C2D0}"/>
              </a:ext>
            </a:extLst>
          </p:cNvPr>
          <p:cNvSpPr txBox="1"/>
          <p:nvPr/>
        </p:nvSpPr>
        <p:spPr>
          <a:xfrm>
            <a:off x="5615589" y="5082561"/>
            <a:ext cx="768056" cy="369332"/>
          </a:xfrm>
          <a:prstGeom prst="rect">
            <a:avLst/>
          </a:prstGeom>
          <a:noFill/>
        </p:spPr>
        <p:txBody>
          <a:bodyPr wrap="square">
            <a:spAutoFit/>
          </a:bodyPr>
          <a:lstStyle/>
          <a:p>
            <a:r>
              <a:rPr lang="zh-CN" altLang="en-US" sz="900">
                <a:solidFill>
                  <a:schemeClr val="tx2"/>
                </a:solidFill>
                <a:latin typeface="微软雅黑" panose="020B0503020204020204" pitchFamily="34" charset="-122"/>
                <a:ea typeface="微软雅黑" panose="020B0503020204020204" pitchFamily="34" charset="-122"/>
                <a:cs typeface="Open Sans" panose="020B0606030504020204" pitchFamily="34" charset="0"/>
              </a:rPr>
              <a:t>经营预算</a:t>
            </a:r>
            <a:endParaRPr lang="en-US" altLang="zh-CN" sz="900">
              <a:solidFill>
                <a:schemeClr val="tx2"/>
              </a:solidFill>
              <a:latin typeface="微软雅黑" panose="020B0503020204020204" pitchFamily="34" charset="-122"/>
              <a:ea typeface="微软雅黑" panose="020B0503020204020204" pitchFamily="34" charset="-122"/>
              <a:cs typeface="Open Sans" panose="020B0606030504020204" pitchFamily="34" charset="0"/>
            </a:endParaRPr>
          </a:p>
          <a:p>
            <a:r>
              <a:rPr lang="zh-CN" altLang="en-US" sz="900">
                <a:solidFill>
                  <a:schemeClr val="tx2"/>
                </a:solidFill>
                <a:latin typeface="微软雅黑" panose="020B0503020204020204" pitchFamily="34" charset="-122"/>
                <a:ea typeface="微软雅黑" panose="020B0503020204020204" pitchFamily="34" charset="-122"/>
                <a:cs typeface="Open Sans" panose="020B0606030504020204" pitchFamily="34" charset="0"/>
              </a:rPr>
              <a:t>资本预算</a:t>
            </a:r>
            <a:endParaRPr lang="en-US" altLang="zh-CN" sz="9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79" name="文本框 78">
            <a:extLst>
              <a:ext uri="{FF2B5EF4-FFF2-40B4-BE49-F238E27FC236}">
                <a16:creationId xmlns:a16="http://schemas.microsoft.com/office/drawing/2014/main" id="{1F073D7B-5819-0D8B-1590-BBF3A36EA9F8}"/>
              </a:ext>
            </a:extLst>
          </p:cNvPr>
          <p:cNvSpPr txBox="1"/>
          <p:nvPr/>
        </p:nvSpPr>
        <p:spPr>
          <a:xfrm>
            <a:off x="7809326" y="4655896"/>
            <a:ext cx="1252757" cy="507831"/>
          </a:xfrm>
          <a:prstGeom prst="rect">
            <a:avLst/>
          </a:prstGeom>
          <a:noFill/>
        </p:spPr>
        <p:txBody>
          <a:bodyPr wrap="square">
            <a:spAutoFit/>
          </a:bodyPr>
          <a:lstStyle/>
          <a:p>
            <a:r>
              <a:rPr lang="zh-CN" altLang="en-US" sz="900">
                <a:solidFill>
                  <a:schemeClr val="tx2"/>
                </a:solidFill>
                <a:latin typeface="微软雅黑" panose="020B0503020204020204" pitchFamily="34" charset="-122"/>
                <a:ea typeface="微软雅黑" panose="020B0503020204020204" pitchFamily="34" charset="-122"/>
                <a:cs typeface="Open Sans" panose="020B0606030504020204" pitchFamily="34" charset="0"/>
              </a:rPr>
              <a:t>预算汇总</a:t>
            </a:r>
            <a:endParaRPr lang="en-US" altLang="zh-CN" sz="900">
              <a:solidFill>
                <a:schemeClr val="tx2"/>
              </a:solidFill>
              <a:latin typeface="微软雅黑" panose="020B0503020204020204" pitchFamily="34" charset="-122"/>
              <a:ea typeface="微软雅黑" panose="020B0503020204020204" pitchFamily="34" charset="-122"/>
              <a:cs typeface="Open Sans" panose="020B0606030504020204" pitchFamily="34" charset="0"/>
            </a:endParaRPr>
          </a:p>
          <a:p>
            <a:r>
              <a:rPr lang="zh-CN" altLang="en-US" sz="900">
                <a:solidFill>
                  <a:schemeClr val="tx2"/>
                </a:solidFill>
                <a:latin typeface="微软雅黑" panose="020B0503020204020204" pitchFamily="34" charset="-122"/>
                <a:ea typeface="微软雅黑" panose="020B0503020204020204" pitchFamily="34" charset="-122"/>
                <a:cs typeface="Open Sans" panose="020B0606030504020204" pitchFamily="34" charset="0"/>
              </a:rPr>
              <a:t>预算检验</a:t>
            </a:r>
            <a:endParaRPr lang="en-US" altLang="zh-CN" sz="900">
              <a:solidFill>
                <a:schemeClr val="tx2"/>
              </a:solidFill>
              <a:latin typeface="微软雅黑" panose="020B0503020204020204" pitchFamily="34" charset="-122"/>
              <a:ea typeface="微软雅黑" panose="020B0503020204020204" pitchFamily="34" charset="-122"/>
              <a:cs typeface="Open Sans" panose="020B0606030504020204" pitchFamily="34" charset="0"/>
            </a:endParaRPr>
          </a:p>
          <a:p>
            <a:r>
              <a:rPr lang="zh-CN" altLang="en-US" sz="900">
                <a:solidFill>
                  <a:schemeClr val="tx2"/>
                </a:solidFill>
                <a:latin typeface="微软雅黑" panose="020B0503020204020204" pitchFamily="34" charset="-122"/>
                <a:ea typeface="微软雅黑" panose="020B0503020204020204" pitchFamily="34" charset="-122"/>
                <a:cs typeface="Open Sans" panose="020B0606030504020204" pitchFamily="34" charset="0"/>
              </a:rPr>
              <a:t>预算质询</a:t>
            </a:r>
          </a:p>
        </p:txBody>
      </p:sp>
      <p:sp>
        <p:nvSpPr>
          <p:cNvPr id="80" name="文本框 79">
            <a:extLst>
              <a:ext uri="{FF2B5EF4-FFF2-40B4-BE49-F238E27FC236}">
                <a16:creationId xmlns:a16="http://schemas.microsoft.com/office/drawing/2014/main" id="{0351D369-1E9B-C9FA-FC11-7DE61FBE6F99}"/>
              </a:ext>
            </a:extLst>
          </p:cNvPr>
          <p:cNvSpPr txBox="1"/>
          <p:nvPr/>
        </p:nvSpPr>
        <p:spPr>
          <a:xfrm>
            <a:off x="9166851" y="5151045"/>
            <a:ext cx="1101792" cy="507831"/>
          </a:xfrm>
          <a:prstGeom prst="rect">
            <a:avLst/>
          </a:prstGeom>
          <a:noFill/>
        </p:spPr>
        <p:txBody>
          <a:bodyPr wrap="square">
            <a:spAutoFit/>
          </a:bodyPr>
          <a:lstStyle>
            <a:defPPr>
              <a:defRPr lang="zh-CN"/>
            </a:defPPr>
            <a:lvl1pPr marL="342900" indent="-342900">
              <a:lnSpc>
                <a:spcPct val="150000"/>
              </a:lnSpc>
              <a:buFont typeface="Wingdings" panose="05000000000000000000" pitchFamily="2" charset="2"/>
              <a:buChar char="ü"/>
              <a:defRPr sz="1200" b="1">
                <a:solidFill>
                  <a:schemeClr val="tx1">
                    <a:lumMod val="75000"/>
                    <a:lumOff val="25000"/>
                  </a:schemeClr>
                </a:solidFill>
                <a:latin typeface="微软雅黑" panose="020B0503020204020204" pitchFamily="34" charset="-122"/>
                <a:ea typeface="微软雅黑" panose="020B0503020204020204" pitchFamily="34" charset="-122"/>
              </a:defRPr>
            </a:lvl1pPr>
          </a:lstStyle>
          <a:p>
            <a:pPr marL="0" indent="0">
              <a:lnSpc>
                <a:spcPct val="100000"/>
              </a:lnSpc>
              <a:buNone/>
            </a:pPr>
            <a:r>
              <a:rPr lang="zh-CN" altLang="en-US" sz="900" b="0">
                <a:solidFill>
                  <a:schemeClr val="tx2"/>
                </a:solidFill>
              </a:rPr>
              <a:t>预算</a:t>
            </a:r>
            <a:r>
              <a:rPr lang="zh-CN" altLang="en-US" sz="900" b="0">
                <a:solidFill>
                  <a:schemeClr val="tx2"/>
                </a:solidFill>
                <a:cs typeface="Open Sans" panose="020B0606030504020204" pitchFamily="34" charset="0"/>
              </a:rPr>
              <a:t>审议</a:t>
            </a:r>
            <a:endParaRPr lang="en-US" altLang="zh-CN" sz="900" b="0" dirty="0">
              <a:solidFill>
                <a:schemeClr val="tx2"/>
              </a:solidFill>
              <a:cs typeface="Open Sans" panose="020B0606030504020204" pitchFamily="34" charset="0"/>
            </a:endParaRPr>
          </a:p>
          <a:p>
            <a:pPr marL="0" indent="0">
              <a:lnSpc>
                <a:spcPct val="100000"/>
              </a:lnSpc>
              <a:buNone/>
            </a:pPr>
            <a:r>
              <a:rPr lang="zh-CN" altLang="en-US" sz="900" b="0" dirty="0">
                <a:solidFill>
                  <a:schemeClr val="tx2"/>
                </a:solidFill>
                <a:cs typeface="Open Sans" panose="020B0606030504020204" pitchFamily="34" charset="0"/>
              </a:rPr>
              <a:t>预算</a:t>
            </a:r>
            <a:r>
              <a:rPr lang="zh-CN" altLang="en-US" sz="900" b="0">
                <a:solidFill>
                  <a:schemeClr val="tx2"/>
                </a:solidFill>
                <a:cs typeface="Open Sans" panose="020B0606030504020204" pitchFamily="34" charset="0"/>
              </a:rPr>
              <a:t>定稿下达</a:t>
            </a:r>
            <a:endParaRPr lang="en-US" altLang="zh-CN" sz="900" b="0" dirty="0">
              <a:solidFill>
                <a:schemeClr val="tx2"/>
              </a:solidFill>
              <a:cs typeface="Open Sans" panose="020B0606030504020204" pitchFamily="34" charset="0"/>
            </a:endParaRPr>
          </a:p>
          <a:p>
            <a:pPr marL="0" indent="0">
              <a:lnSpc>
                <a:spcPct val="100000"/>
              </a:lnSpc>
              <a:buNone/>
            </a:pPr>
            <a:r>
              <a:rPr lang="zh-CN" altLang="en-US" sz="900" b="0">
                <a:solidFill>
                  <a:schemeClr val="tx2"/>
                </a:solidFill>
                <a:cs typeface="Open Sans" panose="020B0606030504020204" pitchFamily="34" charset="0"/>
              </a:rPr>
              <a:t>过程分析</a:t>
            </a:r>
            <a:endParaRPr lang="en-US" altLang="zh-CN" sz="900" b="0" dirty="0">
              <a:solidFill>
                <a:schemeClr val="tx2"/>
              </a:solidFill>
              <a:cs typeface="Open Sans" panose="020B0606030504020204" pitchFamily="34" charset="0"/>
            </a:endParaRPr>
          </a:p>
        </p:txBody>
      </p:sp>
      <p:sp>
        <p:nvSpPr>
          <p:cNvPr id="81" name="矩形: 圆角 58">
            <a:extLst>
              <a:ext uri="{FF2B5EF4-FFF2-40B4-BE49-F238E27FC236}">
                <a16:creationId xmlns:a16="http://schemas.microsoft.com/office/drawing/2014/main" id="{9EB5F1CF-E78E-82C3-BDDE-74ACD770FAA6}"/>
              </a:ext>
            </a:extLst>
          </p:cNvPr>
          <p:cNvSpPr/>
          <p:nvPr/>
        </p:nvSpPr>
        <p:spPr>
          <a:xfrm flipH="1">
            <a:off x="10847054" y="3749675"/>
            <a:ext cx="390667" cy="2291715"/>
          </a:xfrm>
          <a:prstGeom prst="roundRect">
            <a:avLst>
              <a:gd name="adj" fmla="val 13782"/>
            </a:avLst>
          </a:prstGeom>
          <a:solidFill>
            <a:schemeClr val="accent4">
              <a:alpha val="49000"/>
            </a:schemeClr>
          </a:solidFill>
          <a:ln w="12700" cap="flat" cmpd="sng" algn="ctr">
            <a:noFill/>
            <a:prstDash val="solid"/>
            <a:miter lim="800000"/>
          </a:ln>
          <a:effectLst>
            <a:outerShdw blurRad="203200" dist="38100" dir="11400000" sx="104000" sy="104000" algn="tl" rotWithShape="0">
              <a:srgbClr val="256FFB">
                <a:alpha val="23000"/>
              </a:srgbClr>
            </a:outerShdw>
          </a:effectLst>
        </p:spPr>
        <p:txBody>
          <a:bodyPr rtlCol="0" anchor="ctr"/>
          <a:lstStyle/>
          <a:p>
            <a:pPr algn="ctr"/>
            <a:r>
              <a:rPr lang="zh-CN" altLang="en-US" sz="1200" b="1">
                <a:solidFill>
                  <a:schemeClr val="bg1"/>
                </a:solidFill>
                <a:latin typeface="Roboto Regular" charset="0"/>
                <a:ea typeface="思源黑体 CN Regular" panose="020B0500000000000000" charset="-122"/>
              </a:rPr>
              <a:t>预测</a:t>
            </a:r>
            <a:endParaRPr lang="en-US" altLang="zh-CN" sz="1200" b="1">
              <a:solidFill>
                <a:schemeClr val="bg1"/>
              </a:solidFill>
              <a:latin typeface="Roboto Regular" charset="0"/>
              <a:ea typeface="思源黑体 CN Regular" panose="020B0500000000000000" charset="-122"/>
            </a:endParaRPr>
          </a:p>
          <a:p>
            <a:pPr algn="ctr"/>
            <a:r>
              <a:rPr lang="en-US" altLang="zh-CN" sz="1200" b="1">
                <a:solidFill>
                  <a:schemeClr val="bg1"/>
                </a:solidFill>
                <a:latin typeface="Roboto Regular" charset="0"/>
                <a:ea typeface="思源黑体 CN Regular" panose="020B0500000000000000" charset="-122"/>
              </a:rPr>
              <a:t>·</a:t>
            </a:r>
          </a:p>
          <a:p>
            <a:pPr algn="ctr"/>
            <a:r>
              <a:rPr lang="zh-CN" altLang="en-US" sz="1200" b="1">
                <a:solidFill>
                  <a:schemeClr val="bg1"/>
                </a:solidFill>
                <a:latin typeface="Roboto Regular" charset="0"/>
                <a:ea typeface="思源黑体 CN Regular" panose="020B0500000000000000" charset="-122"/>
              </a:rPr>
              <a:t>实际</a:t>
            </a:r>
            <a:endParaRPr lang="en-US" altLang="zh-CN" sz="1200" b="1">
              <a:solidFill>
                <a:schemeClr val="bg1"/>
              </a:solidFill>
              <a:latin typeface="Roboto Regular" charset="0"/>
              <a:ea typeface="思源黑体 CN Regular" panose="020B0500000000000000" charset="-122"/>
            </a:endParaRPr>
          </a:p>
          <a:p>
            <a:pPr algn="ctr"/>
            <a:r>
              <a:rPr lang="en-US" altLang="zh-CN" sz="1200" b="1">
                <a:solidFill>
                  <a:schemeClr val="bg1"/>
                </a:solidFill>
                <a:latin typeface="Roboto Regular" charset="0"/>
                <a:ea typeface="思源黑体 CN Regular" panose="020B0500000000000000" charset="-122"/>
              </a:rPr>
              <a:t>·</a:t>
            </a:r>
          </a:p>
          <a:p>
            <a:pPr algn="ctr"/>
            <a:r>
              <a:rPr lang="zh-CN" altLang="en-US" sz="1200" b="1">
                <a:solidFill>
                  <a:schemeClr val="bg1"/>
                </a:solidFill>
                <a:latin typeface="Roboto Regular" charset="0"/>
                <a:ea typeface="思源黑体 CN Regular" panose="020B0500000000000000" charset="-122"/>
              </a:rPr>
              <a:t>经营分析</a:t>
            </a:r>
          </a:p>
        </p:txBody>
      </p:sp>
      <p:sp>
        <p:nvSpPr>
          <p:cNvPr id="82" name="文本框 81">
            <a:extLst>
              <a:ext uri="{FF2B5EF4-FFF2-40B4-BE49-F238E27FC236}">
                <a16:creationId xmlns:a16="http://schemas.microsoft.com/office/drawing/2014/main" id="{4BD5348B-876F-617F-FD59-F1BEA3ACD1EC}"/>
              </a:ext>
            </a:extLst>
          </p:cNvPr>
          <p:cNvSpPr txBox="1"/>
          <p:nvPr/>
        </p:nvSpPr>
        <p:spPr>
          <a:xfrm>
            <a:off x="11127740" y="1464310"/>
            <a:ext cx="936441" cy="288290"/>
          </a:xfrm>
          <a:prstGeom prst="rect">
            <a:avLst/>
          </a:prstGeom>
          <a:noFill/>
        </p:spPr>
        <p:txBody>
          <a:bodyPr wrap="square" rtlCol="0">
            <a:noAutofit/>
          </a:bodyPr>
          <a:lstStyle/>
          <a:p>
            <a:r>
              <a:rPr lang="zh-CN" altLang="en-US" sz="1200">
                <a:latin typeface="Microsoft YaHei Regular" charset="0"/>
                <a:ea typeface="Microsoft YaHei Regular" charset="0"/>
              </a:rPr>
              <a:t>下达执行</a:t>
            </a:r>
          </a:p>
        </p:txBody>
      </p:sp>
      <p:sp>
        <p:nvSpPr>
          <p:cNvPr id="85" name="文本框 84">
            <a:extLst>
              <a:ext uri="{FF2B5EF4-FFF2-40B4-BE49-F238E27FC236}">
                <a16:creationId xmlns:a16="http://schemas.microsoft.com/office/drawing/2014/main" id="{D4AF61EE-5B1F-7418-31A5-717EA594CC64}"/>
              </a:ext>
            </a:extLst>
          </p:cNvPr>
          <p:cNvSpPr txBox="1"/>
          <p:nvPr/>
        </p:nvSpPr>
        <p:spPr>
          <a:xfrm>
            <a:off x="562405" y="4365994"/>
            <a:ext cx="1668059" cy="1818383"/>
          </a:xfrm>
          <a:prstGeom prst="rect">
            <a:avLst/>
          </a:prstGeom>
          <a:noFill/>
        </p:spPr>
        <p:txBody>
          <a:bodyPr wrap="square">
            <a:spAutoFit/>
          </a:bodyPr>
          <a:lstStyle/>
          <a:p>
            <a:pPr marL="0" marR="0" lvl="0" indent="0" algn="l" defTabSz="914400" rtl="0" eaLnBrk="1" fontAlgn="auto" latinLnBrk="0" hangingPunct="1">
              <a:lnSpc>
                <a:spcPts val="1700"/>
              </a:lnSpc>
              <a:spcBef>
                <a:spcPts val="0"/>
              </a:spcBef>
              <a:spcAft>
                <a:spcPts val="0"/>
              </a:spcAft>
              <a:buClrTx/>
              <a:buSzTx/>
              <a:buFontTx/>
              <a:buNone/>
              <a:tabLst/>
              <a:defRPr/>
            </a:pPr>
            <a:r>
              <a:rPr lang="zh-CN" altLang="en-US" sz="1100"/>
              <a:t>预算是企业管理过程中一项重要环节</a:t>
            </a:r>
            <a:endParaRPr lang="en-US" altLang="zh-CN" sz="1100"/>
          </a:p>
          <a:p>
            <a:pPr marL="0" marR="0" lvl="0" indent="0" algn="l" defTabSz="914400" rtl="0" eaLnBrk="1" fontAlgn="auto" latinLnBrk="0" hangingPunct="1">
              <a:lnSpc>
                <a:spcPts val="1700"/>
              </a:lnSpc>
              <a:spcBef>
                <a:spcPts val="0"/>
              </a:spcBef>
              <a:spcAft>
                <a:spcPts val="0"/>
              </a:spcAft>
              <a:buClrTx/>
              <a:buSzTx/>
              <a:buFontTx/>
              <a:buNone/>
              <a:tabLst/>
              <a:defRPr/>
            </a:pPr>
            <a:endParaRPr lang="en-US" altLang="zh-CN" sz="1100" b="0" i="0">
              <a:solidFill>
                <a:srgbClr val="333333"/>
              </a:solidFill>
              <a:effectLst/>
              <a:latin typeface="Arial" panose="020B0604020202020204" pitchFamily="34" charset="0"/>
            </a:endParaRPr>
          </a:p>
          <a:p>
            <a:pPr marR="0" lvl="0" algn="l" defTabSz="914400" rtl="0" eaLnBrk="1" fontAlgn="auto" latinLnBrk="0" hangingPunct="1">
              <a:lnSpc>
                <a:spcPts val="1700"/>
              </a:lnSpc>
              <a:spcBef>
                <a:spcPts val="0"/>
              </a:spcBef>
              <a:spcAft>
                <a:spcPts val="0"/>
              </a:spcAft>
              <a:buClrTx/>
              <a:buSzTx/>
              <a:tabLst/>
              <a:defRPr/>
            </a:pPr>
            <a:r>
              <a:rPr lang="zh-CN" altLang="en-US" sz="1100" b="0" i="0">
                <a:solidFill>
                  <a:srgbClr val="333333"/>
                </a:solidFill>
                <a:effectLst/>
                <a:latin typeface="Arial" panose="020B0604020202020204" pitchFamily="34" charset="0"/>
              </a:rPr>
              <a:t>是一套基于业务、贯穿 整个经济链、体现业务</a:t>
            </a:r>
            <a:r>
              <a:rPr lang="zh-CN" altLang="en-US" sz="1100" b="1" i="0">
                <a:solidFill>
                  <a:schemeClr val="accent2">
                    <a:lumMod val="75000"/>
                  </a:schemeClr>
                </a:solidFill>
                <a:effectLst/>
                <a:latin typeface="Arial" panose="020B0604020202020204" pitchFamily="34" charset="0"/>
              </a:rPr>
              <a:t>计划向财务成果转化</a:t>
            </a:r>
            <a:r>
              <a:rPr lang="zh-CN" altLang="en-US" sz="1100" b="0" i="0">
                <a:solidFill>
                  <a:srgbClr val="333333"/>
                </a:solidFill>
                <a:effectLst/>
                <a:latin typeface="Arial" panose="020B0604020202020204" pitchFamily="34" charset="0"/>
              </a:rPr>
              <a:t>，丰富管理数据的维度，为高层决策提供支持</a:t>
            </a:r>
            <a:endParaRPr lang="zh-CN" altLang="en-US" sz="1100" dirty="0"/>
          </a:p>
        </p:txBody>
      </p:sp>
    </p:spTree>
    <p:extLst>
      <p:ext uri="{BB962C8B-B14F-4D97-AF65-F5344CB8AC3E}">
        <p14:creationId xmlns:p14="http://schemas.microsoft.com/office/powerpoint/2010/main" val="2737966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圆角 26">
            <a:extLst>
              <a:ext uri="{FF2B5EF4-FFF2-40B4-BE49-F238E27FC236}">
                <a16:creationId xmlns:a16="http://schemas.microsoft.com/office/drawing/2014/main" id="{79178688-DA7F-FF2C-64EE-B44B930B764D}"/>
              </a:ext>
            </a:extLst>
          </p:cNvPr>
          <p:cNvSpPr/>
          <p:nvPr/>
        </p:nvSpPr>
        <p:spPr>
          <a:xfrm>
            <a:off x="2565254" y="1989441"/>
            <a:ext cx="9288571" cy="4536686"/>
          </a:xfrm>
          <a:prstGeom prst="roundRect">
            <a:avLst>
              <a:gd name="adj" fmla="val 2589"/>
            </a:avLst>
          </a:prstGeom>
          <a:gradFill>
            <a:gsLst>
              <a:gs pos="19000">
                <a:sysClr val="window" lastClr="FFFFFF"/>
              </a:gs>
              <a:gs pos="100000">
                <a:sysClr val="window" lastClr="FFFFFF"/>
              </a:gs>
            </a:gsLst>
            <a:lin ang="2700000" scaled="1"/>
          </a:gradFill>
          <a:ln w="12700" cap="flat" cmpd="sng" algn="ctr">
            <a:solidFill>
              <a:srgbClr val="1D78FA">
                <a:lumMod val="20000"/>
                <a:lumOff val="80000"/>
              </a:srgbClr>
            </a:solidFill>
            <a:prstDash val="solid"/>
            <a:miter lim="800000"/>
          </a:ln>
          <a:effectLst>
            <a:outerShdw blurRad="495300" dist="304800" dir="2700000" sx="95000" sy="95000" algn="tl" rotWithShape="0">
              <a:srgbClr val="1D78FA">
                <a:lumMod val="40000"/>
                <a:lumOff val="60000"/>
                <a:alpha val="10000"/>
              </a:srgbClr>
            </a:outerShdw>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panose="020B0500000000000000" charset="-122"/>
              <a:cs typeface="+mn-ea"/>
            </a:endParaRPr>
          </a:p>
        </p:txBody>
      </p:sp>
      <p:sp>
        <p:nvSpPr>
          <p:cNvPr id="2" name="文本框 1">
            <a:extLst>
              <a:ext uri="{FF2B5EF4-FFF2-40B4-BE49-F238E27FC236}">
                <a16:creationId xmlns:a16="http://schemas.microsoft.com/office/drawing/2014/main" id="{DB33A85B-FD6D-4E36-6792-377AC03A190A}"/>
              </a:ext>
            </a:extLst>
          </p:cNvPr>
          <p:cNvSpPr txBox="1"/>
          <p:nvPr/>
        </p:nvSpPr>
        <p:spPr>
          <a:xfrm>
            <a:off x="373569" y="261929"/>
            <a:ext cx="5583806" cy="480131"/>
          </a:xfrm>
          <a:prstGeom prst="rect">
            <a:avLst/>
          </a:prstGeom>
          <a:noFill/>
        </p:spPr>
        <p:txBody>
          <a:bodyPr wrap="square" rtlCol="0">
            <a:spAutoFit/>
          </a:bodyPr>
          <a:lstStyle>
            <a:defPPr>
              <a:defRPr lang="zh-CN"/>
            </a:defPPr>
            <a:lvl1pPr>
              <a:lnSpc>
                <a:spcPct val="90000"/>
              </a:lnSpc>
              <a:spcBef>
                <a:spcPct val="0"/>
              </a:spcBef>
              <a:defRPr sz="2800" b="1">
                <a:solidFill>
                  <a:schemeClr val="tx2"/>
                </a:solidFill>
                <a:latin typeface="微软雅黑" panose="020B0503020204020204" pitchFamily="34" charset="-122"/>
                <a:ea typeface="微软雅黑" panose="020B0503020204020204" pitchFamily="34" charset="-122"/>
              </a:defRPr>
            </a:lvl1pPr>
          </a:lstStyle>
          <a:p>
            <a:r>
              <a:rPr lang="en-US" altLang="zh-CN"/>
              <a:t>2025</a:t>
            </a:r>
            <a:r>
              <a:rPr lang="zh-CN" altLang="en-US"/>
              <a:t>年业绩回顾与绩效分析</a:t>
            </a:r>
            <a:endParaRPr lang="en-US" altLang="zh-CN"/>
          </a:p>
        </p:txBody>
      </p:sp>
      <p:cxnSp>
        <p:nvCxnSpPr>
          <p:cNvPr id="3" name="直线连接符 7">
            <a:extLst>
              <a:ext uri="{FF2B5EF4-FFF2-40B4-BE49-F238E27FC236}">
                <a16:creationId xmlns:a16="http://schemas.microsoft.com/office/drawing/2014/main" id="{B3578E47-2D9C-197E-0D88-D51D4655F602}"/>
              </a:ext>
            </a:extLst>
          </p:cNvPr>
          <p:cNvCxnSpPr>
            <a:cxnSpLocks/>
          </p:cNvCxnSpPr>
          <p:nvPr/>
        </p:nvCxnSpPr>
        <p:spPr>
          <a:xfrm>
            <a:off x="421341" y="859164"/>
            <a:ext cx="1139429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graphicFrame>
        <p:nvGraphicFramePr>
          <p:cNvPr id="12" name="图表 11">
            <a:extLst>
              <a:ext uri="{FF2B5EF4-FFF2-40B4-BE49-F238E27FC236}">
                <a16:creationId xmlns:a16="http://schemas.microsoft.com/office/drawing/2014/main" id="{4D78955F-E7C6-7FB4-2F03-DE8264BB3FD8}"/>
              </a:ext>
            </a:extLst>
          </p:cNvPr>
          <p:cNvGraphicFramePr/>
          <p:nvPr>
            <p:extLst>
              <p:ext uri="{D42A27DB-BD31-4B8C-83A1-F6EECF244321}">
                <p14:modId xmlns:p14="http://schemas.microsoft.com/office/powerpoint/2010/main" val="1950469196"/>
              </p:ext>
            </p:extLst>
          </p:nvPr>
        </p:nvGraphicFramePr>
        <p:xfrm>
          <a:off x="2536723" y="1993900"/>
          <a:ext cx="9326878" cy="4536686"/>
        </p:xfrm>
        <a:graphic>
          <a:graphicData uri="http://schemas.openxmlformats.org/drawingml/2006/chart">
            <c:chart xmlns:c="http://schemas.openxmlformats.org/drawingml/2006/chart" xmlns:r="http://schemas.openxmlformats.org/officeDocument/2006/relationships" r:id="rId3"/>
          </a:graphicData>
        </a:graphic>
      </p:graphicFrame>
      <p:sp>
        <p:nvSpPr>
          <p:cNvPr id="13" name="矩形: 圆角 26">
            <a:extLst>
              <a:ext uri="{FF2B5EF4-FFF2-40B4-BE49-F238E27FC236}">
                <a16:creationId xmlns:a16="http://schemas.microsoft.com/office/drawing/2014/main" id="{36CA2E33-0DE2-3507-E71C-DF8EAC15DFB6}"/>
              </a:ext>
            </a:extLst>
          </p:cNvPr>
          <p:cNvSpPr/>
          <p:nvPr/>
        </p:nvSpPr>
        <p:spPr>
          <a:xfrm>
            <a:off x="407670" y="1993900"/>
            <a:ext cx="2002849" cy="4536686"/>
          </a:xfrm>
          <a:prstGeom prst="roundRect">
            <a:avLst>
              <a:gd name="adj" fmla="val 4651"/>
            </a:avLst>
          </a:prstGeom>
          <a:gradFill>
            <a:gsLst>
              <a:gs pos="19000">
                <a:sysClr val="window" lastClr="FFFFFF"/>
              </a:gs>
              <a:gs pos="100000">
                <a:sysClr val="window" lastClr="FFFFFF"/>
              </a:gs>
            </a:gsLst>
            <a:lin ang="2700000" scaled="1"/>
          </a:gradFill>
          <a:ln w="12700" cap="flat" cmpd="sng" algn="ctr">
            <a:solidFill>
              <a:srgbClr val="1D78FA">
                <a:lumMod val="20000"/>
                <a:lumOff val="80000"/>
              </a:srgbClr>
            </a:solidFill>
            <a:prstDash val="solid"/>
            <a:miter lim="800000"/>
          </a:ln>
          <a:effectLst>
            <a:outerShdw blurRad="495300" dist="304800" dir="2700000" sx="95000" sy="95000" algn="tl" rotWithShape="0">
              <a:srgbClr val="1D78FA">
                <a:lumMod val="40000"/>
                <a:lumOff val="60000"/>
                <a:alpha val="10000"/>
              </a:srgbClr>
            </a:outerShdw>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panose="020B0500000000000000" charset="-122"/>
              <a:cs typeface="+mn-ea"/>
            </a:endParaRPr>
          </a:p>
        </p:txBody>
      </p:sp>
      <p:sp>
        <p:nvSpPr>
          <p:cNvPr id="14" name="椭圆 13">
            <a:extLst>
              <a:ext uri="{FF2B5EF4-FFF2-40B4-BE49-F238E27FC236}">
                <a16:creationId xmlns:a16="http://schemas.microsoft.com/office/drawing/2014/main" id="{576EF854-0026-7096-2F07-443AFD7C9B7C}"/>
              </a:ext>
            </a:extLst>
          </p:cNvPr>
          <p:cNvSpPr/>
          <p:nvPr/>
        </p:nvSpPr>
        <p:spPr>
          <a:xfrm rot="19741494">
            <a:off x="525924" y="2162175"/>
            <a:ext cx="445770" cy="445770"/>
          </a:xfrm>
          <a:prstGeom prst="ellipse">
            <a:avLst/>
          </a:prstGeom>
          <a:solidFill>
            <a:schemeClr val="accent1">
              <a:lumMod val="20000"/>
              <a:lumOff val="80000"/>
              <a:alpha val="50000"/>
            </a:schemeClr>
          </a:solidFill>
          <a:ln w="12700" cap="flat" cmpd="sng" algn="ctr">
            <a:noFill/>
            <a:prstDash val="solid"/>
            <a:miter lim="800000"/>
          </a:ln>
          <a:effectLst/>
        </p:spPr>
        <p:txBody>
          <a:bodyPr rtlCol="0" anchor="ctr"/>
          <a:lstStyle/>
          <a:p>
            <a:pPr algn="ctr"/>
            <a:endParaRPr lang="zh-CN" altLang="en-US">
              <a:solidFill>
                <a:prstClr val="white"/>
              </a:solidFill>
              <a:latin typeface="Roboto"/>
              <a:ea typeface="思源黑体 CN Regular" panose="020B0500000000000000" charset="-122"/>
            </a:endParaRPr>
          </a:p>
        </p:txBody>
      </p:sp>
      <p:grpSp>
        <p:nvGrpSpPr>
          <p:cNvPr id="15" name="组合 14">
            <a:extLst>
              <a:ext uri="{FF2B5EF4-FFF2-40B4-BE49-F238E27FC236}">
                <a16:creationId xmlns:a16="http://schemas.microsoft.com/office/drawing/2014/main" id="{77AF72CD-522E-73D7-1F9A-7847DC09327F}"/>
              </a:ext>
            </a:extLst>
          </p:cNvPr>
          <p:cNvGrpSpPr/>
          <p:nvPr/>
        </p:nvGrpSpPr>
        <p:grpSpPr>
          <a:xfrm>
            <a:off x="635144" y="2272665"/>
            <a:ext cx="229235" cy="229235"/>
            <a:chOff x="3576" y="7420"/>
            <a:chExt cx="804" cy="804"/>
          </a:xfrm>
        </p:grpSpPr>
        <p:sp>
          <p:nvSpPr>
            <p:cNvPr id="16" name="圆角矩形 50">
              <a:extLst>
                <a:ext uri="{FF2B5EF4-FFF2-40B4-BE49-F238E27FC236}">
                  <a16:creationId xmlns:a16="http://schemas.microsoft.com/office/drawing/2014/main" id="{9F13C5F0-9A7F-2458-8509-88C4098C5619}"/>
                </a:ext>
              </a:extLst>
            </p:cNvPr>
            <p:cNvSpPr/>
            <p:nvPr/>
          </p:nvSpPr>
          <p:spPr>
            <a:xfrm>
              <a:off x="3576" y="7420"/>
              <a:ext cx="804" cy="804"/>
            </a:xfrm>
            <a:prstGeom prst="roundRect">
              <a:avLst/>
            </a:prstGeom>
            <a:solidFill>
              <a:schemeClr val="accent2"/>
            </a:solidFill>
            <a:ln>
              <a:noFill/>
            </a:ln>
            <a:effectLst>
              <a:outerShdw blurRad="228600" dist="38100" dir="5400000" sx="112000" sy="112000" algn="t" rotWithShape="0">
                <a:schemeClr val="accent4">
                  <a:alpha val="32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17" name="组合 16">
              <a:extLst>
                <a:ext uri="{FF2B5EF4-FFF2-40B4-BE49-F238E27FC236}">
                  <a16:creationId xmlns:a16="http://schemas.microsoft.com/office/drawing/2014/main" id="{A8C7CE93-48DF-469B-13C1-84808EB2C1A0}"/>
                </a:ext>
              </a:extLst>
            </p:cNvPr>
            <p:cNvGrpSpPr/>
            <p:nvPr/>
          </p:nvGrpSpPr>
          <p:grpSpPr>
            <a:xfrm>
              <a:off x="3756" y="7618"/>
              <a:ext cx="428" cy="411"/>
              <a:chOff x="12929" y="5681"/>
              <a:chExt cx="517" cy="496"/>
            </a:xfrm>
            <a:solidFill>
              <a:schemeClr val="accent5"/>
            </a:solidFill>
          </p:grpSpPr>
          <p:sp>
            <p:nvSpPr>
              <p:cNvPr id="18" name="任意多边形: 形状 35">
                <a:extLst>
                  <a:ext uri="{FF2B5EF4-FFF2-40B4-BE49-F238E27FC236}">
                    <a16:creationId xmlns:a16="http://schemas.microsoft.com/office/drawing/2014/main" id="{1DCFA0CF-AFB9-EF76-0A06-649C9665EF4C}"/>
                  </a:ext>
                </a:extLst>
              </p:cNvPr>
              <p:cNvSpPr/>
              <p:nvPr/>
            </p:nvSpPr>
            <p:spPr>
              <a:xfrm>
                <a:off x="13290" y="5681"/>
                <a:ext cx="157" cy="124"/>
              </a:xfrm>
              <a:custGeom>
                <a:avLst/>
                <a:gdLst>
                  <a:gd name="connsiteX0" fmla="*/ 0 w 483970"/>
                  <a:gd name="connsiteY0" fmla="*/ 0 h 382972"/>
                  <a:gd name="connsiteX1" fmla="*/ 112495 w 483970"/>
                  <a:gd name="connsiteY1" fmla="*/ 112495 h 382972"/>
                  <a:gd name="connsiteX2" fmla="*/ 269992 w 483970"/>
                  <a:gd name="connsiteY2" fmla="*/ 33524 h 382972"/>
                  <a:gd name="connsiteX3" fmla="*/ 483970 w 483970"/>
                  <a:gd name="connsiteY3" fmla="*/ 315013 h 382972"/>
                  <a:gd name="connsiteX4" fmla="*/ 315459 w 483970"/>
                  <a:gd name="connsiteY4" fmla="*/ 213996 h 382972"/>
                  <a:gd name="connsiteX5" fmla="*/ 258979 w 483970"/>
                  <a:gd name="connsiteY5" fmla="*/ 236488 h 382972"/>
                  <a:gd name="connsiteX6" fmla="*/ 405463 w 483970"/>
                  <a:gd name="connsiteY6" fmla="*/ 382972 h 382972"/>
                  <a:gd name="connsiteX7" fmla="*/ 0 w 483970"/>
                  <a:gd name="connsiteY7" fmla="*/ 382972 h 382972"/>
                  <a:gd name="connsiteX8" fmla="*/ 0 w 483970"/>
                  <a:gd name="connsiteY8" fmla="*/ 0 h 382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3970" h="382972">
                    <a:moveTo>
                      <a:pt x="0" y="0"/>
                    </a:moveTo>
                    <a:lnTo>
                      <a:pt x="112495" y="112495"/>
                    </a:lnTo>
                    <a:cubicBezTo>
                      <a:pt x="146019" y="78525"/>
                      <a:pt x="202499" y="33524"/>
                      <a:pt x="269992" y="33524"/>
                    </a:cubicBezTo>
                    <a:cubicBezTo>
                      <a:pt x="371475" y="33524"/>
                      <a:pt x="472492" y="157516"/>
                      <a:pt x="483970" y="315013"/>
                    </a:cubicBezTo>
                    <a:cubicBezTo>
                      <a:pt x="483970" y="315013"/>
                      <a:pt x="393966" y="180008"/>
                      <a:pt x="315459" y="213996"/>
                    </a:cubicBezTo>
                    <a:cubicBezTo>
                      <a:pt x="292968" y="213996"/>
                      <a:pt x="270457" y="236488"/>
                      <a:pt x="258979" y="236488"/>
                    </a:cubicBezTo>
                    <a:lnTo>
                      <a:pt x="405463" y="382972"/>
                    </a:lnTo>
                    <a:lnTo>
                      <a:pt x="0" y="382972"/>
                    </a:lnTo>
                    <a:lnTo>
                      <a:pt x="0" y="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HarmonyOS Sans SC" panose="00000500000000000000" charset="-122"/>
                  <a:ea typeface="HarmonyOS Sans SC" panose="00000500000000000000" charset="-122"/>
                  <a:cs typeface="+mn-cs"/>
                </a:endParaRPr>
              </a:p>
            </p:txBody>
          </p:sp>
          <p:sp>
            <p:nvSpPr>
              <p:cNvPr id="19" name="任意多边形: 形状 36">
                <a:extLst>
                  <a:ext uri="{FF2B5EF4-FFF2-40B4-BE49-F238E27FC236}">
                    <a16:creationId xmlns:a16="http://schemas.microsoft.com/office/drawing/2014/main" id="{CED27611-C7C4-C22A-B275-1611B048C437}"/>
                  </a:ext>
                </a:extLst>
              </p:cNvPr>
              <p:cNvSpPr/>
              <p:nvPr/>
            </p:nvSpPr>
            <p:spPr>
              <a:xfrm>
                <a:off x="12929" y="5697"/>
                <a:ext cx="339" cy="339"/>
              </a:xfrm>
              <a:custGeom>
                <a:avLst/>
                <a:gdLst>
                  <a:gd name="connsiteX0" fmla="*/ 0 w 1058894"/>
                  <a:gd name="connsiteY0" fmla="*/ 0 h 1058912"/>
                  <a:gd name="connsiteX1" fmla="*/ 1058894 w 1058894"/>
                  <a:gd name="connsiteY1" fmla="*/ 0 h 1058912"/>
                  <a:gd name="connsiteX2" fmla="*/ 1058894 w 1058894"/>
                  <a:gd name="connsiteY2" fmla="*/ 1058912 h 1058912"/>
                  <a:gd name="connsiteX3" fmla="*/ 0 w 1058894"/>
                  <a:gd name="connsiteY3" fmla="*/ 1058912 h 1058912"/>
                  <a:gd name="connsiteX4" fmla="*/ 0 w 1058894"/>
                  <a:gd name="connsiteY4" fmla="*/ 0 h 1058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8894" h="1058912">
                    <a:moveTo>
                      <a:pt x="0" y="0"/>
                    </a:moveTo>
                    <a:lnTo>
                      <a:pt x="1058894" y="0"/>
                    </a:lnTo>
                    <a:lnTo>
                      <a:pt x="1058894" y="1058912"/>
                    </a:lnTo>
                    <a:lnTo>
                      <a:pt x="0" y="1058912"/>
                    </a:lnTo>
                    <a:lnTo>
                      <a:pt x="0" y="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HarmonyOS Sans SC" panose="00000500000000000000" charset="-122"/>
                  <a:ea typeface="HarmonyOS Sans SC" panose="00000500000000000000" charset="-122"/>
                  <a:cs typeface="+mn-cs"/>
                </a:endParaRPr>
              </a:p>
            </p:txBody>
          </p:sp>
          <p:sp>
            <p:nvSpPr>
              <p:cNvPr id="20" name="任意多边形: 形状 37">
                <a:extLst>
                  <a:ext uri="{FF2B5EF4-FFF2-40B4-BE49-F238E27FC236}">
                    <a16:creationId xmlns:a16="http://schemas.microsoft.com/office/drawing/2014/main" id="{AEDE8E75-0D6C-C1BD-105F-43268E62963B}"/>
                  </a:ext>
                </a:extLst>
              </p:cNvPr>
              <p:cNvSpPr/>
              <p:nvPr/>
            </p:nvSpPr>
            <p:spPr>
              <a:xfrm>
                <a:off x="13072" y="5839"/>
                <a:ext cx="335" cy="339"/>
              </a:xfrm>
              <a:custGeom>
                <a:avLst/>
                <a:gdLst>
                  <a:gd name="connsiteX0" fmla="*/ 664443 w 1047415"/>
                  <a:gd name="connsiteY0" fmla="*/ 0 h 1058912"/>
                  <a:gd name="connsiteX1" fmla="*/ 1047415 w 1047415"/>
                  <a:gd name="connsiteY1" fmla="*/ 0 h 1058912"/>
                  <a:gd name="connsiteX2" fmla="*/ 1047415 w 1047415"/>
                  <a:gd name="connsiteY2" fmla="*/ 1058912 h 1058912"/>
                  <a:gd name="connsiteX3" fmla="*/ 0 w 1047415"/>
                  <a:gd name="connsiteY3" fmla="*/ 1058912 h 1058912"/>
                  <a:gd name="connsiteX4" fmla="*/ 0 w 1047415"/>
                  <a:gd name="connsiteY4" fmla="*/ 675940 h 1058912"/>
                  <a:gd name="connsiteX5" fmla="*/ 168529 w 1047415"/>
                  <a:gd name="connsiteY5" fmla="*/ 675940 h 1058912"/>
                  <a:gd name="connsiteX6" fmla="*/ 168529 w 1047415"/>
                  <a:gd name="connsiteY6" fmla="*/ 878439 h 1058912"/>
                  <a:gd name="connsiteX7" fmla="*/ 878439 w 1047415"/>
                  <a:gd name="connsiteY7" fmla="*/ 878439 h 1058912"/>
                  <a:gd name="connsiteX8" fmla="*/ 878439 w 1047415"/>
                  <a:gd name="connsiteY8" fmla="*/ 180008 h 1058912"/>
                  <a:gd name="connsiteX9" fmla="*/ 664443 w 1047415"/>
                  <a:gd name="connsiteY9" fmla="*/ 180008 h 1058912"/>
                  <a:gd name="connsiteX10" fmla="*/ 664443 w 1047415"/>
                  <a:gd name="connsiteY10" fmla="*/ 0 h 105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7415" h="1058912">
                    <a:moveTo>
                      <a:pt x="664443" y="0"/>
                    </a:moveTo>
                    <a:lnTo>
                      <a:pt x="1047415" y="0"/>
                    </a:lnTo>
                    <a:lnTo>
                      <a:pt x="1047415" y="1058912"/>
                    </a:lnTo>
                    <a:lnTo>
                      <a:pt x="0" y="1058912"/>
                    </a:lnTo>
                    <a:lnTo>
                      <a:pt x="0" y="675940"/>
                    </a:lnTo>
                    <a:lnTo>
                      <a:pt x="168529" y="675940"/>
                    </a:lnTo>
                    <a:lnTo>
                      <a:pt x="168529" y="878439"/>
                    </a:lnTo>
                    <a:lnTo>
                      <a:pt x="878439" y="878439"/>
                    </a:lnTo>
                    <a:lnTo>
                      <a:pt x="878439" y="180008"/>
                    </a:lnTo>
                    <a:lnTo>
                      <a:pt x="664443" y="180008"/>
                    </a:lnTo>
                    <a:lnTo>
                      <a:pt x="664443" y="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HarmonyOS Sans SC" panose="00000500000000000000" charset="-122"/>
                  <a:ea typeface="HarmonyOS Sans SC" panose="00000500000000000000" charset="-122"/>
                  <a:cs typeface="+mn-cs"/>
                </a:endParaRPr>
              </a:p>
            </p:txBody>
          </p:sp>
        </p:grpSp>
      </p:grpSp>
      <p:sp>
        <p:nvSpPr>
          <p:cNvPr id="21" name="文本框 20">
            <a:extLst>
              <a:ext uri="{FF2B5EF4-FFF2-40B4-BE49-F238E27FC236}">
                <a16:creationId xmlns:a16="http://schemas.microsoft.com/office/drawing/2014/main" id="{533A23A9-D77A-7316-755E-74FF840273F8}"/>
              </a:ext>
            </a:extLst>
          </p:cNvPr>
          <p:cNvSpPr txBox="1"/>
          <p:nvPr/>
        </p:nvSpPr>
        <p:spPr>
          <a:xfrm>
            <a:off x="1019114" y="2236148"/>
            <a:ext cx="1367592" cy="276999"/>
          </a:xfrm>
          <a:prstGeom prst="rect">
            <a:avLst/>
          </a:prstGeom>
          <a:noFill/>
        </p:spPr>
        <p:txBody>
          <a:bodyPr wrap="square" rtlCol="0">
            <a:spAutoFit/>
          </a:bodyPr>
          <a:lstStyle/>
          <a:p>
            <a:r>
              <a:rPr lang="en-US" altLang="zh-CN" sz="1200" b="1">
                <a:latin typeface="Microsoft YaHei Regular" charset="0"/>
                <a:ea typeface="Microsoft YaHei Regular" charset="0"/>
                <a:sym typeface="+mn-ea"/>
              </a:rPr>
              <a:t>2025</a:t>
            </a:r>
            <a:r>
              <a:rPr lang="zh-CN" altLang="en-US" sz="1200" b="1">
                <a:latin typeface="Microsoft YaHei Regular" charset="0"/>
                <a:ea typeface="Microsoft YaHei Regular" charset="0"/>
                <a:sym typeface="+mn-ea"/>
              </a:rPr>
              <a:t>年业绩表现</a:t>
            </a:r>
          </a:p>
        </p:txBody>
      </p:sp>
      <p:sp>
        <p:nvSpPr>
          <p:cNvPr id="22" name="文本框 21">
            <a:extLst>
              <a:ext uri="{FF2B5EF4-FFF2-40B4-BE49-F238E27FC236}">
                <a16:creationId xmlns:a16="http://schemas.microsoft.com/office/drawing/2014/main" id="{1345272B-C1D0-A143-7E27-14022B93E348}"/>
              </a:ext>
            </a:extLst>
          </p:cNvPr>
          <p:cNvSpPr txBox="1"/>
          <p:nvPr/>
        </p:nvSpPr>
        <p:spPr>
          <a:xfrm>
            <a:off x="513244" y="2694527"/>
            <a:ext cx="1897275" cy="693075"/>
          </a:xfrm>
          <a:prstGeom prst="rect">
            <a:avLst/>
          </a:prstGeom>
          <a:noFill/>
        </p:spPr>
        <p:txBody>
          <a:bodyPr wrap="square" rtlCol="0">
            <a:spAutoFit/>
          </a:bodyPr>
          <a:lstStyle/>
          <a:p>
            <a:pPr>
              <a:lnSpc>
                <a:spcPts val="1600"/>
              </a:lnSpc>
            </a:pPr>
            <a:r>
              <a:rPr lang="zh-CN" altLang="en-US" sz="1100">
                <a:solidFill>
                  <a:schemeClr val="tx1">
                    <a:lumMod val="85000"/>
                    <a:lumOff val="15000"/>
                  </a:schemeClr>
                </a:solidFill>
              </a:rPr>
              <a:t>收入、利润均完成目标</a:t>
            </a:r>
            <a:endParaRPr lang="en-US" altLang="zh-CN" sz="1100">
              <a:solidFill>
                <a:schemeClr val="tx1">
                  <a:lumMod val="85000"/>
                  <a:lumOff val="15000"/>
                </a:schemeClr>
              </a:solidFill>
            </a:endParaRPr>
          </a:p>
          <a:p>
            <a:pPr>
              <a:lnSpc>
                <a:spcPts val="1600"/>
              </a:lnSpc>
            </a:pPr>
            <a:r>
              <a:rPr lang="zh-CN" altLang="en-US" sz="1100">
                <a:solidFill>
                  <a:schemeClr val="tx1">
                    <a:lumMod val="85000"/>
                    <a:lumOff val="15000"/>
                  </a:schemeClr>
                </a:solidFill>
              </a:rPr>
              <a:t>利润实现</a:t>
            </a:r>
            <a:r>
              <a:rPr lang="en-US" altLang="zh-CN" sz="1100">
                <a:solidFill>
                  <a:schemeClr val="tx1">
                    <a:lumMod val="85000"/>
                    <a:lumOff val="15000"/>
                  </a:schemeClr>
                </a:solidFill>
              </a:rPr>
              <a:t>108%</a:t>
            </a:r>
            <a:r>
              <a:rPr lang="zh-CN" altLang="en-US" sz="1100">
                <a:solidFill>
                  <a:schemeClr val="tx1">
                    <a:lumMod val="85000"/>
                    <a:lumOff val="15000"/>
                  </a:schemeClr>
                </a:solidFill>
              </a:rPr>
              <a:t>，增长</a:t>
            </a:r>
            <a:r>
              <a:rPr lang="en-US" altLang="zh-CN" sz="1100">
                <a:solidFill>
                  <a:schemeClr val="tx1">
                    <a:lumMod val="85000"/>
                    <a:lumOff val="15000"/>
                  </a:schemeClr>
                </a:solidFill>
              </a:rPr>
              <a:t>13%</a:t>
            </a:r>
          </a:p>
          <a:p>
            <a:pPr>
              <a:lnSpc>
                <a:spcPts val="1600"/>
              </a:lnSpc>
            </a:pPr>
            <a:r>
              <a:rPr lang="zh-CN" altLang="en-US" sz="1100">
                <a:solidFill>
                  <a:schemeClr val="tx1">
                    <a:lumMod val="85000"/>
                    <a:lumOff val="15000"/>
                  </a:schemeClr>
                </a:solidFill>
              </a:rPr>
              <a:t>利润率</a:t>
            </a:r>
            <a:r>
              <a:rPr lang="en-US" altLang="zh-CN" sz="1100">
                <a:solidFill>
                  <a:schemeClr val="tx1">
                    <a:lumMod val="85000"/>
                    <a:lumOff val="15000"/>
                  </a:schemeClr>
                </a:solidFill>
              </a:rPr>
              <a:t>14%</a:t>
            </a:r>
            <a:r>
              <a:rPr lang="zh-CN" altLang="en-US" sz="1100">
                <a:solidFill>
                  <a:schemeClr val="tx1">
                    <a:lumMod val="85000"/>
                    <a:lumOff val="15000"/>
                  </a:schemeClr>
                </a:solidFill>
              </a:rPr>
              <a:t>增长</a:t>
            </a:r>
            <a:r>
              <a:rPr lang="en-US" altLang="zh-CN" sz="1100">
                <a:solidFill>
                  <a:schemeClr val="tx1">
                    <a:lumMod val="85000"/>
                    <a:lumOff val="15000"/>
                  </a:schemeClr>
                </a:solidFill>
              </a:rPr>
              <a:t>1</a:t>
            </a:r>
            <a:r>
              <a:rPr lang="zh-CN" altLang="en-US" sz="1100">
                <a:solidFill>
                  <a:schemeClr val="tx1">
                    <a:lumMod val="85000"/>
                    <a:lumOff val="15000"/>
                  </a:schemeClr>
                </a:solidFill>
              </a:rPr>
              <a:t>个百分点</a:t>
            </a:r>
            <a:endParaRPr lang="en-US" altLang="zh-CN" sz="300">
              <a:solidFill>
                <a:schemeClr val="tx1">
                  <a:lumMod val="85000"/>
                  <a:lumOff val="15000"/>
                </a:schemeClr>
              </a:solidFill>
            </a:endParaRPr>
          </a:p>
        </p:txBody>
      </p:sp>
      <p:grpSp>
        <p:nvGrpSpPr>
          <p:cNvPr id="23" name="组合 22">
            <a:extLst>
              <a:ext uri="{FF2B5EF4-FFF2-40B4-BE49-F238E27FC236}">
                <a16:creationId xmlns:a16="http://schemas.microsoft.com/office/drawing/2014/main" id="{12374F24-6C63-9052-3D96-F372E3BD7816}"/>
              </a:ext>
            </a:extLst>
          </p:cNvPr>
          <p:cNvGrpSpPr/>
          <p:nvPr/>
        </p:nvGrpSpPr>
        <p:grpSpPr>
          <a:xfrm>
            <a:off x="532788" y="3728750"/>
            <a:ext cx="445770" cy="445770"/>
            <a:chOff x="12297" y="1822"/>
            <a:chExt cx="1564" cy="1564"/>
          </a:xfrm>
        </p:grpSpPr>
        <p:sp>
          <p:nvSpPr>
            <p:cNvPr id="24" name="椭圆 23">
              <a:extLst>
                <a:ext uri="{FF2B5EF4-FFF2-40B4-BE49-F238E27FC236}">
                  <a16:creationId xmlns:a16="http://schemas.microsoft.com/office/drawing/2014/main" id="{D3B4CBE2-A6D6-DA45-5CA7-DAA2931F5191}"/>
                </a:ext>
              </a:extLst>
            </p:cNvPr>
            <p:cNvSpPr/>
            <p:nvPr/>
          </p:nvSpPr>
          <p:spPr>
            <a:xfrm rot="19741494">
              <a:off x="12297" y="1822"/>
              <a:ext cx="1565" cy="1565"/>
            </a:xfrm>
            <a:prstGeom prst="ellipse">
              <a:avLst/>
            </a:prstGeom>
            <a:solidFill>
              <a:schemeClr val="accent1">
                <a:lumMod val="20000"/>
                <a:lumOff val="80000"/>
                <a:alpha val="50000"/>
              </a:schemeClr>
            </a:solidFill>
            <a:ln w="12700" cap="flat" cmpd="sng" algn="ctr">
              <a:noFill/>
              <a:prstDash val="solid"/>
              <a:miter lim="800000"/>
            </a:ln>
            <a:effectLst/>
          </p:spPr>
          <p:txBody>
            <a:bodyPr rtlCol="0" anchor="ctr"/>
            <a:lstStyle/>
            <a:p>
              <a:pPr algn="ctr"/>
              <a:endParaRPr lang="zh-CN" altLang="en-US">
                <a:solidFill>
                  <a:prstClr val="white"/>
                </a:solidFill>
                <a:latin typeface="Roboto"/>
                <a:ea typeface="思源黑体 CN Regular" panose="020B0500000000000000" charset="-122"/>
              </a:endParaRPr>
            </a:p>
          </p:txBody>
        </p:sp>
        <p:grpSp>
          <p:nvGrpSpPr>
            <p:cNvPr id="25" name="组合 24">
              <a:extLst>
                <a:ext uri="{FF2B5EF4-FFF2-40B4-BE49-F238E27FC236}">
                  <a16:creationId xmlns:a16="http://schemas.microsoft.com/office/drawing/2014/main" id="{33BF29AF-4398-8978-DE62-419A66A7EEAD}"/>
                </a:ext>
              </a:extLst>
            </p:cNvPr>
            <p:cNvGrpSpPr/>
            <p:nvPr/>
          </p:nvGrpSpPr>
          <p:grpSpPr>
            <a:xfrm>
              <a:off x="12680" y="2209"/>
              <a:ext cx="804" cy="804"/>
              <a:chOff x="3576" y="7420"/>
              <a:chExt cx="804" cy="804"/>
            </a:xfrm>
          </p:grpSpPr>
          <p:sp>
            <p:nvSpPr>
              <p:cNvPr id="26" name="圆角矩形 61">
                <a:extLst>
                  <a:ext uri="{FF2B5EF4-FFF2-40B4-BE49-F238E27FC236}">
                    <a16:creationId xmlns:a16="http://schemas.microsoft.com/office/drawing/2014/main" id="{8C67941E-0DE6-2326-F7D0-1C54C4E5B207}"/>
                  </a:ext>
                </a:extLst>
              </p:cNvPr>
              <p:cNvSpPr/>
              <p:nvPr/>
            </p:nvSpPr>
            <p:spPr>
              <a:xfrm>
                <a:off x="3576" y="7420"/>
                <a:ext cx="804" cy="804"/>
              </a:xfrm>
              <a:prstGeom prst="roundRect">
                <a:avLst/>
              </a:prstGeom>
              <a:solidFill>
                <a:schemeClr val="accent4"/>
              </a:solidFill>
              <a:ln>
                <a:noFill/>
              </a:ln>
              <a:effectLst>
                <a:outerShdw blurRad="228600" dist="38100" dir="5400000" sx="112000" sy="112000" algn="t" rotWithShape="0">
                  <a:schemeClr val="accent4">
                    <a:alpha val="32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7" name="组合 26">
                <a:extLst>
                  <a:ext uri="{FF2B5EF4-FFF2-40B4-BE49-F238E27FC236}">
                    <a16:creationId xmlns:a16="http://schemas.microsoft.com/office/drawing/2014/main" id="{EAA9646A-33AA-0A7F-E282-C5F6FCADC07A}"/>
                  </a:ext>
                </a:extLst>
              </p:cNvPr>
              <p:cNvGrpSpPr/>
              <p:nvPr/>
            </p:nvGrpSpPr>
            <p:grpSpPr>
              <a:xfrm>
                <a:off x="3756" y="7618"/>
                <a:ext cx="428" cy="411"/>
                <a:chOff x="12929" y="5681"/>
                <a:chExt cx="517" cy="496"/>
              </a:xfrm>
              <a:solidFill>
                <a:schemeClr val="accent5"/>
              </a:solidFill>
            </p:grpSpPr>
            <p:sp>
              <p:nvSpPr>
                <p:cNvPr id="28" name="任意多边形: 形状 27">
                  <a:extLst>
                    <a:ext uri="{FF2B5EF4-FFF2-40B4-BE49-F238E27FC236}">
                      <a16:creationId xmlns:a16="http://schemas.microsoft.com/office/drawing/2014/main" id="{4C54C9AA-3C8A-DDBF-0DB0-E3E8084E65B4}"/>
                    </a:ext>
                  </a:extLst>
                </p:cNvPr>
                <p:cNvSpPr/>
                <p:nvPr/>
              </p:nvSpPr>
              <p:spPr>
                <a:xfrm>
                  <a:off x="13290" y="5681"/>
                  <a:ext cx="157" cy="124"/>
                </a:xfrm>
                <a:custGeom>
                  <a:avLst/>
                  <a:gdLst>
                    <a:gd name="connsiteX0" fmla="*/ 0 w 483970"/>
                    <a:gd name="connsiteY0" fmla="*/ 0 h 382972"/>
                    <a:gd name="connsiteX1" fmla="*/ 112495 w 483970"/>
                    <a:gd name="connsiteY1" fmla="*/ 112495 h 382972"/>
                    <a:gd name="connsiteX2" fmla="*/ 269992 w 483970"/>
                    <a:gd name="connsiteY2" fmla="*/ 33524 h 382972"/>
                    <a:gd name="connsiteX3" fmla="*/ 483970 w 483970"/>
                    <a:gd name="connsiteY3" fmla="*/ 315013 h 382972"/>
                    <a:gd name="connsiteX4" fmla="*/ 315459 w 483970"/>
                    <a:gd name="connsiteY4" fmla="*/ 213996 h 382972"/>
                    <a:gd name="connsiteX5" fmla="*/ 258979 w 483970"/>
                    <a:gd name="connsiteY5" fmla="*/ 236488 h 382972"/>
                    <a:gd name="connsiteX6" fmla="*/ 405463 w 483970"/>
                    <a:gd name="connsiteY6" fmla="*/ 382972 h 382972"/>
                    <a:gd name="connsiteX7" fmla="*/ 0 w 483970"/>
                    <a:gd name="connsiteY7" fmla="*/ 382972 h 382972"/>
                    <a:gd name="connsiteX8" fmla="*/ 0 w 483970"/>
                    <a:gd name="connsiteY8" fmla="*/ 0 h 382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3970" h="382972">
                      <a:moveTo>
                        <a:pt x="0" y="0"/>
                      </a:moveTo>
                      <a:lnTo>
                        <a:pt x="112495" y="112495"/>
                      </a:lnTo>
                      <a:cubicBezTo>
                        <a:pt x="146019" y="78525"/>
                        <a:pt x="202499" y="33524"/>
                        <a:pt x="269992" y="33524"/>
                      </a:cubicBezTo>
                      <a:cubicBezTo>
                        <a:pt x="371475" y="33524"/>
                        <a:pt x="472492" y="157516"/>
                        <a:pt x="483970" y="315013"/>
                      </a:cubicBezTo>
                      <a:cubicBezTo>
                        <a:pt x="483970" y="315013"/>
                        <a:pt x="393966" y="180008"/>
                        <a:pt x="315459" y="213996"/>
                      </a:cubicBezTo>
                      <a:cubicBezTo>
                        <a:pt x="292968" y="213996"/>
                        <a:pt x="270457" y="236488"/>
                        <a:pt x="258979" y="236488"/>
                      </a:cubicBezTo>
                      <a:lnTo>
                        <a:pt x="405463" y="382972"/>
                      </a:lnTo>
                      <a:lnTo>
                        <a:pt x="0" y="382972"/>
                      </a:lnTo>
                      <a:lnTo>
                        <a:pt x="0" y="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HarmonyOS Sans SC" panose="00000500000000000000" charset="-122"/>
                    <a:ea typeface="HarmonyOS Sans SC" panose="00000500000000000000" charset="-122"/>
                    <a:cs typeface="+mn-cs"/>
                  </a:endParaRPr>
                </a:p>
              </p:txBody>
            </p:sp>
            <p:sp>
              <p:nvSpPr>
                <p:cNvPr id="29" name="任意多边形: 形状 28">
                  <a:extLst>
                    <a:ext uri="{FF2B5EF4-FFF2-40B4-BE49-F238E27FC236}">
                      <a16:creationId xmlns:a16="http://schemas.microsoft.com/office/drawing/2014/main" id="{0A2979AE-D672-74E8-8478-EC9941EF3F01}"/>
                    </a:ext>
                  </a:extLst>
                </p:cNvPr>
                <p:cNvSpPr/>
                <p:nvPr/>
              </p:nvSpPr>
              <p:spPr>
                <a:xfrm>
                  <a:off x="12929" y="5697"/>
                  <a:ext cx="339" cy="339"/>
                </a:xfrm>
                <a:custGeom>
                  <a:avLst/>
                  <a:gdLst>
                    <a:gd name="connsiteX0" fmla="*/ 0 w 1058894"/>
                    <a:gd name="connsiteY0" fmla="*/ 0 h 1058912"/>
                    <a:gd name="connsiteX1" fmla="*/ 1058894 w 1058894"/>
                    <a:gd name="connsiteY1" fmla="*/ 0 h 1058912"/>
                    <a:gd name="connsiteX2" fmla="*/ 1058894 w 1058894"/>
                    <a:gd name="connsiteY2" fmla="*/ 1058912 h 1058912"/>
                    <a:gd name="connsiteX3" fmla="*/ 0 w 1058894"/>
                    <a:gd name="connsiteY3" fmla="*/ 1058912 h 1058912"/>
                    <a:gd name="connsiteX4" fmla="*/ 0 w 1058894"/>
                    <a:gd name="connsiteY4" fmla="*/ 0 h 1058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8894" h="1058912">
                      <a:moveTo>
                        <a:pt x="0" y="0"/>
                      </a:moveTo>
                      <a:lnTo>
                        <a:pt x="1058894" y="0"/>
                      </a:lnTo>
                      <a:lnTo>
                        <a:pt x="1058894" y="1058912"/>
                      </a:lnTo>
                      <a:lnTo>
                        <a:pt x="0" y="1058912"/>
                      </a:lnTo>
                      <a:lnTo>
                        <a:pt x="0" y="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HarmonyOS Sans SC" panose="00000500000000000000" charset="-122"/>
                    <a:ea typeface="HarmonyOS Sans SC" panose="00000500000000000000" charset="-122"/>
                    <a:cs typeface="+mn-cs"/>
                  </a:endParaRPr>
                </a:p>
              </p:txBody>
            </p:sp>
            <p:sp>
              <p:nvSpPr>
                <p:cNvPr id="30" name="任意多边形: 形状 29">
                  <a:extLst>
                    <a:ext uri="{FF2B5EF4-FFF2-40B4-BE49-F238E27FC236}">
                      <a16:creationId xmlns:a16="http://schemas.microsoft.com/office/drawing/2014/main" id="{EDB7D808-3078-E0BA-BB14-F54DF85356C1}"/>
                    </a:ext>
                  </a:extLst>
                </p:cNvPr>
                <p:cNvSpPr/>
                <p:nvPr/>
              </p:nvSpPr>
              <p:spPr>
                <a:xfrm>
                  <a:off x="13072" y="5839"/>
                  <a:ext cx="335" cy="339"/>
                </a:xfrm>
                <a:custGeom>
                  <a:avLst/>
                  <a:gdLst>
                    <a:gd name="connsiteX0" fmla="*/ 664443 w 1047415"/>
                    <a:gd name="connsiteY0" fmla="*/ 0 h 1058912"/>
                    <a:gd name="connsiteX1" fmla="*/ 1047415 w 1047415"/>
                    <a:gd name="connsiteY1" fmla="*/ 0 h 1058912"/>
                    <a:gd name="connsiteX2" fmla="*/ 1047415 w 1047415"/>
                    <a:gd name="connsiteY2" fmla="*/ 1058912 h 1058912"/>
                    <a:gd name="connsiteX3" fmla="*/ 0 w 1047415"/>
                    <a:gd name="connsiteY3" fmla="*/ 1058912 h 1058912"/>
                    <a:gd name="connsiteX4" fmla="*/ 0 w 1047415"/>
                    <a:gd name="connsiteY4" fmla="*/ 675940 h 1058912"/>
                    <a:gd name="connsiteX5" fmla="*/ 168529 w 1047415"/>
                    <a:gd name="connsiteY5" fmla="*/ 675940 h 1058912"/>
                    <a:gd name="connsiteX6" fmla="*/ 168529 w 1047415"/>
                    <a:gd name="connsiteY6" fmla="*/ 878439 h 1058912"/>
                    <a:gd name="connsiteX7" fmla="*/ 878439 w 1047415"/>
                    <a:gd name="connsiteY7" fmla="*/ 878439 h 1058912"/>
                    <a:gd name="connsiteX8" fmla="*/ 878439 w 1047415"/>
                    <a:gd name="connsiteY8" fmla="*/ 180008 h 1058912"/>
                    <a:gd name="connsiteX9" fmla="*/ 664443 w 1047415"/>
                    <a:gd name="connsiteY9" fmla="*/ 180008 h 1058912"/>
                    <a:gd name="connsiteX10" fmla="*/ 664443 w 1047415"/>
                    <a:gd name="connsiteY10" fmla="*/ 0 h 105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7415" h="1058912">
                      <a:moveTo>
                        <a:pt x="664443" y="0"/>
                      </a:moveTo>
                      <a:lnTo>
                        <a:pt x="1047415" y="0"/>
                      </a:lnTo>
                      <a:lnTo>
                        <a:pt x="1047415" y="1058912"/>
                      </a:lnTo>
                      <a:lnTo>
                        <a:pt x="0" y="1058912"/>
                      </a:lnTo>
                      <a:lnTo>
                        <a:pt x="0" y="675940"/>
                      </a:lnTo>
                      <a:lnTo>
                        <a:pt x="168529" y="675940"/>
                      </a:lnTo>
                      <a:lnTo>
                        <a:pt x="168529" y="878439"/>
                      </a:lnTo>
                      <a:lnTo>
                        <a:pt x="878439" y="878439"/>
                      </a:lnTo>
                      <a:lnTo>
                        <a:pt x="878439" y="180008"/>
                      </a:lnTo>
                      <a:lnTo>
                        <a:pt x="664443" y="180008"/>
                      </a:lnTo>
                      <a:lnTo>
                        <a:pt x="664443" y="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HarmonyOS Sans SC" panose="00000500000000000000" charset="-122"/>
                    <a:ea typeface="HarmonyOS Sans SC" panose="00000500000000000000" charset="-122"/>
                    <a:cs typeface="+mn-cs"/>
                  </a:endParaRPr>
                </a:p>
              </p:txBody>
            </p:sp>
          </p:grpSp>
        </p:grpSp>
      </p:grpSp>
      <p:sp>
        <p:nvSpPr>
          <p:cNvPr id="31" name="文本框 30">
            <a:extLst>
              <a:ext uri="{FF2B5EF4-FFF2-40B4-BE49-F238E27FC236}">
                <a16:creationId xmlns:a16="http://schemas.microsoft.com/office/drawing/2014/main" id="{DF6C2571-8D57-484B-4D78-47748DE87186}"/>
              </a:ext>
            </a:extLst>
          </p:cNvPr>
          <p:cNvSpPr txBox="1"/>
          <p:nvPr/>
        </p:nvSpPr>
        <p:spPr>
          <a:xfrm>
            <a:off x="1080586" y="3846467"/>
            <a:ext cx="1063625" cy="275590"/>
          </a:xfrm>
          <a:prstGeom prst="rect">
            <a:avLst/>
          </a:prstGeom>
          <a:noFill/>
        </p:spPr>
        <p:txBody>
          <a:bodyPr wrap="square" rtlCol="0">
            <a:spAutoFit/>
          </a:bodyPr>
          <a:lstStyle/>
          <a:p>
            <a:r>
              <a:rPr lang="zh-CN" altLang="en-US" sz="1200">
                <a:latin typeface="Microsoft YaHei Regular" charset="0"/>
                <a:ea typeface="Microsoft YaHei Regular" charset="0"/>
                <a:sym typeface="+mn-ea"/>
              </a:rPr>
              <a:t>业绩分析</a:t>
            </a:r>
          </a:p>
        </p:txBody>
      </p:sp>
      <p:cxnSp>
        <p:nvCxnSpPr>
          <p:cNvPr id="32" name="直接连接符 31">
            <a:extLst>
              <a:ext uri="{FF2B5EF4-FFF2-40B4-BE49-F238E27FC236}">
                <a16:creationId xmlns:a16="http://schemas.microsoft.com/office/drawing/2014/main" id="{CDC5A372-2461-7A05-E40D-ED19F5DC9E3B}"/>
              </a:ext>
            </a:extLst>
          </p:cNvPr>
          <p:cNvCxnSpPr>
            <a:cxnSpLocks/>
          </p:cNvCxnSpPr>
          <p:nvPr/>
        </p:nvCxnSpPr>
        <p:spPr>
          <a:xfrm>
            <a:off x="464820" y="3483640"/>
            <a:ext cx="1729740" cy="0"/>
          </a:xfrm>
          <a:prstGeom prst="line">
            <a:avLst/>
          </a:prstGeom>
          <a:ln>
            <a:solidFill>
              <a:schemeClr val="accent1">
                <a:alpha val="11000"/>
              </a:schemeClr>
            </a:solidFill>
          </a:ln>
        </p:spPr>
        <p:style>
          <a:lnRef idx="2">
            <a:schemeClr val="accent1"/>
          </a:lnRef>
          <a:fillRef idx="0">
            <a:srgbClr val="FFFFFF"/>
          </a:fillRef>
          <a:effectRef idx="0">
            <a:srgbClr val="FFFFFF"/>
          </a:effectRef>
          <a:fontRef idx="minor">
            <a:schemeClr val="tx1"/>
          </a:fontRef>
        </p:style>
      </p:cxnSp>
      <p:sp>
        <p:nvSpPr>
          <p:cNvPr id="33" name="文本框 32">
            <a:extLst>
              <a:ext uri="{FF2B5EF4-FFF2-40B4-BE49-F238E27FC236}">
                <a16:creationId xmlns:a16="http://schemas.microsoft.com/office/drawing/2014/main" id="{ED38ABCD-0FDA-B53F-7FAC-8CAB24FDD2A2}"/>
              </a:ext>
            </a:extLst>
          </p:cNvPr>
          <p:cNvSpPr txBox="1"/>
          <p:nvPr/>
        </p:nvSpPr>
        <p:spPr>
          <a:xfrm>
            <a:off x="562405" y="4224418"/>
            <a:ext cx="1668059" cy="2251770"/>
          </a:xfrm>
          <a:prstGeom prst="rect">
            <a:avLst/>
          </a:prstGeom>
          <a:noFill/>
        </p:spPr>
        <p:txBody>
          <a:bodyPr wrap="square">
            <a:spAutoFit/>
          </a:bodyPr>
          <a:lstStyle/>
          <a:p>
            <a:pPr marL="0" marR="0" lvl="0" indent="0" algn="l" defTabSz="914400" rtl="0" eaLnBrk="1" fontAlgn="auto" latinLnBrk="0" hangingPunct="1">
              <a:lnSpc>
                <a:spcPts val="1700"/>
              </a:lnSpc>
              <a:spcBef>
                <a:spcPts val="0"/>
              </a:spcBef>
              <a:spcAft>
                <a:spcPts val="0"/>
              </a:spcAft>
              <a:buClrTx/>
              <a:buSzTx/>
              <a:buFontTx/>
              <a:buNone/>
              <a:tabLst/>
              <a:defRPr/>
            </a:pPr>
            <a:r>
              <a:rPr lang="zh-CN" altLang="en-US" sz="1100" b="1">
                <a:solidFill>
                  <a:schemeClr val="tx2"/>
                </a:solidFill>
              </a:rPr>
              <a:t>亮点：</a:t>
            </a:r>
            <a:endParaRPr lang="en-US" altLang="zh-CN" sz="1100" b="1">
              <a:solidFill>
                <a:schemeClr val="tx2"/>
              </a:solidFill>
            </a:endParaRPr>
          </a:p>
          <a:p>
            <a:pPr lvl="0">
              <a:lnSpc>
                <a:spcPts val="1700"/>
              </a:lnSpc>
              <a:defRPr/>
            </a:pPr>
            <a:r>
              <a:rPr lang="zh-CN" altLang="en-US" sz="1100">
                <a:solidFill>
                  <a:srgbClr val="0F1115"/>
                </a:solidFill>
                <a:latin typeface="quote-cjk-patch"/>
              </a:rPr>
              <a:t>某产品线超预期、成本控制有效</a:t>
            </a:r>
            <a:endParaRPr lang="en-US" altLang="zh-CN" sz="1100" b="1">
              <a:solidFill>
                <a:schemeClr val="tx2"/>
              </a:solidFill>
            </a:endParaRPr>
          </a:p>
          <a:p>
            <a:pPr marL="0" marR="0" lvl="0" indent="0" algn="l" defTabSz="914400" rtl="0" eaLnBrk="1" fontAlgn="auto" latinLnBrk="0" hangingPunct="1">
              <a:lnSpc>
                <a:spcPts val="1700"/>
              </a:lnSpc>
              <a:spcBef>
                <a:spcPts val="0"/>
              </a:spcBef>
              <a:spcAft>
                <a:spcPts val="0"/>
              </a:spcAft>
              <a:buClrTx/>
              <a:buSzTx/>
              <a:buFontTx/>
              <a:buNone/>
              <a:tabLst/>
              <a:defRPr/>
            </a:pPr>
            <a:endParaRPr lang="en-US" altLang="zh-CN" sz="1100" b="1">
              <a:solidFill>
                <a:schemeClr val="tx2"/>
              </a:solidFill>
            </a:endParaRPr>
          </a:p>
          <a:p>
            <a:pPr marL="0" marR="0" lvl="0" indent="0" algn="l" defTabSz="914400" rtl="0" eaLnBrk="1" fontAlgn="auto" latinLnBrk="0" hangingPunct="1">
              <a:lnSpc>
                <a:spcPts val="1700"/>
              </a:lnSpc>
              <a:spcBef>
                <a:spcPts val="0"/>
              </a:spcBef>
              <a:spcAft>
                <a:spcPts val="0"/>
              </a:spcAft>
              <a:buClrTx/>
              <a:buSzTx/>
              <a:buFontTx/>
              <a:buNone/>
              <a:tabLst/>
              <a:defRPr/>
            </a:pPr>
            <a:r>
              <a:rPr lang="zh-CN" altLang="en-US" sz="1100" b="1">
                <a:solidFill>
                  <a:schemeClr val="tx2"/>
                </a:solidFill>
              </a:rPr>
              <a:t>不足：</a:t>
            </a:r>
            <a:endParaRPr lang="en-US" altLang="zh-CN" sz="1100" b="1">
              <a:solidFill>
                <a:schemeClr val="tx2"/>
              </a:solidFill>
            </a:endParaRPr>
          </a:p>
          <a:p>
            <a:pPr lvl="0">
              <a:lnSpc>
                <a:spcPts val="1700"/>
              </a:lnSpc>
              <a:defRPr/>
            </a:pPr>
            <a:r>
              <a:rPr lang="en-US" altLang="zh-CN" sz="1100">
                <a:solidFill>
                  <a:srgbClr val="0F1115"/>
                </a:solidFill>
                <a:latin typeface="quote-cjk-patch"/>
              </a:rPr>
              <a:t>XX</a:t>
            </a:r>
            <a:r>
              <a:rPr lang="zh-CN" altLang="en-US" sz="1100">
                <a:solidFill>
                  <a:srgbClr val="0F1115"/>
                </a:solidFill>
                <a:latin typeface="quote-cjk-patch"/>
              </a:rPr>
              <a:t>项目市场费用效率低、项目延期导致成本超支</a:t>
            </a:r>
            <a:endParaRPr lang="en-US" altLang="zh-CN" sz="1100">
              <a:solidFill>
                <a:srgbClr val="0F1115"/>
              </a:solidFill>
              <a:latin typeface="quote-cjk-patch"/>
            </a:endParaRPr>
          </a:p>
          <a:p>
            <a:pPr lvl="0">
              <a:lnSpc>
                <a:spcPts val="1700"/>
              </a:lnSpc>
              <a:defRPr/>
            </a:pPr>
            <a:endParaRPr lang="en-US" altLang="zh-CN" sz="1100" b="1">
              <a:solidFill>
                <a:srgbClr val="0F1115"/>
              </a:solidFill>
              <a:latin typeface="quote-cjk-patch"/>
            </a:endParaRPr>
          </a:p>
          <a:p>
            <a:pPr lvl="0">
              <a:lnSpc>
                <a:spcPts val="1700"/>
              </a:lnSpc>
              <a:defRPr/>
            </a:pPr>
            <a:r>
              <a:rPr lang="zh-CN" altLang="en-US" sz="1100" b="1">
                <a:solidFill>
                  <a:schemeClr val="tx2"/>
                </a:solidFill>
              </a:rPr>
              <a:t>对未来的市场预期：</a:t>
            </a:r>
            <a:endParaRPr lang="en-US" altLang="zh-CN" sz="1100" b="1">
              <a:solidFill>
                <a:schemeClr val="tx2"/>
              </a:solidFill>
            </a:endParaRPr>
          </a:p>
          <a:p>
            <a:pPr lvl="0">
              <a:lnSpc>
                <a:spcPts val="1700"/>
              </a:lnSpc>
              <a:defRPr/>
            </a:pPr>
            <a:r>
              <a:rPr lang="zh-CN" altLang="en-US" sz="1100">
                <a:solidFill>
                  <a:srgbClr val="0F1115"/>
                </a:solidFill>
                <a:latin typeface="quote-cjk-patch"/>
              </a:rPr>
              <a:t>增加对</a:t>
            </a:r>
            <a:r>
              <a:rPr lang="en-US" altLang="zh-CN" sz="1100">
                <a:solidFill>
                  <a:srgbClr val="0F1115"/>
                </a:solidFill>
                <a:latin typeface="quote-cjk-patch"/>
              </a:rPr>
              <a:t>A</a:t>
            </a:r>
            <a:r>
              <a:rPr lang="zh-CN" altLang="en-US" sz="1100">
                <a:solidFill>
                  <a:srgbClr val="0F1115"/>
                </a:solidFill>
                <a:latin typeface="quote-cjk-patch"/>
              </a:rPr>
              <a:t>项目的投入</a:t>
            </a:r>
            <a:endParaRPr lang="zh-CN" altLang="en-US" sz="1100" dirty="0">
              <a:solidFill>
                <a:srgbClr val="0F1115"/>
              </a:solidFill>
              <a:latin typeface="quote-cjk-patch"/>
            </a:endParaRPr>
          </a:p>
        </p:txBody>
      </p:sp>
      <p:grpSp>
        <p:nvGrpSpPr>
          <p:cNvPr id="62" name="组合 61">
            <a:extLst>
              <a:ext uri="{FF2B5EF4-FFF2-40B4-BE49-F238E27FC236}">
                <a16:creationId xmlns:a16="http://schemas.microsoft.com/office/drawing/2014/main" id="{07BF50EF-D974-4CDA-F84D-4FC6269A4D1E}"/>
              </a:ext>
            </a:extLst>
          </p:cNvPr>
          <p:cNvGrpSpPr/>
          <p:nvPr/>
        </p:nvGrpSpPr>
        <p:grpSpPr>
          <a:xfrm>
            <a:off x="373569" y="966718"/>
            <a:ext cx="11490032" cy="910077"/>
            <a:chOff x="2135787" y="966718"/>
            <a:chExt cx="9727814" cy="910077"/>
          </a:xfrm>
        </p:grpSpPr>
        <p:grpSp>
          <p:nvGrpSpPr>
            <p:cNvPr id="34" name="组合 33">
              <a:extLst>
                <a:ext uri="{FF2B5EF4-FFF2-40B4-BE49-F238E27FC236}">
                  <a16:creationId xmlns:a16="http://schemas.microsoft.com/office/drawing/2014/main" id="{1D529CC0-8E78-F0C3-FDCF-D2C568A5AB45}"/>
                </a:ext>
              </a:extLst>
            </p:cNvPr>
            <p:cNvGrpSpPr/>
            <p:nvPr/>
          </p:nvGrpSpPr>
          <p:grpSpPr>
            <a:xfrm>
              <a:off x="2135787" y="966718"/>
              <a:ext cx="2628000" cy="903184"/>
              <a:chOff x="4466502" y="1079548"/>
              <a:chExt cx="2282370" cy="903184"/>
            </a:xfrm>
          </p:grpSpPr>
          <p:sp>
            <p:nvSpPr>
              <p:cNvPr id="35" name="矩形 34">
                <a:extLst>
                  <a:ext uri="{FF2B5EF4-FFF2-40B4-BE49-F238E27FC236}">
                    <a16:creationId xmlns:a16="http://schemas.microsoft.com/office/drawing/2014/main" id="{1A8B252F-EF3C-0A97-B848-F4A677342975}"/>
                  </a:ext>
                </a:extLst>
              </p:cNvPr>
              <p:cNvSpPr/>
              <p:nvPr/>
            </p:nvSpPr>
            <p:spPr>
              <a:xfrm>
                <a:off x="4481579" y="1079548"/>
                <a:ext cx="2044768" cy="90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F526565-30B6-2035-BFD7-A772AEDC384F}"/>
                  </a:ext>
                </a:extLst>
              </p:cNvPr>
              <p:cNvGrpSpPr/>
              <p:nvPr/>
            </p:nvGrpSpPr>
            <p:grpSpPr>
              <a:xfrm>
                <a:off x="4466502" y="1141856"/>
                <a:ext cx="2282370" cy="840876"/>
                <a:chOff x="413803" y="1789271"/>
                <a:chExt cx="2282370" cy="840876"/>
              </a:xfrm>
            </p:grpSpPr>
            <p:sp>
              <p:nvSpPr>
                <p:cNvPr id="37" name="文本框 36">
                  <a:extLst>
                    <a:ext uri="{FF2B5EF4-FFF2-40B4-BE49-F238E27FC236}">
                      <a16:creationId xmlns:a16="http://schemas.microsoft.com/office/drawing/2014/main" id="{13682C08-986D-5AF8-DF98-E4530444EACF}"/>
                    </a:ext>
                  </a:extLst>
                </p:cNvPr>
                <p:cNvSpPr txBox="1"/>
                <p:nvPr/>
              </p:nvSpPr>
              <p:spPr>
                <a:xfrm>
                  <a:off x="478585" y="2291593"/>
                  <a:ext cx="2043937" cy="338554"/>
                </a:xfrm>
                <a:prstGeom prst="rect">
                  <a:avLst/>
                </a:prstGeom>
                <a:noFill/>
              </p:spPr>
              <p:txBody>
                <a:bodyPr wrap="squar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收入        </a:t>
                  </a:r>
                  <a:r>
                    <a:rPr lang="en-US" altLang="zh-CN" sz="1600" b="1" dirty="0">
                      <a:solidFill>
                        <a:schemeClr val="bg1"/>
                      </a:solidFill>
                      <a:latin typeface="微软雅黑" panose="020B0503020204020204" pitchFamily="34" charset="-122"/>
                      <a:ea typeface="微软雅黑" panose="020B0503020204020204" pitchFamily="34" charset="-122"/>
                    </a:rPr>
                    <a:t>+</a:t>
                  </a:r>
                  <a:r>
                    <a:rPr lang="en-US" altLang="zh-CN" sz="1200" b="1">
                      <a:solidFill>
                        <a:schemeClr val="bg1"/>
                      </a:solidFill>
                      <a:latin typeface="微软雅黑" panose="020B0503020204020204" pitchFamily="34" charset="-122"/>
                      <a:ea typeface="微软雅黑" panose="020B0503020204020204" pitchFamily="34" charset="-122"/>
                    </a:rPr>
                    <a:t>9%       </a:t>
                  </a:r>
                  <a:r>
                    <a:rPr lang="zh-CN" altLang="en-US" sz="1200" b="1">
                      <a:solidFill>
                        <a:schemeClr val="bg1"/>
                      </a:solidFill>
                      <a:latin typeface="微软雅黑" panose="020B0503020204020204" pitchFamily="34" charset="-122"/>
                      <a:ea typeface="微软雅黑" panose="020B0503020204020204" pitchFamily="34" charset="-122"/>
                    </a:rPr>
                    <a:t>完成率 </a:t>
                  </a:r>
                  <a:r>
                    <a:rPr lang="en-US" altLang="zh-CN" sz="1200" b="1">
                      <a:solidFill>
                        <a:schemeClr val="bg1"/>
                      </a:solidFill>
                      <a:latin typeface="微软雅黑" panose="020B0503020204020204" pitchFamily="34" charset="-122"/>
                      <a:ea typeface="微软雅黑" panose="020B0503020204020204" pitchFamily="34" charset="-122"/>
                    </a:rPr>
                    <a:t>102%</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50277A2D-1E44-BEB2-9E6B-2885ED49F5E9}"/>
                    </a:ext>
                  </a:extLst>
                </p:cNvPr>
                <p:cNvSpPr txBox="1"/>
                <p:nvPr/>
              </p:nvSpPr>
              <p:spPr>
                <a:xfrm>
                  <a:off x="413803" y="1789271"/>
                  <a:ext cx="1846437"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11166</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39" name="文本框 38">
                  <a:extLst>
                    <a:ext uri="{FF2B5EF4-FFF2-40B4-BE49-F238E27FC236}">
                      <a16:creationId xmlns:a16="http://schemas.microsoft.com/office/drawing/2014/main" id="{DD4889BF-CC80-0088-D95C-B0B5BC963711}"/>
                    </a:ext>
                  </a:extLst>
                </p:cNvPr>
                <p:cNvSpPr txBox="1"/>
                <p:nvPr/>
              </p:nvSpPr>
              <p:spPr>
                <a:xfrm>
                  <a:off x="1968675" y="1953039"/>
                  <a:ext cx="727498" cy="338554"/>
                </a:xfrm>
                <a:prstGeom prst="rect">
                  <a:avLst/>
                </a:prstGeom>
                <a:noFill/>
              </p:spPr>
              <p:txBody>
                <a:bodyPr wrap="squar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万</a:t>
                  </a:r>
                </a:p>
              </p:txBody>
            </p:sp>
            <p:sp>
              <p:nvSpPr>
                <p:cNvPr id="40" name="箭头: 上 39">
                  <a:extLst>
                    <a:ext uri="{FF2B5EF4-FFF2-40B4-BE49-F238E27FC236}">
                      <a16:creationId xmlns:a16="http://schemas.microsoft.com/office/drawing/2014/main" id="{10352E41-F31F-9BD4-2365-9B1C5C839C8B}"/>
                    </a:ext>
                  </a:extLst>
                </p:cNvPr>
                <p:cNvSpPr/>
                <p:nvPr/>
              </p:nvSpPr>
              <p:spPr>
                <a:xfrm>
                  <a:off x="876656" y="2378426"/>
                  <a:ext cx="221673" cy="181362"/>
                </a:xfrm>
                <a:prstGeom prst="up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1" name="组合 40">
              <a:extLst>
                <a:ext uri="{FF2B5EF4-FFF2-40B4-BE49-F238E27FC236}">
                  <a16:creationId xmlns:a16="http://schemas.microsoft.com/office/drawing/2014/main" id="{A930EF23-6882-963E-8E6F-CA9058B9D973}"/>
                </a:ext>
              </a:extLst>
            </p:cNvPr>
            <p:cNvGrpSpPr/>
            <p:nvPr/>
          </p:nvGrpSpPr>
          <p:grpSpPr>
            <a:xfrm>
              <a:off x="7039811" y="966718"/>
              <a:ext cx="2628000" cy="910077"/>
              <a:chOff x="4466502" y="2040449"/>
              <a:chExt cx="2282370" cy="910077"/>
            </a:xfrm>
          </p:grpSpPr>
          <p:sp>
            <p:nvSpPr>
              <p:cNvPr id="42" name="矩形 41">
                <a:extLst>
                  <a:ext uri="{FF2B5EF4-FFF2-40B4-BE49-F238E27FC236}">
                    <a16:creationId xmlns:a16="http://schemas.microsoft.com/office/drawing/2014/main" id="{C9BF3434-4C51-7552-994F-A3A1DFBB20F8}"/>
                  </a:ext>
                </a:extLst>
              </p:cNvPr>
              <p:cNvSpPr/>
              <p:nvPr/>
            </p:nvSpPr>
            <p:spPr>
              <a:xfrm>
                <a:off x="4481579" y="2040449"/>
                <a:ext cx="2044768" cy="900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3" name="组合 42">
                <a:extLst>
                  <a:ext uri="{FF2B5EF4-FFF2-40B4-BE49-F238E27FC236}">
                    <a16:creationId xmlns:a16="http://schemas.microsoft.com/office/drawing/2014/main" id="{CC8E1A37-9D24-CD06-281A-556EF33B1625}"/>
                  </a:ext>
                </a:extLst>
              </p:cNvPr>
              <p:cNvGrpSpPr/>
              <p:nvPr/>
            </p:nvGrpSpPr>
            <p:grpSpPr>
              <a:xfrm>
                <a:off x="4466502" y="2109650"/>
                <a:ext cx="2282370" cy="840876"/>
                <a:chOff x="413803" y="1789271"/>
                <a:chExt cx="2282370" cy="840876"/>
              </a:xfrm>
            </p:grpSpPr>
            <p:sp>
              <p:nvSpPr>
                <p:cNvPr id="44" name="文本框 43">
                  <a:extLst>
                    <a:ext uri="{FF2B5EF4-FFF2-40B4-BE49-F238E27FC236}">
                      <a16:creationId xmlns:a16="http://schemas.microsoft.com/office/drawing/2014/main" id="{A56D886C-6689-7A0C-DF8C-8CF02C733E51}"/>
                    </a:ext>
                  </a:extLst>
                </p:cNvPr>
                <p:cNvSpPr txBox="1"/>
                <p:nvPr/>
              </p:nvSpPr>
              <p:spPr>
                <a:xfrm>
                  <a:off x="478585" y="2291593"/>
                  <a:ext cx="2008899" cy="338554"/>
                </a:xfrm>
                <a:prstGeom prst="rect">
                  <a:avLst/>
                </a:prstGeom>
                <a:noFill/>
              </p:spPr>
              <p:txBody>
                <a:bodyPr wrap="square" rtlCol="0">
                  <a:spAutoFit/>
                </a:bodyPr>
                <a:lstStyle/>
                <a:p>
                  <a:r>
                    <a:rPr lang="zh-CN" altLang="en-US" sz="1600" b="1">
                      <a:solidFill>
                        <a:schemeClr val="bg1"/>
                      </a:solidFill>
                      <a:latin typeface="微软雅黑" panose="020B0503020204020204" pitchFamily="34" charset="-122"/>
                      <a:ea typeface="微软雅黑" panose="020B0503020204020204" pitchFamily="34" charset="-122"/>
                    </a:rPr>
                    <a:t>利润       </a:t>
                  </a:r>
                  <a:r>
                    <a:rPr lang="en-US" altLang="zh-CN" sz="1600" b="1" dirty="0">
                      <a:solidFill>
                        <a:schemeClr val="bg1"/>
                      </a:solidFill>
                      <a:latin typeface="微软雅黑" panose="020B0503020204020204" pitchFamily="34" charset="-122"/>
                      <a:ea typeface="微软雅黑" panose="020B0503020204020204" pitchFamily="34" charset="-122"/>
                    </a:rPr>
                    <a:t>+</a:t>
                  </a:r>
                  <a:r>
                    <a:rPr lang="en-US" altLang="zh-CN" sz="1200" b="1">
                      <a:solidFill>
                        <a:schemeClr val="bg1"/>
                      </a:solidFill>
                      <a:latin typeface="微软雅黑" panose="020B0503020204020204" pitchFamily="34" charset="-122"/>
                      <a:ea typeface="微软雅黑" panose="020B0503020204020204" pitchFamily="34" charset="-122"/>
                    </a:rPr>
                    <a:t>13%      </a:t>
                  </a:r>
                  <a:r>
                    <a:rPr lang="zh-CN" altLang="en-US" sz="1200" b="1">
                      <a:solidFill>
                        <a:schemeClr val="bg1"/>
                      </a:solidFill>
                      <a:latin typeface="微软雅黑" panose="020B0503020204020204" pitchFamily="34" charset="-122"/>
                      <a:ea typeface="微软雅黑" panose="020B0503020204020204" pitchFamily="34" charset="-122"/>
                    </a:rPr>
                    <a:t>完成率 </a:t>
                  </a:r>
                  <a:r>
                    <a:rPr lang="en-US" altLang="zh-CN" sz="1200" b="1">
                      <a:solidFill>
                        <a:schemeClr val="bg1"/>
                      </a:solidFill>
                      <a:latin typeface="微软雅黑" panose="020B0503020204020204" pitchFamily="34" charset="-122"/>
                      <a:ea typeface="微软雅黑" panose="020B0503020204020204" pitchFamily="34" charset="-122"/>
                    </a:rPr>
                    <a:t>108%</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45" name="文本框 44">
                  <a:extLst>
                    <a:ext uri="{FF2B5EF4-FFF2-40B4-BE49-F238E27FC236}">
                      <a16:creationId xmlns:a16="http://schemas.microsoft.com/office/drawing/2014/main" id="{8CBEA683-72E7-871E-6A6E-0E574237014C}"/>
                    </a:ext>
                  </a:extLst>
                </p:cNvPr>
                <p:cNvSpPr txBox="1"/>
                <p:nvPr/>
              </p:nvSpPr>
              <p:spPr>
                <a:xfrm>
                  <a:off x="413803" y="1789271"/>
                  <a:ext cx="1846437"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1564</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46" name="文本框 45">
                  <a:extLst>
                    <a:ext uri="{FF2B5EF4-FFF2-40B4-BE49-F238E27FC236}">
                      <a16:creationId xmlns:a16="http://schemas.microsoft.com/office/drawing/2014/main" id="{6B80755B-1182-F3F3-D9CE-C92ACE5E7F24}"/>
                    </a:ext>
                  </a:extLst>
                </p:cNvPr>
                <p:cNvSpPr txBox="1"/>
                <p:nvPr/>
              </p:nvSpPr>
              <p:spPr>
                <a:xfrm>
                  <a:off x="1968675" y="1953039"/>
                  <a:ext cx="727498" cy="338554"/>
                </a:xfrm>
                <a:prstGeom prst="rect">
                  <a:avLst/>
                </a:prstGeom>
                <a:noFill/>
              </p:spPr>
              <p:txBody>
                <a:bodyPr wrap="squar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万</a:t>
                  </a:r>
                </a:p>
              </p:txBody>
            </p:sp>
            <p:sp>
              <p:nvSpPr>
                <p:cNvPr id="47" name="箭头: 上 46">
                  <a:extLst>
                    <a:ext uri="{FF2B5EF4-FFF2-40B4-BE49-F238E27FC236}">
                      <a16:creationId xmlns:a16="http://schemas.microsoft.com/office/drawing/2014/main" id="{0D32C1CA-569C-AE19-475F-DF90C9B41DCB}"/>
                    </a:ext>
                  </a:extLst>
                </p:cNvPr>
                <p:cNvSpPr/>
                <p:nvPr/>
              </p:nvSpPr>
              <p:spPr>
                <a:xfrm>
                  <a:off x="920032" y="2378426"/>
                  <a:ext cx="221673" cy="181362"/>
                </a:xfrm>
                <a:prstGeom prst="up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8" name="组合 47">
              <a:extLst>
                <a:ext uri="{FF2B5EF4-FFF2-40B4-BE49-F238E27FC236}">
                  <a16:creationId xmlns:a16="http://schemas.microsoft.com/office/drawing/2014/main" id="{F91D9D7D-6425-E458-70F5-44EAB620F00B}"/>
                </a:ext>
              </a:extLst>
            </p:cNvPr>
            <p:cNvGrpSpPr/>
            <p:nvPr/>
          </p:nvGrpSpPr>
          <p:grpSpPr>
            <a:xfrm>
              <a:off x="9491824" y="966718"/>
              <a:ext cx="2371777" cy="910077"/>
              <a:chOff x="4466502" y="2040449"/>
              <a:chExt cx="2059845" cy="910077"/>
            </a:xfrm>
          </p:grpSpPr>
          <p:sp>
            <p:nvSpPr>
              <p:cNvPr id="49" name="矩形 48">
                <a:extLst>
                  <a:ext uri="{FF2B5EF4-FFF2-40B4-BE49-F238E27FC236}">
                    <a16:creationId xmlns:a16="http://schemas.microsoft.com/office/drawing/2014/main" id="{46E42E5B-7229-C9F3-6BF4-20B040B07A01}"/>
                  </a:ext>
                </a:extLst>
              </p:cNvPr>
              <p:cNvSpPr/>
              <p:nvPr/>
            </p:nvSpPr>
            <p:spPr>
              <a:xfrm>
                <a:off x="4481579" y="2040449"/>
                <a:ext cx="2044768" cy="900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0" name="组合 49">
                <a:extLst>
                  <a:ext uri="{FF2B5EF4-FFF2-40B4-BE49-F238E27FC236}">
                    <a16:creationId xmlns:a16="http://schemas.microsoft.com/office/drawing/2014/main" id="{5056317D-81BD-8745-570D-27A046987E58}"/>
                  </a:ext>
                </a:extLst>
              </p:cNvPr>
              <p:cNvGrpSpPr/>
              <p:nvPr/>
            </p:nvGrpSpPr>
            <p:grpSpPr>
              <a:xfrm>
                <a:off x="4466502" y="2109650"/>
                <a:ext cx="2052657" cy="840876"/>
                <a:chOff x="413803" y="1789271"/>
                <a:chExt cx="2052657" cy="840876"/>
              </a:xfrm>
            </p:grpSpPr>
            <p:sp>
              <p:nvSpPr>
                <p:cNvPr id="51" name="文本框 50">
                  <a:extLst>
                    <a:ext uri="{FF2B5EF4-FFF2-40B4-BE49-F238E27FC236}">
                      <a16:creationId xmlns:a16="http://schemas.microsoft.com/office/drawing/2014/main" id="{1E689BF5-614E-7BB1-BAA5-E1B0656478C9}"/>
                    </a:ext>
                  </a:extLst>
                </p:cNvPr>
                <p:cNvSpPr txBox="1"/>
                <p:nvPr/>
              </p:nvSpPr>
              <p:spPr>
                <a:xfrm>
                  <a:off x="478585" y="2291593"/>
                  <a:ext cx="1916118" cy="338554"/>
                </a:xfrm>
                <a:prstGeom prst="rect">
                  <a:avLst/>
                </a:prstGeom>
                <a:noFill/>
              </p:spPr>
              <p:txBody>
                <a:bodyPr wrap="square" rtlCol="0">
                  <a:spAutoFit/>
                </a:bodyPr>
                <a:lstStyle/>
                <a:p>
                  <a:r>
                    <a:rPr lang="zh-CN" altLang="en-US" sz="1600" b="1">
                      <a:solidFill>
                        <a:schemeClr val="bg1"/>
                      </a:solidFill>
                      <a:latin typeface="微软雅黑" panose="020B0503020204020204" pitchFamily="34" charset="-122"/>
                      <a:ea typeface="微软雅黑" panose="020B0503020204020204" pitchFamily="34" charset="-122"/>
                    </a:rPr>
                    <a:t>利润率               </a:t>
                  </a:r>
                  <a:r>
                    <a:rPr lang="en-US" altLang="zh-CN" sz="1600" b="1">
                      <a:solidFill>
                        <a:schemeClr val="bg1"/>
                      </a:solidFill>
                      <a:latin typeface="微软雅黑" panose="020B0503020204020204" pitchFamily="34" charset="-122"/>
                      <a:ea typeface="微软雅黑" panose="020B0503020204020204" pitchFamily="34" charset="-122"/>
                    </a:rPr>
                    <a:t>+</a:t>
                  </a:r>
                  <a:r>
                    <a:rPr lang="en-US" altLang="zh-CN" sz="1200" b="1" dirty="0">
                      <a:solidFill>
                        <a:schemeClr val="bg1"/>
                      </a:solidFill>
                      <a:latin typeface="微软雅黑" panose="020B0503020204020204" pitchFamily="34" charset="-122"/>
                      <a:ea typeface="微软雅黑" panose="020B0503020204020204" pitchFamily="34" charset="-122"/>
                    </a:rPr>
                    <a:t>1</a:t>
                  </a:r>
                  <a:r>
                    <a:rPr lang="zh-CN" altLang="en-US" sz="1200" b="1" dirty="0">
                      <a:solidFill>
                        <a:schemeClr val="bg1"/>
                      </a:solidFill>
                      <a:latin typeface="微软雅黑" panose="020B0503020204020204" pitchFamily="34" charset="-122"/>
                      <a:ea typeface="微软雅黑" panose="020B0503020204020204" pitchFamily="34" charset="-122"/>
                    </a:rPr>
                    <a:t>个百分点</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52" name="文本框 51">
                  <a:extLst>
                    <a:ext uri="{FF2B5EF4-FFF2-40B4-BE49-F238E27FC236}">
                      <a16:creationId xmlns:a16="http://schemas.microsoft.com/office/drawing/2014/main" id="{2480183C-919E-B281-1577-F949E3BF1CA6}"/>
                    </a:ext>
                  </a:extLst>
                </p:cNvPr>
                <p:cNvSpPr txBox="1"/>
                <p:nvPr/>
              </p:nvSpPr>
              <p:spPr>
                <a:xfrm>
                  <a:off x="413803" y="1789271"/>
                  <a:ext cx="1846437" cy="584775"/>
                </a:xfrm>
                <a:prstGeom prst="rect">
                  <a:avLst/>
                </a:prstGeom>
                <a:noFill/>
              </p:spPr>
              <p:txBody>
                <a:bodyPr wrap="square" rtlCol="0">
                  <a:spAutoFit/>
                </a:bodyPr>
                <a:lstStyle/>
                <a:p>
                  <a:r>
                    <a:rPr lang="en-US" altLang="zh-CN" sz="3200" b="1" dirty="0">
                      <a:solidFill>
                        <a:schemeClr val="bg1"/>
                      </a:solidFill>
                      <a:latin typeface="微软雅黑" panose="020B0503020204020204" pitchFamily="34" charset="-122"/>
                      <a:ea typeface="微软雅黑" panose="020B0503020204020204" pitchFamily="34" charset="-122"/>
                    </a:rPr>
                    <a:t>14</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53" name="文本框 52">
                  <a:extLst>
                    <a:ext uri="{FF2B5EF4-FFF2-40B4-BE49-F238E27FC236}">
                      <a16:creationId xmlns:a16="http://schemas.microsoft.com/office/drawing/2014/main" id="{BD0552DC-6592-082E-6AB6-2B37216D7654}"/>
                    </a:ext>
                  </a:extLst>
                </p:cNvPr>
                <p:cNvSpPr txBox="1"/>
                <p:nvPr/>
              </p:nvSpPr>
              <p:spPr>
                <a:xfrm>
                  <a:off x="1968675" y="1953039"/>
                  <a:ext cx="497785" cy="338554"/>
                </a:xfrm>
                <a:prstGeom prst="rect">
                  <a:avLst/>
                </a:prstGeom>
                <a:noFill/>
              </p:spPr>
              <p:txBody>
                <a:bodyPr wrap="square" rtlCol="0">
                  <a:spAutoFit/>
                </a:bodyPr>
                <a:lstStyle/>
                <a:p>
                  <a:r>
                    <a:rPr lang="en-US" altLang="zh-CN" sz="1600" b="1" dirty="0">
                      <a:solidFill>
                        <a:schemeClr val="bg1"/>
                      </a:solidFill>
                      <a:latin typeface="微软雅黑" panose="020B0503020204020204" pitchFamily="34" charset="-122"/>
                      <a:ea typeface="微软雅黑" panose="020B0503020204020204" pitchFamily="34" charset="-122"/>
                    </a:rPr>
                    <a:t>%</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54" name="箭头: 上 53">
                  <a:extLst>
                    <a:ext uri="{FF2B5EF4-FFF2-40B4-BE49-F238E27FC236}">
                      <a16:creationId xmlns:a16="http://schemas.microsoft.com/office/drawing/2014/main" id="{B6D932E4-7C47-F630-4013-F30F9B7DD1C5}"/>
                    </a:ext>
                  </a:extLst>
                </p:cNvPr>
                <p:cNvSpPr/>
                <p:nvPr/>
              </p:nvSpPr>
              <p:spPr>
                <a:xfrm>
                  <a:off x="1115348" y="2378426"/>
                  <a:ext cx="221673" cy="181362"/>
                </a:xfrm>
                <a:prstGeom prst="up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zh-CN" altLang="en-US"/>
                </a:p>
              </p:txBody>
            </p:sp>
          </p:grpSp>
        </p:grpSp>
        <p:grpSp>
          <p:nvGrpSpPr>
            <p:cNvPr id="55" name="组合 54">
              <a:extLst>
                <a:ext uri="{FF2B5EF4-FFF2-40B4-BE49-F238E27FC236}">
                  <a16:creationId xmlns:a16="http://schemas.microsoft.com/office/drawing/2014/main" id="{C0589F57-2E18-EC8B-613D-DA627E2F46A9}"/>
                </a:ext>
              </a:extLst>
            </p:cNvPr>
            <p:cNvGrpSpPr/>
            <p:nvPr/>
          </p:nvGrpSpPr>
          <p:grpSpPr>
            <a:xfrm>
              <a:off x="4587799" y="966718"/>
              <a:ext cx="2628000" cy="903184"/>
              <a:chOff x="4466502" y="1079548"/>
              <a:chExt cx="2282370" cy="903184"/>
            </a:xfrm>
          </p:grpSpPr>
          <p:sp>
            <p:nvSpPr>
              <p:cNvPr id="56" name="矩形 55">
                <a:extLst>
                  <a:ext uri="{FF2B5EF4-FFF2-40B4-BE49-F238E27FC236}">
                    <a16:creationId xmlns:a16="http://schemas.microsoft.com/office/drawing/2014/main" id="{D7F8D2CA-D142-7511-6B35-B7E96CC11C05}"/>
                  </a:ext>
                </a:extLst>
              </p:cNvPr>
              <p:cNvSpPr/>
              <p:nvPr/>
            </p:nvSpPr>
            <p:spPr>
              <a:xfrm>
                <a:off x="4481579" y="1079548"/>
                <a:ext cx="2044768" cy="90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7" name="组合 56">
                <a:extLst>
                  <a:ext uri="{FF2B5EF4-FFF2-40B4-BE49-F238E27FC236}">
                    <a16:creationId xmlns:a16="http://schemas.microsoft.com/office/drawing/2014/main" id="{EF3EC0FF-227A-F3A2-DEBC-8EF079F8116C}"/>
                  </a:ext>
                </a:extLst>
              </p:cNvPr>
              <p:cNvGrpSpPr/>
              <p:nvPr/>
            </p:nvGrpSpPr>
            <p:grpSpPr>
              <a:xfrm>
                <a:off x="4466502" y="1141856"/>
                <a:ext cx="2282370" cy="840876"/>
                <a:chOff x="413803" y="1789271"/>
                <a:chExt cx="2282370" cy="840876"/>
              </a:xfrm>
            </p:grpSpPr>
            <p:sp>
              <p:nvSpPr>
                <p:cNvPr id="58" name="文本框 57">
                  <a:extLst>
                    <a:ext uri="{FF2B5EF4-FFF2-40B4-BE49-F238E27FC236}">
                      <a16:creationId xmlns:a16="http://schemas.microsoft.com/office/drawing/2014/main" id="{DC160FD1-3EDD-2257-59F8-B821E6920247}"/>
                    </a:ext>
                  </a:extLst>
                </p:cNvPr>
                <p:cNvSpPr txBox="1"/>
                <p:nvPr/>
              </p:nvSpPr>
              <p:spPr>
                <a:xfrm>
                  <a:off x="428880" y="2291593"/>
                  <a:ext cx="2093640" cy="338554"/>
                </a:xfrm>
                <a:prstGeom prst="rect">
                  <a:avLst/>
                </a:prstGeom>
                <a:noFill/>
              </p:spPr>
              <p:txBody>
                <a:bodyPr wrap="square" rtlCol="0">
                  <a:spAutoFit/>
                </a:bodyPr>
                <a:lstStyle/>
                <a:p>
                  <a:r>
                    <a:rPr lang="zh-CN" altLang="en-US" sz="1400" b="1">
                      <a:solidFill>
                        <a:schemeClr val="bg1"/>
                      </a:solidFill>
                      <a:latin typeface="微软雅黑" panose="020B0503020204020204" pitchFamily="34" charset="-122"/>
                      <a:ea typeface="微软雅黑" panose="020B0503020204020204" pitchFamily="34" charset="-122"/>
                    </a:rPr>
                    <a:t>成本费用        </a:t>
                  </a:r>
                  <a:r>
                    <a:rPr lang="en-US" altLang="zh-CN" sz="1600" b="1">
                      <a:solidFill>
                        <a:schemeClr val="bg1"/>
                      </a:solidFill>
                      <a:latin typeface="微软雅黑" panose="020B0503020204020204" pitchFamily="34" charset="-122"/>
                      <a:ea typeface="微软雅黑" panose="020B0503020204020204" pitchFamily="34" charset="-122"/>
                    </a:rPr>
                    <a:t>+</a:t>
                  </a:r>
                  <a:r>
                    <a:rPr lang="en-US" altLang="zh-CN" sz="1200" b="1">
                      <a:solidFill>
                        <a:schemeClr val="bg1"/>
                      </a:solidFill>
                      <a:latin typeface="微软雅黑" panose="020B0503020204020204" pitchFamily="34" charset="-122"/>
                      <a:ea typeface="微软雅黑" panose="020B0503020204020204" pitchFamily="34" charset="-122"/>
                    </a:rPr>
                    <a:t>2%</a:t>
                  </a:r>
                  <a:r>
                    <a:rPr lang="en-US" altLang="zh-CN" sz="1600" b="1">
                      <a:solidFill>
                        <a:schemeClr val="bg1"/>
                      </a:solidFill>
                      <a:latin typeface="微软雅黑" panose="020B0503020204020204" pitchFamily="34" charset="-122"/>
                      <a:ea typeface="微软雅黑" panose="020B0503020204020204" pitchFamily="34" charset="-122"/>
                    </a:rPr>
                    <a:t>   </a:t>
                  </a:r>
                  <a:r>
                    <a:rPr lang="zh-CN" altLang="en-US" sz="1200" b="1">
                      <a:solidFill>
                        <a:schemeClr val="bg1"/>
                      </a:solidFill>
                      <a:latin typeface="微软雅黑" panose="020B0503020204020204" pitchFamily="34" charset="-122"/>
                      <a:ea typeface="微软雅黑" panose="020B0503020204020204" pitchFamily="34" charset="-122"/>
                    </a:rPr>
                    <a:t>完成率 </a:t>
                  </a:r>
                  <a:r>
                    <a:rPr lang="en-US" altLang="zh-CN" sz="1200" b="1">
                      <a:solidFill>
                        <a:schemeClr val="bg1"/>
                      </a:solidFill>
                      <a:latin typeface="微软雅黑" panose="020B0503020204020204" pitchFamily="34" charset="-122"/>
                      <a:ea typeface="微软雅黑" panose="020B0503020204020204" pitchFamily="34" charset="-122"/>
                    </a:rPr>
                    <a:t>96%</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59" name="文本框 58">
                  <a:extLst>
                    <a:ext uri="{FF2B5EF4-FFF2-40B4-BE49-F238E27FC236}">
                      <a16:creationId xmlns:a16="http://schemas.microsoft.com/office/drawing/2014/main" id="{833C8F88-3D94-F46A-CF71-91880A9FDBC3}"/>
                    </a:ext>
                  </a:extLst>
                </p:cNvPr>
                <p:cNvSpPr txBox="1"/>
                <p:nvPr/>
              </p:nvSpPr>
              <p:spPr>
                <a:xfrm>
                  <a:off x="413803" y="1789271"/>
                  <a:ext cx="1846437" cy="584775"/>
                </a:xfrm>
                <a:prstGeom prst="rect">
                  <a:avLst/>
                </a:prstGeom>
                <a:noFill/>
              </p:spPr>
              <p:txBody>
                <a:bodyPr wrap="square" rtlCol="0">
                  <a:spAutoFit/>
                </a:bodyPr>
                <a:lstStyle/>
                <a:p>
                  <a:r>
                    <a:rPr lang="en-US" altLang="zh-CN" sz="3200" b="1">
                      <a:solidFill>
                        <a:schemeClr val="bg1"/>
                      </a:solidFill>
                      <a:latin typeface="微软雅黑" panose="020B0503020204020204" pitchFamily="34" charset="-122"/>
                      <a:ea typeface="微软雅黑" panose="020B0503020204020204" pitchFamily="34" charset="-122"/>
                    </a:rPr>
                    <a:t>9606</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60" name="文本框 59">
                  <a:extLst>
                    <a:ext uri="{FF2B5EF4-FFF2-40B4-BE49-F238E27FC236}">
                      <a16:creationId xmlns:a16="http://schemas.microsoft.com/office/drawing/2014/main" id="{14AB4674-CE03-B4E7-74FC-7CE1460FBBD3}"/>
                    </a:ext>
                  </a:extLst>
                </p:cNvPr>
                <p:cNvSpPr txBox="1"/>
                <p:nvPr/>
              </p:nvSpPr>
              <p:spPr>
                <a:xfrm>
                  <a:off x="1968675" y="1953039"/>
                  <a:ext cx="727498" cy="338554"/>
                </a:xfrm>
                <a:prstGeom prst="rect">
                  <a:avLst/>
                </a:prstGeom>
                <a:noFill/>
              </p:spPr>
              <p:txBody>
                <a:bodyPr wrap="squar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万</a:t>
                  </a:r>
                </a:p>
              </p:txBody>
            </p:sp>
            <p:sp>
              <p:nvSpPr>
                <p:cNvPr id="61" name="箭头: 上 60">
                  <a:extLst>
                    <a:ext uri="{FF2B5EF4-FFF2-40B4-BE49-F238E27FC236}">
                      <a16:creationId xmlns:a16="http://schemas.microsoft.com/office/drawing/2014/main" id="{C4B645D2-32F6-DCDE-7B45-B1504FDEA145}"/>
                    </a:ext>
                  </a:extLst>
                </p:cNvPr>
                <p:cNvSpPr/>
                <p:nvPr/>
              </p:nvSpPr>
              <p:spPr>
                <a:xfrm>
                  <a:off x="1033503" y="2378426"/>
                  <a:ext cx="221673" cy="181362"/>
                </a:xfrm>
                <a:prstGeom prst="up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spTree>
    <p:extLst>
      <p:ext uri="{BB962C8B-B14F-4D97-AF65-F5344CB8AC3E}">
        <p14:creationId xmlns:p14="http://schemas.microsoft.com/office/powerpoint/2010/main" val="2954598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DFFDF-9DF6-7A3A-9D59-6F4C2625D024}"/>
            </a:ext>
          </a:extLst>
        </p:cNvPr>
        <p:cNvGrpSpPr/>
        <p:nvPr/>
      </p:nvGrpSpPr>
      <p:grpSpPr>
        <a:xfrm>
          <a:off x="0" y="0"/>
          <a:ext cx="0" cy="0"/>
          <a:chOff x="0" y="0"/>
          <a:chExt cx="0" cy="0"/>
        </a:xfrm>
      </p:grpSpPr>
      <p:sp>
        <p:nvSpPr>
          <p:cNvPr id="66" name="矩形: 圆角 65">
            <a:extLst>
              <a:ext uri="{FF2B5EF4-FFF2-40B4-BE49-F238E27FC236}">
                <a16:creationId xmlns:a16="http://schemas.microsoft.com/office/drawing/2014/main" id="{F374D8B6-0284-5373-6BBE-00812255C2FB}"/>
              </a:ext>
            </a:extLst>
          </p:cNvPr>
          <p:cNvSpPr/>
          <p:nvPr/>
        </p:nvSpPr>
        <p:spPr>
          <a:xfrm>
            <a:off x="541709" y="1780294"/>
            <a:ext cx="11125268" cy="2970953"/>
          </a:xfrm>
          <a:prstGeom prst="roundRect">
            <a:avLst>
              <a:gd name="adj" fmla="val 4341"/>
            </a:avLst>
          </a:prstGeom>
          <a:solidFill>
            <a:srgbClr val="F3F4F7"/>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zh-CN" altLang="en-US" sz="1800" dirty="0">
              <a:latin typeface="微软雅黑" panose="020B0503020204020204" pitchFamily="34" charset="-122"/>
              <a:ea typeface="微软雅黑" panose="020B0503020204020204" pitchFamily="34" charset="-122"/>
            </a:endParaRPr>
          </a:p>
        </p:txBody>
      </p:sp>
      <p:sp>
        <p:nvSpPr>
          <p:cNvPr id="61" name="矩形: 圆角 60">
            <a:extLst>
              <a:ext uri="{FF2B5EF4-FFF2-40B4-BE49-F238E27FC236}">
                <a16:creationId xmlns:a16="http://schemas.microsoft.com/office/drawing/2014/main" id="{0341FE42-741B-D2A9-C236-D4A670099C70}"/>
              </a:ext>
            </a:extLst>
          </p:cNvPr>
          <p:cNvSpPr/>
          <p:nvPr/>
        </p:nvSpPr>
        <p:spPr>
          <a:xfrm>
            <a:off x="510086" y="4887624"/>
            <a:ext cx="11229630" cy="1571465"/>
          </a:xfrm>
          <a:prstGeom prst="roundRect">
            <a:avLst>
              <a:gd name="adj" fmla="val 4341"/>
            </a:avLst>
          </a:prstGeom>
          <a:solidFill>
            <a:srgbClr val="F3F4F7"/>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zh-CN" altLang="en-US" sz="1800" dirty="0">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FB642D6C-FC4F-87AB-9860-C6C323F36950}"/>
              </a:ext>
            </a:extLst>
          </p:cNvPr>
          <p:cNvSpPr txBox="1"/>
          <p:nvPr/>
        </p:nvSpPr>
        <p:spPr>
          <a:xfrm>
            <a:off x="373569" y="282341"/>
            <a:ext cx="5583806" cy="480131"/>
          </a:xfrm>
          <a:prstGeom prst="rect">
            <a:avLst/>
          </a:prstGeom>
          <a:noFill/>
        </p:spPr>
        <p:txBody>
          <a:bodyPr wrap="square" rtlCol="0">
            <a:spAutoFit/>
          </a:bodyPr>
          <a:lstStyle>
            <a:defPPr>
              <a:defRPr lang="zh-CN"/>
            </a:defPPr>
            <a:lvl1pPr>
              <a:lnSpc>
                <a:spcPct val="90000"/>
              </a:lnSpc>
              <a:spcBef>
                <a:spcPct val="0"/>
              </a:spcBef>
              <a:defRPr sz="2800" b="1">
                <a:solidFill>
                  <a:schemeClr val="tx2"/>
                </a:solidFill>
                <a:latin typeface="微软雅黑" panose="020B0503020204020204" pitchFamily="34" charset="-122"/>
                <a:ea typeface="微软雅黑" panose="020B0503020204020204" pitchFamily="34" charset="-122"/>
              </a:defRPr>
            </a:lvl1pPr>
          </a:lstStyle>
          <a:p>
            <a:r>
              <a:rPr lang="en-US" altLang="zh-CN"/>
              <a:t>2026</a:t>
            </a:r>
            <a:r>
              <a:rPr lang="zh-CN" altLang="en-US"/>
              <a:t>年战略重点与预算原则</a:t>
            </a:r>
            <a:endParaRPr lang="en-US" altLang="zh-CN"/>
          </a:p>
        </p:txBody>
      </p:sp>
      <p:cxnSp>
        <p:nvCxnSpPr>
          <p:cNvPr id="3" name="直线连接符 7">
            <a:extLst>
              <a:ext uri="{FF2B5EF4-FFF2-40B4-BE49-F238E27FC236}">
                <a16:creationId xmlns:a16="http://schemas.microsoft.com/office/drawing/2014/main" id="{6ADD9B49-0F66-71B1-1AB6-C6DC5FB5830F}"/>
              </a:ext>
            </a:extLst>
          </p:cNvPr>
          <p:cNvCxnSpPr>
            <a:cxnSpLocks/>
          </p:cNvCxnSpPr>
          <p:nvPr/>
        </p:nvCxnSpPr>
        <p:spPr>
          <a:xfrm>
            <a:off x="421341" y="859164"/>
            <a:ext cx="1139429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192B4A27-4737-9060-C310-6E61D2399A91}"/>
              </a:ext>
            </a:extLst>
          </p:cNvPr>
          <p:cNvSpPr txBox="1"/>
          <p:nvPr/>
        </p:nvSpPr>
        <p:spPr>
          <a:xfrm>
            <a:off x="4395018" y="5083435"/>
            <a:ext cx="3367725" cy="890693"/>
          </a:xfrm>
          <a:prstGeom prst="rect">
            <a:avLst/>
          </a:prstGeom>
          <a:noFill/>
        </p:spPr>
        <p:txBody>
          <a:bodyPr wrap="square">
            <a:spAutoFit/>
          </a:bodyPr>
          <a:lstStyle>
            <a:defPPr>
              <a:defRPr lang="zh-CN"/>
            </a:defPPr>
            <a:lvl1pPr marL="285750" indent="-285750">
              <a:lnSpc>
                <a:spcPct val="150000"/>
              </a:lnSpc>
              <a:buFont typeface="Arial" panose="020B0604020202020204" pitchFamily="34" charset="0"/>
              <a:buChar char="•"/>
              <a:defRPr sz="1200" i="0">
                <a:solidFill>
                  <a:schemeClr val="tx1">
                    <a:lumMod val="75000"/>
                    <a:lumOff val="25000"/>
                  </a:schemeClr>
                </a:solidFill>
                <a:effectLst/>
                <a:latin typeface="微软雅黑" panose="020B0503020204020204" pitchFamily="34" charset="-122"/>
                <a:ea typeface="微软雅黑" panose="020B0503020204020204" pitchFamily="34" charset="-122"/>
              </a:defRPr>
            </a:lvl1pPr>
          </a:lstStyle>
          <a:p>
            <a:r>
              <a:rPr lang="zh-CN" altLang="en-US" dirty="0"/>
              <a:t>优化业务流程，挖掘潜在利润增长点，提升盈利能力，确保既有业务持续稳定地为公司贡献坚实力量</a:t>
            </a:r>
          </a:p>
        </p:txBody>
      </p:sp>
      <p:sp>
        <p:nvSpPr>
          <p:cNvPr id="10" name="文本框 9">
            <a:extLst>
              <a:ext uri="{FF2B5EF4-FFF2-40B4-BE49-F238E27FC236}">
                <a16:creationId xmlns:a16="http://schemas.microsoft.com/office/drawing/2014/main" id="{58AAE2E5-6F04-E482-AB36-1601ECFDF2FA}"/>
              </a:ext>
            </a:extLst>
          </p:cNvPr>
          <p:cNvSpPr txBox="1"/>
          <p:nvPr/>
        </p:nvSpPr>
        <p:spPr>
          <a:xfrm>
            <a:off x="662489" y="4969665"/>
            <a:ext cx="3358904" cy="1444691"/>
          </a:xfrm>
          <a:prstGeom prst="rect">
            <a:avLst/>
          </a:prstGeom>
          <a:noFill/>
        </p:spPr>
        <p:txBody>
          <a:bodyPr wrap="square">
            <a:spAutoFit/>
          </a:bodyPr>
          <a:lstStyle>
            <a:defPPr>
              <a:defRPr lang="zh-CN"/>
            </a:defPPr>
            <a:lvl1pPr marL="285750" indent="-285750">
              <a:lnSpc>
                <a:spcPct val="150000"/>
              </a:lnSpc>
              <a:buFont typeface="Arial" panose="020B0604020202020204" pitchFamily="34" charset="0"/>
              <a:buChar char="•"/>
              <a:defRPr sz="1200" i="0">
                <a:solidFill>
                  <a:srgbClr val="006666"/>
                </a:solidFill>
                <a:effectLst/>
                <a:latin typeface="微软雅黑" panose="020B0503020204020204" pitchFamily="34" charset="-122"/>
                <a:ea typeface="微软雅黑" panose="020B0503020204020204" pitchFamily="34" charset="-122"/>
              </a:defRPr>
            </a:lvl1pPr>
          </a:lstStyle>
          <a:p>
            <a:r>
              <a:rPr lang="zh-CN" altLang="en-US" dirty="0">
                <a:solidFill>
                  <a:schemeClr val="tx1">
                    <a:lumMod val="75000"/>
                    <a:lumOff val="25000"/>
                  </a:schemeClr>
                </a:solidFill>
              </a:rPr>
              <a:t>积极探索新的市场领域，加大市场投入，设定积极的增长目标，为新业务注入充足动力，使其成为公司发展的</a:t>
            </a:r>
            <a:r>
              <a:rPr lang="zh-CN" altLang="en-US">
                <a:solidFill>
                  <a:schemeClr val="tx1">
                    <a:lumMod val="75000"/>
                    <a:lumOff val="25000"/>
                  </a:schemeClr>
                </a:solidFill>
              </a:rPr>
              <a:t>新引擎</a:t>
            </a:r>
            <a:endParaRPr lang="en-US" altLang="zh-CN" dirty="0">
              <a:solidFill>
                <a:schemeClr val="tx1">
                  <a:lumMod val="75000"/>
                  <a:lumOff val="25000"/>
                </a:schemeClr>
              </a:solidFill>
            </a:endParaRPr>
          </a:p>
          <a:p>
            <a:r>
              <a:rPr lang="zh-CN" altLang="en-US" dirty="0">
                <a:solidFill>
                  <a:schemeClr val="tx1">
                    <a:lumMod val="75000"/>
                    <a:lumOff val="25000"/>
                  </a:schemeClr>
                </a:solidFill>
              </a:rPr>
              <a:t>同时通过有效的高激励机制，激发团队的创新活力</a:t>
            </a:r>
          </a:p>
        </p:txBody>
      </p:sp>
      <p:grpSp>
        <p:nvGrpSpPr>
          <p:cNvPr id="11" name="组合 10">
            <a:extLst>
              <a:ext uri="{FF2B5EF4-FFF2-40B4-BE49-F238E27FC236}">
                <a16:creationId xmlns:a16="http://schemas.microsoft.com/office/drawing/2014/main" id="{527FDE2A-FD6B-6DBD-DA46-C4D2729ED809}"/>
              </a:ext>
            </a:extLst>
          </p:cNvPr>
          <p:cNvGrpSpPr/>
          <p:nvPr/>
        </p:nvGrpSpPr>
        <p:grpSpPr>
          <a:xfrm>
            <a:off x="525021" y="1165989"/>
            <a:ext cx="11141957" cy="438150"/>
            <a:chOff x="522409" y="1764980"/>
            <a:chExt cx="10932582" cy="438150"/>
          </a:xfrm>
        </p:grpSpPr>
        <p:grpSp>
          <p:nvGrpSpPr>
            <p:cNvPr id="12" name="组合 11">
              <a:extLst>
                <a:ext uri="{FF2B5EF4-FFF2-40B4-BE49-F238E27FC236}">
                  <a16:creationId xmlns:a16="http://schemas.microsoft.com/office/drawing/2014/main" id="{3659FFD5-4B04-C2AC-DA51-E7D6AFA03432}"/>
                </a:ext>
              </a:extLst>
            </p:cNvPr>
            <p:cNvGrpSpPr/>
            <p:nvPr/>
          </p:nvGrpSpPr>
          <p:grpSpPr>
            <a:xfrm>
              <a:off x="522409" y="1764980"/>
              <a:ext cx="7249991" cy="438150"/>
              <a:chOff x="463570" y="1640451"/>
              <a:chExt cx="10844495" cy="438150"/>
            </a:xfrm>
          </p:grpSpPr>
          <p:sp>
            <p:nvSpPr>
              <p:cNvPr id="14" name="圆角矩形 14">
                <a:extLst>
                  <a:ext uri="{FF2B5EF4-FFF2-40B4-BE49-F238E27FC236}">
                    <a16:creationId xmlns:a16="http://schemas.microsoft.com/office/drawing/2014/main" id="{5ADFEF83-15B7-01FB-2252-2D47C1605243}"/>
                  </a:ext>
                </a:extLst>
              </p:cNvPr>
              <p:cNvSpPr/>
              <p:nvPr/>
            </p:nvSpPr>
            <p:spPr>
              <a:xfrm>
                <a:off x="463570" y="1640451"/>
                <a:ext cx="5336097" cy="438150"/>
              </a:xfrm>
              <a:prstGeom prst="roundRect">
                <a:avLst>
                  <a:gd name="adj" fmla="val 50000"/>
                </a:avLst>
              </a:prstGeom>
              <a:solidFill>
                <a:schemeClr val="accent1"/>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solidFill>
                      <a:schemeClr val="bg1"/>
                    </a:solidFill>
                    <a:latin typeface="+mj-ea"/>
                    <a:ea typeface="+mj-ea"/>
                  </a:rPr>
                  <a:t>目标</a:t>
                </a:r>
                <a:r>
                  <a:rPr lang="en-US" altLang="zh-CN" sz="2000" b="1">
                    <a:solidFill>
                      <a:schemeClr val="bg1"/>
                    </a:solidFill>
                    <a:latin typeface="+mj-ea"/>
                    <a:ea typeface="+mj-ea"/>
                  </a:rPr>
                  <a:t>1  </a:t>
                </a:r>
                <a:r>
                  <a:rPr lang="zh-CN" altLang="en-US" sz="1400" b="1">
                    <a:solidFill>
                      <a:schemeClr val="bg1"/>
                    </a:solidFill>
                    <a:latin typeface="+mn-ea"/>
                  </a:rPr>
                  <a:t>战略性投入项目</a:t>
                </a:r>
                <a:endParaRPr lang="zh-CN" altLang="en-US" sz="1400" b="1" dirty="0">
                  <a:solidFill>
                    <a:schemeClr val="bg1"/>
                  </a:solidFill>
                  <a:latin typeface="+mn-ea"/>
                </a:endParaRPr>
              </a:p>
            </p:txBody>
          </p:sp>
          <p:sp>
            <p:nvSpPr>
              <p:cNvPr id="15" name="圆角矩形 14">
                <a:extLst>
                  <a:ext uri="{FF2B5EF4-FFF2-40B4-BE49-F238E27FC236}">
                    <a16:creationId xmlns:a16="http://schemas.microsoft.com/office/drawing/2014/main" id="{C705ABA3-F3E2-8092-1200-5E3F02B765F3}"/>
                  </a:ext>
                </a:extLst>
              </p:cNvPr>
              <p:cNvSpPr/>
              <p:nvPr/>
            </p:nvSpPr>
            <p:spPr>
              <a:xfrm>
                <a:off x="5971968" y="1640451"/>
                <a:ext cx="5336097" cy="438150"/>
              </a:xfrm>
              <a:prstGeom prst="roundRect">
                <a:avLst>
                  <a:gd name="adj" fmla="val 50000"/>
                </a:avLst>
              </a:prstGeom>
              <a:solidFill>
                <a:schemeClr val="accent2"/>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solidFill>
                      <a:schemeClr val="bg1"/>
                    </a:solidFill>
                    <a:latin typeface="+mj-ea"/>
                    <a:ea typeface="+mj-ea"/>
                  </a:rPr>
                  <a:t>目标</a:t>
                </a:r>
                <a:r>
                  <a:rPr lang="en-US" altLang="zh-CN" sz="2000" b="1">
                    <a:solidFill>
                      <a:schemeClr val="bg1"/>
                    </a:solidFill>
                    <a:latin typeface="+mj-ea"/>
                    <a:ea typeface="+mj-ea"/>
                  </a:rPr>
                  <a:t>2   </a:t>
                </a:r>
                <a:r>
                  <a:rPr lang="zh-CN" altLang="en-US" sz="1400" b="1">
                    <a:solidFill>
                      <a:schemeClr val="bg1"/>
                    </a:solidFill>
                    <a:latin typeface="+mn-ea"/>
                    <a:ea typeface="+mj-ea"/>
                  </a:rPr>
                  <a:t>控本保利项目</a:t>
                </a:r>
                <a:endParaRPr lang="zh-CN" altLang="en-US" sz="1400" dirty="0">
                  <a:solidFill>
                    <a:schemeClr val="bg1"/>
                  </a:solidFill>
                  <a:latin typeface="+mn-ea"/>
                </a:endParaRPr>
              </a:p>
            </p:txBody>
          </p:sp>
        </p:grpSp>
        <p:sp>
          <p:nvSpPr>
            <p:cNvPr id="13" name="圆角矩形 14">
              <a:extLst>
                <a:ext uri="{FF2B5EF4-FFF2-40B4-BE49-F238E27FC236}">
                  <a16:creationId xmlns:a16="http://schemas.microsoft.com/office/drawing/2014/main" id="{9DF7B0B6-8C83-9BE9-50A9-C40C8CE4E330}"/>
                </a:ext>
              </a:extLst>
            </p:cNvPr>
            <p:cNvSpPr/>
            <p:nvPr/>
          </p:nvSpPr>
          <p:spPr>
            <a:xfrm>
              <a:off x="7887591" y="1764980"/>
              <a:ext cx="3567400" cy="438150"/>
            </a:xfrm>
            <a:prstGeom prst="roundRect">
              <a:avLst>
                <a:gd name="adj" fmla="val 50000"/>
              </a:avLst>
            </a:prstGeom>
            <a:solidFill>
              <a:schemeClr val="accent3"/>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solidFill>
                    <a:schemeClr val="bg1"/>
                  </a:solidFill>
                  <a:latin typeface="+mj-ea"/>
                  <a:ea typeface="+mj-ea"/>
                </a:rPr>
                <a:t>目标</a:t>
              </a:r>
              <a:r>
                <a:rPr lang="en-US" altLang="zh-CN" sz="2000" b="1">
                  <a:solidFill>
                    <a:schemeClr val="bg1"/>
                  </a:solidFill>
                  <a:latin typeface="+mj-ea"/>
                  <a:ea typeface="+mj-ea"/>
                </a:rPr>
                <a:t>3   </a:t>
              </a:r>
              <a:r>
                <a:rPr lang="zh-CN" altLang="en-US" sz="1400" b="1">
                  <a:solidFill>
                    <a:schemeClr val="bg1"/>
                  </a:solidFill>
                  <a:latin typeface="+mn-ea"/>
                  <a:ea typeface="+mj-ea"/>
                </a:rPr>
                <a:t>精细化管理提升</a:t>
              </a:r>
              <a:r>
                <a:rPr lang="en-US" altLang="zh-CN" sz="1400" b="1">
                  <a:solidFill>
                    <a:schemeClr val="bg1"/>
                  </a:solidFill>
                  <a:latin typeface="+mn-ea"/>
                  <a:ea typeface="+mj-ea"/>
                </a:rPr>
                <a:t>ROI</a:t>
              </a:r>
              <a:endParaRPr lang="zh-CN" altLang="en-US" sz="1400" b="1" dirty="0">
                <a:solidFill>
                  <a:schemeClr val="bg1"/>
                </a:solidFill>
                <a:latin typeface="+mn-ea"/>
                <a:ea typeface="+mj-ea"/>
              </a:endParaRPr>
            </a:p>
          </p:txBody>
        </p:sp>
      </p:grpSp>
      <p:cxnSp>
        <p:nvCxnSpPr>
          <p:cNvPr id="32" name="直接连接符 31">
            <a:extLst>
              <a:ext uri="{FF2B5EF4-FFF2-40B4-BE49-F238E27FC236}">
                <a16:creationId xmlns:a16="http://schemas.microsoft.com/office/drawing/2014/main" id="{625618BB-601E-403D-185F-B3B7BC342419}"/>
              </a:ext>
            </a:extLst>
          </p:cNvPr>
          <p:cNvCxnSpPr>
            <a:cxnSpLocks/>
          </p:cNvCxnSpPr>
          <p:nvPr/>
        </p:nvCxnSpPr>
        <p:spPr>
          <a:xfrm>
            <a:off x="8999111" y="3551919"/>
            <a:ext cx="1158909"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nvGrpSpPr>
          <p:cNvPr id="47" name="组合 46">
            <a:extLst>
              <a:ext uri="{FF2B5EF4-FFF2-40B4-BE49-F238E27FC236}">
                <a16:creationId xmlns:a16="http://schemas.microsoft.com/office/drawing/2014/main" id="{DED3F812-B921-D947-E62A-96C96E90E557}"/>
              </a:ext>
            </a:extLst>
          </p:cNvPr>
          <p:cNvGrpSpPr/>
          <p:nvPr/>
        </p:nvGrpSpPr>
        <p:grpSpPr>
          <a:xfrm>
            <a:off x="525020" y="1756454"/>
            <a:ext cx="11141958" cy="2970953"/>
            <a:chOff x="801126" y="1764873"/>
            <a:chExt cx="5806976" cy="2970953"/>
          </a:xfrm>
        </p:grpSpPr>
        <p:sp>
          <p:nvSpPr>
            <p:cNvPr id="40" name="矩形: 圆角 39">
              <a:extLst>
                <a:ext uri="{FF2B5EF4-FFF2-40B4-BE49-F238E27FC236}">
                  <a16:creationId xmlns:a16="http://schemas.microsoft.com/office/drawing/2014/main" id="{1E17B32C-D814-B892-3548-DFB0DC8F4DDD}"/>
                </a:ext>
              </a:extLst>
            </p:cNvPr>
            <p:cNvSpPr/>
            <p:nvPr/>
          </p:nvSpPr>
          <p:spPr>
            <a:xfrm>
              <a:off x="801126" y="1764873"/>
              <a:ext cx="1887890" cy="2970953"/>
            </a:xfrm>
            <a:prstGeom prst="roundRect">
              <a:avLst>
                <a:gd name="adj" fmla="val 8086"/>
              </a:avLst>
            </a:prstGeom>
            <a:solidFill>
              <a:schemeClr val="accent1">
                <a:lumMod val="20000"/>
                <a:lumOff val="80000"/>
                <a:alpha val="6902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圆角 40">
              <a:extLst>
                <a:ext uri="{FF2B5EF4-FFF2-40B4-BE49-F238E27FC236}">
                  <a16:creationId xmlns:a16="http://schemas.microsoft.com/office/drawing/2014/main" id="{CE04248B-B6E1-2984-A868-E93DA18CA7BE}"/>
                </a:ext>
              </a:extLst>
            </p:cNvPr>
            <p:cNvSpPr/>
            <p:nvPr/>
          </p:nvSpPr>
          <p:spPr>
            <a:xfrm>
              <a:off x="2760669" y="1764873"/>
              <a:ext cx="1887890" cy="2970953"/>
            </a:xfrm>
            <a:prstGeom prst="roundRect">
              <a:avLst>
                <a:gd name="adj" fmla="val 8086"/>
              </a:avLst>
            </a:prstGeom>
            <a:solidFill>
              <a:schemeClr val="accent2">
                <a:lumMod val="40000"/>
                <a:lumOff val="60000"/>
                <a:alpha val="6902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圆角 41">
              <a:extLst>
                <a:ext uri="{FF2B5EF4-FFF2-40B4-BE49-F238E27FC236}">
                  <a16:creationId xmlns:a16="http://schemas.microsoft.com/office/drawing/2014/main" id="{F50EB0C4-E0F0-4D27-AE61-C0A75D53DB8B}"/>
                </a:ext>
              </a:extLst>
            </p:cNvPr>
            <p:cNvSpPr/>
            <p:nvPr/>
          </p:nvSpPr>
          <p:spPr>
            <a:xfrm>
              <a:off x="4720212" y="1764873"/>
              <a:ext cx="1887890" cy="2970953"/>
            </a:xfrm>
            <a:prstGeom prst="roundRect">
              <a:avLst>
                <a:gd name="adj" fmla="val 8086"/>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2F5495C5-BF22-1CD9-9E54-A41669C9BB99}"/>
                </a:ext>
              </a:extLst>
            </p:cNvPr>
            <p:cNvSpPr txBox="1"/>
            <p:nvPr/>
          </p:nvSpPr>
          <p:spPr>
            <a:xfrm>
              <a:off x="1129054" y="1925090"/>
              <a:ext cx="1232034" cy="307777"/>
            </a:xfrm>
            <a:prstGeom prst="rect">
              <a:avLst/>
            </a:prstGeom>
            <a:noFill/>
          </p:spPr>
          <p:txBody>
            <a:bodyPr wrap="square" rtlCol="0">
              <a:spAutoFit/>
            </a:bodyPr>
            <a:lstStyle/>
            <a:p>
              <a:pPr algn="ctr"/>
              <a:r>
                <a:rPr lang="zh-CN" altLang="en-US" sz="1400" b="1">
                  <a:latin typeface="+mj-ea"/>
                  <a:ea typeface="+mj-ea"/>
                </a:rPr>
                <a:t>项目</a:t>
              </a:r>
              <a:r>
                <a:rPr lang="en-US" altLang="zh-CN" sz="1400" b="1">
                  <a:latin typeface="+mj-ea"/>
                  <a:ea typeface="+mj-ea"/>
                </a:rPr>
                <a:t>1 | </a:t>
              </a:r>
              <a:r>
                <a:rPr lang="zh-CN" altLang="en-US" sz="1400" b="1">
                  <a:latin typeface="+mj-ea"/>
                  <a:ea typeface="+mj-ea"/>
                </a:rPr>
                <a:t>项目</a:t>
              </a:r>
              <a:r>
                <a:rPr lang="en-US" altLang="zh-CN" sz="1400" b="1">
                  <a:latin typeface="+mj-ea"/>
                  <a:ea typeface="+mj-ea"/>
                </a:rPr>
                <a:t>3</a:t>
              </a:r>
              <a:endParaRPr lang="zh-CN" altLang="en-US" sz="1400" b="1" dirty="0">
                <a:latin typeface="+mj-ea"/>
                <a:ea typeface="+mj-ea"/>
              </a:endParaRPr>
            </a:p>
          </p:txBody>
        </p:sp>
        <p:sp>
          <p:nvSpPr>
            <p:cNvPr id="19" name="文本框 18">
              <a:extLst>
                <a:ext uri="{FF2B5EF4-FFF2-40B4-BE49-F238E27FC236}">
                  <a16:creationId xmlns:a16="http://schemas.microsoft.com/office/drawing/2014/main" id="{B39DBE63-2874-CD3E-4508-E73B748990BA}"/>
                </a:ext>
              </a:extLst>
            </p:cNvPr>
            <p:cNvSpPr txBox="1"/>
            <p:nvPr/>
          </p:nvSpPr>
          <p:spPr>
            <a:xfrm>
              <a:off x="2975497" y="1925090"/>
              <a:ext cx="1491916" cy="307777"/>
            </a:xfrm>
            <a:prstGeom prst="rect">
              <a:avLst/>
            </a:prstGeom>
            <a:noFill/>
          </p:spPr>
          <p:txBody>
            <a:bodyPr wrap="square" rtlCol="0">
              <a:spAutoFit/>
            </a:bodyPr>
            <a:lstStyle/>
            <a:p>
              <a:pPr algn="ctr"/>
              <a:r>
                <a:rPr lang="zh-CN" altLang="en-US" sz="1400" b="1">
                  <a:latin typeface="+mj-ea"/>
                </a:rPr>
                <a:t>项目</a:t>
              </a:r>
              <a:r>
                <a:rPr lang="en-US" altLang="zh-CN" sz="1400" b="1">
                  <a:latin typeface="+mj-ea"/>
                </a:rPr>
                <a:t>2 | </a:t>
              </a:r>
              <a:r>
                <a:rPr lang="zh-CN" altLang="en-US" sz="1400" b="1">
                  <a:latin typeface="+mj-ea"/>
                </a:rPr>
                <a:t>项目</a:t>
              </a:r>
              <a:r>
                <a:rPr lang="en-US" altLang="zh-CN" sz="1400" b="1">
                  <a:latin typeface="+mj-ea"/>
                </a:rPr>
                <a:t>5</a:t>
              </a:r>
              <a:endParaRPr lang="zh-CN" altLang="en-US" sz="1400" b="1">
                <a:latin typeface="+mj-ea"/>
              </a:endParaRPr>
            </a:p>
          </p:txBody>
        </p:sp>
        <p:cxnSp>
          <p:nvCxnSpPr>
            <p:cNvPr id="28" name="直接连接符 27">
              <a:extLst>
                <a:ext uri="{FF2B5EF4-FFF2-40B4-BE49-F238E27FC236}">
                  <a16:creationId xmlns:a16="http://schemas.microsoft.com/office/drawing/2014/main" id="{4DF666D5-B713-E70F-D690-E1A13A6132A9}"/>
                </a:ext>
              </a:extLst>
            </p:cNvPr>
            <p:cNvCxnSpPr/>
            <p:nvPr/>
          </p:nvCxnSpPr>
          <p:spPr>
            <a:xfrm>
              <a:off x="944581" y="3982569"/>
              <a:ext cx="1557289" cy="0"/>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C9FF4C30-7F81-FFB2-DA7D-7E1CE24654FF}"/>
                </a:ext>
              </a:extLst>
            </p:cNvPr>
            <p:cNvCxnSpPr/>
            <p:nvPr/>
          </p:nvCxnSpPr>
          <p:spPr>
            <a:xfrm>
              <a:off x="2957514" y="3982569"/>
              <a:ext cx="1557289" cy="0"/>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658032D3-1D43-842D-1305-4E2A0252C55E}"/>
                </a:ext>
              </a:extLst>
            </p:cNvPr>
            <p:cNvCxnSpPr/>
            <p:nvPr/>
          </p:nvCxnSpPr>
          <p:spPr>
            <a:xfrm>
              <a:off x="4905028" y="3982569"/>
              <a:ext cx="1557289" cy="0"/>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FD47FC2D-D82B-C91C-ACED-86065E048F5B}"/>
                </a:ext>
              </a:extLst>
            </p:cNvPr>
            <p:cNvSpPr txBox="1"/>
            <p:nvPr/>
          </p:nvSpPr>
          <p:spPr>
            <a:xfrm>
              <a:off x="923717" y="4134524"/>
              <a:ext cx="1703671" cy="369332"/>
            </a:xfrm>
            <a:prstGeom prst="rect">
              <a:avLst/>
            </a:prstGeom>
            <a:noFill/>
          </p:spPr>
          <p:txBody>
            <a:bodyPr wrap="square" rtlCol="0">
              <a:spAutoFit/>
            </a:bodyPr>
            <a:lstStyle/>
            <a:p>
              <a:pPr algn="ctr"/>
              <a:r>
                <a:rPr lang="zh-CN" altLang="en-US" b="1">
                  <a:solidFill>
                    <a:schemeClr val="tx1">
                      <a:lumMod val="75000"/>
                      <a:lumOff val="25000"/>
                    </a:schemeClr>
                  </a:solidFill>
                  <a:latin typeface="+mj-ea"/>
                </a:rPr>
                <a:t>拓市场、促增长、高激励</a:t>
              </a:r>
              <a:endParaRPr lang="zh-CN" altLang="en-US" b="1" dirty="0">
                <a:solidFill>
                  <a:schemeClr val="tx1">
                    <a:lumMod val="75000"/>
                    <a:lumOff val="25000"/>
                  </a:schemeClr>
                </a:solidFill>
                <a:latin typeface="+mj-ea"/>
              </a:endParaRPr>
            </a:p>
          </p:txBody>
        </p:sp>
        <p:sp>
          <p:nvSpPr>
            <p:cNvPr id="34" name="文本框 33">
              <a:extLst>
                <a:ext uri="{FF2B5EF4-FFF2-40B4-BE49-F238E27FC236}">
                  <a16:creationId xmlns:a16="http://schemas.microsoft.com/office/drawing/2014/main" id="{BBDFE112-882F-F165-7930-7428C443BA4A}"/>
                </a:ext>
              </a:extLst>
            </p:cNvPr>
            <p:cNvSpPr txBox="1"/>
            <p:nvPr/>
          </p:nvSpPr>
          <p:spPr>
            <a:xfrm>
              <a:off x="2869618" y="4128978"/>
              <a:ext cx="1703671" cy="369332"/>
            </a:xfrm>
            <a:prstGeom prst="rect">
              <a:avLst/>
            </a:prstGeom>
            <a:noFill/>
          </p:spPr>
          <p:txBody>
            <a:bodyPr wrap="square" rtlCol="0">
              <a:spAutoFit/>
            </a:bodyPr>
            <a:lstStyle/>
            <a:p>
              <a:pPr algn="ctr"/>
              <a:r>
                <a:rPr lang="zh-CN" altLang="en-US" b="1">
                  <a:solidFill>
                    <a:schemeClr val="tx1">
                      <a:lumMod val="75000"/>
                      <a:lumOff val="25000"/>
                    </a:schemeClr>
                  </a:solidFill>
                  <a:latin typeface="+mj-ea"/>
                  <a:ea typeface="+mj-ea"/>
                </a:rPr>
                <a:t>控成本、保利润、挖潜力</a:t>
              </a:r>
              <a:endParaRPr lang="zh-CN" altLang="en-US" b="1" dirty="0">
                <a:solidFill>
                  <a:schemeClr val="tx1">
                    <a:lumMod val="75000"/>
                    <a:lumOff val="25000"/>
                  </a:schemeClr>
                </a:solidFill>
                <a:latin typeface="+mj-ea"/>
                <a:ea typeface="+mj-ea"/>
              </a:endParaRPr>
            </a:p>
          </p:txBody>
        </p:sp>
        <p:sp>
          <p:nvSpPr>
            <p:cNvPr id="35" name="文本框 34">
              <a:extLst>
                <a:ext uri="{FF2B5EF4-FFF2-40B4-BE49-F238E27FC236}">
                  <a16:creationId xmlns:a16="http://schemas.microsoft.com/office/drawing/2014/main" id="{E7F3B4E1-7FB1-9F6A-FA09-F97F1D078E20}"/>
                </a:ext>
              </a:extLst>
            </p:cNvPr>
            <p:cNvSpPr txBox="1"/>
            <p:nvPr/>
          </p:nvSpPr>
          <p:spPr>
            <a:xfrm>
              <a:off x="4832785" y="4145617"/>
              <a:ext cx="1703671" cy="369332"/>
            </a:xfrm>
            <a:prstGeom prst="rect">
              <a:avLst/>
            </a:prstGeom>
            <a:noFill/>
          </p:spPr>
          <p:txBody>
            <a:bodyPr wrap="square" rtlCol="0">
              <a:spAutoFit/>
            </a:bodyPr>
            <a:lstStyle>
              <a:defPPr>
                <a:defRPr lang="zh-CN"/>
              </a:defPPr>
              <a:lvl1pPr algn="ctr">
                <a:defRPr b="1">
                  <a:solidFill>
                    <a:schemeClr val="tx1">
                      <a:lumMod val="75000"/>
                      <a:lumOff val="25000"/>
                    </a:schemeClr>
                  </a:solidFill>
                  <a:latin typeface="+mj-ea"/>
                  <a:ea typeface="+mj-ea"/>
                </a:defRPr>
              </a:lvl1pPr>
            </a:lstStyle>
            <a:p>
              <a:r>
                <a:rPr lang="zh-CN" altLang="en-US"/>
                <a:t>强管理、提效能、增收益</a:t>
              </a:r>
              <a:endParaRPr lang="zh-CN" altLang="en-US" dirty="0"/>
            </a:p>
          </p:txBody>
        </p:sp>
      </p:grpSp>
      <p:cxnSp>
        <p:nvCxnSpPr>
          <p:cNvPr id="39" name="直接连接符 38">
            <a:extLst>
              <a:ext uri="{FF2B5EF4-FFF2-40B4-BE49-F238E27FC236}">
                <a16:creationId xmlns:a16="http://schemas.microsoft.com/office/drawing/2014/main" id="{CEB862D9-3B37-54E8-5DCD-C2FC273D79E7}"/>
              </a:ext>
            </a:extLst>
          </p:cNvPr>
          <p:cNvCxnSpPr>
            <a:cxnSpLocks/>
          </p:cNvCxnSpPr>
          <p:nvPr/>
        </p:nvCxnSpPr>
        <p:spPr>
          <a:xfrm>
            <a:off x="525021" y="2405514"/>
            <a:ext cx="11141956" cy="0"/>
          </a:xfrm>
          <a:prstGeom prst="line">
            <a:avLst/>
          </a:prstGeom>
          <a:ln w="57150">
            <a:solidFill>
              <a:srgbClr val="F3F4F7"/>
            </a:solidFill>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6F6BF59A-A86E-E39F-D825-3E492AD4A386}"/>
              </a:ext>
            </a:extLst>
          </p:cNvPr>
          <p:cNvSpPr txBox="1"/>
          <p:nvPr/>
        </p:nvSpPr>
        <p:spPr>
          <a:xfrm>
            <a:off x="8424528" y="1916671"/>
            <a:ext cx="2862568" cy="307777"/>
          </a:xfrm>
          <a:prstGeom prst="rect">
            <a:avLst/>
          </a:prstGeom>
          <a:noFill/>
        </p:spPr>
        <p:txBody>
          <a:bodyPr wrap="square" rtlCol="0">
            <a:spAutoFit/>
          </a:bodyPr>
          <a:lstStyle/>
          <a:p>
            <a:pPr algn="ctr"/>
            <a:r>
              <a:rPr lang="zh-CN" altLang="en-US" sz="1400" b="1">
                <a:latin typeface="+mj-ea"/>
              </a:rPr>
              <a:t>项目</a:t>
            </a:r>
            <a:r>
              <a:rPr lang="en-US" altLang="zh-CN" sz="1400" b="1">
                <a:latin typeface="+mj-ea"/>
              </a:rPr>
              <a:t>4 | </a:t>
            </a:r>
            <a:r>
              <a:rPr lang="zh-CN" altLang="en-US" sz="1400" b="1">
                <a:latin typeface="+mj-ea"/>
              </a:rPr>
              <a:t>项目</a:t>
            </a:r>
            <a:r>
              <a:rPr lang="en-US" altLang="zh-CN" sz="1400" b="1">
                <a:latin typeface="+mj-ea"/>
              </a:rPr>
              <a:t>5</a:t>
            </a:r>
            <a:endParaRPr lang="zh-CN" altLang="en-US" sz="1400" b="1">
              <a:latin typeface="+mj-ea"/>
            </a:endParaRPr>
          </a:p>
        </p:txBody>
      </p:sp>
      <p:sp>
        <p:nvSpPr>
          <p:cNvPr id="54" name="文本框 53">
            <a:extLst>
              <a:ext uri="{FF2B5EF4-FFF2-40B4-BE49-F238E27FC236}">
                <a16:creationId xmlns:a16="http://schemas.microsoft.com/office/drawing/2014/main" id="{8822E3D6-5E46-2B46-6EC9-405AD870F4DC}"/>
              </a:ext>
            </a:extLst>
          </p:cNvPr>
          <p:cNvSpPr txBox="1"/>
          <p:nvPr/>
        </p:nvSpPr>
        <p:spPr>
          <a:xfrm>
            <a:off x="983988" y="2635518"/>
            <a:ext cx="2821366" cy="1027397"/>
          </a:xfrm>
          <a:prstGeom prst="rect">
            <a:avLst/>
          </a:prstGeom>
          <a:noFill/>
        </p:spPr>
        <p:txBody>
          <a:bodyPr wrap="square">
            <a:spAutoFit/>
          </a:bodyPr>
          <a:lstStyle/>
          <a:p>
            <a:pPr algn="l">
              <a:lnSpc>
                <a:spcPct val="150000"/>
              </a:lnSpc>
              <a:buFont typeface="Arial" panose="020B0604020202020204" pitchFamily="34" charset="0"/>
              <a:buChar char="•"/>
            </a:pPr>
            <a:r>
              <a:rPr lang="zh-CN" altLang="en-US" sz="1400" i="0">
                <a:solidFill>
                  <a:schemeClr val="tx1">
                    <a:lumMod val="75000"/>
                    <a:lumOff val="25000"/>
                  </a:schemeClr>
                </a:solidFill>
                <a:effectLst/>
                <a:latin typeface="Inter"/>
              </a:rPr>
              <a:t>探索新市场，加大投入拓版图</a:t>
            </a:r>
          </a:p>
          <a:p>
            <a:pPr algn="l">
              <a:lnSpc>
                <a:spcPct val="150000"/>
              </a:lnSpc>
              <a:buFont typeface="Arial" panose="020B0604020202020204" pitchFamily="34" charset="0"/>
              <a:buChar char="•"/>
            </a:pPr>
            <a:r>
              <a:rPr lang="zh-CN" altLang="en-US" sz="1400" i="0">
                <a:solidFill>
                  <a:schemeClr val="tx1">
                    <a:lumMod val="75000"/>
                    <a:lumOff val="25000"/>
                  </a:schemeClr>
                </a:solidFill>
                <a:effectLst/>
                <a:latin typeface="Inter"/>
              </a:rPr>
              <a:t>定增长目标，助力新业务成引擎</a:t>
            </a:r>
          </a:p>
          <a:p>
            <a:pPr algn="l">
              <a:lnSpc>
                <a:spcPct val="150000"/>
              </a:lnSpc>
              <a:buFont typeface="Arial" panose="020B0604020202020204" pitchFamily="34" charset="0"/>
              <a:buChar char="•"/>
            </a:pPr>
            <a:r>
              <a:rPr lang="zh-CN" altLang="en-US" sz="1400" i="0">
                <a:solidFill>
                  <a:schemeClr val="tx1">
                    <a:lumMod val="75000"/>
                    <a:lumOff val="25000"/>
                  </a:schemeClr>
                </a:solidFill>
                <a:effectLst/>
                <a:latin typeface="Inter"/>
              </a:rPr>
              <a:t>设高激励机制，激发团队创新力</a:t>
            </a:r>
          </a:p>
        </p:txBody>
      </p:sp>
      <p:sp>
        <p:nvSpPr>
          <p:cNvPr id="56" name="文本框 55">
            <a:extLst>
              <a:ext uri="{FF2B5EF4-FFF2-40B4-BE49-F238E27FC236}">
                <a16:creationId xmlns:a16="http://schemas.microsoft.com/office/drawing/2014/main" id="{D16A2A91-120C-8C5A-483E-C696DE75FD82}"/>
              </a:ext>
            </a:extLst>
          </p:cNvPr>
          <p:cNvSpPr txBox="1"/>
          <p:nvPr/>
        </p:nvSpPr>
        <p:spPr>
          <a:xfrm>
            <a:off x="4806554" y="2657859"/>
            <a:ext cx="2699940" cy="1063946"/>
          </a:xfrm>
          <a:prstGeom prst="rect">
            <a:avLst/>
          </a:prstGeom>
          <a:noFill/>
        </p:spPr>
        <p:txBody>
          <a:bodyPr wrap="square">
            <a:spAutoFit/>
          </a:bodyPr>
          <a:lstStyle>
            <a:defPPr>
              <a:defRPr lang="zh-CN"/>
            </a:defPPr>
            <a:lvl1pPr>
              <a:lnSpc>
                <a:spcPct val="150000"/>
              </a:lnSpc>
              <a:buFont typeface="Arial" panose="020B0604020202020204" pitchFamily="34" charset="0"/>
              <a:buChar char="•"/>
              <a:defRPr sz="1400" i="0">
                <a:solidFill>
                  <a:schemeClr val="tx1">
                    <a:lumMod val="75000"/>
                    <a:lumOff val="25000"/>
                  </a:schemeClr>
                </a:solidFill>
                <a:effectLst/>
                <a:latin typeface="Inter"/>
              </a:defRPr>
            </a:lvl1pPr>
          </a:lstStyle>
          <a:p>
            <a:r>
              <a:rPr lang="zh-CN" altLang="en-US"/>
              <a:t>优化流程，找利润增长潜力点</a:t>
            </a:r>
          </a:p>
          <a:p>
            <a:r>
              <a:rPr lang="zh-CN" altLang="en-US"/>
              <a:t>降本提效，稳既有业务利润源</a:t>
            </a:r>
          </a:p>
          <a:p>
            <a:r>
              <a:rPr lang="zh-CN" altLang="en-US"/>
              <a:t>挖潜增效，保业务盈利稳定性</a:t>
            </a:r>
          </a:p>
        </p:txBody>
      </p:sp>
      <p:sp>
        <p:nvSpPr>
          <p:cNvPr id="58" name="文本框 57">
            <a:extLst>
              <a:ext uri="{FF2B5EF4-FFF2-40B4-BE49-F238E27FC236}">
                <a16:creationId xmlns:a16="http://schemas.microsoft.com/office/drawing/2014/main" id="{73146803-7E51-8C8A-56D6-8BAF5AF26B7F}"/>
              </a:ext>
            </a:extLst>
          </p:cNvPr>
          <p:cNvSpPr txBox="1"/>
          <p:nvPr/>
        </p:nvSpPr>
        <p:spPr>
          <a:xfrm>
            <a:off x="8490066" y="2659075"/>
            <a:ext cx="3070969" cy="1027397"/>
          </a:xfrm>
          <a:prstGeom prst="rect">
            <a:avLst/>
          </a:prstGeom>
          <a:noFill/>
        </p:spPr>
        <p:txBody>
          <a:bodyPr wrap="square">
            <a:spAutoFit/>
          </a:bodyPr>
          <a:lstStyle>
            <a:defPPr>
              <a:defRPr lang="zh-CN"/>
            </a:defPPr>
            <a:lvl1pPr>
              <a:lnSpc>
                <a:spcPct val="150000"/>
              </a:lnSpc>
              <a:buFont typeface="Arial" panose="020B0604020202020204" pitchFamily="34" charset="0"/>
              <a:buChar char="•"/>
              <a:defRPr sz="1400" i="0">
                <a:solidFill>
                  <a:schemeClr val="tx1">
                    <a:lumMod val="75000"/>
                    <a:lumOff val="25000"/>
                  </a:schemeClr>
                </a:solidFill>
                <a:effectLst/>
                <a:latin typeface="Inter"/>
              </a:defRPr>
            </a:lvl1pPr>
          </a:lstStyle>
          <a:p>
            <a:r>
              <a:rPr lang="zh-CN" altLang="en-US"/>
              <a:t>精管项目全流程，严管投入与产出</a:t>
            </a:r>
          </a:p>
          <a:p>
            <a:r>
              <a:rPr lang="zh-CN" altLang="en-US"/>
              <a:t>聚焦市场精准拓，提投入转化效率</a:t>
            </a:r>
          </a:p>
          <a:p>
            <a:r>
              <a:rPr lang="zh-CN" altLang="en-US"/>
              <a:t>优化资源巧配置，拉升项目 </a:t>
            </a:r>
            <a:r>
              <a:rPr lang="en-US" altLang="zh-CN"/>
              <a:t>ROI</a:t>
            </a:r>
            <a:endParaRPr lang="zh-CN" altLang="en-US"/>
          </a:p>
        </p:txBody>
      </p:sp>
      <p:sp>
        <p:nvSpPr>
          <p:cNvPr id="60" name="文本框 59">
            <a:extLst>
              <a:ext uri="{FF2B5EF4-FFF2-40B4-BE49-F238E27FC236}">
                <a16:creationId xmlns:a16="http://schemas.microsoft.com/office/drawing/2014/main" id="{CA45AA26-AF91-F568-2B1B-60386AF630E7}"/>
              </a:ext>
            </a:extLst>
          </p:cNvPr>
          <p:cNvSpPr txBox="1"/>
          <p:nvPr/>
        </p:nvSpPr>
        <p:spPr>
          <a:xfrm>
            <a:off x="8170607" y="5083435"/>
            <a:ext cx="3358904" cy="1167692"/>
          </a:xfrm>
          <a:prstGeom prst="rect">
            <a:avLst/>
          </a:prstGeom>
          <a:noFill/>
        </p:spPr>
        <p:txBody>
          <a:bodyPr wrap="square">
            <a:spAutoFit/>
          </a:bodyPr>
          <a:lstStyle>
            <a:defPPr>
              <a:defRPr lang="zh-CN"/>
            </a:defPPr>
            <a:lvl1pPr marL="285750" indent="-285750">
              <a:lnSpc>
                <a:spcPct val="150000"/>
              </a:lnSpc>
              <a:buFont typeface="Arial" panose="020B0604020202020204" pitchFamily="34" charset="0"/>
              <a:buChar char="•"/>
              <a:defRPr sz="1200" i="0">
                <a:solidFill>
                  <a:schemeClr val="tx1">
                    <a:lumMod val="75000"/>
                    <a:lumOff val="25000"/>
                  </a:schemeClr>
                </a:solidFill>
                <a:effectLst/>
                <a:latin typeface="微软雅黑" panose="020B0503020204020204" pitchFamily="34" charset="-122"/>
                <a:ea typeface="微软雅黑" panose="020B0503020204020204" pitchFamily="34" charset="-122"/>
              </a:defRPr>
            </a:lvl1pPr>
          </a:lstStyle>
          <a:p>
            <a:r>
              <a:rPr lang="zh-CN" altLang="en-US"/>
              <a:t>聚焦市场拓展的精准性，通过数据分析锁定高价值目标客户群体，提高市场投入的转化率，以更少的资源投入获取更多的市场份额与收益增长。</a:t>
            </a:r>
            <a:endParaRPr lang="en-US" altLang="zh-CN"/>
          </a:p>
        </p:txBody>
      </p:sp>
      <p:cxnSp>
        <p:nvCxnSpPr>
          <p:cNvPr id="62" name="直接连接符 61">
            <a:extLst>
              <a:ext uri="{FF2B5EF4-FFF2-40B4-BE49-F238E27FC236}">
                <a16:creationId xmlns:a16="http://schemas.microsoft.com/office/drawing/2014/main" id="{2065209E-3988-7FDE-D509-3345AB075A2E}"/>
              </a:ext>
            </a:extLst>
          </p:cNvPr>
          <p:cNvCxnSpPr>
            <a:cxnSpLocks/>
          </p:cNvCxnSpPr>
          <p:nvPr/>
        </p:nvCxnSpPr>
        <p:spPr>
          <a:xfrm>
            <a:off x="4209645" y="5138253"/>
            <a:ext cx="0" cy="111287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6E094B15-B5D3-84FE-C0C4-45173C4F81C6}"/>
              </a:ext>
            </a:extLst>
          </p:cNvPr>
          <p:cNvCxnSpPr>
            <a:cxnSpLocks/>
          </p:cNvCxnSpPr>
          <p:nvPr/>
        </p:nvCxnSpPr>
        <p:spPr>
          <a:xfrm>
            <a:off x="7966551" y="5108758"/>
            <a:ext cx="0" cy="111287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671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6BAC8-A8C1-40E3-9857-10747295DE40}"/>
            </a:ext>
          </a:extLst>
        </p:cNvPr>
        <p:cNvGrpSpPr/>
        <p:nvPr/>
      </p:nvGrpSpPr>
      <p:grpSpPr>
        <a:xfrm>
          <a:off x="0" y="0"/>
          <a:ext cx="0" cy="0"/>
          <a:chOff x="0" y="0"/>
          <a:chExt cx="0" cy="0"/>
        </a:xfrm>
      </p:grpSpPr>
      <p:sp>
        <p:nvSpPr>
          <p:cNvPr id="73" name="矩形: 圆角 72">
            <a:extLst>
              <a:ext uri="{FF2B5EF4-FFF2-40B4-BE49-F238E27FC236}">
                <a16:creationId xmlns:a16="http://schemas.microsoft.com/office/drawing/2014/main" id="{8C52B464-F3E9-1704-7048-60C5EB6D5DCD}"/>
              </a:ext>
            </a:extLst>
          </p:cNvPr>
          <p:cNvSpPr/>
          <p:nvPr/>
        </p:nvSpPr>
        <p:spPr>
          <a:xfrm>
            <a:off x="1055371" y="1004891"/>
            <a:ext cx="10853600" cy="2970953"/>
          </a:xfrm>
          <a:prstGeom prst="roundRect">
            <a:avLst>
              <a:gd name="adj" fmla="val 4341"/>
            </a:avLst>
          </a:prstGeom>
          <a:solidFill>
            <a:srgbClr val="F3F4F7"/>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zh-CN" altLang="en-US" sz="1800" dirty="0">
              <a:latin typeface="微软雅黑" panose="020B0503020204020204" pitchFamily="34" charset="-122"/>
              <a:ea typeface="微软雅黑" panose="020B0503020204020204" pitchFamily="34" charset="-122"/>
            </a:endParaRPr>
          </a:p>
        </p:txBody>
      </p:sp>
      <p:cxnSp>
        <p:nvCxnSpPr>
          <p:cNvPr id="3" name="直线连接符 7">
            <a:extLst>
              <a:ext uri="{FF2B5EF4-FFF2-40B4-BE49-F238E27FC236}">
                <a16:creationId xmlns:a16="http://schemas.microsoft.com/office/drawing/2014/main" id="{97158D74-9654-3D4E-D237-A2C176A5C357}"/>
              </a:ext>
            </a:extLst>
          </p:cNvPr>
          <p:cNvCxnSpPr>
            <a:cxnSpLocks/>
          </p:cNvCxnSpPr>
          <p:nvPr/>
        </p:nvCxnSpPr>
        <p:spPr>
          <a:xfrm>
            <a:off x="421341" y="859164"/>
            <a:ext cx="1139429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2" name="文本框 71">
            <a:extLst>
              <a:ext uri="{FF2B5EF4-FFF2-40B4-BE49-F238E27FC236}">
                <a16:creationId xmlns:a16="http://schemas.microsoft.com/office/drawing/2014/main" id="{BC5E08FE-490D-AA34-2595-C80D6D3B841E}"/>
              </a:ext>
            </a:extLst>
          </p:cNvPr>
          <p:cNvSpPr txBox="1"/>
          <p:nvPr/>
        </p:nvSpPr>
        <p:spPr>
          <a:xfrm>
            <a:off x="373569" y="282341"/>
            <a:ext cx="5583806" cy="480131"/>
          </a:xfrm>
          <a:prstGeom prst="rect">
            <a:avLst/>
          </a:prstGeom>
          <a:noFill/>
        </p:spPr>
        <p:txBody>
          <a:bodyPr wrap="square" rtlCol="0">
            <a:spAutoFit/>
          </a:bodyPr>
          <a:lstStyle>
            <a:defPPr>
              <a:defRPr lang="zh-CN"/>
            </a:defPPr>
            <a:lvl1pPr>
              <a:lnSpc>
                <a:spcPct val="90000"/>
              </a:lnSpc>
              <a:spcBef>
                <a:spcPct val="0"/>
              </a:spcBef>
              <a:defRPr sz="2800" b="1">
                <a:solidFill>
                  <a:schemeClr val="tx2"/>
                </a:solidFill>
                <a:latin typeface="微软雅黑" panose="020B0503020204020204" pitchFamily="34" charset="-122"/>
                <a:ea typeface="微软雅黑" panose="020B0503020204020204" pitchFamily="34" charset="-122"/>
              </a:defRPr>
            </a:lvl1pPr>
          </a:lstStyle>
          <a:p>
            <a:r>
              <a:rPr lang="en-US" altLang="zh-CN"/>
              <a:t>2026</a:t>
            </a:r>
            <a:r>
              <a:rPr lang="zh-CN" altLang="en-US"/>
              <a:t>年预算编制原则</a:t>
            </a:r>
            <a:endParaRPr lang="en-US" altLang="zh-CN"/>
          </a:p>
        </p:txBody>
      </p:sp>
      <p:sp>
        <p:nvSpPr>
          <p:cNvPr id="74" name="圆角矩形 14">
            <a:extLst>
              <a:ext uri="{FF2B5EF4-FFF2-40B4-BE49-F238E27FC236}">
                <a16:creationId xmlns:a16="http://schemas.microsoft.com/office/drawing/2014/main" id="{69D5BB87-C3E1-8728-0570-E1D062D7AF4A}"/>
              </a:ext>
            </a:extLst>
          </p:cNvPr>
          <p:cNvSpPr/>
          <p:nvPr/>
        </p:nvSpPr>
        <p:spPr>
          <a:xfrm>
            <a:off x="347479" y="1004891"/>
            <a:ext cx="649690" cy="2970953"/>
          </a:xfrm>
          <a:prstGeom prst="roundRect">
            <a:avLst>
              <a:gd name="adj" fmla="val 16302"/>
            </a:avLst>
          </a:prstGeom>
          <a:solidFill>
            <a:schemeClr val="tx2"/>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latin typeface="+mj-ea"/>
                <a:ea typeface="+mj-ea"/>
              </a:rPr>
              <a:t>集团</a:t>
            </a:r>
            <a:endParaRPr lang="en-US" altLang="zh-CN" sz="1600">
              <a:solidFill>
                <a:schemeClr val="bg1"/>
              </a:solidFill>
              <a:latin typeface="+mj-ea"/>
              <a:ea typeface="+mj-ea"/>
            </a:endParaRPr>
          </a:p>
          <a:p>
            <a:pPr algn="ctr"/>
            <a:r>
              <a:rPr lang="zh-CN" altLang="en-US" sz="1600">
                <a:solidFill>
                  <a:schemeClr val="bg1"/>
                </a:solidFill>
                <a:latin typeface="+mj-ea"/>
                <a:ea typeface="+mj-ea"/>
              </a:rPr>
              <a:t>主要预算指标</a:t>
            </a:r>
            <a:endParaRPr lang="zh-CN" altLang="en-US" sz="1100" dirty="0">
              <a:solidFill>
                <a:schemeClr val="bg1"/>
              </a:solidFill>
              <a:latin typeface="+mn-ea"/>
            </a:endParaRPr>
          </a:p>
        </p:txBody>
      </p:sp>
      <p:grpSp>
        <p:nvGrpSpPr>
          <p:cNvPr id="86" name="组合 85">
            <a:extLst>
              <a:ext uri="{FF2B5EF4-FFF2-40B4-BE49-F238E27FC236}">
                <a16:creationId xmlns:a16="http://schemas.microsoft.com/office/drawing/2014/main" id="{5BFFA8FE-2121-8789-337C-B20E4C74C856}"/>
              </a:ext>
            </a:extLst>
          </p:cNvPr>
          <p:cNvGrpSpPr/>
          <p:nvPr/>
        </p:nvGrpSpPr>
        <p:grpSpPr>
          <a:xfrm>
            <a:off x="1317009" y="1142744"/>
            <a:ext cx="10390577" cy="2625868"/>
            <a:chOff x="1947940" y="1142744"/>
            <a:chExt cx="9759646" cy="2625868"/>
          </a:xfrm>
        </p:grpSpPr>
        <p:sp>
          <p:nvSpPr>
            <p:cNvPr id="62" name="Rectangle: Rounded Corners 1">
              <a:extLst>
                <a:ext uri="{FF2B5EF4-FFF2-40B4-BE49-F238E27FC236}">
                  <a16:creationId xmlns:a16="http://schemas.microsoft.com/office/drawing/2014/main" id="{EED79D13-09CD-4AE3-3683-F08B99FF3318}"/>
                </a:ext>
              </a:extLst>
            </p:cNvPr>
            <p:cNvSpPr/>
            <p:nvPr/>
          </p:nvSpPr>
          <p:spPr>
            <a:xfrm>
              <a:off x="1964500" y="1142744"/>
              <a:ext cx="2848401" cy="1172337"/>
            </a:xfrm>
            <a:prstGeom prst="roundRect">
              <a:avLst>
                <a:gd name="adj" fmla="val 11985"/>
              </a:avLst>
            </a:prstGeom>
            <a:solidFill>
              <a:schemeClr val="bg1"/>
            </a:solidFill>
            <a:ln>
              <a:noFill/>
            </a:ln>
            <a:effectLst>
              <a:outerShdw blurRad="50800" dist="12700" dir="5400000" algn="ctr" rotWithShape="0">
                <a:srgbClr val="000104">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mn-ea"/>
              </a:endParaRPr>
            </a:p>
          </p:txBody>
        </p:sp>
        <p:sp>
          <p:nvSpPr>
            <p:cNvPr id="63" name="TextBox 10">
              <a:extLst>
                <a:ext uri="{FF2B5EF4-FFF2-40B4-BE49-F238E27FC236}">
                  <a16:creationId xmlns:a16="http://schemas.microsoft.com/office/drawing/2014/main" id="{83D3B7C6-3971-B308-79F3-26250E42C005}"/>
                </a:ext>
              </a:extLst>
            </p:cNvPr>
            <p:cNvSpPr txBox="1"/>
            <p:nvPr/>
          </p:nvSpPr>
          <p:spPr>
            <a:xfrm>
              <a:off x="2084931" y="1237552"/>
              <a:ext cx="1720375" cy="276999"/>
            </a:xfrm>
            <a:prstGeom prst="rect">
              <a:avLst/>
            </a:prstGeom>
            <a:noFill/>
          </p:spPr>
          <p:txBody>
            <a:bodyPr wrap="square" rtlCol="0">
              <a:spAutoFit/>
            </a:bodyPr>
            <a:lstStyle/>
            <a:p>
              <a:r>
                <a:rPr lang="zh-CN" altLang="en-US" sz="1200">
                  <a:solidFill>
                    <a:schemeClr val="tx1">
                      <a:lumMod val="65000"/>
                      <a:lumOff val="35000"/>
                    </a:schemeClr>
                  </a:solidFill>
                  <a:latin typeface="+mn-ea"/>
                </a:rPr>
                <a:t>合同额</a:t>
              </a:r>
              <a:endParaRPr lang="en-US" sz="1200" dirty="0">
                <a:solidFill>
                  <a:schemeClr val="tx1">
                    <a:lumMod val="65000"/>
                    <a:lumOff val="35000"/>
                  </a:schemeClr>
                </a:solidFill>
                <a:latin typeface="+mn-ea"/>
              </a:endParaRPr>
            </a:p>
          </p:txBody>
        </p:sp>
        <p:sp>
          <p:nvSpPr>
            <p:cNvPr id="64" name="TextBox 11">
              <a:extLst>
                <a:ext uri="{FF2B5EF4-FFF2-40B4-BE49-F238E27FC236}">
                  <a16:creationId xmlns:a16="http://schemas.microsoft.com/office/drawing/2014/main" id="{27A5BEFA-A733-590C-B633-1C79F518E4FE}"/>
                </a:ext>
              </a:extLst>
            </p:cNvPr>
            <p:cNvSpPr txBox="1"/>
            <p:nvPr/>
          </p:nvSpPr>
          <p:spPr>
            <a:xfrm>
              <a:off x="2043470" y="1988813"/>
              <a:ext cx="2381801" cy="253916"/>
            </a:xfrm>
            <a:prstGeom prst="rect">
              <a:avLst/>
            </a:prstGeom>
            <a:noFill/>
          </p:spPr>
          <p:txBody>
            <a:bodyPr wrap="square" rtlCol="0">
              <a:spAutoFit/>
            </a:bodyPr>
            <a:lstStyle/>
            <a:p>
              <a:r>
                <a:rPr lang="zh-CN" altLang="en-US" sz="1050" dirty="0">
                  <a:solidFill>
                    <a:schemeClr val="tx1">
                      <a:lumMod val="75000"/>
                      <a:lumOff val="25000"/>
                    </a:schemeClr>
                  </a:solidFill>
                </a:rPr>
                <a:t>环比 </a:t>
              </a:r>
              <a:r>
                <a:rPr lang="en-US" altLang="zh-CN" sz="1050" dirty="0">
                  <a:solidFill>
                    <a:schemeClr val="tx1">
                      <a:lumMod val="75000"/>
                      <a:lumOff val="25000"/>
                    </a:schemeClr>
                  </a:solidFill>
                </a:rPr>
                <a:t>+8.41%   </a:t>
              </a:r>
              <a:r>
                <a:rPr lang="zh-CN" altLang="en-US" sz="1050" dirty="0">
                  <a:solidFill>
                    <a:schemeClr val="tx1">
                      <a:lumMod val="75000"/>
                      <a:lumOff val="25000"/>
                    </a:schemeClr>
                  </a:solidFill>
                </a:rPr>
                <a:t>同比 </a:t>
              </a:r>
              <a:r>
                <a:rPr lang="en-US" altLang="zh-CN" sz="1050" dirty="0">
                  <a:solidFill>
                    <a:schemeClr val="tx1">
                      <a:lumMod val="75000"/>
                      <a:lumOff val="25000"/>
                    </a:schemeClr>
                  </a:solidFill>
                </a:rPr>
                <a:t>+8.41%</a:t>
              </a:r>
              <a:endParaRPr lang="en-US" sz="1050" dirty="0">
                <a:solidFill>
                  <a:schemeClr val="tx1">
                    <a:lumMod val="75000"/>
                    <a:lumOff val="25000"/>
                  </a:schemeClr>
                </a:solidFill>
              </a:endParaRPr>
            </a:p>
          </p:txBody>
        </p:sp>
        <p:sp>
          <p:nvSpPr>
            <p:cNvPr id="65" name="TextBox 16">
              <a:extLst>
                <a:ext uri="{FF2B5EF4-FFF2-40B4-BE49-F238E27FC236}">
                  <a16:creationId xmlns:a16="http://schemas.microsoft.com/office/drawing/2014/main" id="{FD47D4C7-8A10-B535-4156-F6282CF892E4}"/>
                </a:ext>
              </a:extLst>
            </p:cNvPr>
            <p:cNvSpPr txBox="1"/>
            <p:nvPr/>
          </p:nvSpPr>
          <p:spPr>
            <a:xfrm>
              <a:off x="2041447" y="1550914"/>
              <a:ext cx="2217058" cy="523221"/>
            </a:xfrm>
            <a:prstGeom prst="rect">
              <a:avLst/>
            </a:prstGeom>
            <a:noFill/>
          </p:spPr>
          <p:txBody>
            <a:bodyPr wrap="square" rtlCol="0">
              <a:spAutoFit/>
            </a:bodyPr>
            <a:lstStyle/>
            <a:p>
              <a:r>
                <a:rPr lang="en-US" sz="2800">
                  <a:solidFill>
                    <a:schemeClr val="tx2">
                      <a:lumMod val="75000"/>
                    </a:schemeClr>
                  </a:solidFill>
                  <a:latin typeface="+mj-ea"/>
                  <a:ea typeface="+mj-ea"/>
                </a:rPr>
                <a:t>1</a:t>
              </a:r>
              <a:r>
                <a:rPr lang="en-US" altLang="zh-CN" sz="2800">
                  <a:solidFill>
                    <a:schemeClr val="tx2">
                      <a:lumMod val="75000"/>
                    </a:schemeClr>
                  </a:solidFill>
                  <a:latin typeface="+mj-ea"/>
                  <a:ea typeface="+mj-ea"/>
                </a:rPr>
                <a:t>.85</a:t>
              </a:r>
              <a:r>
                <a:rPr lang="zh-CN" altLang="en-US" sz="2800">
                  <a:solidFill>
                    <a:schemeClr val="tx2">
                      <a:lumMod val="75000"/>
                    </a:schemeClr>
                  </a:solidFill>
                  <a:latin typeface="+mj-ea"/>
                  <a:ea typeface="+mj-ea"/>
                </a:rPr>
                <a:t>亿</a:t>
              </a:r>
              <a:endParaRPr lang="en-US" sz="2800" dirty="0">
                <a:solidFill>
                  <a:schemeClr val="tx2">
                    <a:lumMod val="75000"/>
                  </a:schemeClr>
                </a:solidFill>
                <a:latin typeface="+mj-ea"/>
                <a:ea typeface="+mj-ea"/>
              </a:endParaRPr>
            </a:p>
          </p:txBody>
        </p:sp>
        <p:sp>
          <p:nvSpPr>
            <p:cNvPr id="52" name="Rectangle: Rounded Corners 1">
              <a:extLst>
                <a:ext uri="{FF2B5EF4-FFF2-40B4-BE49-F238E27FC236}">
                  <a16:creationId xmlns:a16="http://schemas.microsoft.com/office/drawing/2014/main" id="{197280FA-B02B-353C-7F1B-015AE200294F}"/>
                </a:ext>
              </a:extLst>
            </p:cNvPr>
            <p:cNvSpPr/>
            <p:nvPr/>
          </p:nvSpPr>
          <p:spPr>
            <a:xfrm>
              <a:off x="5431026" y="1142745"/>
              <a:ext cx="2848401" cy="1172335"/>
            </a:xfrm>
            <a:prstGeom prst="roundRect">
              <a:avLst>
                <a:gd name="adj" fmla="val 11985"/>
              </a:avLst>
            </a:prstGeom>
            <a:solidFill>
              <a:schemeClr val="bg1"/>
            </a:solidFill>
            <a:ln>
              <a:noFill/>
            </a:ln>
            <a:effectLst>
              <a:outerShdw blurRad="50800" dist="12700" dir="5400000" algn="ctr" rotWithShape="0">
                <a:srgbClr val="000104">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mn-ea"/>
              </a:endParaRPr>
            </a:p>
          </p:txBody>
        </p:sp>
        <p:sp>
          <p:nvSpPr>
            <p:cNvPr id="53" name="TextBox 10">
              <a:extLst>
                <a:ext uri="{FF2B5EF4-FFF2-40B4-BE49-F238E27FC236}">
                  <a16:creationId xmlns:a16="http://schemas.microsoft.com/office/drawing/2014/main" id="{911826B1-F86E-A74D-4314-00B7A5EF440D}"/>
                </a:ext>
              </a:extLst>
            </p:cNvPr>
            <p:cNvSpPr txBox="1"/>
            <p:nvPr/>
          </p:nvSpPr>
          <p:spPr>
            <a:xfrm>
              <a:off x="5551457" y="1237552"/>
              <a:ext cx="1720375" cy="276999"/>
            </a:xfrm>
            <a:prstGeom prst="rect">
              <a:avLst/>
            </a:prstGeom>
            <a:noFill/>
          </p:spPr>
          <p:txBody>
            <a:bodyPr wrap="square" rtlCol="0">
              <a:spAutoFit/>
            </a:bodyPr>
            <a:lstStyle/>
            <a:p>
              <a:r>
                <a:rPr lang="zh-CN" altLang="en-US" sz="1200">
                  <a:solidFill>
                    <a:schemeClr val="tx1">
                      <a:lumMod val="65000"/>
                      <a:lumOff val="35000"/>
                    </a:schemeClr>
                  </a:solidFill>
                  <a:latin typeface="+mn-ea"/>
                </a:rPr>
                <a:t>收入</a:t>
              </a:r>
              <a:endParaRPr lang="en-US" sz="1200" dirty="0">
                <a:solidFill>
                  <a:schemeClr val="tx1">
                    <a:lumMod val="65000"/>
                    <a:lumOff val="35000"/>
                  </a:schemeClr>
                </a:solidFill>
                <a:latin typeface="+mn-ea"/>
              </a:endParaRPr>
            </a:p>
          </p:txBody>
        </p:sp>
        <p:sp>
          <p:nvSpPr>
            <p:cNvPr id="54" name="TextBox 11">
              <a:extLst>
                <a:ext uri="{FF2B5EF4-FFF2-40B4-BE49-F238E27FC236}">
                  <a16:creationId xmlns:a16="http://schemas.microsoft.com/office/drawing/2014/main" id="{D888B3CA-5DDA-3B56-E005-68F3C264C72C}"/>
                </a:ext>
              </a:extLst>
            </p:cNvPr>
            <p:cNvSpPr txBox="1"/>
            <p:nvPr/>
          </p:nvSpPr>
          <p:spPr>
            <a:xfrm>
              <a:off x="5511925" y="2001164"/>
              <a:ext cx="2429570" cy="253916"/>
            </a:xfrm>
            <a:prstGeom prst="rect">
              <a:avLst/>
            </a:prstGeom>
            <a:noFill/>
          </p:spPr>
          <p:txBody>
            <a:bodyPr wrap="square" rtlCol="0">
              <a:spAutoFit/>
            </a:bodyPr>
            <a:lstStyle/>
            <a:p>
              <a:r>
                <a:rPr lang="zh-CN" altLang="en-US" sz="1050" dirty="0">
                  <a:solidFill>
                    <a:schemeClr val="tx1">
                      <a:lumMod val="75000"/>
                      <a:lumOff val="25000"/>
                    </a:schemeClr>
                  </a:solidFill>
                </a:rPr>
                <a:t>环比 </a:t>
              </a:r>
              <a:r>
                <a:rPr lang="en-US" altLang="zh-CN" sz="1050" dirty="0">
                  <a:solidFill>
                    <a:schemeClr val="tx1">
                      <a:lumMod val="75000"/>
                      <a:lumOff val="25000"/>
                    </a:schemeClr>
                  </a:solidFill>
                </a:rPr>
                <a:t>+8.41%   </a:t>
              </a:r>
              <a:r>
                <a:rPr lang="zh-CN" altLang="en-US" sz="1050" dirty="0">
                  <a:solidFill>
                    <a:schemeClr val="tx1">
                      <a:lumMod val="75000"/>
                      <a:lumOff val="25000"/>
                    </a:schemeClr>
                  </a:solidFill>
                </a:rPr>
                <a:t>同比 </a:t>
              </a:r>
              <a:r>
                <a:rPr lang="en-US" altLang="zh-CN" sz="1050" dirty="0">
                  <a:solidFill>
                    <a:schemeClr val="tx1">
                      <a:lumMod val="75000"/>
                      <a:lumOff val="25000"/>
                    </a:schemeClr>
                  </a:solidFill>
                </a:rPr>
                <a:t>+8.41%</a:t>
              </a:r>
              <a:endParaRPr lang="en-US" sz="1050" dirty="0">
                <a:solidFill>
                  <a:schemeClr val="tx1">
                    <a:lumMod val="75000"/>
                    <a:lumOff val="25000"/>
                  </a:schemeClr>
                </a:solidFill>
              </a:endParaRPr>
            </a:p>
          </p:txBody>
        </p:sp>
        <p:sp>
          <p:nvSpPr>
            <p:cNvPr id="55" name="TextBox 16">
              <a:extLst>
                <a:ext uri="{FF2B5EF4-FFF2-40B4-BE49-F238E27FC236}">
                  <a16:creationId xmlns:a16="http://schemas.microsoft.com/office/drawing/2014/main" id="{FCF4A2BF-655D-E55C-58CE-1677F82863EF}"/>
                </a:ext>
              </a:extLst>
            </p:cNvPr>
            <p:cNvSpPr txBox="1"/>
            <p:nvPr/>
          </p:nvSpPr>
          <p:spPr>
            <a:xfrm>
              <a:off x="5507973" y="1550914"/>
              <a:ext cx="2217058" cy="523220"/>
            </a:xfrm>
            <a:prstGeom prst="rect">
              <a:avLst/>
            </a:prstGeom>
            <a:noFill/>
          </p:spPr>
          <p:txBody>
            <a:bodyPr wrap="square" rtlCol="0">
              <a:spAutoFit/>
            </a:bodyPr>
            <a:lstStyle/>
            <a:p>
              <a:r>
                <a:rPr lang="en-US" sz="2800">
                  <a:solidFill>
                    <a:schemeClr val="tx2">
                      <a:lumMod val="75000"/>
                    </a:schemeClr>
                  </a:solidFill>
                  <a:latin typeface="+mj-ea"/>
                  <a:ea typeface="+mj-ea"/>
                </a:rPr>
                <a:t>1.3</a:t>
              </a:r>
              <a:r>
                <a:rPr lang="zh-CN" altLang="en-US" sz="2800">
                  <a:solidFill>
                    <a:schemeClr val="tx2">
                      <a:lumMod val="75000"/>
                    </a:schemeClr>
                  </a:solidFill>
                  <a:latin typeface="+mj-ea"/>
                  <a:ea typeface="+mj-ea"/>
                </a:rPr>
                <a:t>亿</a:t>
              </a:r>
              <a:endParaRPr lang="en-US" sz="2800" dirty="0">
                <a:solidFill>
                  <a:schemeClr val="tx2">
                    <a:lumMod val="75000"/>
                  </a:schemeClr>
                </a:solidFill>
                <a:latin typeface="+mj-ea"/>
                <a:ea typeface="+mj-ea"/>
              </a:endParaRPr>
            </a:p>
          </p:txBody>
        </p:sp>
        <p:sp>
          <p:nvSpPr>
            <p:cNvPr id="42" name="Rectangle: Rounded Corners 1">
              <a:extLst>
                <a:ext uri="{FF2B5EF4-FFF2-40B4-BE49-F238E27FC236}">
                  <a16:creationId xmlns:a16="http://schemas.microsoft.com/office/drawing/2014/main" id="{805EA510-9363-CD45-A88C-3570EC0AAD04}"/>
                </a:ext>
              </a:extLst>
            </p:cNvPr>
            <p:cNvSpPr/>
            <p:nvPr/>
          </p:nvSpPr>
          <p:spPr>
            <a:xfrm>
              <a:off x="8859185" y="1142745"/>
              <a:ext cx="2848401" cy="1172335"/>
            </a:xfrm>
            <a:prstGeom prst="roundRect">
              <a:avLst>
                <a:gd name="adj" fmla="val 11985"/>
              </a:avLst>
            </a:prstGeom>
            <a:solidFill>
              <a:schemeClr val="bg1"/>
            </a:solidFill>
            <a:ln>
              <a:noFill/>
            </a:ln>
            <a:effectLst>
              <a:outerShdw blurRad="50800" dist="12700" dir="5400000" algn="ctr" rotWithShape="0">
                <a:srgbClr val="000104">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mn-ea"/>
              </a:endParaRPr>
            </a:p>
          </p:txBody>
        </p:sp>
        <p:sp>
          <p:nvSpPr>
            <p:cNvPr id="43" name="TextBox 10">
              <a:extLst>
                <a:ext uri="{FF2B5EF4-FFF2-40B4-BE49-F238E27FC236}">
                  <a16:creationId xmlns:a16="http://schemas.microsoft.com/office/drawing/2014/main" id="{C68A32D8-5718-51E9-1DFA-633CDF850E1C}"/>
                </a:ext>
              </a:extLst>
            </p:cNvPr>
            <p:cNvSpPr txBox="1"/>
            <p:nvPr/>
          </p:nvSpPr>
          <p:spPr>
            <a:xfrm>
              <a:off x="8979616" y="1237552"/>
              <a:ext cx="1720375" cy="276999"/>
            </a:xfrm>
            <a:prstGeom prst="rect">
              <a:avLst/>
            </a:prstGeom>
            <a:noFill/>
          </p:spPr>
          <p:txBody>
            <a:bodyPr wrap="square" rtlCol="0">
              <a:spAutoFit/>
            </a:bodyPr>
            <a:lstStyle/>
            <a:p>
              <a:r>
                <a:rPr lang="zh-CN" altLang="en-US" sz="1200">
                  <a:solidFill>
                    <a:schemeClr val="tx1">
                      <a:lumMod val="65000"/>
                      <a:lumOff val="35000"/>
                    </a:schemeClr>
                  </a:solidFill>
                  <a:latin typeface="+mn-ea"/>
                </a:rPr>
                <a:t>利润率</a:t>
              </a:r>
              <a:endParaRPr lang="en-US" sz="1200" dirty="0">
                <a:solidFill>
                  <a:schemeClr val="tx1">
                    <a:lumMod val="65000"/>
                    <a:lumOff val="35000"/>
                  </a:schemeClr>
                </a:solidFill>
                <a:latin typeface="+mn-ea"/>
              </a:endParaRPr>
            </a:p>
          </p:txBody>
        </p:sp>
        <p:sp>
          <p:nvSpPr>
            <p:cNvPr id="44" name="TextBox 11">
              <a:extLst>
                <a:ext uri="{FF2B5EF4-FFF2-40B4-BE49-F238E27FC236}">
                  <a16:creationId xmlns:a16="http://schemas.microsoft.com/office/drawing/2014/main" id="{E4CD2618-ED6A-6F00-DCD4-293C3F6091C9}"/>
                </a:ext>
              </a:extLst>
            </p:cNvPr>
            <p:cNvSpPr txBox="1"/>
            <p:nvPr/>
          </p:nvSpPr>
          <p:spPr>
            <a:xfrm>
              <a:off x="8936132" y="2008263"/>
              <a:ext cx="2376857" cy="253916"/>
            </a:xfrm>
            <a:prstGeom prst="rect">
              <a:avLst/>
            </a:prstGeom>
            <a:noFill/>
          </p:spPr>
          <p:txBody>
            <a:bodyPr wrap="square" rtlCol="0">
              <a:spAutoFit/>
            </a:bodyPr>
            <a:lstStyle/>
            <a:p>
              <a:r>
                <a:rPr lang="zh-CN" altLang="en-US" sz="1050" dirty="0">
                  <a:solidFill>
                    <a:schemeClr val="tx1">
                      <a:lumMod val="75000"/>
                      <a:lumOff val="25000"/>
                    </a:schemeClr>
                  </a:solidFill>
                </a:rPr>
                <a:t>环比 </a:t>
              </a:r>
              <a:r>
                <a:rPr lang="en-US" altLang="zh-CN" sz="1050" dirty="0">
                  <a:solidFill>
                    <a:schemeClr val="tx1">
                      <a:lumMod val="75000"/>
                      <a:lumOff val="25000"/>
                    </a:schemeClr>
                  </a:solidFill>
                </a:rPr>
                <a:t>-3.22%   </a:t>
              </a:r>
              <a:r>
                <a:rPr lang="zh-CN" altLang="en-US" sz="1050" dirty="0">
                  <a:solidFill>
                    <a:schemeClr val="tx1">
                      <a:lumMod val="75000"/>
                      <a:lumOff val="25000"/>
                    </a:schemeClr>
                  </a:solidFill>
                </a:rPr>
                <a:t>同比 </a:t>
              </a:r>
              <a:r>
                <a:rPr lang="en-US" altLang="zh-CN" sz="1050" dirty="0">
                  <a:solidFill>
                    <a:schemeClr val="tx1">
                      <a:lumMod val="75000"/>
                      <a:lumOff val="25000"/>
                    </a:schemeClr>
                  </a:solidFill>
                </a:rPr>
                <a:t>-3.22%</a:t>
              </a:r>
              <a:endParaRPr lang="en-US" sz="1050" dirty="0">
                <a:solidFill>
                  <a:schemeClr val="tx1">
                    <a:lumMod val="75000"/>
                    <a:lumOff val="25000"/>
                  </a:schemeClr>
                </a:solidFill>
              </a:endParaRPr>
            </a:p>
          </p:txBody>
        </p:sp>
        <p:sp>
          <p:nvSpPr>
            <p:cNvPr id="45" name="TextBox 16">
              <a:extLst>
                <a:ext uri="{FF2B5EF4-FFF2-40B4-BE49-F238E27FC236}">
                  <a16:creationId xmlns:a16="http://schemas.microsoft.com/office/drawing/2014/main" id="{45A1F605-8D0C-C09B-2442-858442B0DD4A}"/>
                </a:ext>
              </a:extLst>
            </p:cNvPr>
            <p:cNvSpPr txBox="1"/>
            <p:nvPr/>
          </p:nvSpPr>
          <p:spPr>
            <a:xfrm>
              <a:off x="8936132" y="1550914"/>
              <a:ext cx="2217058" cy="523220"/>
            </a:xfrm>
            <a:prstGeom prst="rect">
              <a:avLst/>
            </a:prstGeom>
            <a:noFill/>
          </p:spPr>
          <p:txBody>
            <a:bodyPr wrap="square" rtlCol="0">
              <a:spAutoFit/>
            </a:bodyPr>
            <a:lstStyle/>
            <a:p>
              <a:r>
                <a:rPr lang="en-US" sz="2800">
                  <a:solidFill>
                    <a:schemeClr val="tx2">
                      <a:lumMod val="75000"/>
                    </a:schemeClr>
                  </a:solidFill>
                  <a:latin typeface="+mj-ea"/>
                  <a:ea typeface="+mj-ea"/>
                </a:rPr>
                <a:t>14%</a:t>
              </a:r>
              <a:endParaRPr lang="en-US" sz="2800" dirty="0">
                <a:solidFill>
                  <a:schemeClr val="tx2">
                    <a:lumMod val="75000"/>
                  </a:schemeClr>
                </a:solidFill>
                <a:latin typeface="+mj-ea"/>
                <a:ea typeface="+mj-ea"/>
              </a:endParaRPr>
            </a:p>
          </p:txBody>
        </p:sp>
        <p:sp>
          <p:nvSpPr>
            <p:cNvPr id="32" name="Rectangle: Rounded Corners 1">
              <a:extLst>
                <a:ext uri="{FF2B5EF4-FFF2-40B4-BE49-F238E27FC236}">
                  <a16:creationId xmlns:a16="http://schemas.microsoft.com/office/drawing/2014/main" id="{508181CA-EC7F-4A3F-EF63-CC1CCA04CC25}"/>
                </a:ext>
              </a:extLst>
            </p:cNvPr>
            <p:cNvSpPr/>
            <p:nvPr/>
          </p:nvSpPr>
          <p:spPr>
            <a:xfrm>
              <a:off x="1947940" y="2596275"/>
              <a:ext cx="2848401" cy="1172337"/>
            </a:xfrm>
            <a:prstGeom prst="roundRect">
              <a:avLst>
                <a:gd name="adj" fmla="val 11985"/>
              </a:avLst>
            </a:prstGeom>
            <a:solidFill>
              <a:schemeClr val="bg1"/>
            </a:solidFill>
            <a:ln>
              <a:noFill/>
            </a:ln>
            <a:effectLst>
              <a:outerShdw blurRad="50800" dist="12700" dir="5400000" algn="ctr" rotWithShape="0">
                <a:srgbClr val="000104">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mn-ea"/>
              </a:endParaRPr>
            </a:p>
          </p:txBody>
        </p:sp>
        <p:sp>
          <p:nvSpPr>
            <p:cNvPr id="33" name="TextBox 10">
              <a:extLst>
                <a:ext uri="{FF2B5EF4-FFF2-40B4-BE49-F238E27FC236}">
                  <a16:creationId xmlns:a16="http://schemas.microsoft.com/office/drawing/2014/main" id="{C69722FE-5CF3-9710-AA1D-934A9C9651C9}"/>
                </a:ext>
              </a:extLst>
            </p:cNvPr>
            <p:cNvSpPr txBox="1"/>
            <p:nvPr/>
          </p:nvSpPr>
          <p:spPr>
            <a:xfrm>
              <a:off x="2068371" y="2691083"/>
              <a:ext cx="1720375" cy="276999"/>
            </a:xfrm>
            <a:prstGeom prst="rect">
              <a:avLst/>
            </a:prstGeom>
            <a:noFill/>
          </p:spPr>
          <p:txBody>
            <a:bodyPr wrap="square" rtlCol="0">
              <a:spAutoFit/>
            </a:bodyPr>
            <a:lstStyle/>
            <a:p>
              <a:r>
                <a:rPr lang="zh-CN" altLang="en-US" sz="1200">
                  <a:solidFill>
                    <a:schemeClr val="tx1">
                      <a:lumMod val="65000"/>
                      <a:lumOff val="35000"/>
                    </a:schemeClr>
                  </a:solidFill>
                  <a:latin typeface="+mn-ea"/>
                </a:rPr>
                <a:t>新业务合同额</a:t>
              </a:r>
              <a:endParaRPr lang="en-US" sz="1200" dirty="0">
                <a:solidFill>
                  <a:schemeClr val="tx1">
                    <a:lumMod val="65000"/>
                    <a:lumOff val="35000"/>
                  </a:schemeClr>
                </a:solidFill>
                <a:latin typeface="+mn-ea"/>
              </a:endParaRPr>
            </a:p>
          </p:txBody>
        </p:sp>
        <p:sp>
          <p:nvSpPr>
            <p:cNvPr id="34" name="TextBox 11">
              <a:extLst>
                <a:ext uri="{FF2B5EF4-FFF2-40B4-BE49-F238E27FC236}">
                  <a16:creationId xmlns:a16="http://schemas.microsoft.com/office/drawing/2014/main" id="{734781BE-4DEC-BD3D-437C-B48AB237ACC0}"/>
                </a:ext>
              </a:extLst>
            </p:cNvPr>
            <p:cNvSpPr txBox="1"/>
            <p:nvPr/>
          </p:nvSpPr>
          <p:spPr>
            <a:xfrm>
              <a:off x="2026910" y="3442344"/>
              <a:ext cx="2381801" cy="253916"/>
            </a:xfrm>
            <a:prstGeom prst="rect">
              <a:avLst/>
            </a:prstGeom>
            <a:noFill/>
          </p:spPr>
          <p:txBody>
            <a:bodyPr wrap="square" rtlCol="0">
              <a:spAutoFit/>
            </a:bodyPr>
            <a:lstStyle/>
            <a:p>
              <a:r>
                <a:rPr lang="zh-CN" altLang="en-US" sz="1050" dirty="0">
                  <a:solidFill>
                    <a:schemeClr val="tx1">
                      <a:lumMod val="75000"/>
                      <a:lumOff val="25000"/>
                    </a:schemeClr>
                  </a:solidFill>
                </a:rPr>
                <a:t>环比 </a:t>
              </a:r>
              <a:r>
                <a:rPr lang="en-US" altLang="zh-CN" sz="1050" dirty="0">
                  <a:solidFill>
                    <a:schemeClr val="tx1">
                      <a:lumMod val="75000"/>
                      <a:lumOff val="25000"/>
                    </a:schemeClr>
                  </a:solidFill>
                </a:rPr>
                <a:t>+8.41%   </a:t>
              </a:r>
              <a:r>
                <a:rPr lang="zh-CN" altLang="en-US" sz="1050" dirty="0">
                  <a:solidFill>
                    <a:schemeClr val="tx1">
                      <a:lumMod val="75000"/>
                      <a:lumOff val="25000"/>
                    </a:schemeClr>
                  </a:solidFill>
                </a:rPr>
                <a:t>同比 </a:t>
              </a:r>
              <a:r>
                <a:rPr lang="en-US" altLang="zh-CN" sz="1050" dirty="0">
                  <a:solidFill>
                    <a:schemeClr val="tx1">
                      <a:lumMod val="75000"/>
                      <a:lumOff val="25000"/>
                    </a:schemeClr>
                  </a:solidFill>
                </a:rPr>
                <a:t>+8.41%</a:t>
              </a:r>
              <a:endParaRPr lang="en-US" sz="1050" dirty="0">
                <a:solidFill>
                  <a:schemeClr val="tx1">
                    <a:lumMod val="75000"/>
                    <a:lumOff val="25000"/>
                  </a:schemeClr>
                </a:solidFill>
              </a:endParaRPr>
            </a:p>
          </p:txBody>
        </p:sp>
        <p:sp>
          <p:nvSpPr>
            <p:cNvPr id="35" name="TextBox 16">
              <a:extLst>
                <a:ext uri="{FF2B5EF4-FFF2-40B4-BE49-F238E27FC236}">
                  <a16:creationId xmlns:a16="http://schemas.microsoft.com/office/drawing/2014/main" id="{72FB9C42-120E-8504-65F3-9513DEE8D954}"/>
                </a:ext>
              </a:extLst>
            </p:cNvPr>
            <p:cNvSpPr txBox="1"/>
            <p:nvPr/>
          </p:nvSpPr>
          <p:spPr>
            <a:xfrm>
              <a:off x="2024887" y="3004445"/>
              <a:ext cx="2217058" cy="523221"/>
            </a:xfrm>
            <a:prstGeom prst="rect">
              <a:avLst/>
            </a:prstGeom>
            <a:noFill/>
          </p:spPr>
          <p:txBody>
            <a:bodyPr wrap="square" rtlCol="0">
              <a:spAutoFit/>
            </a:bodyPr>
            <a:lstStyle>
              <a:defPPr>
                <a:defRPr lang="zh-CN"/>
              </a:defPPr>
              <a:lvl1pPr>
                <a:defRPr sz="3200">
                  <a:solidFill>
                    <a:schemeClr val="tx2">
                      <a:lumMod val="75000"/>
                    </a:schemeClr>
                  </a:solidFill>
                  <a:latin typeface="+mj-ea"/>
                  <a:ea typeface="+mj-ea"/>
                </a:defRPr>
              </a:lvl1pPr>
            </a:lstStyle>
            <a:p>
              <a:r>
                <a:rPr lang="en-US" sz="2800"/>
                <a:t>1000</a:t>
              </a:r>
              <a:r>
                <a:rPr lang="en-US" altLang="zh-CN" sz="2800"/>
                <a:t>w</a:t>
              </a:r>
              <a:endParaRPr lang="en-US" sz="2800" dirty="0"/>
            </a:p>
          </p:txBody>
        </p:sp>
        <p:sp>
          <p:nvSpPr>
            <p:cNvPr id="22" name="Rectangle: Rounded Corners 1">
              <a:extLst>
                <a:ext uri="{FF2B5EF4-FFF2-40B4-BE49-F238E27FC236}">
                  <a16:creationId xmlns:a16="http://schemas.microsoft.com/office/drawing/2014/main" id="{FEE9D341-52DC-4EDA-EECB-9A96AA926BE7}"/>
                </a:ext>
              </a:extLst>
            </p:cNvPr>
            <p:cNvSpPr/>
            <p:nvPr/>
          </p:nvSpPr>
          <p:spPr>
            <a:xfrm>
              <a:off x="5414465" y="2596277"/>
              <a:ext cx="2848401" cy="1172335"/>
            </a:xfrm>
            <a:prstGeom prst="roundRect">
              <a:avLst>
                <a:gd name="adj" fmla="val 11985"/>
              </a:avLst>
            </a:prstGeom>
            <a:solidFill>
              <a:schemeClr val="bg1"/>
            </a:solidFill>
            <a:ln>
              <a:noFill/>
            </a:ln>
            <a:effectLst>
              <a:outerShdw blurRad="50800" dist="12700" dir="5400000" algn="ctr" rotWithShape="0">
                <a:srgbClr val="000104">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mn-ea"/>
              </a:endParaRPr>
            </a:p>
          </p:txBody>
        </p:sp>
        <p:sp>
          <p:nvSpPr>
            <p:cNvPr id="23" name="TextBox 10">
              <a:extLst>
                <a:ext uri="{FF2B5EF4-FFF2-40B4-BE49-F238E27FC236}">
                  <a16:creationId xmlns:a16="http://schemas.microsoft.com/office/drawing/2014/main" id="{D5148B51-52DA-BAE4-28AE-91F753FF9161}"/>
                </a:ext>
              </a:extLst>
            </p:cNvPr>
            <p:cNvSpPr txBox="1"/>
            <p:nvPr/>
          </p:nvSpPr>
          <p:spPr>
            <a:xfrm>
              <a:off x="5534896" y="2691084"/>
              <a:ext cx="1720375" cy="276999"/>
            </a:xfrm>
            <a:prstGeom prst="rect">
              <a:avLst/>
            </a:prstGeom>
            <a:noFill/>
          </p:spPr>
          <p:txBody>
            <a:bodyPr wrap="square" rtlCol="0">
              <a:spAutoFit/>
            </a:bodyPr>
            <a:lstStyle/>
            <a:p>
              <a:r>
                <a:rPr lang="zh-CN" altLang="en-US" sz="1200">
                  <a:solidFill>
                    <a:schemeClr val="tx1">
                      <a:lumMod val="65000"/>
                      <a:lumOff val="35000"/>
                    </a:schemeClr>
                  </a:solidFill>
                  <a:latin typeface="+mn-ea"/>
                </a:rPr>
                <a:t>满意度</a:t>
              </a:r>
              <a:endParaRPr lang="en-US" sz="1200" dirty="0">
                <a:solidFill>
                  <a:schemeClr val="tx1">
                    <a:lumMod val="65000"/>
                    <a:lumOff val="35000"/>
                  </a:schemeClr>
                </a:solidFill>
                <a:latin typeface="+mn-ea"/>
              </a:endParaRPr>
            </a:p>
          </p:txBody>
        </p:sp>
        <p:sp>
          <p:nvSpPr>
            <p:cNvPr id="24" name="TextBox 11">
              <a:extLst>
                <a:ext uri="{FF2B5EF4-FFF2-40B4-BE49-F238E27FC236}">
                  <a16:creationId xmlns:a16="http://schemas.microsoft.com/office/drawing/2014/main" id="{254442E6-0067-D9C5-0066-53D4732D3AAE}"/>
                </a:ext>
              </a:extLst>
            </p:cNvPr>
            <p:cNvSpPr txBox="1"/>
            <p:nvPr/>
          </p:nvSpPr>
          <p:spPr>
            <a:xfrm>
              <a:off x="5495364" y="3454696"/>
              <a:ext cx="2429570" cy="253916"/>
            </a:xfrm>
            <a:prstGeom prst="rect">
              <a:avLst/>
            </a:prstGeom>
            <a:noFill/>
          </p:spPr>
          <p:txBody>
            <a:bodyPr wrap="square" rtlCol="0">
              <a:spAutoFit/>
            </a:bodyPr>
            <a:lstStyle/>
            <a:p>
              <a:r>
                <a:rPr lang="zh-CN" altLang="en-US" sz="1050" dirty="0">
                  <a:solidFill>
                    <a:schemeClr val="tx1">
                      <a:lumMod val="75000"/>
                      <a:lumOff val="25000"/>
                    </a:schemeClr>
                  </a:solidFill>
                </a:rPr>
                <a:t>环比 </a:t>
              </a:r>
              <a:r>
                <a:rPr lang="en-US" altLang="zh-CN" sz="1050" dirty="0">
                  <a:solidFill>
                    <a:schemeClr val="tx1">
                      <a:lumMod val="75000"/>
                      <a:lumOff val="25000"/>
                    </a:schemeClr>
                  </a:solidFill>
                </a:rPr>
                <a:t>+8.41%   </a:t>
              </a:r>
              <a:r>
                <a:rPr lang="zh-CN" altLang="en-US" sz="1050" dirty="0">
                  <a:solidFill>
                    <a:schemeClr val="tx1">
                      <a:lumMod val="75000"/>
                      <a:lumOff val="25000"/>
                    </a:schemeClr>
                  </a:solidFill>
                </a:rPr>
                <a:t>同比 </a:t>
              </a:r>
              <a:r>
                <a:rPr lang="en-US" altLang="zh-CN" sz="1050" dirty="0">
                  <a:solidFill>
                    <a:schemeClr val="tx1">
                      <a:lumMod val="75000"/>
                      <a:lumOff val="25000"/>
                    </a:schemeClr>
                  </a:solidFill>
                </a:rPr>
                <a:t>+8.41%</a:t>
              </a:r>
              <a:endParaRPr lang="en-US" sz="1050" dirty="0">
                <a:solidFill>
                  <a:schemeClr val="tx1">
                    <a:lumMod val="75000"/>
                    <a:lumOff val="25000"/>
                  </a:schemeClr>
                </a:solidFill>
              </a:endParaRPr>
            </a:p>
          </p:txBody>
        </p:sp>
        <p:sp>
          <p:nvSpPr>
            <p:cNvPr id="25" name="TextBox 16">
              <a:extLst>
                <a:ext uri="{FF2B5EF4-FFF2-40B4-BE49-F238E27FC236}">
                  <a16:creationId xmlns:a16="http://schemas.microsoft.com/office/drawing/2014/main" id="{B16779D7-53EF-8631-2297-B211229803CC}"/>
                </a:ext>
              </a:extLst>
            </p:cNvPr>
            <p:cNvSpPr txBox="1"/>
            <p:nvPr/>
          </p:nvSpPr>
          <p:spPr>
            <a:xfrm>
              <a:off x="5491412" y="3004446"/>
              <a:ext cx="2217058" cy="523220"/>
            </a:xfrm>
            <a:prstGeom prst="rect">
              <a:avLst/>
            </a:prstGeom>
            <a:noFill/>
          </p:spPr>
          <p:txBody>
            <a:bodyPr wrap="square" rtlCol="0">
              <a:spAutoFit/>
            </a:bodyPr>
            <a:lstStyle/>
            <a:p>
              <a:r>
                <a:rPr lang="en-US" altLang="zh-CN" sz="2800">
                  <a:solidFill>
                    <a:schemeClr val="tx2">
                      <a:lumMod val="75000"/>
                    </a:schemeClr>
                  </a:solidFill>
                  <a:latin typeface="+mj-ea"/>
                  <a:ea typeface="+mj-ea"/>
                </a:rPr>
                <a:t>86%</a:t>
              </a:r>
              <a:endParaRPr lang="en-US" sz="2800" dirty="0">
                <a:solidFill>
                  <a:schemeClr val="tx2">
                    <a:lumMod val="75000"/>
                  </a:schemeClr>
                </a:solidFill>
                <a:latin typeface="+mj-ea"/>
                <a:ea typeface="+mj-ea"/>
              </a:endParaRPr>
            </a:p>
          </p:txBody>
        </p:sp>
        <p:sp>
          <p:nvSpPr>
            <p:cNvPr id="12" name="Rectangle: Rounded Corners 1">
              <a:extLst>
                <a:ext uri="{FF2B5EF4-FFF2-40B4-BE49-F238E27FC236}">
                  <a16:creationId xmlns:a16="http://schemas.microsoft.com/office/drawing/2014/main" id="{3470B750-331E-3C19-F3AE-70716F867465}"/>
                </a:ext>
              </a:extLst>
            </p:cNvPr>
            <p:cNvSpPr/>
            <p:nvPr/>
          </p:nvSpPr>
          <p:spPr>
            <a:xfrm>
              <a:off x="8842624" y="2596277"/>
              <a:ext cx="2848401" cy="1172335"/>
            </a:xfrm>
            <a:prstGeom prst="roundRect">
              <a:avLst>
                <a:gd name="adj" fmla="val 11985"/>
              </a:avLst>
            </a:prstGeom>
            <a:solidFill>
              <a:schemeClr val="bg1"/>
            </a:solidFill>
            <a:ln>
              <a:noFill/>
            </a:ln>
            <a:effectLst>
              <a:outerShdw blurRad="50800" dist="12700" dir="5400000" algn="ctr" rotWithShape="0">
                <a:srgbClr val="000104">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mn-ea"/>
              </a:endParaRPr>
            </a:p>
          </p:txBody>
        </p:sp>
        <p:sp>
          <p:nvSpPr>
            <p:cNvPr id="13" name="TextBox 10">
              <a:extLst>
                <a:ext uri="{FF2B5EF4-FFF2-40B4-BE49-F238E27FC236}">
                  <a16:creationId xmlns:a16="http://schemas.microsoft.com/office/drawing/2014/main" id="{20413F18-D9EC-B713-CFFA-4E0952113818}"/>
                </a:ext>
              </a:extLst>
            </p:cNvPr>
            <p:cNvSpPr txBox="1"/>
            <p:nvPr/>
          </p:nvSpPr>
          <p:spPr>
            <a:xfrm>
              <a:off x="8963055" y="2691084"/>
              <a:ext cx="1720375" cy="276999"/>
            </a:xfrm>
            <a:prstGeom prst="rect">
              <a:avLst/>
            </a:prstGeom>
            <a:noFill/>
          </p:spPr>
          <p:txBody>
            <a:bodyPr wrap="square" rtlCol="0">
              <a:spAutoFit/>
            </a:bodyPr>
            <a:lstStyle/>
            <a:p>
              <a:r>
                <a:rPr lang="zh-CN" altLang="en-US" sz="1200">
                  <a:solidFill>
                    <a:schemeClr val="tx1">
                      <a:lumMod val="65000"/>
                      <a:lumOff val="35000"/>
                    </a:schemeClr>
                  </a:solidFill>
                  <a:latin typeface="+mn-ea"/>
                </a:rPr>
                <a:t>回款率</a:t>
              </a:r>
              <a:endParaRPr lang="en-US" sz="1200" dirty="0">
                <a:solidFill>
                  <a:schemeClr val="tx1">
                    <a:lumMod val="65000"/>
                    <a:lumOff val="35000"/>
                  </a:schemeClr>
                </a:solidFill>
                <a:latin typeface="+mn-ea"/>
              </a:endParaRPr>
            </a:p>
          </p:txBody>
        </p:sp>
        <p:sp>
          <p:nvSpPr>
            <p:cNvPr id="14" name="TextBox 11">
              <a:extLst>
                <a:ext uri="{FF2B5EF4-FFF2-40B4-BE49-F238E27FC236}">
                  <a16:creationId xmlns:a16="http://schemas.microsoft.com/office/drawing/2014/main" id="{C6A187A9-17E8-4384-44D1-F7AB6E5BDA3B}"/>
                </a:ext>
              </a:extLst>
            </p:cNvPr>
            <p:cNvSpPr txBox="1"/>
            <p:nvPr/>
          </p:nvSpPr>
          <p:spPr>
            <a:xfrm>
              <a:off x="8919571" y="3461795"/>
              <a:ext cx="2376857" cy="253916"/>
            </a:xfrm>
            <a:prstGeom prst="rect">
              <a:avLst/>
            </a:prstGeom>
            <a:noFill/>
          </p:spPr>
          <p:txBody>
            <a:bodyPr wrap="square" rtlCol="0">
              <a:spAutoFit/>
            </a:bodyPr>
            <a:lstStyle/>
            <a:p>
              <a:r>
                <a:rPr lang="zh-CN" altLang="en-US" sz="1050" dirty="0">
                  <a:solidFill>
                    <a:schemeClr val="tx1">
                      <a:lumMod val="75000"/>
                      <a:lumOff val="25000"/>
                    </a:schemeClr>
                  </a:solidFill>
                </a:rPr>
                <a:t>环比 </a:t>
              </a:r>
              <a:r>
                <a:rPr lang="en-US" altLang="zh-CN" sz="1050" dirty="0">
                  <a:solidFill>
                    <a:schemeClr val="tx1">
                      <a:lumMod val="75000"/>
                      <a:lumOff val="25000"/>
                    </a:schemeClr>
                  </a:solidFill>
                </a:rPr>
                <a:t>+3.22%   </a:t>
              </a:r>
              <a:r>
                <a:rPr lang="zh-CN" altLang="en-US" sz="1050" dirty="0">
                  <a:solidFill>
                    <a:schemeClr val="tx1">
                      <a:lumMod val="75000"/>
                      <a:lumOff val="25000"/>
                    </a:schemeClr>
                  </a:solidFill>
                </a:rPr>
                <a:t>同比 </a:t>
              </a:r>
              <a:r>
                <a:rPr lang="en-US" altLang="zh-CN" sz="1050" dirty="0">
                  <a:solidFill>
                    <a:schemeClr val="tx1">
                      <a:lumMod val="75000"/>
                      <a:lumOff val="25000"/>
                    </a:schemeClr>
                  </a:solidFill>
                </a:rPr>
                <a:t>-3.22%</a:t>
              </a:r>
              <a:endParaRPr lang="en-US" sz="1050" dirty="0">
                <a:solidFill>
                  <a:schemeClr val="tx1">
                    <a:lumMod val="75000"/>
                    <a:lumOff val="25000"/>
                  </a:schemeClr>
                </a:solidFill>
              </a:endParaRPr>
            </a:p>
          </p:txBody>
        </p:sp>
        <p:sp>
          <p:nvSpPr>
            <p:cNvPr id="15" name="TextBox 16">
              <a:extLst>
                <a:ext uri="{FF2B5EF4-FFF2-40B4-BE49-F238E27FC236}">
                  <a16:creationId xmlns:a16="http://schemas.microsoft.com/office/drawing/2014/main" id="{4B296567-66E7-D790-0585-18C11A8D6AE5}"/>
                </a:ext>
              </a:extLst>
            </p:cNvPr>
            <p:cNvSpPr txBox="1"/>
            <p:nvPr/>
          </p:nvSpPr>
          <p:spPr>
            <a:xfrm>
              <a:off x="8919571" y="3004446"/>
              <a:ext cx="2217058" cy="523220"/>
            </a:xfrm>
            <a:prstGeom prst="rect">
              <a:avLst/>
            </a:prstGeom>
            <a:noFill/>
          </p:spPr>
          <p:txBody>
            <a:bodyPr wrap="square" rtlCol="0">
              <a:spAutoFit/>
            </a:bodyPr>
            <a:lstStyle/>
            <a:p>
              <a:r>
                <a:rPr lang="en-US" sz="2800">
                  <a:solidFill>
                    <a:schemeClr val="tx2">
                      <a:lumMod val="75000"/>
                    </a:schemeClr>
                  </a:solidFill>
                  <a:latin typeface="+mj-ea"/>
                  <a:ea typeface="+mj-ea"/>
                </a:rPr>
                <a:t>79%</a:t>
              </a:r>
              <a:endParaRPr lang="en-US" sz="2800" dirty="0">
                <a:solidFill>
                  <a:schemeClr val="tx2">
                    <a:lumMod val="75000"/>
                  </a:schemeClr>
                </a:solidFill>
                <a:latin typeface="+mj-ea"/>
                <a:ea typeface="+mj-ea"/>
              </a:endParaRPr>
            </a:p>
          </p:txBody>
        </p:sp>
        <p:graphicFrame>
          <p:nvGraphicFramePr>
            <p:cNvPr id="77" name="图表 76">
              <a:extLst>
                <a:ext uri="{FF2B5EF4-FFF2-40B4-BE49-F238E27FC236}">
                  <a16:creationId xmlns:a16="http://schemas.microsoft.com/office/drawing/2014/main" id="{8631BFCC-BDC1-7D21-7DEC-D3943E0A9B7A}"/>
                </a:ext>
              </a:extLst>
            </p:cNvPr>
            <p:cNvGraphicFramePr/>
            <p:nvPr>
              <p:extLst>
                <p:ext uri="{D42A27DB-BD31-4B8C-83A1-F6EECF244321}">
                  <p14:modId xmlns:p14="http://schemas.microsoft.com/office/powerpoint/2010/main" val="2275553498"/>
                </p:ext>
              </p:extLst>
            </p:nvPr>
          </p:nvGraphicFramePr>
          <p:xfrm>
            <a:off x="3332815" y="1200371"/>
            <a:ext cx="1470045" cy="111470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8" name="图表 77">
              <a:extLst>
                <a:ext uri="{FF2B5EF4-FFF2-40B4-BE49-F238E27FC236}">
                  <a16:creationId xmlns:a16="http://schemas.microsoft.com/office/drawing/2014/main" id="{2110FAF0-5DFA-9C44-1524-6C311CA07229}"/>
                </a:ext>
              </a:extLst>
            </p:cNvPr>
            <p:cNvGraphicFramePr/>
            <p:nvPr>
              <p:extLst>
                <p:ext uri="{D42A27DB-BD31-4B8C-83A1-F6EECF244321}">
                  <p14:modId xmlns:p14="http://schemas.microsoft.com/office/powerpoint/2010/main" val="2406809567"/>
                </p:ext>
              </p:extLst>
            </p:nvPr>
          </p:nvGraphicFramePr>
          <p:xfrm>
            <a:off x="6772748" y="1171557"/>
            <a:ext cx="1470045" cy="111470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9" name="图表 78">
              <a:extLst>
                <a:ext uri="{FF2B5EF4-FFF2-40B4-BE49-F238E27FC236}">
                  <a16:creationId xmlns:a16="http://schemas.microsoft.com/office/drawing/2014/main" id="{35E6B913-E5F2-AC1B-B7A5-965F97C582BB}"/>
                </a:ext>
              </a:extLst>
            </p:cNvPr>
            <p:cNvGraphicFramePr/>
            <p:nvPr>
              <p:extLst>
                <p:ext uri="{D42A27DB-BD31-4B8C-83A1-F6EECF244321}">
                  <p14:modId xmlns:p14="http://schemas.microsoft.com/office/powerpoint/2010/main" val="1565936188"/>
                </p:ext>
              </p:extLst>
            </p:nvPr>
          </p:nvGraphicFramePr>
          <p:xfrm>
            <a:off x="10202681" y="1161857"/>
            <a:ext cx="1470045" cy="111470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80" name="图表 79">
              <a:extLst>
                <a:ext uri="{FF2B5EF4-FFF2-40B4-BE49-F238E27FC236}">
                  <a16:creationId xmlns:a16="http://schemas.microsoft.com/office/drawing/2014/main" id="{1938720C-91E2-04AA-1BD0-50BBD4066C72}"/>
                </a:ext>
              </a:extLst>
            </p:cNvPr>
            <p:cNvGraphicFramePr/>
            <p:nvPr>
              <p:extLst>
                <p:ext uri="{D42A27DB-BD31-4B8C-83A1-F6EECF244321}">
                  <p14:modId xmlns:p14="http://schemas.microsoft.com/office/powerpoint/2010/main" val="2341858107"/>
                </p:ext>
              </p:extLst>
            </p:nvPr>
          </p:nvGraphicFramePr>
          <p:xfrm>
            <a:off x="3332815" y="2646063"/>
            <a:ext cx="1470045" cy="111470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83" name="图表 82">
              <a:extLst>
                <a:ext uri="{FF2B5EF4-FFF2-40B4-BE49-F238E27FC236}">
                  <a16:creationId xmlns:a16="http://schemas.microsoft.com/office/drawing/2014/main" id="{3F8D3EEF-B5ED-0DDD-8D29-A3F465283D61}"/>
                </a:ext>
              </a:extLst>
            </p:cNvPr>
            <p:cNvGraphicFramePr/>
            <p:nvPr>
              <p:extLst>
                <p:ext uri="{D42A27DB-BD31-4B8C-83A1-F6EECF244321}">
                  <p14:modId xmlns:p14="http://schemas.microsoft.com/office/powerpoint/2010/main" val="2025798399"/>
                </p:ext>
              </p:extLst>
            </p:nvPr>
          </p:nvGraphicFramePr>
          <p:xfrm>
            <a:off x="6788297" y="2625088"/>
            <a:ext cx="1470045" cy="111470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84" name="图表 83">
              <a:extLst>
                <a:ext uri="{FF2B5EF4-FFF2-40B4-BE49-F238E27FC236}">
                  <a16:creationId xmlns:a16="http://schemas.microsoft.com/office/drawing/2014/main" id="{72199C8C-D83D-5BF4-63AE-3549A3BD8145}"/>
                </a:ext>
              </a:extLst>
            </p:cNvPr>
            <p:cNvGraphicFramePr/>
            <p:nvPr>
              <p:extLst>
                <p:ext uri="{D42A27DB-BD31-4B8C-83A1-F6EECF244321}">
                  <p14:modId xmlns:p14="http://schemas.microsoft.com/office/powerpoint/2010/main" val="229219713"/>
                </p:ext>
              </p:extLst>
            </p:nvPr>
          </p:nvGraphicFramePr>
          <p:xfrm>
            <a:off x="10237541" y="2625087"/>
            <a:ext cx="1470045" cy="1114709"/>
          </p:xfrm>
          <a:graphic>
            <a:graphicData uri="http://schemas.openxmlformats.org/drawingml/2006/chart">
              <c:chart xmlns:c="http://schemas.openxmlformats.org/drawingml/2006/chart" xmlns:r="http://schemas.openxmlformats.org/officeDocument/2006/relationships" r:id="rId8"/>
            </a:graphicData>
          </a:graphic>
        </p:graphicFrame>
      </p:grpSp>
      <p:grpSp>
        <p:nvGrpSpPr>
          <p:cNvPr id="109" name="组合 108">
            <a:extLst>
              <a:ext uri="{FF2B5EF4-FFF2-40B4-BE49-F238E27FC236}">
                <a16:creationId xmlns:a16="http://schemas.microsoft.com/office/drawing/2014/main" id="{D729F341-B068-8F7A-6A95-0A726F537AE4}"/>
              </a:ext>
            </a:extLst>
          </p:cNvPr>
          <p:cNvGrpSpPr>
            <a:grpSpLocks noChangeAspect="1"/>
          </p:cNvGrpSpPr>
          <p:nvPr/>
        </p:nvGrpSpPr>
        <p:grpSpPr>
          <a:xfrm>
            <a:off x="290798" y="4218263"/>
            <a:ext cx="1353757" cy="2426056"/>
            <a:chOff x="874713" y="2362200"/>
            <a:chExt cx="2120900" cy="3957638"/>
          </a:xfrm>
        </p:grpSpPr>
        <p:sp>
          <p:nvSpPr>
            <p:cNvPr id="87" name="Rectangle">
              <a:extLst>
                <a:ext uri="{FF2B5EF4-FFF2-40B4-BE49-F238E27FC236}">
                  <a16:creationId xmlns:a16="http://schemas.microsoft.com/office/drawing/2014/main" id="{48DAEE69-620D-C5D4-E3BE-7E4F7854854F}"/>
                </a:ext>
              </a:extLst>
            </p:cNvPr>
            <p:cNvSpPr/>
            <p:nvPr/>
          </p:nvSpPr>
          <p:spPr>
            <a:xfrm>
              <a:off x="2217738" y="2449513"/>
              <a:ext cx="36512" cy="261937"/>
            </a:xfrm>
            <a:prstGeom prst="rect">
              <a:avLst/>
            </a:prstGeom>
            <a:solidFill>
              <a:schemeClr val="accent2"/>
            </a:solidFill>
            <a:ln w="12700">
              <a:noFill/>
            </a:ln>
          </p:spPr>
          <p:txBody>
            <a:bodyPr lIns="0" tIns="0" rIns="0" bIns="0" anchor="ctr"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endParaRPr lang="zh-CN" altLang="zh-CN" sz="3200" dirty="0">
                <a:solidFill>
                  <a:srgbClr val="FFFFFF"/>
                </a:solidFill>
                <a:latin typeface="+mn-ea"/>
                <a:sym typeface="Helvetica Neue Medium"/>
              </a:endParaRPr>
            </a:p>
          </p:txBody>
        </p:sp>
        <p:sp>
          <p:nvSpPr>
            <p:cNvPr id="88" name="Rectangle">
              <a:extLst>
                <a:ext uri="{FF2B5EF4-FFF2-40B4-BE49-F238E27FC236}">
                  <a16:creationId xmlns:a16="http://schemas.microsoft.com/office/drawing/2014/main" id="{A63C3042-FD94-912E-0067-7E5B8BB577F8}"/>
                </a:ext>
              </a:extLst>
            </p:cNvPr>
            <p:cNvSpPr/>
            <p:nvPr/>
          </p:nvSpPr>
          <p:spPr>
            <a:xfrm>
              <a:off x="2957513" y="4173538"/>
              <a:ext cx="38100" cy="261937"/>
            </a:xfrm>
            <a:prstGeom prst="rect">
              <a:avLst/>
            </a:prstGeom>
            <a:solidFill>
              <a:schemeClr val="accent2"/>
            </a:solidFill>
            <a:ln w="12700">
              <a:noFill/>
            </a:ln>
          </p:spPr>
          <p:txBody>
            <a:bodyPr lIns="0" tIns="0" rIns="0" bIns="0" anchor="ctr"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endParaRPr lang="zh-CN" altLang="zh-CN" sz="3200" dirty="0">
                <a:solidFill>
                  <a:srgbClr val="FFFFFF"/>
                </a:solidFill>
                <a:latin typeface="+mn-ea"/>
                <a:sym typeface="Helvetica Neue Medium"/>
              </a:endParaRPr>
            </a:p>
          </p:txBody>
        </p:sp>
        <p:sp>
          <p:nvSpPr>
            <p:cNvPr id="89" name="Rectangle">
              <a:extLst>
                <a:ext uri="{FF2B5EF4-FFF2-40B4-BE49-F238E27FC236}">
                  <a16:creationId xmlns:a16="http://schemas.microsoft.com/office/drawing/2014/main" id="{B4D97861-5A9D-C54D-F907-49E03ADC3ED9}"/>
                </a:ext>
              </a:extLst>
            </p:cNvPr>
            <p:cNvSpPr/>
            <p:nvPr/>
          </p:nvSpPr>
          <p:spPr>
            <a:xfrm>
              <a:off x="2216150" y="5919788"/>
              <a:ext cx="38100" cy="261937"/>
            </a:xfrm>
            <a:prstGeom prst="rect">
              <a:avLst/>
            </a:prstGeom>
            <a:solidFill>
              <a:schemeClr val="accent2"/>
            </a:solidFill>
            <a:ln w="12700">
              <a:noFill/>
            </a:ln>
          </p:spPr>
          <p:txBody>
            <a:bodyPr lIns="0" tIns="0" rIns="0" bIns="0" anchor="ctr"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endParaRPr lang="zh-CN" altLang="zh-CN" sz="3200" dirty="0">
                <a:solidFill>
                  <a:srgbClr val="FFFFFF"/>
                </a:solidFill>
                <a:latin typeface="+mn-ea"/>
                <a:sym typeface="Helvetica Neue Medium"/>
              </a:endParaRPr>
            </a:p>
          </p:txBody>
        </p:sp>
        <p:sp>
          <p:nvSpPr>
            <p:cNvPr id="91" name="Shape">
              <a:extLst>
                <a:ext uri="{FF2B5EF4-FFF2-40B4-BE49-F238E27FC236}">
                  <a16:creationId xmlns:a16="http://schemas.microsoft.com/office/drawing/2014/main" id="{9493CE7A-CD22-AD74-A0EC-EF203C8755ED}"/>
                </a:ext>
              </a:extLst>
            </p:cNvPr>
            <p:cNvSpPr/>
            <p:nvPr/>
          </p:nvSpPr>
          <p:spPr>
            <a:xfrm>
              <a:off x="874713" y="2362200"/>
              <a:ext cx="1547812" cy="1319213"/>
            </a:xfrm>
            <a:custGeom>
              <a:avLst/>
              <a:gdLst/>
              <a:ahLst/>
              <a:cxnLst>
                <a:cxn ang="0">
                  <a:pos x="2147483646" y="2147483646"/>
                </a:cxn>
                <a:cxn ang="5898240">
                  <a:pos x="2147483646" y="2147483646"/>
                </a:cxn>
                <a:cxn ang="11796480">
                  <a:pos x="2147483646" y="2147483646"/>
                </a:cxn>
                <a:cxn ang="17694720">
                  <a:pos x="2147483646" y="2147483646"/>
                </a:cxn>
              </a:cxnLst>
              <a:rect l="0" t="0" r="0" b="0"/>
              <a:pathLst>
                <a:path w="21600" h="21600">
                  <a:moveTo>
                    <a:pt x="0" y="0"/>
                  </a:moveTo>
                  <a:cubicBezTo>
                    <a:pt x="4115" y="117"/>
                    <a:pt x="8152" y="1376"/>
                    <a:pt x="11797" y="3681"/>
                  </a:cubicBezTo>
                  <a:cubicBezTo>
                    <a:pt x="15747" y="6178"/>
                    <a:pt x="19117" y="9825"/>
                    <a:pt x="21600" y="14290"/>
                  </a:cubicBezTo>
                  <a:lnTo>
                    <a:pt x="12131" y="21600"/>
                  </a:lnTo>
                  <a:cubicBezTo>
                    <a:pt x="10745" y="19208"/>
                    <a:pt x="8918" y="17235"/>
                    <a:pt x="6793" y="15836"/>
                  </a:cubicBezTo>
                  <a:cubicBezTo>
                    <a:pt x="4711" y="14466"/>
                    <a:pt x="2398" y="13683"/>
                    <a:pt x="27" y="13547"/>
                  </a:cubicBezTo>
                  <a:lnTo>
                    <a:pt x="0" y="0"/>
                  </a:lnTo>
                  <a:close/>
                </a:path>
              </a:pathLst>
            </a:custGeom>
            <a:solidFill>
              <a:schemeClr val="accent2">
                <a:lumMod val="75000"/>
              </a:schemeClr>
            </a:solidFill>
            <a:ln w="12700">
              <a:noFill/>
            </a:ln>
          </p:spPr>
          <p:txBody>
            <a:bodyPr/>
            <a:lstStyle/>
            <a:p>
              <a:endParaRPr lang="zh-CN" altLang="en-US">
                <a:latin typeface="+mn-ea"/>
              </a:endParaRPr>
            </a:p>
          </p:txBody>
        </p:sp>
        <p:sp>
          <p:nvSpPr>
            <p:cNvPr id="92" name="Shape">
              <a:extLst>
                <a:ext uri="{FF2B5EF4-FFF2-40B4-BE49-F238E27FC236}">
                  <a16:creationId xmlns:a16="http://schemas.microsoft.com/office/drawing/2014/main" id="{9C6A24F2-3644-DC4E-3964-152AC653936B}"/>
                </a:ext>
              </a:extLst>
            </p:cNvPr>
            <p:cNvSpPr/>
            <p:nvPr/>
          </p:nvSpPr>
          <p:spPr>
            <a:xfrm>
              <a:off x="1795463" y="3316288"/>
              <a:ext cx="955675" cy="1868487"/>
            </a:xfrm>
            <a:custGeom>
              <a:avLst/>
              <a:gdLst/>
              <a:ahLst/>
              <a:cxnLst>
                <a:cxn ang="0">
                  <a:pos x="2147483646" y="2147483646"/>
                </a:cxn>
                <a:cxn ang="5898240">
                  <a:pos x="2147483646" y="2147483646"/>
                </a:cxn>
                <a:cxn ang="11796480">
                  <a:pos x="2147483646" y="2147483646"/>
                </a:cxn>
                <a:cxn ang="17694720">
                  <a:pos x="2147483646" y="2147483646"/>
                </a:cxn>
              </a:cxnLst>
              <a:rect l="0" t="0" r="0" b="0"/>
              <a:pathLst>
                <a:path w="21187" h="21600">
                  <a:moveTo>
                    <a:pt x="0" y="5188"/>
                  </a:moveTo>
                  <a:cubicBezTo>
                    <a:pt x="1936" y="7006"/>
                    <a:pt x="3052" y="9040"/>
                    <a:pt x="3260" y="11129"/>
                  </a:cubicBezTo>
                  <a:cubicBezTo>
                    <a:pt x="3472" y="13260"/>
                    <a:pt x="2733" y="15388"/>
                    <a:pt x="1104" y="17336"/>
                  </a:cubicBezTo>
                  <a:lnTo>
                    <a:pt x="17209" y="21600"/>
                  </a:lnTo>
                  <a:cubicBezTo>
                    <a:pt x="20270" y="18041"/>
                    <a:pt x="21600" y="14125"/>
                    <a:pt x="21075" y="10217"/>
                  </a:cubicBezTo>
                  <a:cubicBezTo>
                    <a:pt x="20589" y="6607"/>
                    <a:pt x="18533" y="3109"/>
                    <a:pt x="15070" y="0"/>
                  </a:cubicBezTo>
                  <a:lnTo>
                    <a:pt x="0" y="5188"/>
                  </a:lnTo>
                  <a:close/>
                </a:path>
              </a:pathLst>
            </a:custGeom>
            <a:solidFill>
              <a:schemeClr val="tx2">
                <a:lumMod val="20000"/>
                <a:lumOff val="80000"/>
              </a:schemeClr>
            </a:solidFill>
            <a:ln w="9525">
              <a:noFill/>
            </a:ln>
          </p:spPr>
          <p:txBody>
            <a:bodyPr/>
            <a:lstStyle/>
            <a:p>
              <a:endParaRPr lang="zh-CN" altLang="en-US">
                <a:latin typeface="+mn-ea"/>
              </a:endParaRPr>
            </a:p>
          </p:txBody>
        </p:sp>
        <p:sp>
          <p:nvSpPr>
            <p:cNvPr id="93" name="Shape">
              <a:extLst>
                <a:ext uri="{FF2B5EF4-FFF2-40B4-BE49-F238E27FC236}">
                  <a16:creationId xmlns:a16="http://schemas.microsoft.com/office/drawing/2014/main" id="{FDFFD7C9-3EAF-DA2E-B875-A0237BCDA35B}"/>
                </a:ext>
              </a:extLst>
            </p:cNvPr>
            <p:cNvSpPr/>
            <p:nvPr/>
          </p:nvSpPr>
          <p:spPr>
            <a:xfrm>
              <a:off x="876300" y="4902200"/>
              <a:ext cx="1652588" cy="1417638"/>
            </a:xfrm>
            <a:custGeom>
              <a:avLst/>
              <a:gdLst/>
              <a:ahLst/>
              <a:cxnLst>
                <a:cxn ang="0">
                  <a:pos x="2147483646" y="2147483646"/>
                </a:cxn>
                <a:cxn ang="5898240">
                  <a:pos x="2147483646" y="2147483646"/>
                </a:cxn>
                <a:cxn ang="11796480">
                  <a:pos x="2147483646" y="2147483646"/>
                </a:cxn>
                <a:cxn ang="17694720">
                  <a:pos x="2147483646" y="2147483646"/>
                </a:cxn>
              </a:cxnLst>
              <a:rect l="0" t="0" r="0" b="0"/>
              <a:pathLst>
                <a:path w="21600" h="21600">
                  <a:moveTo>
                    <a:pt x="18" y="9035"/>
                  </a:moveTo>
                  <a:cubicBezTo>
                    <a:pt x="2483" y="8877"/>
                    <a:pt x="4876" y="7982"/>
                    <a:pt x="6977" y="6431"/>
                  </a:cubicBezTo>
                  <a:cubicBezTo>
                    <a:pt x="9122" y="4848"/>
                    <a:pt x="10892" y="2634"/>
                    <a:pt x="12119" y="0"/>
                  </a:cubicBezTo>
                  <a:lnTo>
                    <a:pt x="21600" y="5589"/>
                  </a:lnTo>
                  <a:cubicBezTo>
                    <a:pt x="19663" y="9974"/>
                    <a:pt x="16852" y="13720"/>
                    <a:pt x="13416" y="16494"/>
                  </a:cubicBezTo>
                  <a:cubicBezTo>
                    <a:pt x="11441" y="18088"/>
                    <a:pt x="9297" y="19333"/>
                    <a:pt x="7051" y="20193"/>
                  </a:cubicBezTo>
                  <a:cubicBezTo>
                    <a:pt x="4781" y="21063"/>
                    <a:pt x="2407" y="21541"/>
                    <a:pt x="0" y="21600"/>
                  </a:cubicBezTo>
                  <a:lnTo>
                    <a:pt x="18" y="9035"/>
                  </a:lnTo>
                  <a:close/>
                </a:path>
              </a:pathLst>
            </a:custGeom>
            <a:solidFill>
              <a:schemeClr val="tx2">
                <a:lumMod val="20000"/>
                <a:lumOff val="80000"/>
              </a:schemeClr>
            </a:solidFill>
            <a:ln w="9525">
              <a:noFill/>
            </a:ln>
          </p:spPr>
          <p:txBody>
            <a:bodyPr/>
            <a:lstStyle/>
            <a:p>
              <a:endParaRPr lang="zh-CN" altLang="en-US">
                <a:latin typeface="+mn-ea"/>
              </a:endParaRPr>
            </a:p>
          </p:txBody>
        </p:sp>
        <p:sp>
          <p:nvSpPr>
            <p:cNvPr id="94" name="Shape">
              <a:extLst>
                <a:ext uri="{FF2B5EF4-FFF2-40B4-BE49-F238E27FC236}">
                  <a16:creationId xmlns:a16="http://schemas.microsoft.com/office/drawing/2014/main" id="{4BED124C-3FF4-5C14-6564-ECADDC4BFDD3}"/>
                </a:ext>
              </a:extLst>
            </p:cNvPr>
            <p:cNvSpPr/>
            <p:nvPr/>
          </p:nvSpPr>
          <p:spPr>
            <a:xfrm>
              <a:off x="876300" y="3484563"/>
              <a:ext cx="627063" cy="414337"/>
            </a:xfrm>
            <a:custGeom>
              <a:avLst/>
              <a:gdLst/>
              <a:ahLst/>
              <a:cxnLst>
                <a:cxn ang="0">
                  <a:pos x="2147483646" y="2147483646"/>
                </a:cxn>
                <a:cxn ang="5898240">
                  <a:pos x="2147483646" y="2147483646"/>
                </a:cxn>
                <a:cxn ang="11796480">
                  <a:pos x="2147483646" y="2147483646"/>
                </a:cxn>
                <a:cxn ang="17694720">
                  <a:pos x="2147483646" y="2147483646"/>
                </a:cxn>
              </a:cxnLst>
              <a:rect l="0" t="0" r="0" b="0"/>
              <a:pathLst>
                <a:path w="21600" h="21600">
                  <a:moveTo>
                    <a:pt x="19" y="0"/>
                  </a:moveTo>
                  <a:lnTo>
                    <a:pt x="0" y="5599"/>
                  </a:lnTo>
                  <a:cubicBezTo>
                    <a:pt x="3600" y="5984"/>
                    <a:pt x="7105" y="7569"/>
                    <a:pt x="10277" y="10244"/>
                  </a:cubicBezTo>
                  <a:cubicBezTo>
                    <a:pt x="13567" y="13019"/>
                    <a:pt x="16418" y="16898"/>
                    <a:pt x="18623" y="21600"/>
                  </a:cubicBezTo>
                  <a:lnTo>
                    <a:pt x="21600" y="18685"/>
                  </a:lnTo>
                  <a:cubicBezTo>
                    <a:pt x="19003" y="13163"/>
                    <a:pt x="15645" y="8613"/>
                    <a:pt x="11773" y="5366"/>
                  </a:cubicBezTo>
                  <a:cubicBezTo>
                    <a:pt x="8139" y="2319"/>
                    <a:pt x="4135" y="491"/>
                    <a:pt x="19" y="0"/>
                  </a:cubicBezTo>
                  <a:close/>
                </a:path>
              </a:pathLst>
            </a:custGeom>
            <a:solidFill>
              <a:schemeClr val="accent2">
                <a:lumMod val="40000"/>
                <a:lumOff val="60000"/>
              </a:schemeClr>
            </a:solidFill>
            <a:ln w="12700">
              <a:noFill/>
            </a:ln>
          </p:spPr>
          <p:txBody>
            <a:bodyPr/>
            <a:lstStyle/>
            <a:p>
              <a:endParaRPr lang="zh-CN" altLang="en-US">
                <a:latin typeface="+mn-ea"/>
              </a:endParaRPr>
            </a:p>
          </p:txBody>
        </p:sp>
        <p:sp>
          <p:nvSpPr>
            <p:cNvPr id="95" name="Shape">
              <a:extLst>
                <a:ext uri="{FF2B5EF4-FFF2-40B4-BE49-F238E27FC236}">
                  <a16:creationId xmlns:a16="http://schemas.microsoft.com/office/drawing/2014/main" id="{7EB9DAC7-1036-72D4-6D76-90DFBB279EF6}"/>
                </a:ext>
              </a:extLst>
            </p:cNvPr>
            <p:cNvSpPr/>
            <p:nvPr/>
          </p:nvSpPr>
          <p:spPr>
            <a:xfrm>
              <a:off x="1465263" y="3922713"/>
              <a:ext cx="193675" cy="766762"/>
            </a:xfrm>
            <a:custGeom>
              <a:avLst/>
              <a:gdLst/>
              <a:ahLst/>
              <a:cxnLst>
                <a:cxn ang="0">
                  <a:pos x="2147483646" y="2147483646"/>
                </a:cxn>
                <a:cxn ang="5898240">
                  <a:pos x="2147483646" y="2147483646"/>
                </a:cxn>
                <a:cxn ang="11796480">
                  <a:pos x="2147483646" y="2147483646"/>
                </a:cxn>
                <a:cxn ang="17694720">
                  <a:pos x="2147483646" y="2147483646"/>
                </a:cxn>
              </a:cxnLst>
              <a:rect l="0" t="0" r="0" b="0"/>
              <a:pathLst>
                <a:path w="21059" h="21600">
                  <a:moveTo>
                    <a:pt x="0" y="1614"/>
                  </a:moveTo>
                  <a:lnTo>
                    <a:pt x="9557" y="0"/>
                  </a:lnTo>
                  <a:cubicBezTo>
                    <a:pt x="16421" y="3290"/>
                    <a:pt x="20326" y="6961"/>
                    <a:pt x="20966" y="10723"/>
                  </a:cubicBezTo>
                  <a:cubicBezTo>
                    <a:pt x="21600" y="14456"/>
                    <a:pt x="19000" y="18179"/>
                    <a:pt x="13367" y="21600"/>
                  </a:cubicBezTo>
                  <a:lnTo>
                    <a:pt x="3226" y="20263"/>
                  </a:lnTo>
                  <a:cubicBezTo>
                    <a:pt x="8018" y="17325"/>
                    <a:pt x="10248" y="14135"/>
                    <a:pt x="9748" y="10934"/>
                  </a:cubicBezTo>
                  <a:cubicBezTo>
                    <a:pt x="9238" y="7668"/>
                    <a:pt x="5901" y="4478"/>
                    <a:pt x="0" y="1614"/>
                  </a:cubicBezTo>
                  <a:close/>
                </a:path>
              </a:pathLst>
            </a:custGeom>
            <a:solidFill>
              <a:schemeClr val="accent2">
                <a:lumMod val="40000"/>
                <a:lumOff val="60000"/>
              </a:schemeClr>
            </a:solidFill>
            <a:ln w="12700">
              <a:noFill/>
            </a:ln>
          </p:spPr>
          <p:txBody>
            <a:bodyPr/>
            <a:lstStyle/>
            <a:p>
              <a:endParaRPr lang="zh-CN" altLang="en-US">
                <a:latin typeface="+mn-ea"/>
              </a:endParaRPr>
            </a:p>
          </p:txBody>
        </p:sp>
        <p:sp>
          <p:nvSpPr>
            <p:cNvPr id="96" name="Shape">
              <a:extLst>
                <a:ext uri="{FF2B5EF4-FFF2-40B4-BE49-F238E27FC236}">
                  <a16:creationId xmlns:a16="http://schemas.microsoft.com/office/drawing/2014/main" id="{9C1BA776-5913-6467-C384-40A148DAF2BD}"/>
                </a:ext>
              </a:extLst>
            </p:cNvPr>
            <p:cNvSpPr/>
            <p:nvPr/>
          </p:nvSpPr>
          <p:spPr>
            <a:xfrm>
              <a:off x="876300" y="4725988"/>
              <a:ext cx="668338" cy="474662"/>
            </a:xfrm>
            <a:custGeom>
              <a:avLst/>
              <a:gdLst/>
              <a:ahLst/>
              <a:cxnLst>
                <a:cxn ang="0">
                  <a:pos x="2147483646" y="2147483646"/>
                </a:cxn>
                <a:cxn ang="5898240">
                  <a:pos x="2147483646" y="2147483646"/>
                </a:cxn>
                <a:cxn ang="11796480">
                  <a:pos x="2147483646" y="2147483646"/>
                </a:cxn>
                <a:cxn ang="17694720">
                  <a:pos x="2147483646" y="2147483646"/>
                </a:cxn>
              </a:cxnLst>
              <a:rect l="0" t="0" r="0" b="0"/>
              <a:pathLst>
                <a:path w="21600" h="21600">
                  <a:moveTo>
                    <a:pt x="18668" y="0"/>
                  </a:moveTo>
                  <a:lnTo>
                    <a:pt x="21600" y="2129"/>
                  </a:lnTo>
                  <a:cubicBezTo>
                    <a:pt x="19473" y="7446"/>
                    <a:pt x="16509" y="11966"/>
                    <a:pt x="12947" y="15323"/>
                  </a:cubicBezTo>
                  <a:cubicBezTo>
                    <a:pt x="9072" y="18974"/>
                    <a:pt x="4616" y="21134"/>
                    <a:pt x="0" y="21600"/>
                  </a:cubicBezTo>
                  <a:lnTo>
                    <a:pt x="42" y="16713"/>
                  </a:lnTo>
                  <a:cubicBezTo>
                    <a:pt x="3924" y="16295"/>
                    <a:pt x="7674" y="14501"/>
                    <a:pt x="10961" y="11492"/>
                  </a:cubicBezTo>
                  <a:cubicBezTo>
                    <a:pt x="14124" y="8596"/>
                    <a:pt x="16766" y="4657"/>
                    <a:pt x="18668" y="0"/>
                  </a:cubicBezTo>
                  <a:close/>
                </a:path>
              </a:pathLst>
            </a:custGeom>
            <a:solidFill>
              <a:schemeClr val="accent2">
                <a:lumMod val="40000"/>
                <a:lumOff val="60000"/>
              </a:schemeClr>
            </a:solidFill>
            <a:ln w="12700">
              <a:noFill/>
            </a:ln>
          </p:spPr>
          <p:txBody>
            <a:bodyPr/>
            <a:lstStyle/>
            <a:p>
              <a:endParaRPr lang="zh-CN" altLang="en-US">
                <a:latin typeface="+mn-ea"/>
              </a:endParaRPr>
            </a:p>
          </p:txBody>
        </p:sp>
        <p:grpSp>
          <p:nvGrpSpPr>
            <p:cNvPr id="98" name="Group 95">
              <a:extLst>
                <a:ext uri="{FF2B5EF4-FFF2-40B4-BE49-F238E27FC236}">
                  <a16:creationId xmlns:a16="http://schemas.microsoft.com/office/drawing/2014/main" id="{90978CE8-38A4-82C1-F697-7FF730B50791}"/>
                </a:ext>
              </a:extLst>
            </p:cNvPr>
            <p:cNvGrpSpPr/>
            <p:nvPr/>
          </p:nvGrpSpPr>
          <p:grpSpPr>
            <a:xfrm>
              <a:off x="1485555" y="2869097"/>
              <a:ext cx="326766" cy="282833"/>
              <a:chOff x="7680334" y="3084514"/>
              <a:chExt cx="1239839" cy="1073150"/>
            </a:xfrm>
            <a:solidFill>
              <a:schemeClr val="bg1"/>
            </a:solidFill>
          </p:grpSpPr>
          <p:sp>
            <p:nvSpPr>
              <p:cNvPr id="99" name="Freeform 18">
                <a:extLst>
                  <a:ext uri="{FF2B5EF4-FFF2-40B4-BE49-F238E27FC236}">
                    <a16:creationId xmlns:a16="http://schemas.microsoft.com/office/drawing/2014/main" id="{771FBC60-8A14-8886-2312-8A51960583F4}"/>
                  </a:ext>
                </a:extLst>
              </p:cNvPr>
              <p:cNvSpPr>
                <a:spLocks noEditPoints="1"/>
              </p:cNvSpPr>
              <p:nvPr/>
            </p:nvSpPr>
            <p:spPr bwMode="auto">
              <a:xfrm>
                <a:off x="7680334" y="3084514"/>
                <a:ext cx="1239839" cy="1073150"/>
              </a:xfrm>
              <a:custGeom>
                <a:avLst/>
                <a:gdLst>
                  <a:gd name="T0" fmla="*/ 283 w 3903"/>
                  <a:gd name="T1" fmla="*/ 2312 h 3377"/>
                  <a:gd name="T2" fmla="*/ 3620 w 3903"/>
                  <a:gd name="T3" fmla="*/ 284 h 3377"/>
                  <a:gd name="T4" fmla="*/ 190 w 3903"/>
                  <a:gd name="T5" fmla="*/ 0 h 3377"/>
                  <a:gd name="T6" fmla="*/ 3748 w 3903"/>
                  <a:gd name="T7" fmla="*/ 2 h 3377"/>
                  <a:gd name="T8" fmla="*/ 3809 w 3903"/>
                  <a:gd name="T9" fmla="*/ 26 h 3377"/>
                  <a:gd name="T10" fmla="*/ 3858 w 3903"/>
                  <a:gd name="T11" fmla="*/ 66 h 3377"/>
                  <a:gd name="T12" fmla="*/ 3891 w 3903"/>
                  <a:gd name="T13" fmla="*/ 123 h 3377"/>
                  <a:gd name="T14" fmla="*/ 3903 w 3903"/>
                  <a:gd name="T15" fmla="*/ 189 h 3377"/>
                  <a:gd name="T16" fmla="*/ 3899 w 3903"/>
                  <a:gd name="T17" fmla="*/ 2441 h 3377"/>
                  <a:gd name="T18" fmla="*/ 3877 w 3903"/>
                  <a:gd name="T19" fmla="*/ 2502 h 3377"/>
                  <a:gd name="T20" fmla="*/ 3835 w 3903"/>
                  <a:gd name="T21" fmla="*/ 2552 h 3377"/>
                  <a:gd name="T22" fmla="*/ 3780 w 3903"/>
                  <a:gd name="T23" fmla="*/ 2584 h 3377"/>
                  <a:gd name="T24" fmla="*/ 3713 w 3903"/>
                  <a:gd name="T25" fmla="*/ 2596 h 3377"/>
                  <a:gd name="T26" fmla="*/ 2396 w 3903"/>
                  <a:gd name="T27" fmla="*/ 3027 h 3377"/>
                  <a:gd name="T28" fmla="*/ 2944 w 3903"/>
                  <a:gd name="T29" fmla="*/ 3030 h 3377"/>
                  <a:gd name="T30" fmla="*/ 3006 w 3903"/>
                  <a:gd name="T31" fmla="*/ 3056 h 3377"/>
                  <a:gd name="T32" fmla="*/ 3053 w 3903"/>
                  <a:gd name="T33" fmla="*/ 3104 h 3377"/>
                  <a:gd name="T34" fmla="*/ 3079 w 3903"/>
                  <a:gd name="T35" fmla="*/ 3166 h 3377"/>
                  <a:gd name="T36" fmla="*/ 3079 w 3903"/>
                  <a:gd name="T37" fmla="*/ 3237 h 3377"/>
                  <a:gd name="T38" fmla="*/ 3053 w 3903"/>
                  <a:gd name="T39" fmla="*/ 3300 h 3377"/>
                  <a:gd name="T40" fmla="*/ 3006 w 3903"/>
                  <a:gd name="T41" fmla="*/ 3346 h 3377"/>
                  <a:gd name="T42" fmla="*/ 2944 w 3903"/>
                  <a:gd name="T43" fmla="*/ 3374 h 3377"/>
                  <a:gd name="T44" fmla="*/ 994 w 3903"/>
                  <a:gd name="T45" fmla="*/ 3377 h 3377"/>
                  <a:gd name="T46" fmla="*/ 927 w 3903"/>
                  <a:gd name="T47" fmla="*/ 3363 h 3377"/>
                  <a:gd name="T48" fmla="*/ 871 w 3903"/>
                  <a:gd name="T49" fmla="*/ 3325 h 3377"/>
                  <a:gd name="T50" fmla="*/ 833 w 3903"/>
                  <a:gd name="T51" fmla="*/ 3270 h 3377"/>
                  <a:gd name="T52" fmla="*/ 820 w 3903"/>
                  <a:gd name="T53" fmla="*/ 3201 h 3377"/>
                  <a:gd name="T54" fmla="*/ 833 w 3903"/>
                  <a:gd name="T55" fmla="*/ 3133 h 3377"/>
                  <a:gd name="T56" fmla="*/ 871 w 3903"/>
                  <a:gd name="T57" fmla="*/ 3078 h 3377"/>
                  <a:gd name="T58" fmla="*/ 927 w 3903"/>
                  <a:gd name="T59" fmla="*/ 3040 h 3377"/>
                  <a:gd name="T60" fmla="*/ 994 w 3903"/>
                  <a:gd name="T61" fmla="*/ 3027 h 3377"/>
                  <a:gd name="T62" fmla="*/ 1507 w 3903"/>
                  <a:gd name="T63" fmla="*/ 2596 h 3377"/>
                  <a:gd name="T64" fmla="*/ 155 w 3903"/>
                  <a:gd name="T65" fmla="*/ 2594 h 3377"/>
                  <a:gd name="T66" fmla="*/ 94 w 3903"/>
                  <a:gd name="T67" fmla="*/ 2570 h 3377"/>
                  <a:gd name="T68" fmla="*/ 45 w 3903"/>
                  <a:gd name="T69" fmla="*/ 2529 h 3377"/>
                  <a:gd name="T70" fmla="*/ 12 w 3903"/>
                  <a:gd name="T71" fmla="*/ 2473 h 3377"/>
                  <a:gd name="T72" fmla="*/ 0 w 3903"/>
                  <a:gd name="T73" fmla="*/ 2407 h 3377"/>
                  <a:gd name="T74" fmla="*/ 4 w 3903"/>
                  <a:gd name="T75" fmla="*/ 155 h 3377"/>
                  <a:gd name="T76" fmla="*/ 26 w 3903"/>
                  <a:gd name="T77" fmla="*/ 94 h 3377"/>
                  <a:gd name="T78" fmla="*/ 68 w 3903"/>
                  <a:gd name="T79" fmla="*/ 44 h 3377"/>
                  <a:gd name="T80" fmla="*/ 123 w 3903"/>
                  <a:gd name="T81" fmla="*/ 12 h 3377"/>
                  <a:gd name="T82" fmla="*/ 190 w 3903"/>
                  <a:gd name="T83" fmla="*/ 0 h 3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903" h="3377">
                    <a:moveTo>
                      <a:pt x="283" y="284"/>
                    </a:moveTo>
                    <a:lnTo>
                      <a:pt x="283" y="2312"/>
                    </a:lnTo>
                    <a:lnTo>
                      <a:pt x="3620" y="2312"/>
                    </a:lnTo>
                    <a:lnTo>
                      <a:pt x="3620" y="284"/>
                    </a:lnTo>
                    <a:lnTo>
                      <a:pt x="283" y="284"/>
                    </a:lnTo>
                    <a:close/>
                    <a:moveTo>
                      <a:pt x="190" y="0"/>
                    </a:moveTo>
                    <a:lnTo>
                      <a:pt x="3713" y="0"/>
                    </a:lnTo>
                    <a:lnTo>
                      <a:pt x="3748" y="2"/>
                    </a:lnTo>
                    <a:lnTo>
                      <a:pt x="3780" y="12"/>
                    </a:lnTo>
                    <a:lnTo>
                      <a:pt x="3809" y="26"/>
                    </a:lnTo>
                    <a:lnTo>
                      <a:pt x="3835" y="44"/>
                    </a:lnTo>
                    <a:lnTo>
                      <a:pt x="3858" y="66"/>
                    </a:lnTo>
                    <a:lnTo>
                      <a:pt x="3877" y="94"/>
                    </a:lnTo>
                    <a:lnTo>
                      <a:pt x="3891" y="123"/>
                    </a:lnTo>
                    <a:lnTo>
                      <a:pt x="3899" y="155"/>
                    </a:lnTo>
                    <a:lnTo>
                      <a:pt x="3903" y="189"/>
                    </a:lnTo>
                    <a:lnTo>
                      <a:pt x="3903" y="2407"/>
                    </a:lnTo>
                    <a:lnTo>
                      <a:pt x="3899" y="2441"/>
                    </a:lnTo>
                    <a:lnTo>
                      <a:pt x="3891" y="2473"/>
                    </a:lnTo>
                    <a:lnTo>
                      <a:pt x="3877" y="2502"/>
                    </a:lnTo>
                    <a:lnTo>
                      <a:pt x="3858" y="2529"/>
                    </a:lnTo>
                    <a:lnTo>
                      <a:pt x="3835" y="2552"/>
                    </a:lnTo>
                    <a:lnTo>
                      <a:pt x="3809" y="2570"/>
                    </a:lnTo>
                    <a:lnTo>
                      <a:pt x="3780" y="2584"/>
                    </a:lnTo>
                    <a:lnTo>
                      <a:pt x="3748" y="2594"/>
                    </a:lnTo>
                    <a:lnTo>
                      <a:pt x="3713" y="2596"/>
                    </a:lnTo>
                    <a:lnTo>
                      <a:pt x="2396" y="2596"/>
                    </a:lnTo>
                    <a:lnTo>
                      <a:pt x="2396" y="3027"/>
                    </a:lnTo>
                    <a:lnTo>
                      <a:pt x="2909" y="3027"/>
                    </a:lnTo>
                    <a:lnTo>
                      <a:pt x="2944" y="3030"/>
                    </a:lnTo>
                    <a:lnTo>
                      <a:pt x="2976" y="3040"/>
                    </a:lnTo>
                    <a:lnTo>
                      <a:pt x="3006" y="3056"/>
                    </a:lnTo>
                    <a:lnTo>
                      <a:pt x="3032" y="3078"/>
                    </a:lnTo>
                    <a:lnTo>
                      <a:pt x="3053" y="3104"/>
                    </a:lnTo>
                    <a:lnTo>
                      <a:pt x="3070" y="3133"/>
                    </a:lnTo>
                    <a:lnTo>
                      <a:pt x="3079" y="3166"/>
                    </a:lnTo>
                    <a:lnTo>
                      <a:pt x="3083" y="3201"/>
                    </a:lnTo>
                    <a:lnTo>
                      <a:pt x="3079" y="3237"/>
                    </a:lnTo>
                    <a:lnTo>
                      <a:pt x="3070" y="3270"/>
                    </a:lnTo>
                    <a:lnTo>
                      <a:pt x="3053" y="3300"/>
                    </a:lnTo>
                    <a:lnTo>
                      <a:pt x="3032" y="3325"/>
                    </a:lnTo>
                    <a:lnTo>
                      <a:pt x="3006" y="3346"/>
                    </a:lnTo>
                    <a:lnTo>
                      <a:pt x="2976" y="3363"/>
                    </a:lnTo>
                    <a:lnTo>
                      <a:pt x="2944" y="3374"/>
                    </a:lnTo>
                    <a:lnTo>
                      <a:pt x="2909" y="3377"/>
                    </a:lnTo>
                    <a:lnTo>
                      <a:pt x="994" y="3377"/>
                    </a:lnTo>
                    <a:lnTo>
                      <a:pt x="959" y="3374"/>
                    </a:lnTo>
                    <a:lnTo>
                      <a:pt x="927" y="3363"/>
                    </a:lnTo>
                    <a:lnTo>
                      <a:pt x="897" y="3346"/>
                    </a:lnTo>
                    <a:lnTo>
                      <a:pt x="871" y="3325"/>
                    </a:lnTo>
                    <a:lnTo>
                      <a:pt x="850" y="3300"/>
                    </a:lnTo>
                    <a:lnTo>
                      <a:pt x="833" y="3270"/>
                    </a:lnTo>
                    <a:lnTo>
                      <a:pt x="823" y="3237"/>
                    </a:lnTo>
                    <a:lnTo>
                      <a:pt x="820" y="3201"/>
                    </a:lnTo>
                    <a:lnTo>
                      <a:pt x="823" y="3166"/>
                    </a:lnTo>
                    <a:lnTo>
                      <a:pt x="833" y="3133"/>
                    </a:lnTo>
                    <a:lnTo>
                      <a:pt x="850" y="3104"/>
                    </a:lnTo>
                    <a:lnTo>
                      <a:pt x="871" y="3078"/>
                    </a:lnTo>
                    <a:lnTo>
                      <a:pt x="897" y="3056"/>
                    </a:lnTo>
                    <a:lnTo>
                      <a:pt x="927" y="3040"/>
                    </a:lnTo>
                    <a:lnTo>
                      <a:pt x="959" y="3030"/>
                    </a:lnTo>
                    <a:lnTo>
                      <a:pt x="994" y="3027"/>
                    </a:lnTo>
                    <a:lnTo>
                      <a:pt x="1507" y="3027"/>
                    </a:lnTo>
                    <a:lnTo>
                      <a:pt x="1507" y="2596"/>
                    </a:lnTo>
                    <a:lnTo>
                      <a:pt x="190" y="2596"/>
                    </a:lnTo>
                    <a:lnTo>
                      <a:pt x="155" y="2594"/>
                    </a:lnTo>
                    <a:lnTo>
                      <a:pt x="123" y="2584"/>
                    </a:lnTo>
                    <a:lnTo>
                      <a:pt x="94" y="2570"/>
                    </a:lnTo>
                    <a:lnTo>
                      <a:pt x="68" y="2552"/>
                    </a:lnTo>
                    <a:lnTo>
                      <a:pt x="45" y="2529"/>
                    </a:lnTo>
                    <a:lnTo>
                      <a:pt x="26" y="2502"/>
                    </a:lnTo>
                    <a:lnTo>
                      <a:pt x="12" y="2473"/>
                    </a:lnTo>
                    <a:lnTo>
                      <a:pt x="4" y="2441"/>
                    </a:lnTo>
                    <a:lnTo>
                      <a:pt x="0" y="2407"/>
                    </a:lnTo>
                    <a:lnTo>
                      <a:pt x="0" y="189"/>
                    </a:lnTo>
                    <a:lnTo>
                      <a:pt x="4" y="155"/>
                    </a:lnTo>
                    <a:lnTo>
                      <a:pt x="12" y="123"/>
                    </a:lnTo>
                    <a:lnTo>
                      <a:pt x="26" y="94"/>
                    </a:lnTo>
                    <a:lnTo>
                      <a:pt x="45" y="66"/>
                    </a:lnTo>
                    <a:lnTo>
                      <a:pt x="68" y="44"/>
                    </a:lnTo>
                    <a:lnTo>
                      <a:pt x="94" y="26"/>
                    </a:lnTo>
                    <a:lnTo>
                      <a:pt x="123" y="12"/>
                    </a:lnTo>
                    <a:lnTo>
                      <a:pt x="155" y="2"/>
                    </a:lnTo>
                    <a:lnTo>
                      <a:pt x="190" y="0"/>
                    </a:lnTo>
                    <a:close/>
                  </a:path>
                </a:pathLst>
              </a:custGeom>
              <a:grpFill/>
              <a:ln w="0">
                <a:noFill/>
                <a:prstDash val="solid"/>
                <a:round/>
              </a:ln>
            </p:spPr>
            <p:txBody>
              <a:bodyPr lIns="68580" tIns="34290" rIns="68580" bIns="3429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800" b="0" i="0" u="none" strike="noStrike" kern="1200" cap="none" spc="0" normalizeH="0" baseline="0" noProof="0" dirty="0">
                  <a:ln>
                    <a:noFill/>
                  </a:ln>
                  <a:solidFill>
                    <a:schemeClr val="tx1"/>
                  </a:solidFill>
                  <a:effectLst/>
                  <a:uLnTx/>
                  <a:uFillTx/>
                  <a:latin typeface="+mn-ea"/>
                  <a:cs typeface="+mn-cs"/>
                </a:endParaRPr>
              </a:p>
            </p:txBody>
          </p:sp>
          <p:sp>
            <p:nvSpPr>
              <p:cNvPr id="100" name="Freeform 19">
                <a:extLst>
                  <a:ext uri="{FF2B5EF4-FFF2-40B4-BE49-F238E27FC236}">
                    <a16:creationId xmlns:a16="http://schemas.microsoft.com/office/drawing/2014/main" id="{21C79081-8F07-E432-14CF-DC99067BE08E}"/>
                  </a:ext>
                </a:extLst>
              </p:cNvPr>
              <p:cNvSpPr/>
              <p:nvPr/>
            </p:nvSpPr>
            <p:spPr bwMode="auto">
              <a:xfrm>
                <a:off x="7942272" y="3370263"/>
                <a:ext cx="263525" cy="252413"/>
              </a:xfrm>
              <a:custGeom>
                <a:avLst/>
                <a:gdLst>
                  <a:gd name="T0" fmla="*/ 712 w 828"/>
                  <a:gd name="T1" fmla="*/ 0 h 797"/>
                  <a:gd name="T2" fmla="*/ 733 w 828"/>
                  <a:gd name="T3" fmla="*/ 2 h 797"/>
                  <a:gd name="T4" fmla="*/ 755 w 828"/>
                  <a:gd name="T5" fmla="*/ 8 h 797"/>
                  <a:gd name="T6" fmla="*/ 774 w 828"/>
                  <a:gd name="T7" fmla="*/ 19 h 797"/>
                  <a:gd name="T8" fmla="*/ 793 w 828"/>
                  <a:gd name="T9" fmla="*/ 33 h 797"/>
                  <a:gd name="T10" fmla="*/ 808 w 828"/>
                  <a:gd name="T11" fmla="*/ 51 h 797"/>
                  <a:gd name="T12" fmla="*/ 819 w 828"/>
                  <a:gd name="T13" fmla="*/ 71 h 797"/>
                  <a:gd name="T14" fmla="*/ 826 w 828"/>
                  <a:gd name="T15" fmla="*/ 93 h 797"/>
                  <a:gd name="T16" fmla="*/ 828 w 828"/>
                  <a:gd name="T17" fmla="*/ 116 h 797"/>
                  <a:gd name="T18" fmla="*/ 828 w 828"/>
                  <a:gd name="T19" fmla="*/ 119 h 797"/>
                  <a:gd name="T20" fmla="*/ 825 w 828"/>
                  <a:gd name="T21" fmla="*/ 146 h 797"/>
                  <a:gd name="T22" fmla="*/ 816 w 828"/>
                  <a:gd name="T23" fmla="*/ 170 h 797"/>
                  <a:gd name="T24" fmla="*/ 802 w 828"/>
                  <a:gd name="T25" fmla="*/ 192 h 797"/>
                  <a:gd name="T26" fmla="*/ 783 w 828"/>
                  <a:gd name="T27" fmla="*/ 210 h 797"/>
                  <a:gd name="T28" fmla="*/ 761 w 828"/>
                  <a:gd name="T29" fmla="*/ 225 h 797"/>
                  <a:gd name="T30" fmla="*/ 387 w 828"/>
                  <a:gd name="T31" fmla="*/ 398 h 797"/>
                  <a:gd name="T32" fmla="*/ 761 w 828"/>
                  <a:gd name="T33" fmla="*/ 573 h 797"/>
                  <a:gd name="T34" fmla="*/ 783 w 828"/>
                  <a:gd name="T35" fmla="*/ 586 h 797"/>
                  <a:gd name="T36" fmla="*/ 802 w 828"/>
                  <a:gd name="T37" fmla="*/ 605 h 797"/>
                  <a:gd name="T38" fmla="*/ 816 w 828"/>
                  <a:gd name="T39" fmla="*/ 626 h 797"/>
                  <a:gd name="T40" fmla="*/ 825 w 828"/>
                  <a:gd name="T41" fmla="*/ 651 h 797"/>
                  <a:gd name="T42" fmla="*/ 828 w 828"/>
                  <a:gd name="T43" fmla="*/ 677 h 797"/>
                  <a:gd name="T44" fmla="*/ 828 w 828"/>
                  <a:gd name="T45" fmla="*/ 681 h 797"/>
                  <a:gd name="T46" fmla="*/ 826 w 828"/>
                  <a:gd name="T47" fmla="*/ 705 h 797"/>
                  <a:gd name="T48" fmla="*/ 819 w 828"/>
                  <a:gd name="T49" fmla="*/ 726 h 797"/>
                  <a:gd name="T50" fmla="*/ 808 w 828"/>
                  <a:gd name="T51" fmla="*/ 746 h 797"/>
                  <a:gd name="T52" fmla="*/ 793 w 828"/>
                  <a:gd name="T53" fmla="*/ 764 h 797"/>
                  <a:gd name="T54" fmla="*/ 774 w 828"/>
                  <a:gd name="T55" fmla="*/ 778 h 797"/>
                  <a:gd name="T56" fmla="*/ 755 w 828"/>
                  <a:gd name="T57" fmla="*/ 789 h 797"/>
                  <a:gd name="T58" fmla="*/ 733 w 828"/>
                  <a:gd name="T59" fmla="*/ 795 h 797"/>
                  <a:gd name="T60" fmla="*/ 712 w 828"/>
                  <a:gd name="T61" fmla="*/ 797 h 797"/>
                  <a:gd name="T62" fmla="*/ 687 w 828"/>
                  <a:gd name="T63" fmla="*/ 794 h 797"/>
                  <a:gd name="T64" fmla="*/ 664 w 828"/>
                  <a:gd name="T65" fmla="*/ 787 h 797"/>
                  <a:gd name="T66" fmla="*/ 66 w 828"/>
                  <a:gd name="T67" fmla="*/ 509 h 797"/>
                  <a:gd name="T68" fmla="*/ 44 w 828"/>
                  <a:gd name="T69" fmla="*/ 494 h 797"/>
                  <a:gd name="T70" fmla="*/ 26 w 828"/>
                  <a:gd name="T71" fmla="*/ 475 h 797"/>
                  <a:gd name="T72" fmla="*/ 12 w 828"/>
                  <a:gd name="T73" fmla="*/ 454 h 797"/>
                  <a:gd name="T74" fmla="*/ 2 w 828"/>
                  <a:gd name="T75" fmla="*/ 429 h 797"/>
                  <a:gd name="T76" fmla="*/ 0 w 828"/>
                  <a:gd name="T77" fmla="*/ 403 h 797"/>
                  <a:gd name="T78" fmla="*/ 0 w 828"/>
                  <a:gd name="T79" fmla="*/ 394 h 797"/>
                  <a:gd name="T80" fmla="*/ 2 w 828"/>
                  <a:gd name="T81" fmla="*/ 368 h 797"/>
                  <a:gd name="T82" fmla="*/ 12 w 828"/>
                  <a:gd name="T83" fmla="*/ 343 h 797"/>
                  <a:gd name="T84" fmla="*/ 26 w 828"/>
                  <a:gd name="T85" fmla="*/ 321 h 797"/>
                  <a:gd name="T86" fmla="*/ 44 w 828"/>
                  <a:gd name="T87" fmla="*/ 303 h 797"/>
                  <a:gd name="T88" fmla="*/ 66 w 828"/>
                  <a:gd name="T89" fmla="*/ 289 h 797"/>
                  <a:gd name="T90" fmla="*/ 664 w 828"/>
                  <a:gd name="T91" fmla="*/ 11 h 797"/>
                  <a:gd name="T92" fmla="*/ 687 w 828"/>
                  <a:gd name="T93" fmla="*/ 3 h 797"/>
                  <a:gd name="T94" fmla="*/ 712 w 828"/>
                  <a:gd name="T95" fmla="*/ 0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28" h="797">
                    <a:moveTo>
                      <a:pt x="712" y="0"/>
                    </a:moveTo>
                    <a:lnTo>
                      <a:pt x="733" y="2"/>
                    </a:lnTo>
                    <a:lnTo>
                      <a:pt x="755" y="8"/>
                    </a:lnTo>
                    <a:lnTo>
                      <a:pt x="774" y="19"/>
                    </a:lnTo>
                    <a:lnTo>
                      <a:pt x="793" y="33"/>
                    </a:lnTo>
                    <a:lnTo>
                      <a:pt x="808" y="51"/>
                    </a:lnTo>
                    <a:lnTo>
                      <a:pt x="819" y="71"/>
                    </a:lnTo>
                    <a:lnTo>
                      <a:pt x="826" y="93"/>
                    </a:lnTo>
                    <a:lnTo>
                      <a:pt x="828" y="116"/>
                    </a:lnTo>
                    <a:lnTo>
                      <a:pt x="828" y="119"/>
                    </a:lnTo>
                    <a:lnTo>
                      <a:pt x="825" y="146"/>
                    </a:lnTo>
                    <a:lnTo>
                      <a:pt x="816" y="170"/>
                    </a:lnTo>
                    <a:lnTo>
                      <a:pt x="802" y="192"/>
                    </a:lnTo>
                    <a:lnTo>
                      <a:pt x="783" y="210"/>
                    </a:lnTo>
                    <a:lnTo>
                      <a:pt x="761" y="225"/>
                    </a:lnTo>
                    <a:lnTo>
                      <a:pt x="387" y="398"/>
                    </a:lnTo>
                    <a:lnTo>
                      <a:pt x="761" y="573"/>
                    </a:lnTo>
                    <a:lnTo>
                      <a:pt x="783" y="586"/>
                    </a:lnTo>
                    <a:lnTo>
                      <a:pt x="802" y="605"/>
                    </a:lnTo>
                    <a:lnTo>
                      <a:pt x="816" y="626"/>
                    </a:lnTo>
                    <a:lnTo>
                      <a:pt x="825" y="651"/>
                    </a:lnTo>
                    <a:lnTo>
                      <a:pt x="828" y="677"/>
                    </a:lnTo>
                    <a:lnTo>
                      <a:pt x="828" y="681"/>
                    </a:lnTo>
                    <a:lnTo>
                      <a:pt x="826" y="705"/>
                    </a:lnTo>
                    <a:lnTo>
                      <a:pt x="819" y="726"/>
                    </a:lnTo>
                    <a:lnTo>
                      <a:pt x="808" y="746"/>
                    </a:lnTo>
                    <a:lnTo>
                      <a:pt x="793" y="764"/>
                    </a:lnTo>
                    <a:lnTo>
                      <a:pt x="774" y="778"/>
                    </a:lnTo>
                    <a:lnTo>
                      <a:pt x="755" y="789"/>
                    </a:lnTo>
                    <a:lnTo>
                      <a:pt x="733" y="795"/>
                    </a:lnTo>
                    <a:lnTo>
                      <a:pt x="712" y="797"/>
                    </a:lnTo>
                    <a:lnTo>
                      <a:pt x="687" y="794"/>
                    </a:lnTo>
                    <a:lnTo>
                      <a:pt x="664" y="787"/>
                    </a:lnTo>
                    <a:lnTo>
                      <a:pt x="66" y="509"/>
                    </a:lnTo>
                    <a:lnTo>
                      <a:pt x="44" y="494"/>
                    </a:lnTo>
                    <a:lnTo>
                      <a:pt x="26" y="475"/>
                    </a:lnTo>
                    <a:lnTo>
                      <a:pt x="12" y="454"/>
                    </a:lnTo>
                    <a:lnTo>
                      <a:pt x="2" y="429"/>
                    </a:lnTo>
                    <a:lnTo>
                      <a:pt x="0" y="403"/>
                    </a:lnTo>
                    <a:lnTo>
                      <a:pt x="0" y="394"/>
                    </a:lnTo>
                    <a:lnTo>
                      <a:pt x="2" y="368"/>
                    </a:lnTo>
                    <a:lnTo>
                      <a:pt x="12" y="343"/>
                    </a:lnTo>
                    <a:lnTo>
                      <a:pt x="26" y="321"/>
                    </a:lnTo>
                    <a:lnTo>
                      <a:pt x="44" y="303"/>
                    </a:lnTo>
                    <a:lnTo>
                      <a:pt x="66" y="289"/>
                    </a:lnTo>
                    <a:lnTo>
                      <a:pt x="664" y="11"/>
                    </a:lnTo>
                    <a:lnTo>
                      <a:pt x="687" y="3"/>
                    </a:lnTo>
                    <a:lnTo>
                      <a:pt x="712" y="0"/>
                    </a:lnTo>
                    <a:close/>
                  </a:path>
                </a:pathLst>
              </a:custGeom>
              <a:grpFill/>
              <a:ln w="0">
                <a:noFill/>
                <a:prstDash val="solid"/>
                <a:round/>
              </a:ln>
            </p:spPr>
            <p:txBody>
              <a:bodyPr lIns="68580" tIns="34290" rIns="68580" bIns="3429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800" b="0" i="0" u="none" strike="noStrike" kern="1200" cap="none" spc="0" normalizeH="0" baseline="0" noProof="0" dirty="0">
                  <a:ln>
                    <a:noFill/>
                  </a:ln>
                  <a:solidFill>
                    <a:schemeClr val="tx1"/>
                  </a:solidFill>
                  <a:effectLst/>
                  <a:uLnTx/>
                  <a:uFillTx/>
                  <a:latin typeface="+mn-ea"/>
                  <a:cs typeface="+mn-cs"/>
                </a:endParaRPr>
              </a:p>
            </p:txBody>
          </p:sp>
          <p:sp>
            <p:nvSpPr>
              <p:cNvPr id="101" name="Freeform 20">
                <a:extLst>
                  <a:ext uri="{FF2B5EF4-FFF2-40B4-BE49-F238E27FC236}">
                    <a16:creationId xmlns:a16="http://schemas.microsoft.com/office/drawing/2014/main" id="{9FC460EB-53DF-4579-CBC8-C00C95F2679A}"/>
                  </a:ext>
                </a:extLst>
              </p:cNvPr>
              <p:cNvSpPr/>
              <p:nvPr/>
            </p:nvSpPr>
            <p:spPr bwMode="auto">
              <a:xfrm>
                <a:off x="8201029" y="3265489"/>
                <a:ext cx="198438" cy="460375"/>
              </a:xfrm>
              <a:custGeom>
                <a:avLst/>
                <a:gdLst>
                  <a:gd name="T0" fmla="*/ 507 w 625"/>
                  <a:gd name="T1" fmla="*/ 0 h 1452"/>
                  <a:gd name="T2" fmla="*/ 510 w 625"/>
                  <a:gd name="T3" fmla="*/ 0 h 1452"/>
                  <a:gd name="T4" fmla="*/ 538 w 625"/>
                  <a:gd name="T5" fmla="*/ 2 h 1452"/>
                  <a:gd name="T6" fmla="*/ 562 w 625"/>
                  <a:gd name="T7" fmla="*/ 11 h 1452"/>
                  <a:gd name="T8" fmla="*/ 585 w 625"/>
                  <a:gd name="T9" fmla="*/ 27 h 1452"/>
                  <a:gd name="T10" fmla="*/ 604 w 625"/>
                  <a:gd name="T11" fmla="*/ 47 h 1452"/>
                  <a:gd name="T12" fmla="*/ 617 w 625"/>
                  <a:gd name="T13" fmla="*/ 71 h 1452"/>
                  <a:gd name="T14" fmla="*/ 624 w 625"/>
                  <a:gd name="T15" fmla="*/ 97 h 1452"/>
                  <a:gd name="T16" fmla="*/ 625 w 625"/>
                  <a:gd name="T17" fmla="*/ 124 h 1452"/>
                  <a:gd name="T18" fmla="*/ 621 w 625"/>
                  <a:gd name="T19" fmla="*/ 150 h 1452"/>
                  <a:gd name="T20" fmla="*/ 228 w 625"/>
                  <a:gd name="T21" fmla="*/ 1371 h 1452"/>
                  <a:gd name="T22" fmla="*/ 218 w 625"/>
                  <a:gd name="T23" fmla="*/ 1394 h 1452"/>
                  <a:gd name="T24" fmla="*/ 203 w 625"/>
                  <a:gd name="T25" fmla="*/ 1414 h 1452"/>
                  <a:gd name="T26" fmla="*/ 186 w 625"/>
                  <a:gd name="T27" fmla="*/ 1430 h 1452"/>
                  <a:gd name="T28" fmla="*/ 166 w 625"/>
                  <a:gd name="T29" fmla="*/ 1442 h 1452"/>
                  <a:gd name="T30" fmla="*/ 142 w 625"/>
                  <a:gd name="T31" fmla="*/ 1449 h 1452"/>
                  <a:gd name="T32" fmla="*/ 118 w 625"/>
                  <a:gd name="T33" fmla="*/ 1452 h 1452"/>
                  <a:gd name="T34" fmla="*/ 115 w 625"/>
                  <a:gd name="T35" fmla="*/ 1452 h 1452"/>
                  <a:gd name="T36" fmla="*/ 87 w 625"/>
                  <a:gd name="T37" fmla="*/ 1449 h 1452"/>
                  <a:gd name="T38" fmla="*/ 62 w 625"/>
                  <a:gd name="T39" fmla="*/ 1440 h 1452"/>
                  <a:gd name="T40" fmla="*/ 40 w 625"/>
                  <a:gd name="T41" fmla="*/ 1424 h 1452"/>
                  <a:gd name="T42" fmla="*/ 21 w 625"/>
                  <a:gd name="T43" fmla="*/ 1404 h 1452"/>
                  <a:gd name="T44" fmla="*/ 8 w 625"/>
                  <a:gd name="T45" fmla="*/ 1380 h 1452"/>
                  <a:gd name="T46" fmla="*/ 1 w 625"/>
                  <a:gd name="T47" fmla="*/ 1354 h 1452"/>
                  <a:gd name="T48" fmla="*/ 0 w 625"/>
                  <a:gd name="T49" fmla="*/ 1327 h 1452"/>
                  <a:gd name="T50" fmla="*/ 4 w 625"/>
                  <a:gd name="T51" fmla="*/ 1301 h 1452"/>
                  <a:gd name="T52" fmla="*/ 397 w 625"/>
                  <a:gd name="T53" fmla="*/ 80 h 1452"/>
                  <a:gd name="T54" fmla="*/ 407 w 625"/>
                  <a:gd name="T55" fmla="*/ 57 h 1452"/>
                  <a:gd name="T56" fmla="*/ 421 w 625"/>
                  <a:gd name="T57" fmla="*/ 38 h 1452"/>
                  <a:gd name="T58" fmla="*/ 439 w 625"/>
                  <a:gd name="T59" fmla="*/ 21 h 1452"/>
                  <a:gd name="T60" fmla="*/ 459 w 625"/>
                  <a:gd name="T61" fmla="*/ 9 h 1452"/>
                  <a:gd name="T62" fmla="*/ 483 w 625"/>
                  <a:gd name="T63" fmla="*/ 2 h 1452"/>
                  <a:gd name="T64" fmla="*/ 507 w 625"/>
                  <a:gd name="T65" fmla="*/ 0 h 1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25" h="1452">
                    <a:moveTo>
                      <a:pt x="507" y="0"/>
                    </a:moveTo>
                    <a:lnTo>
                      <a:pt x="510" y="0"/>
                    </a:lnTo>
                    <a:lnTo>
                      <a:pt x="538" y="2"/>
                    </a:lnTo>
                    <a:lnTo>
                      <a:pt x="562" y="11"/>
                    </a:lnTo>
                    <a:lnTo>
                      <a:pt x="585" y="27"/>
                    </a:lnTo>
                    <a:lnTo>
                      <a:pt x="604" y="47"/>
                    </a:lnTo>
                    <a:lnTo>
                      <a:pt x="617" y="71"/>
                    </a:lnTo>
                    <a:lnTo>
                      <a:pt x="624" y="97"/>
                    </a:lnTo>
                    <a:lnTo>
                      <a:pt x="625" y="124"/>
                    </a:lnTo>
                    <a:lnTo>
                      <a:pt x="621" y="150"/>
                    </a:lnTo>
                    <a:lnTo>
                      <a:pt x="228" y="1371"/>
                    </a:lnTo>
                    <a:lnTo>
                      <a:pt x="218" y="1394"/>
                    </a:lnTo>
                    <a:lnTo>
                      <a:pt x="203" y="1414"/>
                    </a:lnTo>
                    <a:lnTo>
                      <a:pt x="186" y="1430"/>
                    </a:lnTo>
                    <a:lnTo>
                      <a:pt x="166" y="1442"/>
                    </a:lnTo>
                    <a:lnTo>
                      <a:pt x="142" y="1449"/>
                    </a:lnTo>
                    <a:lnTo>
                      <a:pt x="118" y="1452"/>
                    </a:lnTo>
                    <a:lnTo>
                      <a:pt x="115" y="1452"/>
                    </a:lnTo>
                    <a:lnTo>
                      <a:pt x="87" y="1449"/>
                    </a:lnTo>
                    <a:lnTo>
                      <a:pt x="62" y="1440"/>
                    </a:lnTo>
                    <a:lnTo>
                      <a:pt x="40" y="1424"/>
                    </a:lnTo>
                    <a:lnTo>
                      <a:pt x="21" y="1404"/>
                    </a:lnTo>
                    <a:lnTo>
                      <a:pt x="8" y="1380"/>
                    </a:lnTo>
                    <a:lnTo>
                      <a:pt x="1" y="1354"/>
                    </a:lnTo>
                    <a:lnTo>
                      <a:pt x="0" y="1327"/>
                    </a:lnTo>
                    <a:lnTo>
                      <a:pt x="4" y="1301"/>
                    </a:lnTo>
                    <a:lnTo>
                      <a:pt x="397" y="80"/>
                    </a:lnTo>
                    <a:lnTo>
                      <a:pt x="407" y="57"/>
                    </a:lnTo>
                    <a:lnTo>
                      <a:pt x="421" y="38"/>
                    </a:lnTo>
                    <a:lnTo>
                      <a:pt x="439" y="21"/>
                    </a:lnTo>
                    <a:lnTo>
                      <a:pt x="459" y="9"/>
                    </a:lnTo>
                    <a:lnTo>
                      <a:pt x="483" y="2"/>
                    </a:lnTo>
                    <a:lnTo>
                      <a:pt x="507" y="0"/>
                    </a:lnTo>
                    <a:close/>
                  </a:path>
                </a:pathLst>
              </a:custGeom>
              <a:grpFill/>
              <a:ln w="0">
                <a:noFill/>
                <a:prstDash val="solid"/>
                <a:round/>
              </a:ln>
            </p:spPr>
            <p:txBody>
              <a:bodyPr lIns="68580" tIns="34290" rIns="68580" bIns="3429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800" b="0" i="0" u="none" strike="noStrike" kern="1200" cap="none" spc="0" normalizeH="0" baseline="0" noProof="0" dirty="0">
                  <a:ln>
                    <a:noFill/>
                  </a:ln>
                  <a:solidFill>
                    <a:schemeClr val="tx1"/>
                  </a:solidFill>
                  <a:effectLst/>
                  <a:uLnTx/>
                  <a:uFillTx/>
                  <a:latin typeface="+mn-ea"/>
                  <a:cs typeface="+mn-cs"/>
                </a:endParaRPr>
              </a:p>
            </p:txBody>
          </p:sp>
          <p:sp>
            <p:nvSpPr>
              <p:cNvPr id="102" name="Freeform 21">
                <a:extLst>
                  <a:ext uri="{FF2B5EF4-FFF2-40B4-BE49-F238E27FC236}">
                    <a16:creationId xmlns:a16="http://schemas.microsoft.com/office/drawing/2014/main" id="{03AF5725-4BEA-97DE-E9CA-971F661AA14B}"/>
                  </a:ext>
                </a:extLst>
              </p:cNvPr>
              <p:cNvSpPr/>
              <p:nvPr/>
            </p:nvSpPr>
            <p:spPr bwMode="auto">
              <a:xfrm>
                <a:off x="8394701" y="3370262"/>
                <a:ext cx="261938" cy="252413"/>
              </a:xfrm>
              <a:custGeom>
                <a:avLst/>
                <a:gdLst>
                  <a:gd name="T0" fmla="*/ 116 w 828"/>
                  <a:gd name="T1" fmla="*/ 0 h 797"/>
                  <a:gd name="T2" fmla="*/ 141 w 828"/>
                  <a:gd name="T3" fmla="*/ 3 h 797"/>
                  <a:gd name="T4" fmla="*/ 164 w 828"/>
                  <a:gd name="T5" fmla="*/ 11 h 797"/>
                  <a:gd name="T6" fmla="*/ 762 w 828"/>
                  <a:gd name="T7" fmla="*/ 289 h 797"/>
                  <a:gd name="T8" fmla="*/ 784 w 828"/>
                  <a:gd name="T9" fmla="*/ 303 h 797"/>
                  <a:gd name="T10" fmla="*/ 802 w 828"/>
                  <a:gd name="T11" fmla="*/ 321 h 797"/>
                  <a:gd name="T12" fmla="*/ 816 w 828"/>
                  <a:gd name="T13" fmla="*/ 343 h 797"/>
                  <a:gd name="T14" fmla="*/ 825 w 828"/>
                  <a:gd name="T15" fmla="*/ 368 h 797"/>
                  <a:gd name="T16" fmla="*/ 828 w 828"/>
                  <a:gd name="T17" fmla="*/ 394 h 797"/>
                  <a:gd name="T18" fmla="*/ 828 w 828"/>
                  <a:gd name="T19" fmla="*/ 403 h 797"/>
                  <a:gd name="T20" fmla="*/ 825 w 828"/>
                  <a:gd name="T21" fmla="*/ 429 h 797"/>
                  <a:gd name="T22" fmla="*/ 816 w 828"/>
                  <a:gd name="T23" fmla="*/ 454 h 797"/>
                  <a:gd name="T24" fmla="*/ 802 w 828"/>
                  <a:gd name="T25" fmla="*/ 475 h 797"/>
                  <a:gd name="T26" fmla="*/ 784 w 828"/>
                  <a:gd name="T27" fmla="*/ 494 h 797"/>
                  <a:gd name="T28" fmla="*/ 762 w 828"/>
                  <a:gd name="T29" fmla="*/ 509 h 797"/>
                  <a:gd name="T30" fmla="*/ 164 w 828"/>
                  <a:gd name="T31" fmla="*/ 787 h 797"/>
                  <a:gd name="T32" fmla="*/ 141 w 828"/>
                  <a:gd name="T33" fmla="*/ 794 h 797"/>
                  <a:gd name="T34" fmla="*/ 116 w 828"/>
                  <a:gd name="T35" fmla="*/ 797 h 797"/>
                  <a:gd name="T36" fmla="*/ 94 w 828"/>
                  <a:gd name="T37" fmla="*/ 795 h 797"/>
                  <a:gd name="T38" fmla="*/ 73 w 828"/>
                  <a:gd name="T39" fmla="*/ 789 h 797"/>
                  <a:gd name="T40" fmla="*/ 54 w 828"/>
                  <a:gd name="T41" fmla="*/ 778 h 797"/>
                  <a:gd name="T42" fmla="*/ 35 w 828"/>
                  <a:gd name="T43" fmla="*/ 764 h 797"/>
                  <a:gd name="T44" fmla="*/ 20 w 828"/>
                  <a:gd name="T45" fmla="*/ 746 h 797"/>
                  <a:gd name="T46" fmla="*/ 9 w 828"/>
                  <a:gd name="T47" fmla="*/ 726 h 797"/>
                  <a:gd name="T48" fmla="*/ 2 w 828"/>
                  <a:gd name="T49" fmla="*/ 705 h 797"/>
                  <a:gd name="T50" fmla="*/ 0 w 828"/>
                  <a:gd name="T51" fmla="*/ 681 h 797"/>
                  <a:gd name="T52" fmla="*/ 0 w 828"/>
                  <a:gd name="T53" fmla="*/ 677 h 797"/>
                  <a:gd name="T54" fmla="*/ 3 w 828"/>
                  <a:gd name="T55" fmla="*/ 651 h 797"/>
                  <a:gd name="T56" fmla="*/ 12 w 828"/>
                  <a:gd name="T57" fmla="*/ 626 h 797"/>
                  <a:gd name="T58" fmla="*/ 26 w 828"/>
                  <a:gd name="T59" fmla="*/ 605 h 797"/>
                  <a:gd name="T60" fmla="*/ 45 w 828"/>
                  <a:gd name="T61" fmla="*/ 586 h 797"/>
                  <a:gd name="T62" fmla="*/ 67 w 828"/>
                  <a:gd name="T63" fmla="*/ 573 h 797"/>
                  <a:gd name="T64" fmla="*/ 440 w 828"/>
                  <a:gd name="T65" fmla="*/ 398 h 797"/>
                  <a:gd name="T66" fmla="*/ 67 w 828"/>
                  <a:gd name="T67" fmla="*/ 225 h 797"/>
                  <a:gd name="T68" fmla="*/ 45 w 828"/>
                  <a:gd name="T69" fmla="*/ 210 h 797"/>
                  <a:gd name="T70" fmla="*/ 26 w 828"/>
                  <a:gd name="T71" fmla="*/ 192 h 797"/>
                  <a:gd name="T72" fmla="*/ 12 w 828"/>
                  <a:gd name="T73" fmla="*/ 170 h 797"/>
                  <a:gd name="T74" fmla="*/ 3 w 828"/>
                  <a:gd name="T75" fmla="*/ 146 h 797"/>
                  <a:gd name="T76" fmla="*/ 0 w 828"/>
                  <a:gd name="T77" fmla="*/ 119 h 797"/>
                  <a:gd name="T78" fmla="*/ 0 w 828"/>
                  <a:gd name="T79" fmla="*/ 116 h 797"/>
                  <a:gd name="T80" fmla="*/ 2 w 828"/>
                  <a:gd name="T81" fmla="*/ 93 h 797"/>
                  <a:gd name="T82" fmla="*/ 9 w 828"/>
                  <a:gd name="T83" fmla="*/ 71 h 797"/>
                  <a:gd name="T84" fmla="*/ 20 w 828"/>
                  <a:gd name="T85" fmla="*/ 51 h 797"/>
                  <a:gd name="T86" fmla="*/ 35 w 828"/>
                  <a:gd name="T87" fmla="*/ 33 h 797"/>
                  <a:gd name="T88" fmla="*/ 54 w 828"/>
                  <a:gd name="T89" fmla="*/ 18 h 797"/>
                  <a:gd name="T90" fmla="*/ 73 w 828"/>
                  <a:gd name="T91" fmla="*/ 8 h 797"/>
                  <a:gd name="T92" fmla="*/ 94 w 828"/>
                  <a:gd name="T93" fmla="*/ 2 h 797"/>
                  <a:gd name="T94" fmla="*/ 116 w 828"/>
                  <a:gd name="T95" fmla="*/ 0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28" h="797">
                    <a:moveTo>
                      <a:pt x="116" y="0"/>
                    </a:moveTo>
                    <a:lnTo>
                      <a:pt x="141" y="3"/>
                    </a:lnTo>
                    <a:lnTo>
                      <a:pt x="164" y="11"/>
                    </a:lnTo>
                    <a:lnTo>
                      <a:pt x="762" y="289"/>
                    </a:lnTo>
                    <a:lnTo>
                      <a:pt x="784" y="303"/>
                    </a:lnTo>
                    <a:lnTo>
                      <a:pt x="802" y="321"/>
                    </a:lnTo>
                    <a:lnTo>
                      <a:pt x="816" y="343"/>
                    </a:lnTo>
                    <a:lnTo>
                      <a:pt x="825" y="368"/>
                    </a:lnTo>
                    <a:lnTo>
                      <a:pt x="828" y="394"/>
                    </a:lnTo>
                    <a:lnTo>
                      <a:pt x="828" y="403"/>
                    </a:lnTo>
                    <a:lnTo>
                      <a:pt x="825" y="429"/>
                    </a:lnTo>
                    <a:lnTo>
                      <a:pt x="816" y="454"/>
                    </a:lnTo>
                    <a:lnTo>
                      <a:pt x="802" y="475"/>
                    </a:lnTo>
                    <a:lnTo>
                      <a:pt x="784" y="494"/>
                    </a:lnTo>
                    <a:lnTo>
                      <a:pt x="762" y="509"/>
                    </a:lnTo>
                    <a:lnTo>
                      <a:pt x="164" y="787"/>
                    </a:lnTo>
                    <a:lnTo>
                      <a:pt x="141" y="794"/>
                    </a:lnTo>
                    <a:lnTo>
                      <a:pt x="116" y="797"/>
                    </a:lnTo>
                    <a:lnTo>
                      <a:pt x="94" y="795"/>
                    </a:lnTo>
                    <a:lnTo>
                      <a:pt x="73" y="789"/>
                    </a:lnTo>
                    <a:lnTo>
                      <a:pt x="54" y="778"/>
                    </a:lnTo>
                    <a:lnTo>
                      <a:pt x="35" y="764"/>
                    </a:lnTo>
                    <a:lnTo>
                      <a:pt x="20" y="746"/>
                    </a:lnTo>
                    <a:lnTo>
                      <a:pt x="9" y="726"/>
                    </a:lnTo>
                    <a:lnTo>
                      <a:pt x="2" y="705"/>
                    </a:lnTo>
                    <a:lnTo>
                      <a:pt x="0" y="681"/>
                    </a:lnTo>
                    <a:lnTo>
                      <a:pt x="0" y="677"/>
                    </a:lnTo>
                    <a:lnTo>
                      <a:pt x="3" y="651"/>
                    </a:lnTo>
                    <a:lnTo>
                      <a:pt x="12" y="626"/>
                    </a:lnTo>
                    <a:lnTo>
                      <a:pt x="26" y="605"/>
                    </a:lnTo>
                    <a:lnTo>
                      <a:pt x="45" y="586"/>
                    </a:lnTo>
                    <a:lnTo>
                      <a:pt x="67" y="573"/>
                    </a:lnTo>
                    <a:lnTo>
                      <a:pt x="440" y="398"/>
                    </a:lnTo>
                    <a:lnTo>
                      <a:pt x="67" y="225"/>
                    </a:lnTo>
                    <a:lnTo>
                      <a:pt x="45" y="210"/>
                    </a:lnTo>
                    <a:lnTo>
                      <a:pt x="26" y="192"/>
                    </a:lnTo>
                    <a:lnTo>
                      <a:pt x="12" y="170"/>
                    </a:lnTo>
                    <a:lnTo>
                      <a:pt x="3" y="146"/>
                    </a:lnTo>
                    <a:lnTo>
                      <a:pt x="0" y="119"/>
                    </a:lnTo>
                    <a:lnTo>
                      <a:pt x="0" y="116"/>
                    </a:lnTo>
                    <a:lnTo>
                      <a:pt x="2" y="93"/>
                    </a:lnTo>
                    <a:lnTo>
                      <a:pt x="9" y="71"/>
                    </a:lnTo>
                    <a:lnTo>
                      <a:pt x="20" y="51"/>
                    </a:lnTo>
                    <a:lnTo>
                      <a:pt x="35" y="33"/>
                    </a:lnTo>
                    <a:lnTo>
                      <a:pt x="54" y="18"/>
                    </a:lnTo>
                    <a:lnTo>
                      <a:pt x="73" y="8"/>
                    </a:lnTo>
                    <a:lnTo>
                      <a:pt x="94" y="2"/>
                    </a:lnTo>
                    <a:lnTo>
                      <a:pt x="116" y="0"/>
                    </a:lnTo>
                    <a:close/>
                  </a:path>
                </a:pathLst>
              </a:custGeom>
              <a:grpFill/>
              <a:ln w="0">
                <a:noFill/>
                <a:prstDash val="solid"/>
                <a:round/>
              </a:ln>
            </p:spPr>
            <p:txBody>
              <a:bodyPr lIns="68580" tIns="34290" rIns="68580" bIns="3429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800" b="0" i="0" u="none" strike="noStrike" kern="1200" cap="none" spc="0" normalizeH="0" baseline="0" noProof="0" dirty="0">
                  <a:ln>
                    <a:noFill/>
                  </a:ln>
                  <a:solidFill>
                    <a:schemeClr val="tx1"/>
                  </a:solidFill>
                  <a:effectLst/>
                  <a:uLnTx/>
                  <a:uFillTx/>
                  <a:latin typeface="+mn-ea"/>
                  <a:cs typeface="+mn-cs"/>
                </a:endParaRPr>
              </a:p>
            </p:txBody>
          </p:sp>
        </p:grpSp>
        <p:grpSp>
          <p:nvGrpSpPr>
            <p:cNvPr id="103" name="Group 400">
              <a:extLst>
                <a:ext uri="{FF2B5EF4-FFF2-40B4-BE49-F238E27FC236}">
                  <a16:creationId xmlns:a16="http://schemas.microsoft.com/office/drawing/2014/main" id="{9C3747F5-8ACC-AD95-FC2A-DD08E3856705}"/>
                </a:ext>
              </a:extLst>
            </p:cNvPr>
            <p:cNvGrpSpPr>
              <a:grpSpLocks noChangeAspect="1"/>
            </p:cNvGrpSpPr>
            <p:nvPr/>
          </p:nvGrpSpPr>
          <p:grpSpPr bwMode="auto">
            <a:xfrm>
              <a:off x="1440714" y="5521223"/>
              <a:ext cx="355258" cy="372783"/>
              <a:chOff x="1851" y="1612"/>
              <a:chExt cx="2534" cy="2659"/>
            </a:xfrm>
            <a:solidFill>
              <a:schemeClr val="bg1"/>
            </a:solidFill>
          </p:grpSpPr>
          <p:sp>
            <p:nvSpPr>
              <p:cNvPr id="104" name="Freeform 402">
                <a:extLst>
                  <a:ext uri="{FF2B5EF4-FFF2-40B4-BE49-F238E27FC236}">
                    <a16:creationId xmlns:a16="http://schemas.microsoft.com/office/drawing/2014/main" id="{020E1B58-68D4-5EA3-A527-98D1EF14420F}"/>
                  </a:ext>
                </a:extLst>
              </p:cNvPr>
              <p:cNvSpPr/>
              <p:nvPr/>
            </p:nvSpPr>
            <p:spPr bwMode="auto">
              <a:xfrm>
                <a:off x="1851" y="1612"/>
                <a:ext cx="2471" cy="2472"/>
              </a:xfrm>
              <a:custGeom>
                <a:avLst/>
                <a:gdLst>
                  <a:gd name="T0" fmla="*/ 2785 w 4943"/>
                  <a:gd name="T1" fmla="*/ 19 h 4944"/>
                  <a:gd name="T2" fmla="*/ 3231 w 4943"/>
                  <a:gd name="T3" fmla="*/ 119 h 4944"/>
                  <a:gd name="T4" fmla="*/ 3639 w 4943"/>
                  <a:gd name="T5" fmla="*/ 293 h 4944"/>
                  <a:gd name="T6" fmla="*/ 4005 w 4943"/>
                  <a:gd name="T7" fmla="*/ 535 h 4944"/>
                  <a:gd name="T8" fmla="*/ 4321 w 4943"/>
                  <a:gd name="T9" fmla="*/ 835 h 4944"/>
                  <a:gd name="T10" fmla="*/ 4579 w 4943"/>
                  <a:gd name="T11" fmla="*/ 1183 h 4944"/>
                  <a:gd name="T12" fmla="*/ 4773 w 4943"/>
                  <a:gd name="T13" fmla="*/ 1573 h 4944"/>
                  <a:gd name="T14" fmla="*/ 4896 w 4943"/>
                  <a:gd name="T15" fmla="*/ 1993 h 4944"/>
                  <a:gd name="T16" fmla="*/ 4943 w 4943"/>
                  <a:gd name="T17" fmla="*/ 2438 h 4944"/>
                  <a:gd name="T18" fmla="*/ 4906 w 4943"/>
                  <a:gd name="T19" fmla="*/ 2896 h 4944"/>
                  <a:gd name="T20" fmla="*/ 4820 w 4943"/>
                  <a:gd name="T21" fmla="*/ 3225 h 4944"/>
                  <a:gd name="T22" fmla="*/ 4765 w 4943"/>
                  <a:gd name="T23" fmla="*/ 3249 h 4944"/>
                  <a:gd name="T24" fmla="*/ 4682 w 4943"/>
                  <a:gd name="T25" fmla="*/ 3221 h 4944"/>
                  <a:gd name="T26" fmla="*/ 4230 w 4943"/>
                  <a:gd name="T27" fmla="*/ 3088 h 4944"/>
                  <a:gd name="T28" fmla="*/ 4221 w 4943"/>
                  <a:gd name="T29" fmla="*/ 3030 h 4944"/>
                  <a:gd name="T30" fmla="*/ 4301 w 4943"/>
                  <a:gd name="T31" fmla="*/ 2635 h 4944"/>
                  <a:gd name="T32" fmla="*/ 4297 w 4943"/>
                  <a:gd name="T33" fmla="*/ 2248 h 4944"/>
                  <a:gd name="T34" fmla="*/ 4211 w 4943"/>
                  <a:gd name="T35" fmla="*/ 1881 h 4944"/>
                  <a:gd name="T36" fmla="*/ 4055 w 4943"/>
                  <a:gd name="T37" fmla="*/ 1542 h 4944"/>
                  <a:gd name="T38" fmla="*/ 3836 w 4943"/>
                  <a:gd name="T39" fmla="*/ 1242 h 4944"/>
                  <a:gd name="T40" fmla="*/ 3560 w 4943"/>
                  <a:gd name="T41" fmla="*/ 991 h 4944"/>
                  <a:gd name="T42" fmla="*/ 3235 w 4943"/>
                  <a:gd name="T43" fmla="*/ 799 h 4944"/>
                  <a:gd name="T44" fmla="*/ 2870 w 4943"/>
                  <a:gd name="T45" fmla="*/ 677 h 4944"/>
                  <a:gd name="T46" fmla="*/ 2471 w 4943"/>
                  <a:gd name="T47" fmla="*/ 633 h 4944"/>
                  <a:gd name="T48" fmla="*/ 2069 w 4943"/>
                  <a:gd name="T49" fmla="*/ 678 h 4944"/>
                  <a:gd name="T50" fmla="*/ 1697 w 4943"/>
                  <a:gd name="T51" fmla="*/ 804 h 4944"/>
                  <a:gd name="T52" fmla="*/ 1367 w 4943"/>
                  <a:gd name="T53" fmla="*/ 1004 h 4944"/>
                  <a:gd name="T54" fmla="*/ 1085 w 4943"/>
                  <a:gd name="T55" fmla="*/ 1267 h 4944"/>
                  <a:gd name="T56" fmla="*/ 864 w 4943"/>
                  <a:gd name="T57" fmla="*/ 1581 h 4944"/>
                  <a:gd name="T58" fmla="*/ 713 w 4943"/>
                  <a:gd name="T59" fmla="*/ 1940 h 4944"/>
                  <a:gd name="T60" fmla="*/ 640 w 4943"/>
                  <a:gd name="T61" fmla="*/ 2333 h 4944"/>
                  <a:gd name="T62" fmla="*/ 653 w 4943"/>
                  <a:gd name="T63" fmla="*/ 2735 h 4944"/>
                  <a:gd name="T64" fmla="*/ 748 w 4943"/>
                  <a:gd name="T65" fmla="*/ 3107 h 4944"/>
                  <a:gd name="T66" fmla="*/ 914 w 4943"/>
                  <a:gd name="T67" fmla="*/ 3444 h 4944"/>
                  <a:gd name="T68" fmla="*/ 1141 w 4943"/>
                  <a:gd name="T69" fmla="*/ 3735 h 4944"/>
                  <a:gd name="T70" fmla="*/ 1422 w 4943"/>
                  <a:gd name="T71" fmla="*/ 3976 h 4944"/>
                  <a:gd name="T72" fmla="*/ 1744 w 4943"/>
                  <a:gd name="T73" fmla="*/ 4156 h 4944"/>
                  <a:gd name="T74" fmla="*/ 2100 w 4943"/>
                  <a:gd name="T75" fmla="*/ 4271 h 4944"/>
                  <a:gd name="T76" fmla="*/ 2480 w 4943"/>
                  <a:gd name="T77" fmla="*/ 4308 h 4944"/>
                  <a:gd name="T78" fmla="*/ 2766 w 4943"/>
                  <a:gd name="T79" fmla="*/ 4288 h 4944"/>
                  <a:gd name="T80" fmla="*/ 2812 w 4943"/>
                  <a:gd name="T81" fmla="*/ 4333 h 4944"/>
                  <a:gd name="T82" fmla="*/ 2941 w 4943"/>
                  <a:gd name="T83" fmla="*/ 4868 h 4944"/>
                  <a:gd name="T84" fmla="*/ 2895 w 4943"/>
                  <a:gd name="T85" fmla="*/ 4907 h 4944"/>
                  <a:gd name="T86" fmla="*/ 2458 w 4943"/>
                  <a:gd name="T87" fmla="*/ 4944 h 4944"/>
                  <a:gd name="T88" fmla="*/ 2031 w 4943"/>
                  <a:gd name="T89" fmla="*/ 4904 h 4944"/>
                  <a:gd name="T90" fmla="*/ 1623 w 4943"/>
                  <a:gd name="T91" fmla="*/ 4791 h 4944"/>
                  <a:gd name="T92" fmla="*/ 1243 w 4943"/>
                  <a:gd name="T93" fmla="*/ 4614 h 4944"/>
                  <a:gd name="T94" fmla="*/ 898 w 4943"/>
                  <a:gd name="T95" fmla="*/ 4375 h 4944"/>
                  <a:gd name="T96" fmla="*/ 598 w 4943"/>
                  <a:gd name="T97" fmla="*/ 4080 h 4944"/>
                  <a:gd name="T98" fmla="*/ 350 w 4943"/>
                  <a:gd name="T99" fmla="*/ 3739 h 4944"/>
                  <a:gd name="T100" fmla="*/ 162 w 4943"/>
                  <a:gd name="T101" fmla="*/ 3352 h 4944"/>
                  <a:gd name="T102" fmla="*/ 42 w 4943"/>
                  <a:gd name="T103" fmla="*/ 2927 h 4944"/>
                  <a:gd name="T104" fmla="*/ 0 w 4943"/>
                  <a:gd name="T105" fmla="*/ 2470 h 4944"/>
                  <a:gd name="T106" fmla="*/ 44 w 4943"/>
                  <a:gd name="T107" fmla="*/ 2011 h 4944"/>
                  <a:gd name="T108" fmla="*/ 168 w 4943"/>
                  <a:gd name="T109" fmla="*/ 1579 h 4944"/>
                  <a:gd name="T110" fmla="*/ 365 w 4943"/>
                  <a:gd name="T111" fmla="*/ 1183 h 4944"/>
                  <a:gd name="T112" fmla="*/ 626 w 4943"/>
                  <a:gd name="T113" fmla="*/ 830 h 4944"/>
                  <a:gd name="T114" fmla="*/ 943 w 4943"/>
                  <a:gd name="T115" fmla="*/ 530 h 4944"/>
                  <a:gd name="T116" fmla="*/ 1310 w 4943"/>
                  <a:gd name="T117" fmla="*/ 290 h 4944"/>
                  <a:gd name="T118" fmla="*/ 1720 w 4943"/>
                  <a:gd name="T119" fmla="*/ 118 h 4944"/>
                  <a:gd name="T120" fmla="*/ 2161 w 4943"/>
                  <a:gd name="T121" fmla="*/ 19 h 4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43" h="4944">
                    <a:moveTo>
                      <a:pt x="2471" y="0"/>
                    </a:moveTo>
                    <a:lnTo>
                      <a:pt x="2630" y="5"/>
                    </a:lnTo>
                    <a:lnTo>
                      <a:pt x="2785" y="19"/>
                    </a:lnTo>
                    <a:lnTo>
                      <a:pt x="2938" y="44"/>
                    </a:lnTo>
                    <a:lnTo>
                      <a:pt x="3086" y="77"/>
                    </a:lnTo>
                    <a:lnTo>
                      <a:pt x="3231" y="119"/>
                    </a:lnTo>
                    <a:lnTo>
                      <a:pt x="3372" y="169"/>
                    </a:lnTo>
                    <a:lnTo>
                      <a:pt x="3509" y="227"/>
                    </a:lnTo>
                    <a:lnTo>
                      <a:pt x="3639" y="293"/>
                    </a:lnTo>
                    <a:lnTo>
                      <a:pt x="3766" y="367"/>
                    </a:lnTo>
                    <a:lnTo>
                      <a:pt x="3889" y="448"/>
                    </a:lnTo>
                    <a:lnTo>
                      <a:pt x="4005" y="535"/>
                    </a:lnTo>
                    <a:lnTo>
                      <a:pt x="4116" y="628"/>
                    </a:lnTo>
                    <a:lnTo>
                      <a:pt x="4221" y="728"/>
                    </a:lnTo>
                    <a:lnTo>
                      <a:pt x="4321" y="835"/>
                    </a:lnTo>
                    <a:lnTo>
                      <a:pt x="4413" y="946"/>
                    </a:lnTo>
                    <a:lnTo>
                      <a:pt x="4500" y="1062"/>
                    </a:lnTo>
                    <a:lnTo>
                      <a:pt x="4579" y="1183"/>
                    </a:lnTo>
                    <a:lnTo>
                      <a:pt x="4651" y="1309"/>
                    </a:lnTo>
                    <a:lnTo>
                      <a:pt x="4715" y="1439"/>
                    </a:lnTo>
                    <a:lnTo>
                      <a:pt x="4773" y="1573"/>
                    </a:lnTo>
                    <a:lnTo>
                      <a:pt x="4822" y="1710"/>
                    </a:lnTo>
                    <a:lnTo>
                      <a:pt x="4864" y="1850"/>
                    </a:lnTo>
                    <a:lnTo>
                      <a:pt x="4896" y="1993"/>
                    </a:lnTo>
                    <a:lnTo>
                      <a:pt x="4922" y="2140"/>
                    </a:lnTo>
                    <a:lnTo>
                      <a:pt x="4936" y="2288"/>
                    </a:lnTo>
                    <a:lnTo>
                      <a:pt x="4943" y="2438"/>
                    </a:lnTo>
                    <a:lnTo>
                      <a:pt x="4939" y="2590"/>
                    </a:lnTo>
                    <a:lnTo>
                      <a:pt x="4928" y="2743"/>
                    </a:lnTo>
                    <a:lnTo>
                      <a:pt x="4906" y="2896"/>
                    </a:lnTo>
                    <a:lnTo>
                      <a:pt x="4873" y="3051"/>
                    </a:lnTo>
                    <a:lnTo>
                      <a:pt x="4830" y="3205"/>
                    </a:lnTo>
                    <a:lnTo>
                      <a:pt x="4820" y="3225"/>
                    </a:lnTo>
                    <a:lnTo>
                      <a:pt x="4804" y="3238"/>
                    </a:lnTo>
                    <a:lnTo>
                      <a:pt x="4786" y="3247"/>
                    </a:lnTo>
                    <a:lnTo>
                      <a:pt x="4765" y="3249"/>
                    </a:lnTo>
                    <a:lnTo>
                      <a:pt x="4744" y="3244"/>
                    </a:lnTo>
                    <a:lnTo>
                      <a:pt x="4714" y="3231"/>
                    </a:lnTo>
                    <a:lnTo>
                      <a:pt x="4682" y="3221"/>
                    </a:lnTo>
                    <a:lnTo>
                      <a:pt x="4264" y="3110"/>
                    </a:lnTo>
                    <a:lnTo>
                      <a:pt x="4247" y="3101"/>
                    </a:lnTo>
                    <a:lnTo>
                      <a:pt x="4230" y="3088"/>
                    </a:lnTo>
                    <a:lnTo>
                      <a:pt x="4222" y="3070"/>
                    </a:lnTo>
                    <a:lnTo>
                      <a:pt x="4218" y="3051"/>
                    </a:lnTo>
                    <a:lnTo>
                      <a:pt x="4221" y="3030"/>
                    </a:lnTo>
                    <a:lnTo>
                      <a:pt x="4258" y="2898"/>
                    </a:lnTo>
                    <a:lnTo>
                      <a:pt x="4285" y="2765"/>
                    </a:lnTo>
                    <a:lnTo>
                      <a:pt x="4301" y="2635"/>
                    </a:lnTo>
                    <a:lnTo>
                      <a:pt x="4309" y="2504"/>
                    </a:lnTo>
                    <a:lnTo>
                      <a:pt x="4308" y="2375"/>
                    </a:lnTo>
                    <a:lnTo>
                      <a:pt x="4297" y="2248"/>
                    </a:lnTo>
                    <a:lnTo>
                      <a:pt x="4276" y="2124"/>
                    </a:lnTo>
                    <a:lnTo>
                      <a:pt x="4248" y="2002"/>
                    </a:lnTo>
                    <a:lnTo>
                      <a:pt x="4211" y="1881"/>
                    </a:lnTo>
                    <a:lnTo>
                      <a:pt x="4168" y="1765"/>
                    </a:lnTo>
                    <a:lnTo>
                      <a:pt x="4114" y="1652"/>
                    </a:lnTo>
                    <a:lnTo>
                      <a:pt x="4055" y="1542"/>
                    </a:lnTo>
                    <a:lnTo>
                      <a:pt x="3989" y="1437"/>
                    </a:lnTo>
                    <a:lnTo>
                      <a:pt x="3916" y="1338"/>
                    </a:lnTo>
                    <a:lnTo>
                      <a:pt x="3836" y="1242"/>
                    </a:lnTo>
                    <a:lnTo>
                      <a:pt x="3750" y="1152"/>
                    </a:lnTo>
                    <a:lnTo>
                      <a:pt x="3657" y="1068"/>
                    </a:lnTo>
                    <a:lnTo>
                      <a:pt x="3560" y="991"/>
                    </a:lnTo>
                    <a:lnTo>
                      <a:pt x="3457" y="920"/>
                    </a:lnTo>
                    <a:lnTo>
                      <a:pt x="3349" y="856"/>
                    </a:lnTo>
                    <a:lnTo>
                      <a:pt x="3235" y="799"/>
                    </a:lnTo>
                    <a:lnTo>
                      <a:pt x="3117" y="749"/>
                    </a:lnTo>
                    <a:lnTo>
                      <a:pt x="2996" y="709"/>
                    </a:lnTo>
                    <a:lnTo>
                      <a:pt x="2870" y="677"/>
                    </a:lnTo>
                    <a:lnTo>
                      <a:pt x="2740" y="653"/>
                    </a:lnTo>
                    <a:lnTo>
                      <a:pt x="2608" y="638"/>
                    </a:lnTo>
                    <a:lnTo>
                      <a:pt x="2471" y="633"/>
                    </a:lnTo>
                    <a:lnTo>
                      <a:pt x="2334" y="638"/>
                    </a:lnTo>
                    <a:lnTo>
                      <a:pt x="2200" y="653"/>
                    </a:lnTo>
                    <a:lnTo>
                      <a:pt x="2069" y="678"/>
                    </a:lnTo>
                    <a:lnTo>
                      <a:pt x="1942" y="711"/>
                    </a:lnTo>
                    <a:lnTo>
                      <a:pt x="1818" y="754"/>
                    </a:lnTo>
                    <a:lnTo>
                      <a:pt x="1697" y="804"/>
                    </a:lnTo>
                    <a:lnTo>
                      <a:pt x="1583" y="864"/>
                    </a:lnTo>
                    <a:lnTo>
                      <a:pt x="1472" y="930"/>
                    </a:lnTo>
                    <a:lnTo>
                      <a:pt x="1367" y="1004"/>
                    </a:lnTo>
                    <a:lnTo>
                      <a:pt x="1267" y="1085"/>
                    </a:lnTo>
                    <a:lnTo>
                      <a:pt x="1174" y="1172"/>
                    </a:lnTo>
                    <a:lnTo>
                      <a:pt x="1085" y="1267"/>
                    </a:lnTo>
                    <a:lnTo>
                      <a:pt x="1004" y="1365"/>
                    </a:lnTo>
                    <a:lnTo>
                      <a:pt x="930" y="1471"/>
                    </a:lnTo>
                    <a:lnTo>
                      <a:pt x="864" y="1581"/>
                    </a:lnTo>
                    <a:lnTo>
                      <a:pt x="806" y="1697"/>
                    </a:lnTo>
                    <a:lnTo>
                      <a:pt x="755" y="1816"/>
                    </a:lnTo>
                    <a:lnTo>
                      <a:pt x="713" y="1940"/>
                    </a:lnTo>
                    <a:lnTo>
                      <a:pt x="679" y="2068"/>
                    </a:lnTo>
                    <a:lnTo>
                      <a:pt x="655" y="2200"/>
                    </a:lnTo>
                    <a:lnTo>
                      <a:pt x="640" y="2333"/>
                    </a:lnTo>
                    <a:lnTo>
                      <a:pt x="634" y="2470"/>
                    </a:lnTo>
                    <a:lnTo>
                      <a:pt x="639" y="2604"/>
                    </a:lnTo>
                    <a:lnTo>
                      <a:pt x="653" y="2735"/>
                    </a:lnTo>
                    <a:lnTo>
                      <a:pt x="676" y="2862"/>
                    </a:lnTo>
                    <a:lnTo>
                      <a:pt x="708" y="2986"/>
                    </a:lnTo>
                    <a:lnTo>
                      <a:pt x="748" y="3107"/>
                    </a:lnTo>
                    <a:lnTo>
                      <a:pt x="796" y="3223"/>
                    </a:lnTo>
                    <a:lnTo>
                      <a:pt x="851" y="3336"/>
                    </a:lnTo>
                    <a:lnTo>
                      <a:pt x="914" y="3444"/>
                    </a:lnTo>
                    <a:lnTo>
                      <a:pt x="983" y="3545"/>
                    </a:lnTo>
                    <a:lnTo>
                      <a:pt x="1059" y="3644"/>
                    </a:lnTo>
                    <a:lnTo>
                      <a:pt x="1141" y="3735"/>
                    </a:lnTo>
                    <a:lnTo>
                      <a:pt x="1230" y="3823"/>
                    </a:lnTo>
                    <a:lnTo>
                      <a:pt x="1323" y="3901"/>
                    </a:lnTo>
                    <a:lnTo>
                      <a:pt x="1422" y="3976"/>
                    </a:lnTo>
                    <a:lnTo>
                      <a:pt x="1525" y="4043"/>
                    </a:lnTo>
                    <a:lnTo>
                      <a:pt x="1633" y="4103"/>
                    </a:lnTo>
                    <a:lnTo>
                      <a:pt x="1744" y="4156"/>
                    </a:lnTo>
                    <a:lnTo>
                      <a:pt x="1860" y="4203"/>
                    </a:lnTo>
                    <a:lnTo>
                      <a:pt x="1978" y="4240"/>
                    </a:lnTo>
                    <a:lnTo>
                      <a:pt x="2100" y="4271"/>
                    </a:lnTo>
                    <a:lnTo>
                      <a:pt x="2224" y="4291"/>
                    </a:lnTo>
                    <a:lnTo>
                      <a:pt x="2351" y="4304"/>
                    </a:lnTo>
                    <a:lnTo>
                      <a:pt x="2480" y="4308"/>
                    </a:lnTo>
                    <a:lnTo>
                      <a:pt x="2609" y="4303"/>
                    </a:lnTo>
                    <a:lnTo>
                      <a:pt x="2741" y="4288"/>
                    </a:lnTo>
                    <a:lnTo>
                      <a:pt x="2766" y="4288"/>
                    </a:lnTo>
                    <a:lnTo>
                      <a:pt x="2785" y="4298"/>
                    </a:lnTo>
                    <a:lnTo>
                      <a:pt x="2803" y="4312"/>
                    </a:lnTo>
                    <a:lnTo>
                      <a:pt x="2812" y="4333"/>
                    </a:lnTo>
                    <a:lnTo>
                      <a:pt x="2945" y="4828"/>
                    </a:lnTo>
                    <a:lnTo>
                      <a:pt x="2946" y="4849"/>
                    </a:lnTo>
                    <a:lnTo>
                      <a:pt x="2941" y="4868"/>
                    </a:lnTo>
                    <a:lnTo>
                      <a:pt x="2930" y="4886"/>
                    </a:lnTo>
                    <a:lnTo>
                      <a:pt x="2914" y="4899"/>
                    </a:lnTo>
                    <a:lnTo>
                      <a:pt x="2895" y="4907"/>
                    </a:lnTo>
                    <a:lnTo>
                      <a:pt x="2748" y="4928"/>
                    </a:lnTo>
                    <a:lnTo>
                      <a:pt x="2603" y="4939"/>
                    </a:lnTo>
                    <a:lnTo>
                      <a:pt x="2458" y="4944"/>
                    </a:lnTo>
                    <a:lnTo>
                      <a:pt x="2314" y="4939"/>
                    </a:lnTo>
                    <a:lnTo>
                      <a:pt x="2171" y="4925"/>
                    </a:lnTo>
                    <a:lnTo>
                      <a:pt x="2031" y="4904"/>
                    </a:lnTo>
                    <a:lnTo>
                      <a:pt x="1892" y="4873"/>
                    </a:lnTo>
                    <a:lnTo>
                      <a:pt x="1757" y="4836"/>
                    </a:lnTo>
                    <a:lnTo>
                      <a:pt x="1623" y="4791"/>
                    </a:lnTo>
                    <a:lnTo>
                      <a:pt x="1494" y="4739"/>
                    </a:lnTo>
                    <a:lnTo>
                      <a:pt x="1367" y="4680"/>
                    </a:lnTo>
                    <a:lnTo>
                      <a:pt x="1243" y="4614"/>
                    </a:lnTo>
                    <a:lnTo>
                      <a:pt x="1124" y="4540"/>
                    </a:lnTo>
                    <a:lnTo>
                      <a:pt x="1009" y="4461"/>
                    </a:lnTo>
                    <a:lnTo>
                      <a:pt x="898" y="4375"/>
                    </a:lnTo>
                    <a:lnTo>
                      <a:pt x="793" y="4283"/>
                    </a:lnTo>
                    <a:lnTo>
                      <a:pt x="693" y="4185"/>
                    </a:lnTo>
                    <a:lnTo>
                      <a:pt x="598" y="4080"/>
                    </a:lnTo>
                    <a:lnTo>
                      <a:pt x="510" y="3972"/>
                    </a:lnTo>
                    <a:lnTo>
                      <a:pt x="426" y="3858"/>
                    </a:lnTo>
                    <a:lnTo>
                      <a:pt x="350" y="3739"/>
                    </a:lnTo>
                    <a:lnTo>
                      <a:pt x="279" y="3615"/>
                    </a:lnTo>
                    <a:lnTo>
                      <a:pt x="216" y="3486"/>
                    </a:lnTo>
                    <a:lnTo>
                      <a:pt x="162" y="3352"/>
                    </a:lnTo>
                    <a:lnTo>
                      <a:pt x="113" y="3215"/>
                    </a:lnTo>
                    <a:lnTo>
                      <a:pt x="75" y="3073"/>
                    </a:lnTo>
                    <a:lnTo>
                      <a:pt x="42" y="2927"/>
                    </a:lnTo>
                    <a:lnTo>
                      <a:pt x="20" y="2778"/>
                    </a:lnTo>
                    <a:lnTo>
                      <a:pt x="5" y="2627"/>
                    </a:lnTo>
                    <a:lnTo>
                      <a:pt x="0" y="2470"/>
                    </a:lnTo>
                    <a:lnTo>
                      <a:pt x="5" y="2314"/>
                    </a:lnTo>
                    <a:lnTo>
                      <a:pt x="20" y="2161"/>
                    </a:lnTo>
                    <a:lnTo>
                      <a:pt x="44" y="2011"/>
                    </a:lnTo>
                    <a:lnTo>
                      <a:pt x="76" y="1863"/>
                    </a:lnTo>
                    <a:lnTo>
                      <a:pt x="118" y="1719"/>
                    </a:lnTo>
                    <a:lnTo>
                      <a:pt x="168" y="1579"/>
                    </a:lnTo>
                    <a:lnTo>
                      <a:pt x="226" y="1442"/>
                    </a:lnTo>
                    <a:lnTo>
                      <a:pt x="290" y="1310"/>
                    </a:lnTo>
                    <a:lnTo>
                      <a:pt x="365" y="1183"/>
                    </a:lnTo>
                    <a:lnTo>
                      <a:pt x="444" y="1060"/>
                    </a:lnTo>
                    <a:lnTo>
                      <a:pt x="531" y="943"/>
                    </a:lnTo>
                    <a:lnTo>
                      <a:pt x="626" y="830"/>
                    </a:lnTo>
                    <a:lnTo>
                      <a:pt x="726" y="725"/>
                    </a:lnTo>
                    <a:lnTo>
                      <a:pt x="832" y="624"/>
                    </a:lnTo>
                    <a:lnTo>
                      <a:pt x="943" y="530"/>
                    </a:lnTo>
                    <a:lnTo>
                      <a:pt x="1061" y="443"/>
                    </a:lnTo>
                    <a:lnTo>
                      <a:pt x="1183" y="363"/>
                    </a:lnTo>
                    <a:lnTo>
                      <a:pt x="1310" y="290"/>
                    </a:lnTo>
                    <a:lnTo>
                      <a:pt x="1443" y="224"/>
                    </a:lnTo>
                    <a:lnTo>
                      <a:pt x="1580" y="166"/>
                    </a:lnTo>
                    <a:lnTo>
                      <a:pt x="1720" y="118"/>
                    </a:lnTo>
                    <a:lnTo>
                      <a:pt x="1863" y="76"/>
                    </a:lnTo>
                    <a:lnTo>
                      <a:pt x="2011" y="44"/>
                    </a:lnTo>
                    <a:lnTo>
                      <a:pt x="2161" y="19"/>
                    </a:lnTo>
                    <a:lnTo>
                      <a:pt x="2316" y="5"/>
                    </a:lnTo>
                    <a:lnTo>
                      <a:pt x="2471" y="0"/>
                    </a:lnTo>
                    <a:close/>
                  </a:path>
                </a:pathLst>
              </a:custGeom>
              <a:grpFill/>
              <a:ln w="0">
                <a:no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00" b="0" i="0" u="none" strike="noStrike" kern="1200" cap="none" spc="0" normalizeH="0" baseline="0" noProof="0">
                  <a:ln>
                    <a:noFill/>
                  </a:ln>
                  <a:solidFill>
                    <a:schemeClr val="tx1"/>
                  </a:solidFill>
                  <a:effectLst/>
                  <a:uLnTx/>
                  <a:uFillTx/>
                  <a:latin typeface="+mn-ea"/>
                  <a:cs typeface="+mn-cs"/>
                </a:endParaRPr>
              </a:p>
            </p:txBody>
          </p:sp>
          <p:sp>
            <p:nvSpPr>
              <p:cNvPr id="105" name="Freeform 403">
                <a:extLst>
                  <a:ext uri="{FF2B5EF4-FFF2-40B4-BE49-F238E27FC236}">
                    <a16:creationId xmlns:a16="http://schemas.microsoft.com/office/drawing/2014/main" id="{44ABCCC6-7A81-9EEC-B967-920B94A31655}"/>
                  </a:ext>
                </a:extLst>
              </p:cNvPr>
              <p:cNvSpPr/>
              <p:nvPr/>
            </p:nvSpPr>
            <p:spPr bwMode="auto">
              <a:xfrm>
                <a:off x="2779" y="2198"/>
                <a:ext cx="616" cy="831"/>
              </a:xfrm>
              <a:custGeom>
                <a:avLst/>
                <a:gdLst>
                  <a:gd name="T0" fmla="*/ 662 w 1233"/>
                  <a:gd name="T1" fmla="*/ 4 h 1663"/>
                  <a:gd name="T2" fmla="*/ 727 w 1233"/>
                  <a:gd name="T3" fmla="*/ 37 h 1663"/>
                  <a:gd name="T4" fmla="*/ 775 w 1233"/>
                  <a:gd name="T5" fmla="*/ 90 h 1663"/>
                  <a:gd name="T6" fmla="*/ 803 w 1233"/>
                  <a:gd name="T7" fmla="*/ 158 h 1663"/>
                  <a:gd name="T8" fmla="*/ 806 w 1233"/>
                  <a:gd name="T9" fmla="*/ 278 h 1663"/>
                  <a:gd name="T10" fmla="*/ 943 w 1233"/>
                  <a:gd name="T11" fmla="*/ 338 h 1663"/>
                  <a:gd name="T12" fmla="*/ 1059 w 1233"/>
                  <a:gd name="T13" fmla="*/ 427 h 1663"/>
                  <a:gd name="T14" fmla="*/ 1149 w 1233"/>
                  <a:gd name="T15" fmla="*/ 543 h 1663"/>
                  <a:gd name="T16" fmla="*/ 1209 w 1233"/>
                  <a:gd name="T17" fmla="*/ 678 h 1663"/>
                  <a:gd name="T18" fmla="*/ 1233 w 1233"/>
                  <a:gd name="T19" fmla="*/ 830 h 1663"/>
                  <a:gd name="T20" fmla="*/ 1220 w 1233"/>
                  <a:gd name="T21" fmla="*/ 907 h 1663"/>
                  <a:gd name="T22" fmla="*/ 1180 w 1233"/>
                  <a:gd name="T23" fmla="*/ 971 h 1663"/>
                  <a:gd name="T24" fmla="*/ 1120 w 1233"/>
                  <a:gd name="T25" fmla="*/ 1016 h 1663"/>
                  <a:gd name="T26" fmla="*/ 1044 w 1233"/>
                  <a:gd name="T27" fmla="*/ 1034 h 1663"/>
                  <a:gd name="T28" fmla="*/ 970 w 1233"/>
                  <a:gd name="T29" fmla="*/ 1020 h 1663"/>
                  <a:gd name="T30" fmla="*/ 907 w 1233"/>
                  <a:gd name="T31" fmla="*/ 978 h 1663"/>
                  <a:gd name="T32" fmla="*/ 867 w 1233"/>
                  <a:gd name="T33" fmla="*/ 917 h 1663"/>
                  <a:gd name="T34" fmla="*/ 853 w 1233"/>
                  <a:gd name="T35" fmla="*/ 841 h 1663"/>
                  <a:gd name="T36" fmla="*/ 845 w 1233"/>
                  <a:gd name="T37" fmla="*/ 781 h 1663"/>
                  <a:gd name="T38" fmla="*/ 817 w 1233"/>
                  <a:gd name="T39" fmla="*/ 725 h 1663"/>
                  <a:gd name="T40" fmla="*/ 770 w 1233"/>
                  <a:gd name="T41" fmla="*/ 680 h 1663"/>
                  <a:gd name="T42" fmla="*/ 706 w 1233"/>
                  <a:gd name="T43" fmla="*/ 647 h 1663"/>
                  <a:gd name="T44" fmla="*/ 625 w 1233"/>
                  <a:gd name="T45" fmla="*/ 636 h 1663"/>
                  <a:gd name="T46" fmla="*/ 537 w 1233"/>
                  <a:gd name="T47" fmla="*/ 652 h 1663"/>
                  <a:gd name="T48" fmla="*/ 463 w 1233"/>
                  <a:gd name="T49" fmla="*/ 697 h 1663"/>
                  <a:gd name="T50" fmla="*/ 408 w 1233"/>
                  <a:gd name="T51" fmla="*/ 763 h 1663"/>
                  <a:gd name="T52" fmla="*/ 382 w 1233"/>
                  <a:gd name="T53" fmla="*/ 846 h 1663"/>
                  <a:gd name="T54" fmla="*/ 390 w 1233"/>
                  <a:gd name="T55" fmla="*/ 937 h 1663"/>
                  <a:gd name="T56" fmla="*/ 430 w 1233"/>
                  <a:gd name="T57" fmla="*/ 1016 h 1663"/>
                  <a:gd name="T58" fmla="*/ 493 w 1233"/>
                  <a:gd name="T59" fmla="*/ 1073 h 1663"/>
                  <a:gd name="T60" fmla="*/ 575 w 1233"/>
                  <a:gd name="T61" fmla="*/ 1103 h 1663"/>
                  <a:gd name="T62" fmla="*/ 698 w 1233"/>
                  <a:gd name="T63" fmla="*/ 1113 h 1663"/>
                  <a:gd name="T64" fmla="*/ 845 w 1233"/>
                  <a:gd name="T65" fmla="*/ 1153 h 1663"/>
                  <a:gd name="T66" fmla="*/ 977 w 1233"/>
                  <a:gd name="T67" fmla="*/ 1226 h 1663"/>
                  <a:gd name="T68" fmla="*/ 1086 w 1233"/>
                  <a:gd name="T69" fmla="*/ 1327 h 1663"/>
                  <a:gd name="T70" fmla="*/ 1168 w 1233"/>
                  <a:gd name="T71" fmla="*/ 1452 h 1663"/>
                  <a:gd name="T72" fmla="*/ 1202 w 1233"/>
                  <a:gd name="T73" fmla="*/ 1543 h 1663"/>
                  <a:gd name="T74" fmla="*/ 1189 w 1233"/>
                  <a:gd name="T75" fmla="*/ 1582 h 1663"/>
                  <a:gd name="T76" fmla="*/ 1157 w 1233"/>
                  <a:gd name="T77" fmla="*/ 1605 h 1663"/>
                  <a:gd name="T78" fmla="*/ 1080 w 1233"/>
                  <a:gd name="T79" fmla="*/ 1609 h 1663"/>
                  <a:gd name="T80" fmla="*/ 969 w 1233"/>
                  <a:gd name="T81" fmla="*/ 1634 h 1663"/>
                  <a:gd name="T82" fmla="*/ 898 w 1233"/>
                  <a:gd name="T83" fmla="*/ 1663 h 1663"/>
                  <a:gd name="T84" fmla="*/ 859 w 1233"/>
                  <a:gd name="T85" fmla="*/ 1656 h 1663"/>
                  <a:gd name="T86" fmla="*/ 832 w 1233"/>
                  <a:gd name="T87" fmla="*/ 1627 h 1663"/>
                  <a:gd name="T88" fmla="*/ 780 w 1233"/>
                  <a:gd name="T89" fmla="*/ 1555 h 1663"/>
                  <a:gd name="T90" fmla="*/ 706 w 1233"/>
                  <a:gd name="T91" fmla="*/ 1506 h 1663"/>
                  <a:gd name="T92" fmla="*/ 616 w 1233"/>
                  <a:gd name="T93" fmla="*/ 1489 h 1663"/>
                  <a:gd name="T94" fmla="*/ 467 w 1233"/>
                  <a:gd name="T95" fmla="*/ 1469 h 1663"/>
                  <a:gd name="T96" fmla="*/ 331 w 1233"/>
                  <a:gd name="T97" fmla="*/ 1418 h 1663"/>
                  <a:gd name="T98" fmla="*/ 213 w 1233"/>
                  <a:gd name="T99" fmla="*/ 1336 h 1663"/>
                  <a:gd name="T100" fmla="*/ 115 w 1233"/>
                  <a:gd name="T101" fmla="*/ 1229 h 1663"/>
                  <a:gd name="T102" fmla="*/ 45 w 1233"/>
                  <a:gd name="T103" fmla="*/ 1102 h 1663"/>
                  <a:gd name="T104" fmla="*/ 7 w 1233"/>
                  <a:gd name="T105" fmla="*/ 960 h 1663"/>
                  <a:gd name="T106" fmla="*/ 3 w 1233"/>
                  <a:gd name="T107" fmla="*/ 810 h 1663"/>
                  <a:gd name="T108" fmla="*/ 34 w 1233"/>
                  <a:gd name="T109" fmla="*/ 670 h 1663"/>
                  <a:gd name="T110" fmla="*/ 97 w 1233"/>
                  <a:gd name="T111" fmla="*/ 544 h 1663"/>
                  <a:gd name="T112" fmla="*/ 185 w 1233"/>
                  <a:gd name="T113" fmla="*/ 436 h 1663"/>
                  <a:gd name="T114" fmla="*/ 297 w 1233"/>
                  <a:gd name="T115" fmla="*/ 349 h 1663"/>
                  <a:gd name="T116" fmla="*/ 426 w 1233"/>
                  <a:gd name="T117" fmla="*/ 290 h 1663"/>
                  <a:gd name="T118" fmla="*/ 430 w 1233"/>
                  <a:gd name="T119" fmla="*/ 149 h 1663"/>
                  <a:gd name="T120" fmla="*/ 461 w 1233"/>
                  <a:gd name="T121" fmla="*/ 80 h 1663"/>
                  <a:gd name="T122" fmla="*/ 514 w 1233"/>
                  <a:gd name="T123" fmla="*/ 29 h 1663"/>
                  <a:gd name="T124" fmla="*/ 585 w 1233"/>
                  <a:gd name="T125" fmla="*/ 1 h 16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33" h="1663">
                    <a:moveTo>
                      <a:pt x="625" y="0"/>
                    </a:moveTo>
                    <a:lnTo>
                      <a:pt x="662" y="4"/>
                    </a:lnTo>
                    <a:lnTo>
                      <a:pt x="696" y="17"/>
                    </a:lnTo>
                    <a:lnTo>
                      <a:pt x="727" y="37"/>
                    </a:lnTo>
                    <a:lnTo>
                      <a:pt x="754" y="61"/>
                    </a:lnTo>
                    <a:lnTo>
                      <a:pt x="775" y="90"/>
                    </a:lnTo>
                    <a:lnTo>
                      <a:pt x="793" y="122"/>
                    </a:lnTo>
                    <a:lnTo>
                      <a:pt x="803" y="158"/>
                    </a:lnTo>
                    <a:lnTo>
                      <a:pt x="806" y="195"/>
                    </a:lnTo>
                    <a:lnTo>
                      <a:pt x="806" y="278"/>
                    </a:lnTo>
                    <a:lnTo>
                      <a:pt x="877" y="304"/>
                    </a:lnTo>
                    <a:lnTo>
                      <a:pt x="943" y="338"/>
                    </a:lnTo>
                    <a:lnTo>
                      <a:pt x="1004" y="378"/>
                    </a:lnTo>
                    <a:lnTo>
                      <a:pt x="1059" y="427"/>
                    </a:lnTo>
                    <a:lnTo>
                      <a:pt x="1107" y="481"/>
                    </a:lnTo>
                    <a:lnTo>
                      <a:pt x="1149" y="543"/>
                    </a:lnTo>
                    <a:lnTo>
                      <a:pt x="1183" y="609"/>
                    </a:lnTo>
                    <a:lnTo>
                      <a:pt x="1209" y="678"/>
                    </a:lnTo>
                    <a:lnTo>
                      <a:pt x="1225" y="752"/>
                    </a:lnTo>
                    <a:lnTo>
                      <a:pt x="1233" y="830"/>
                    </a:lnTo>
                    <a:lnTo>
                      <a:pt x="1230" y="870"/>
                    </a:lnTo>
                    <a:lnTo>
                      <a:pt x="1220" y="907"/>
                    </a:lnTo>
                    <a:lnTo>
                      <a:pt x="1202" y="941"/>
                    </a:lnTo>
                    <a:lnTo>
                      <a:pt x="1180" y="971"/>
                    </a:lnTo>
                    <a:lnTo>
                      <a:pt x="1152" y="997"/>
                    </a:lnTo>
                    <a:lnTo>
                      <a:pt x="1120" y="1016"/>
                    </a:lnTo>
                    <a:lnTo>
                      <a:pt x="1085" y="1029"/>
                    </a:lnTo>
                    <a:lnTo>
                      <a:pt x="1044" y="1034"/>
                    </a:lnTo>
                    <a:lnTo>
                      <a:pt x="1006" y="1029"/>
                    </a:lnTo>
                    <a:lnTo>
                      <a:pt x="970" y="1020"/>
                    </a:lnTo>
                    <a:lnTo>
                      <a:pt x="936" y="1002"/>
                    </a:lnTo>
                    <a:lnTo>
                      <a:pt x="907" y="978"/>
                    </a:lnTo>
                    <a:lnTo>
                      <a:pt x="885" y="949"/>
                    </a:lnTo>
                    <a:lnTo>
                      <a:pt x="867" y="917"/>
                    </a:lnTo>
                    <a:lnTo>
                      <a:pt x="856" y="879"/>
                    </a:lnTo>
                    <a:lnTo>
                      <a:pt x="853" y="841"/>
                    </a:lnTo>
                    <a:lnTo>
                      <a:pt x="851" y="810"/>
                    </a:lnTo>
                    <a:lnTo>
                      <a:pt x="845" y="781"/>
                    </a:lnTo>
                    <a:lnTo>
                      <a:pt x="833" y="752"/>
                    </a:lnTo>
                    <a:lnTo>
                      <a:pt x="817" y="725"/>
                    </a:lnTo>
                    <a:lnTo>
                      <a:pt x="796" y="701"/>
                    </a:lnTo>
                    <a:lnTo>
                      <a:pt x="770" y="680"/>
                    </a:lnTo>
                    <a:lnTo>
                      <a:pt x="741" y="662"/>
                    </a:lnTo>
                    <a:lnTo>
                      <a:pt x="706" y="647"/>
                    </a:lnTo>
                    <a:lnTo>
                      <a:pt x="667" y="639"/>
                    </a:lnTo>
                    <a:lnTo>
                      <a:pt x="625" y="636"/>
                    </a:lnTo>
                    <a:lnTo>
                      <a:pt x="580" y="641"/>
                    </a:lnTo>
                    <a:lnTo>
                      <a:pt x="537" y="652"/>
                    </a:lnTo>
                    <a:lnTo>
                      <a:pt x="498" y="672"/>
                    </a:lnTo>
                    <a:lnTo>
                      <a:pt x="463" y="697"/>
                    </a:lnTo>
                    <a:lnTo>
                      <a:pt x="432" y="728"/>
                    </a:lnTo>
                    <a:lnTo>
                      <a:pt x="408" y="763"/>
                    </a:lnTo>
                    <a:lnTo>
                      <a:pt x="392" y="804"/>
                    </a:lnTo>
                    <a:lnTo>
                      <a:pt x="382" y="846"/>
                    </a:lnTo>
                    <a:lnTo>
                      <a:pt x="380" y="891"/>
                    </a:lnTo>
                    <a:lnTo>
                      <a:pt x="390" y="937"/>
                    </a:lnTo>
                    <a:lnTo>
                      <a:pt x="406" y="979"/>
                    </a:lnTo>
                    <a:lnTo>
                      <a:pt x="430" y="1016"/>
                    </a:lnTo>
                    <a:lnTo>
                      <a:pt x="459" y="1047"/>
                    </a:lnTo>
                    <a:lnTo>
                      <a:pt x="493" y="1073"/>
                    </a:lnTo>
                    <a:lnTo>
                      <a:pt x="534" y="1092"/>
                    </a:lnTo>
                    <a:lnTo>
                      <a:pt x="575" y="1103"/>
                    </a:lnTo>
                    <a:lnTo>
                      <a:pt x="619" y="1108"/>
                    </a:lnTo>
                    <a:lnTo>
                      <a:pt x="698" y="1113"/>
                    </a:lnTo>
                    <a:lnTo>
                      <a:pt x="774" y="1129"/>
                    </a:lnTo>
                    <a:lnTo>
                      <a:pt x="845" y="1153"/>
                    </a:lnTo>
                    <a:lnTo>
                      <a:pt x="914" y="1186"/>
                    </a:lnTo>
                    <a:lnTo>
                      <a:pt x="977" y="1226"/>
                    </a:lnTo>
                    <a:lnTo>
                      <a:pt x="1035" y="1273"/>
                    </a:lnTo>
                    <a:lnTo>
                      <a:pt x="1086" y="1327"/>
                    </a:lnTo>
                    <a:lnTo>
                      <a:pt x="1131" y="1387"/>
                    </a:lnTo>
                    <a:lnTo>
                      <a:pt x="1168" y="1452"/>
                    </a:lnTo>
                    <a:lnTo>
                      <a:pt x="1197" y="1522"/>
                    </a:lnTo>
                    <a:lnTo>
                      <a:pt x="1202" y="1543"/>
                    </a:lnTo>
                    <a:lnTo>
                      <a:pt x="1199" y="1563"/>
                    </a:lnTo>
                    <a:lnTo>
                      <a:pt x="1189" y="1582"/>
                    </a:lnTo>
                    <a:lnTo>
                      <a:pt x="1175" y="1595"/>
                    </a:lnTo>
                    <a:lnTo>
                      <a:pt x="1157" y="1605"/>
                    </a:lnTo>
                    <a:lnTo>
                      <a:pt x="1136" y="1608"/>
                    </a:lnTo>
                    <a:lnTo>
                      <a:pt x="1080" y="1609"/>
                    </a:lnTo>
                    <a:lnTo>
                      <a:pt x="1023" y="1618"/>
                    </a:lnTo>
                    <a:lnTo>
                      <a:pt x="969" y="1634"/>
                    </a:lnTo>
                    <a:lnTo>
                      <a:pt x="917" y="1656"/>
                    </a:lnTo>
                    <a:lnTo>
                      <a:pt x="898" y="1663"/>
                    </a:lnTo>
                    <a:lnTo>
                      <a:pt x="877" y="1663"/>
                    </a:lnTo>
                    <a:lnTo>
                      <a:pt x="859" y="1656"/>
                    </a:lnTo>
                    <a:lnTo>
                      <a:pt x="843" y="1643"/>
                    </a:lnTo>
                    <a:lnTo>
                      <a:pt x="832" y="1627"/>
                    </a:lnTo>
                    <a:lnTo>
                      <a:pt x="809" y="1589"/>
                    </a:lnTo>
                    <a:lnTo>
                      <a:pt x="780" y="1555"/>
                    </a:lnTo>
                    <a:lnTo>
                      <a:pt x="745" y="1527"/>
                    </a:lnTo>
                    <a:lnTo>
                      <a:pt x="706" y="1506"/>
                    </a:lnTo>
                    <a:lnTo>
                      <a:pt x="662" y="1493"/>
                    </a:lnTo>
                    <a:lnTo>
                      <a:pt x="616" y="1489"/>
                    </a:lnTo>
                    <a:lnTo>
                      <a:pt x="540" y="1484"/>
                    </a:lnTo>
                    <a:lnTo>
                      <a:pt x="467" y="1469"/>
                    </a:lnTo>
                    <a:lnTo>
                      <a:pt x="397" y="1448"/>
                    </a:lnTo>
                    <a:lnTo>
                      <a:pt x="331" y="1418"/>
                    </a:lnTo>
                    <a:lnTo>
                      <a:pt x="269" y="1381"/>
                    </a:lnTo>
                    <a:lnTo>
                      <a:pt x="213" y="1336"/>
                    </a:lnTo>
                    <a:lnTo>
                      <a:pt x="161" y="1286"/>
                    </a:lnTo>
                    <a:lnTo>
                      <a:pt x="115" y="1229"/>
                    </a:lnTo>
                    <a:lnTo>
                      <a:pt x="76" y="1168"/>
                    </a:lnTo>
                    <a:lnTo>
                      <a:pt x="45" y="1102"/>
                    </a:lnTo>
                    <a:lnTo>
                      <a:pt x="21" y="1033"/>
                    </a:lnTo>
                    <a:lnTo>
                      <a:pt x="7" y="960"/>
                    </a:lnTo>
                    <a:lnTo>
                      <a:pt x="0" y="884"/>
                    </a:lnTo>
                    <a:lnTo>
                      <a:pt x="3" y="810"/>
                    </a:lnTo>
                    <a:lnTo>
                      <a:pt x="15" y="739"/>
                    </a:lnTo>
                    <a:lnTo>
                      <a:pt x="34" y="670"/>
                    </a:lnTo>
                    <a:lnTo>
                      <a:pt x="61" y="606"/>
                    </a:lnTo>
                    <a:lnTo>
                      <a:pt x="97" y="544"/>
                    </a:lnTo>
                    <a:lnTo>
                      <a:pt x="139" y="488"/>
                    </a:lnTo>
                    <a:lnTo>
                      <a:pt x="185" y="436"/>
                    </a:lnTo>
                    <a:lnTo>
                      <a:pt x="239" y="390"/>
                    </a:lnTo>
                    <a:lnTo>
                      <a:pt x="297" y="349"/>
                    </a:lnTo>
                    <a:lnTo>
                      <a:pt x="360" y="315"/>
                    </a:lnTo>
                    <a:lnTo>
                      <a:pt x="426" y="290"/>
                    </a:lnTo>
                    <a:lnTo>
                      <a:pt x="426" y="190"/>
                    </a:lnTo>
                    <a:lnTo>
                      <a:pt x="430" y="149"/>
                    </a:lnTo>
                    <a:lnTo>
                      <a:pt x="442" y="114"/>
                    </a:lnTo>
                    <a:lnTo>
                      <a:pt x="461" y="80"/>
                    </a:lnTo>
                    <a:lnTo>
                      <a:pt x="485" y="51"/>
                    </a:lnTo>
                    <a:lnTo>
                      <a:pt x="514" y="29"/>
                    </a:lnTo>
                    <a:lnTo>
                      <a:pt x="548" y="12"/>
                    </a:lnTo>
                    <a:lnTo>
                      <a:pt x="585" y="1"/>
                    </a:lnTo>
                    <a:lnTo>
                      <a:pt x="625" y="0"/>
                    </a:lnTo>
                    <a:close/>
                  </a:path>
                </a:pathLst>
              </a:custGeom>
              <a:grpFill/>
              <a:ln w="0">
                <a:no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00" b="0" i="0" u="none" strike="noStrike" kern="1200" cap="none" spc="0" normalizeH="0" baseline="0" noProof="0">
                  <a:ln>
                    <a:noFill/>
                  </a:ln>
                  <a:solidFill>
                    <a:schemeClr val="tx1"/>
                  </a:solidFill>
                  <a:effectLst/>
                  <a:uLnTx/>
                  <a:uFillTx/>
                  <a:latin typeface="+mn-ea"/>
                  <a:cs typeface="+mn-cs"/>
                </a:endParaRPr>
              </a:p>
            </p:txBody>
          </p:sp>
          <p:sp>
            <p:nvSpPr>
              <p:cNvPr id="106" name="Freeform 404">
                <a:extLst>
                  <a:ext uri="{FF2B5EF4-FFF2-40B4-BE49-F238E27FC236}">
                    <a16:creationId xmlns:a16="http://schemas.microsoft.com/office/drawing/2014/main" id="{34F88578-A260-A0FC-BF76-77C912EE58CD}"/>
                  </a:ext>
                </a:extLst>
              </p:cNvPr>
              <p:cNvSpPr/>
              <p:nvPr/>
            </p:nvSpPr>
            <p:spPr bwMode="auto">
              <a:xfrm>
                <a:off x="2779" y="2979"/>
                <a:ext cx="387" cy="518"/>
              </a:xfrm>
              <a:custGeom>
                <a:avLst/>
                <a:gdLst>
                  <a:gd name="T0" fmla="*/ 227 w 775"/>
                  <a:gd name="T1" fmla="*/ 5 h 1034"/>
                  <a:gd name="T2" fmla="*/ 297 w 775"/>
                  <a:gd name="T3" fmla="*/ 32 h 1034"/>
                  <a:gd name="T4" fmla="*/ 348 w 775"/>
                  <a:gd name="T5" fmla="*/ 85 h 1034"/>
                  <a:gd name="T6" fmla="*/ 377 w 775"/>
                  <a:gd name="T7" fmla="*/ 154 h 1034"/>
                  <a:gd name="T8" fmla="*/ 382 w 775"/>
                  <a:gd name="T9" fmla="*/ 224 h 1034"/>
                  <a:gd name="T10" fmla="*/ 400 w 775"/>
                  <a:gd name="T11" fmla="*/ 282 h 1034"/>
                  <a:gd name="T12" fmla="*/ 437 w 775"/>
                  <a:gd name="T13" fmla="*/ 333 h 1034"/>
                  <a:gd name="T14" fmla="*/ 492 w 775"/>
                  <a:gd name="T15" fmla="*/ 374 h 1034"/>
                  <a:gd name="T16" fmla="*/ 564 w 775"/>
                  <a:gd name="T17" fmla="*/ 395 h 1034"/>
                  <a:gd name="T18" fmla="*/ 632 w 775"/>
                  <a:gd name="T19" fmla="*/ 401 h 1034"/>
                  <a:gd name="T20" fmla="*/ 666 w 775"/>
                  <a:gd name="T21" fmla="*/ 427 h 1034"/>
                  <a:gd name="T22" fmla="*/ 675 w 775"/>
                  <a:gd name="T23" fmla="*/ 464 h 1034"/>
                  <a:gd name="T24" fmla="*/ 675 w 775"/>
                  <a:gd name="T25" fmla="*/ 501 h 1034"/>
                  <a:gd name="T26" fmla="*/ 677 w 775"/>
                  <a:gd name="T27" fmla="*/ 535 h 1034"/>
                  <a:gd name="T28" fmla="*/ 683 w 775"/>
                  <a:gd name="T29" fmla="*/ 575 h 1034"/>
                  <a:gd name="T30" fmla="*/ 696 w 775"/>
                  <a:gd name="T31" fmla="*/ 627 h 1034"/>
                  <a:gd name="T32" fmla="*/ 714 w 775"/>
                  <a:gd name="T33" fmla="*/ 696 h 1034"/>
                  <a:gd name="T34" fmla="*/ 740 w 775"/>
                  <a:gd name="T35" fmla="*/ 788 h 1034"/>
                  <a:gd name="T36" fmla="*/ 772 w 775"/>
                  <a:gd name="T37" fmla="*/ 912 h 1034"/>
                  <a:gd name="T38" fmla="*/ 770 w 775"/>
                  <a:gd name="T39" fmla="*/ 951 h 1034"/>
                  <a:gd name="T40" fmla="*/ 733 w 775"/>
                  <a:gd name="T41" fmla="*/ 996 h 1034"/>
                  <a:gd name="T42" fmla="*/ 669 w 775"/>
                  <a:gd name="T43" fmla="*/ 1028 h 1034"/>
                  <a:gd name="T44" fmla="*/ 601 w 775"/>
                  <a:gd name="T45" fmla="*/ 1034 h 1034"/>
                  <a:gd name="T46" fmla="*/ 535 w 775"/>
                  <a:gd name="T47" fmla="*/ 1015 h 1034"/>
                  <a:gd name="T48" fmla="*/ 479 w 775"/>
                  <a:gd name="T49" fmla="*/ 975 h 1034"/>
                  <a:gd name="T50" fmla="*/ 440 w 775"/>
                  <a:gd name="T51" fmla="*/ 915 h 1034"/>
                  <a:gd name="T52" fmla="*/ 426 w 775"/>
                  <a:gd name="T53" fmla="*/ 839 h 1034"/>
                  <a:gd name="T54" fmla="*/ 356 w 775"/>
                  <a:gd name="T55" fmla="*/ 730 h 1034"/>
                  <a:gd name="T56" fmla="*/ 229 w 775"/>
                  <a:gd name="T57" fmla="*/ 656 h 1034"/>
                  <a:gd name="T58" fmla="*/ 124 w 775"/>
                  <a:gd name="T59" fmla="*/ 552 h 1034"/>
                  <a:gd name="T60" fmla="*/ 50 w 775"/>
                  <a:gd name="T61" fmla="*/ 425 h 1034"/>
                  <a:gd name="T62" fmla="*/ 7 w 775"/>
                  <a:gd name="T63" fmla="*/ 282 h 1034"/>
                  <a:gd name="T64" fmla="*/ 3 w 775"/>
                  <a:gd name="T65" fmla="*/ 164 h 1034"/>
                  <a:gd name="T66" fmla="*/ 29 w 775"/>
                  <a:gd name="T67" fmla="*/ 93 h 1034"/>
                  <a:gd name="T68" fmla="*/ 81 w 775"/>
                  <a:gd name="T69" fmla="*/ 37 h 1034"/>
                  <a:gd name="T70" fmla="*/ 148 w 775"/>
                  <a:gd name="T71" fmla="*/ 5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75" h="1034">
                    <a:moveTo>
                      <a:pt x="187" y="0"/>
                    </a:moveTo>
                    <a:lnTo>
                      <a:pt x="227" y="5"/>
                    </a:lnTo>
                    <a:lnTo>
                      <a:pt x="263" y="14"/>
                    </a:lnTo>
                    <a:lnTo>
                      <a:pt x="297" y="32"/>
                    </a:lnTo>
                    <a:lnTo>
                      <a:pt x="324" y="56"/>
                    </a:lnTo>
                    <a:lnTo>
                      <a:pt x="348" y="85"/>
                    </a:lnTo>
                    <a:lnTo>
                      <a:pt x="366" y="117"/>
                    </a:lnTo>
                    <a:lnTo>
                      <a:pt x="377" y="154"/>
                    </a:lnTo>
                    <a:lnTo>
                      <a:pt x="380" y="193"/>
                    </a:lnTo>
                    <a:lnTo>
                      <a:pt x="382" y="224"/>
                    </a:lnTo>
                    <a:lnTo>
                      <a:pt x="389" y="253"/>
                    </a:lnTo>
                    <a:lnTo>
                      <a:pt x="400" y="282"/>
                    </a:lnTo>
                    <a:lnTo>
                      <a:pt x="416" y="309"/>
                    </a:lnTo>
                    <a:lnTo>
                      <a:pt x="437" y="333"/>
                    </a:lnTo>
                    <a:lnTo>
                      <a:pt x="463" y="354"/>
                    </a:lnTo>
                    <a:lnTo>
                      <a:pt x="492" y="374"/>
                    </a:lnTo>
                    <a:lnTo>
                      <a:pt x="525" y="387"/>
                    </a:lnTo>
                    <a:lnTo>
                      <a:pt x="564" y="395"/>
                    </a:lnTo>
                    <a:lnTo>
                      <a:pt x="608" y="398"/>
                    </a:lnTo>
                    <a:lnTo>
                      <a:pt x="632" y="401"/>
                    </a:lnTo>
                    <a:lnTo>
                      <a:pt x="651" y="412"/>
                    </a:lnTo>
                    <a:lnTo>
                      <a:pt x="666" y="427"/>
                    </a:lnTo>
                    <a:lnTo>
                      <a:pt x="674" y="445"/>
                    </a:lnTo>
                    <a:lnTo>
                      <a:pt x="675" y="464"/>
                    </a:lnTo>
                    <a:lnTo>
                      <a:pt x="675" y="483"/>
                    </a:lnTo>
                    <a:lnTo>
                      <a:pt x="675" y="501"/>
                    </a:lnTo>
                    <a:lnTo>
                      <a:pt x="675" y="519"/>
                    </a:lnTo>
                    <a:lnTo>
                      <a:pt x="677" y="535"/>
                    </a:lnTo>
                    <a:lnTo>
                      <a:pt x="679" y="554"/>
                    </a:lnTo>
                    <a:lnTo>
                      <a:pt x="683" y="575"/>
                    </a:lnTo>
                    <a:lnTo>
                      <a:pt x="690" y="599"/>
                    </a:lnTo>
                    <a:lnTo>
                      <a:pt x="696" y="627"/>
                    </a:lnTo>
                    <a:lnTo>
                      <a:pt x="704" y="659"/>
                    </a:lnTo>
                    <a:lnTo>
                      <a:pt x="714" y="696"/>
                    </a:lnTo>
                    <a:lnTo>
                      <a:pt x="725" y="738"/>
                    </a:lnTo>
                    <a:lnTo>
                      <a:pt x="740" y="788"/>
                    </a:lnTo>
                    <a:lnTo>
                      <a:pt x="754" y="846"/>
                    </a:lnTo>
                    <a:lnTo>
                      <a:pt x="772" y="912"/>
                    </a:lnTo>
                    <a:lnTo>
                      <a:pt x="775" y="931"/>
                    </a:lnTo>
                    <a:lnTo>
                      <a:pt x="770" y="951"/>
                    </a:lnTo>
                    <a:lnTo>
                      <a:pt x="761" y="968"/>
                    </a:lnTo>
                    <a:lnTo>
                      <a:pt x="733" y="996"/>
                    </a:lnTo>
                    <a:lnTo>
                      <a:pt x="701" y="1015"/>
                    </a:lnTo>
                    <a:lnTo>
                      <a:pt x="669" y="1028"/>
                    </a:lnTo>
                    <a:lnTo>
                      <a:pt x="635" y="1034"/>
                    </a:lnTo>
                    <a:lnTo>
                      <a:pt x="601" y="1034"/>
                    </a:lnTo>
                    <a:lnTo>
                      <a:pt x="567" y="1028"/>
                    </a:lnTo>
                    <a:lnTo>
                      <a:pt x="535" y="1015"/>
                    </a:lnTo>
                    <a:lnTo>
                      <a:pt x="506" y="997"/>
                    </a:lnTo>
                    <a:lnTo>
                      <a:pt x="479" y="975"/>
                    </a:lnTo>
                    <a:lnTo>
                      <a:pt x="458" y="947"/>
                    </a:lnTo>
                    <a:lnTo>
                      <a:pt x="440" y="915"/>
                    </a:lnTo>
                    <a:lnTo>
                      <a:pt x="430" y="880"/>
                    </a:lnTo>
                    <a:lnTo>
                      <a:pt x="426" y="839"/>
                    </a:lnTo>
                    <a:lnTo>
                      <a:pt x="426" y="756"/>
                    </a:lnTo>
                    <a:lnTo>
                      <a:pt x="356" y="730"/>
                    </a:lnTo>
                    <a:lnTo>
                      <a:pt x="290" y="696"/>
                    </a:lnTo>
                    <a:lnTo>
                      <a:pt x="229" y="656"/>
                    </a:lnTo>
                    <a:lnTo>
                      <a:pt x="174" y="607"/>
                    </a:lnTo>
                    <a:lnTo>
                      <a:pt x="124" y="552"/>
                    </a:lnTo>
                    <a:lnTo>
                      <a:pt x="84" y="491"/>
                    </a:lnTo>
                    <a:lnTo>
                      <a:pt x="50" y="425"/>
                    </a:lnTo>
                    <a:lnTo>
                      <a:pt x="24" y="356"/>
                    </a:lnTo>
                    <a:lnTo>
                      <a:pt x="7" y="282"/>
                    </a:lnTo>
                    <a:lnTo>
                      <a:pt x="0" y="204"/>
                    </a:lnTo>
                    <a:lnTo>
                      <a:pt x="3" y="164"/>
                    </a:lnTo>
                    <a:lnTo>
                      <a:pt x="13" y="127"/>
                    </a:lnTo>
                    <a:lnTo>
                      <a:pt x="29" y="93"/>
                    </a:lnTo>
                    <a:lnTo>
                      <a:pt x="52" y="63"/>
                    </a:lnTo>
                    <a:lnTo>
                      <a:pt x="81" y="37"/>
                    </a:lnTo>
                    <a:lnTo>
                      <a:pt x="113" y="17"/>
                    </a:lnTo>
                    <a:lnTo>
                      <a:pt x="148" y="5"/>
                    </a:lnTo>
                    <a:lnTo>
                      <a:pt x="187" y="0"/>
                    </a:lnTo>
                    <a:close/>
                  </a:path>
                </a:pathLst>
              </a:custGeom>
              <a:grpFill/>
              <a:ln w="0">
                <a:no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00" b="0" i="0" u="none" strike="noStrike" kern="1200" cap="none" spc="0" normalizeH="0" baseline="0" noProof="0">
                  <a:ln>
                    <a:noFill/>
                  </a:ln>
                  <a:solidFill>
                    <a:schemeClr val="tx1"/>
                  </a:solidFill>
                  <a:effectLst/>
                  <a:uLnTx/>
                  <a:uFillTx/>
                  <a:latin typeface="+mn-ea"/>
                  <a:cs typeface="+mn-cs"/>
                </a:endParaRPr>
              </a:p>
            </p:txBody>
          </p:sp>
          <p:sp>
            <p:nvSpPr>
              <p:cNvPr id="107" name="Freeform 405">
                <a:extLst>
                  <a:ext uri="{FF2B5EF4-FFF2-40B4-BE49-F238E27FC236}">
                    <a16:creationId xmlns:a16="http://schemas.microsoft.com/office/drawing/2014/main" id="{44389796-8A8A-BCB2-2EBA-FC7768C1F663}"/>
                  </a:ext>
                </a:extLst>
              </p:cNvPr>
              <p:cNvSpPr/>
              <p:nvPr/>
            </p:nvSpPr>
            <p:spPr bwMode="auto">
              <a:xfrm>
                <a:off x="3243" y="3128"/>
                <a:ext cx="1142" cy="1143"/>
              </a:xfrm>
              <a:custGeom>
                <a:avLst/>
                <a:gdLst>
                  <a:gd name="T0" fmla="*/ 239 w 2285"/>
                  <a:gd name="T1" fmla="*/ 6 h 2285"/>
                  <a:gd name="T2" fmla="*/ 1870 w 2285"/>
                  <a:gd name="T3" fmla="*/ 446 h 2285"/>
                  <a:gd name="T4" fmla="*/ 1926 w 2285"/>
                  <a:gd name="T5" fmla="*/ 491 h 2285"/>
                  <a:gd name="T6" fmla="*/ 1961 w 2285"/>
                  <a:gd name="T7" fmla="*/ 551 h 2285"/>
                  <a:gd name="T8" fmla="*/ 1974 w 2285"/>
                  <a:gd name="T9" fmla="*/ 619 h 2285"/>
                  <a:gd name="T10" fmla="*/ 1960 w 2285"/>
                  <a:gd name="T11" fmla="*/ 688 h 2285"/>
                  <a:gd name="T12" fmla="*/ 1918 w 2285"/>
                  <a:gd name="T13" fmla="*/ 751 h 2285"/>
                  <a:gd name="T14" fmla="*/ 2229 w 2285"/>
                  <a:gd name="T15" fmla="*/ 1499 h 2285"/>
                  <a:gd name="T16" fmla="*/ 2271 w 2285"/>
                  <a:gd name="T17" fmla="*/ 1561 h 2285"/>
                  <a:gd name="T18" fmla="*/ 2285 w 2285"/>
                  <a:gd name="T19" fmla="*/ 1632 h 2285"/>
                  <a:gd name="T20" fmla="*/ 2271 w 2285"/>
                  <a:gd name="T21" fmla="*/ 1705 h 2285"/>
                  <a:gd name="T22" fmla="*/ 2229 w 2285"/>
                  <a:gd name="T23" fmla="*/ 1768 h 2285"/>
                  <a:gd name="T24" fmla="*/ 1737 w 2285"/>
                  <a:gd name="T25" fmla="*/ 2254 h 2285"/>
                  <a:gd name="T26" fmla="*/ 1670 w 2285"/>
                  <a:gd name="T27" fmla="*/ 2282 h 2285"/>
                  <a:gd name="T28" fmla="*/ 1633 w 2285"/>
                  <a:gd name="T29" fmla="*/ 2285 h 2285"/>
                  <a:gd name="T30" fmla="*/ 1562 w 2285"/>
                  <a:gd name="T31" fmla="*/ 2270 h 2285"/>
                  <a:gd name="T32" fmla="*/ 1499 w 2285"/>
                  <a:gd name="T33" fmla="*/ 2229 h 2285"/>
                  <a:gd name="T34" fmla="*/ 751 w 2285"/>
                  <a:gd name="T35" fmla="*/ 1918 h 2285"/>
                  <a:gd name="T36" fmla="*/ 703 w 2285"/>
                  <a:gd name="T37" fmla="*/ 1953 h 2285"/>
                  <a:gd name="T38" fmla="*/ 648 w 2285"/>
                  <a:gd name="T39" fmla="*/ 1971 h 2285"/>
                  <a:gd name="T40" fmla="*/ 589 w 2285"/>
                  <a:gd name="T41" fmla="*/ 1972 h 2285"/>
                  <a:gd name="T42" fmla="*/ 531 w 2285"/>
                  <a:gd name="T43" fmla="*/ 1951 h 2285"/>
                  <a:gd name="T44" fmla="*/ 481 w 2285"/>
                  <a:gd name="T45" fmla="*/ 1911 h 2285"/>
                  <a:gd name="T46" fmla="*/ 440 w 2285"/>
                  <a:gd name="T47" fmla="*/ 1847 h 2285"/>
                  <a:gd name="T48" fmla="*/ 424 w 2285"/>
                  <a:gd name="T49" fmla="*/ 1798 h 2285"/>
                  <a:gd name="T50" fmla="*/ 414 w 2285"/>
                  <a:gd name="T51" fmla="*/ 1758 h 2285"/>
                  <a:gd name="T52" fmla="*/ 394 w 2285"/>
                  <a:gd name="T53" fmla="*/ 1684 h 2285"/>
                  <a:gd name="T54" fmla="*/ 368 w 2285"/>
                  <a:gd name="T55" fmla="*/ 1584 h 2285"/>
                  <a:gd name="T56" fmla="*/ 334 w 2285"/>
                  <a:gd name="T57" fmla="*/ 1462 h 2285"/>
                  <a:gd name="T58" fmla="*/ 297 w 2285"/>
                  <a:gd name="T59" fmla="*/ 1323 h 2285"/>
                  <a:gd name="T60" fmla="*/ 257 w 2285"/>
                  <a:gd name="T61" fmla="*/ 1175 h 2285"/>
                  <a:gd name="T62" fmla="*/ 216 w 2285"/>
                  <a:gd name="T63" fmla="*/ 1020 h 2285"/>
                  <a:gd name="T64" fmla="*/ 174 w 2285"/>
                  <a:gd name="T65" fmla="*/ 865 h 2285"/>
                  <a:gd name="T66" fmla="*/ 134 w 2285"/>
                  <a:gd name="T67" fmla="*/ 717 h 2285"/>
                  <a:gd name="T68" fmla="*/ 99 w 2285"/>
                  <a:gd name="T69" fmla="*/ 580 h 2285"/>
                  <a:gd name="T70" fmla="*/ 65 w 2285"/>
                  <a:gd name="T71" fmla="*/ 458 h 2285"/>
                  <a:gd name="T72" fmla="*/ 39 w 2285"/>
                  <a:gd name="T73" fmla="*/ 358 h 2285"/>
                  <a:gd name="T74" fmla="*/ 20 w 2285"/>
                  <a:gd name="T75" fmla="*/ 285 h 2285"/>
                  <a:gd name="T76" fmla="*/ 8 w 2285"/>
                  <a:gd name="T77" fmla="*/ 245 h 2285"/>
                  <a:gd name="T78" fmla="*/ 0 w 2285"/>
                  <a:gd name="T79" fmla="*/ 196 h 2285"/>
                  <a:gd name="T80" fmla="*/ 13 w 2285"/>
                  <a:gd name="T81" fmla="*/ 119 h 2285"/>
                  <a:gd name="T82" fmla="*/ 57 w 2285"/>
                  <a:gd name="T83" fmla="*/ 56 h 2285"/>
                  <a:gd name="T84" fmla="*/ 120 w 2285"/>
                  <a:gd name="T85" fmla="*/ 13 h 2285"/>
                  <a:gd name="T86" fmla="*/ 197 w 2285"/>
                  <a:gd name="T87" fmla="*/ 0 h 2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285" h="2285">
                    <a:moveTo>
                      <a:pt x="197" y="0"/>
                    </a:moveTo>
                    <a:lnTo>
                      <a:pt x="239" y="6"/>
                    </a:lnTo>
                    <a:lnTo>
                      <a:pt x="1833" y="433"/>
                    </a:lnTo>
                    <a:lnTo>
                      <a:pt x="1870" y="446"/>
                    </a:lnTo>
                    <a:lnTo>
                      <a:pt x="1900" y="466"/>
                    </a:lnTo>
                    <a:lnTo>
                      <a:pt x="1926" y="491"/>
                    </a:lnTo>
                    <a:lnTo>
                      <a:pt x="1947" y="519"/>
                    </a:lnTo>
                    <a:lnTo>
                      <a:pt x="1961" y="551"/>
                    </a:lnTo>
                    <a:lnTo>
                      <a:pt x="1971" y="585"/>
                    </a:lnTo>
                    <a:lnTo>
                      <a:pt x="1974" y="619"/>
                    </a:lnTo>
                    <a:lnTo>
                      <a:pt x="1970" y="654"/>
                    </a:lnTo>
                    <a:lnTo>
                      <a:pt x="1960" y="688"/>
                    </a:lnTo>
                    <a:lnTo>
                      <a:pt x="1942" y="722"/>
                    </a:lnTo>
                    <a:lnTo>
                      <a:pt x="1918" y="751"/>
                    </a:lnTo>
                    <a:lnTo>
                      <a:pt x="1700" y="968"/>
                    </a:lnTo>
                    <a:lnTo>
                      <a:pt x="2229" y="1499"/>
                    </a:lnTo>
                    <a:lnTo>
                      <a:pt x="2255" y="1529"/>
                    </a:lnTo>
                    <a:lnTo>
                      <a:pt x="2271" y="1561"/>
                    </a:lnTo>
                    <a:lnTo>
                      <a:pt x="2282" y="1597"/>
                    </a:lnTo>
                    <a:lnTo>
                      <a:pt x="2285" y="1632"/>
                    </a:lnTo>
                    <a:lnTo>
                      <a:pt x="2282" y="1669"/>
                    </a:lnTo>
                    <a:lnTo>
                      <a:pt x="2271" y="1705"/>
                    </a:lnTo>
                    <a:lnTo>
                      <a:pt x="2255" y="1737"/>
                    </a:lnTo>
                    <a:lnTo>
                      <a:pt x="2229" y="1768"/>
                    </a:lnTo>
                    <a:lnTo>
                      <a:pt x="1768" y="2229"/>
                    </a:lnTo>
                    <a:lnTo>
                      <a:pt x="1737" y="2254"/>
                    </a:lnTo>
                    <a:lnTo>
                      <a:pt x="1705" y="2270"/>
                    </a:lnTo>
                    <a:lnTo>
                      <a:pt x="1670" y="2282"/>
                    </a:lnTo>
                    <a:lnTo>
                      <a:pt x="1633" y="2285"/>
                    </a:lnTo>
                    <a:lnTo>
                      <a:pt x="1633" y="2285"/>
                    </a:lnTo>
                    <a:lnTo>
                      <a:pt x="1597" y="2282"/>
                    </a:lnTo>
                    <a:lnTo>
                      <a:pt x="1562" y="2270"/>
                    </a:lnTo>
                    <a:lnTo>
                      <a:pt x="1530" y="2254"/>
                    </a:lnTo>
                    <a:lnTo>
                      <a:pt x="1499" y="2229"/>
                    </a:lnTo>
                    <a:lnTo>
                      <a:pt x="969" y="1700"/>
                    </a:lnTo>
                    <a:lnTo>
                      <a:pt x="751" y="1918"/>
                    </a:lnTo>
                    <a:lnTo>
                      <a:pt x="729" y="1937"/>
                    </a:lnTo>
                    <a:lnTo>
                      <a:pt x="703" y="1953"/>
                    </a:lnTo>
                    <a:lnTo>
                      <a:pt x="676" y="1964"/>
                    </a:lnTo>
                    <a:lnTo>
                      <a:pt x="648" y="1971"/>
                    </a:lnTo>
                    <a:lnTo>
                      <a:pt x="618" y="1974"/>
                    </a:lnTo>
                    <a:lnTo>
                      <a:pt x="589" y="1972"/>
                    </a:lnTo>
                    <a:lnTo>
                      <a:pt x="560" y="1964"/>
                    </a:lnTo>
                    <a:lnTo>
                      <a:pt x="531" y="1951"/>
                    </a:lnTo>
                    <a:lnTo>
                      <a:pt x="505" y="1934"/>
                    </a:lnTo>
                    <a:lnTo>
                      <a:pt x="481" y="1911"/>
                    </a:lnTo>
                    <a:lnTo>
                      <a:pt x="458" y="1882"/>
                    </a:lnTo>
                    <a:lnTo>
                      <a:pt x="440" y="1847"/>
                    </a:lnTo>
                    <a:lnTo>
                      <a:pt x="427" y="1806"/>
                    </a:lnTo>
                    <a:lnTo>
                      <a:pt x="424" y="1798"/>
                    </a:lnTo>
                    <a:lnTo>
                      <a:pt x="421" y="1782"/>
                    </a:lnTo>
                    <a:lnTo>
                      <a:pt x="414" y="1758"/>
                    </a:lnTo>
                    <a:lnTo>
                      <a:pt x="405" y="1724"/>
                    </a:lnTo>
                    <a:lnTo>
                      <a:pt x="394" y="1684"/>
                    </a:lnTo>
                    <a:lnTo>
                      <a:pt x="381" y="1637"/>
                    </a:lnTo>
                    <a:lnTo>
                      <a:pt x="368" y="1584"/>
                    </a:lnTo>
                    <a:lnTo>
                      <a:pt x="352" y="1524"/>
                    </a:lnTo>
                    <a:lnTo>
                      <a:pt x="334" y="1462"/>
                    </a:lnTo>
                    <a:lnTo>
                      <a:pt x="316" y="1394"/>
                    </a:lnTo>
                    <a:lnTo>
                      <a:pt x="297" y="1323"/>
                    </a:lnTo>
                    <a:lnTo>
                      <a:pt x="278" y="1250"/>
                    </a:lnTo>
                    <a:lnTo>
                      <a:pt x="257" y="1175"/>
                    </a:lnTo>
                    <a:lnTo>
                      <a:pt x="237" y="1097"/>
                    </a:lnTo>
                    <a:lnTo>
                      <a:pt x="216" y="1020"/>
                    </a:lnTo>
                    <a:lnTo>
                      <a:pt x="195" y="943"/>
                    </a:lnTo>
                    <a:lnTo>
                      <a:pt x="174" y="865"/>
                    </a:lnTo>
                    <a:lnTo>
                      <a:pt x="155" y="791"/>
                    </a:lnTo>
                    <a:lnTo>
                      <a:pt x="134" y="717"/>
                    </a:lnTo>
                    <a:lnTo>
                      <a:pt x="116" y="646"/>
                    </a:lnTo>
                    <a:lnTo>
                      <a:pt x="99" y="580"/>
                    </a:lnTo>
                    <a:lnTo>
                      <a:pt x="81" y="516"/>
                    </a:lnTo>
                    <a:lnTo>
                      <a:pt x="65" y="458"/>
                    </a:lnTo>
                    <a:lnTo>
                      <a:pt x="52" y="404"/>
                    </a:lnTo>
                    <a:lnTo>
                      <a:pt x="39" y="358"/>
                    </a:lnTo>
                    <a:lnTo>
                      <a:pt x="28" y="317"/>
                    </a:lnTo>
                    <a:lnTo>
                      <a:pt x="20" y="285"/>
                    </a:lnTo>
                    <a:lnTo>
                      <a:pt x="13" y="261"/>
                    </a:lnTo>
                    <a:lnTo>
                      <a:pt x="8" y="245"/>
                    </a:lnTo>
                    <a:lnTo>
                      <a:pt x="7" y="238"/>
                    </a:lnTo>
                    <a:lnTo>
                      <a:pt x="0" y="196"/>
                    </a:lnTo>
                    <a:lnTo>
                      <a:pt x="4" y="156"/>
                    </a:lnTo>
                    <a:lnTo>
                      <a:pt x="13" y="119"/>
                    </a:lnTo>
                    <a:lnTo>
                      <a:pt x="31" y="85"/>
                    </a:lnTo>
                    <a:lnTo>
                      <a:pt x="57" y="56"/>
                    </a:lnTo>
                    <a:lnTo>
                      <a:pt x="86" y="30"/>
                    </a:lnTo>
                    <a:lnTo>
                      <a:pt x="120" y="13"/>
                    </a:lnTo>
                    <a:lnTo>
                      <a:pt x="157" y="3"/>
                    </a:lnTo>
                    <a:lnTo>
                      <a:pt x="197" y="0"/>
                    </a:lnTo>
                    <a:close/>
                  </a:path>
                </a:pathLst>
              </a:custGeom>
              <a:grpFill/>
              <a:ln w="0">
                <a:no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000" b="0" i="0" u="none" strike="noStrike" kern="1200" cap="none" spc="0" normalizeH="0" baseline="0" noProof="0">
                  <a:ln>
                    <a:noFill/>
                  </a:ln>
                  <a:solidFill>
                    <a:schemeClr val="tx1"/>
                  </a:solidFill>
                  <a:effectLst/>
                  <a:uLnTx/>
                  <a:uFillTx/>
                  <a:latin typeface="+mn-ea"/>
                  <a:cs typeface="+mn-cs"/>
                </a:endParaRPr>
              </a:p>
            </p:txBody>
          </p:sp>
        </p:grpSp>
        <p:sp>
          <p:nvSpPr>
            <p:cNvPr id="108" name="Freeform 11">
              <a:extLst>
                <a:ext uri="{FF2B5EF4-FFF2-40B4-BE49-F238E27FC236}">
                  <a16:creationId xmlns:a16="http://schemas.microsoft.com/office/drawing/2014/main" id="{0EF4F5F0-6D4D-1B50-C7C3-62C85BA99C60}"/>
                </a:ext>
              </a:extLst>
            </p:cNvPr>
            <p:cNvSpPr>
              <a:spLocks noEditPoints="1"/>
            </p:cNvSpPr>
            <p:nvPr/>
          </p:nvSpPr>
          <p:spPr>
            <a:xfrm>
              <a:off x="2171700" y="4124325"/>
              <a:ext cx="360363" cy="360363"/>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736" h="739">
                  <a:moveTo>
                    <a:pt x="721" y="425"/>
                  </a:moveTo>
                  <a:lnTo>
                    <a:pt x="564" y="512"/>
                  </a:lnTo>
                  <a:lnTo>
                    <a:pt x="564" y="719"/>
                  </a:lnTo>
                  <a:lnTo>
                    <a:pt x="721" y="634"/>
                  </a:lnTo>
                  <a:lnTo>
                    <a:pt x="721" y="425"/>
                  </a:lnTo>
                  <a:close/>
                  <a:moveTo>
                    <a:pt x="354" y="425"/>
                  </a:moveTo>
                  <a:lnTo>
                    <a:pt x="197" y="512"/>
                  </a:lnTo>
                  <a:lnTo>
                    <a:pt x="197" y="719"/>
                  </a:lnTo>
                  <a:lnTo>
                    <a:pt x="354" y="634"/>
                  </a:lnTo>
                  <a:lnTo>
                    <a:pt x="354" y="425"/>
                  </a:lnTo>
                  <a:close/>
                  <a:moveTo>
                    <a:pt x="551" y="334"/>
                  </a:moveTo>
                  <a:lnTo>
                    <a:pt x="392" y="417"/>
                  </a:lnTo>
                  <a:lnTo>
                    <a:pt x="556" y="499"/>
                  </a:lnTo>
                  <a:lnTo>
                    <a:pt x="711" y="412"/>
                  </a:lnTo>
                  <a:lnTo>
                    <a:pt x="551" y="334"/>
                  </a:lnTo>
                  <a:close/>
                  <a:moveTo>
                    <a:pt x="184" y="334"/>
                  </a:moveTo>
                  <a:lnTo>
                    <a:pt x="25" y="417"/>
                  </a:lnTo>
                  <a:lnTo>
                    <a:pt x="189" y="499"/>
                  </a:lnTo>
                  <a:lnTo>
                    <a:pt x="344" y="412"/>
                  </a:lnTo>
                  <a:lnTo>
                    <a:pt x="184" y="334"/>
                  </a:lnTo>
                  <a:close/>
                  <a:moveTo>
                    <a:pt x="536" y="106"/>
                  </a:moveTo>
                  <a:lnTo>
                    <a:pt x="379" y="194"/>
                  </a:lnTo>
                  <a:lnTo>
                    <a:pt x="379" y="400"/>
                  </a:lnTo>
                  <a:lnTo>
                    <a:pt x="536" y="318"/>
                  </a:lnTo>
                  <a:lnTo>
                    <a:pt x="536" y="106"/>
                  </a:lnTo>
                  <a:close/>
                  <a:moveTo>
                    <a:pt x="366" y="16"/>
                  </a:moveTo>
                  <a:lnTo>
                    <a:pt x="207" y="99"/>
                  </a:lnTo>
                  <a:lnTo>
                    <a:pt x="371" y="180"/>
                  </a:lnTo>
                  <a:lnTo>
                    <a:pt x="526" y="94"/>
                  </a:lnTo>
                  <a:lnTo>
                    <a:pt x="366" y="16"/>
                  </a:lnTo>
                  <a:close/>
                  <a:moveTo>
                    <a:pt x="366" y="0"/>
                  </a:moveTo>
                  <a:lnTo>
                    <a:pt x="369" y="0"/>
                  </a:lnTo>
                  <a:lnTo>
                    <a:pt x="547" y="86"/>
                  </a:lnTo>
                  <a:lnTo>
                    <a:pt x="547" y="87"/>
                  </a:lnTo>
                  <a:lnTo>
                    <a:pt x="548" y="87"/>
                  </a:lnTo>
                  <a:lnTo>
                    <a:pt x="550" y="89"/>
                  </a:lnTo>
                  <a:lnTo>
                    <a:pt x="551" y="90"/>
                  </a:lnTo>
                  <a:lnTo>
                    <a:pt x="551" y="91"/>
                  </a:lnTo>
                  <a:lnTo>
                    <a:pt x="551" y="92"/>
                  </a:lnTo>
                  <a:lnTo>
                    <a:pt x="552" y="92"/>
                  </a:lnTo>
                  <a:lnTo>
                    <a:pt x="552" y="319"/>
                  </a:lnTo>
                  <a:lnTo>
                    <a:pt x="553" y="319"/>
                  </a:lnTo>
                  <a:lnTo>
                    <a:pt x="554" y="319"/>
                  </a:lnTo>
                  <a:lnTo>
                    <a:pt x="731" y="405"/>
                  </a:lnTo>
                  <a:lnTo>
                    <a:pt x="732" y="405"/>
                  </a:lnTo>
                  <a:lnTo>
                    <a:pt x="733" y="406"/>
                  </a:lnTo>
                  <a:lnTo>
                    <a:pt x="734" y="406"/>
                  </a:lnTo>
                  <a:lnTo>
                    <a:pt x="734" y="407"/>
                  </a:lnTo>
                  <a:lnTo>
                    <a:pt x="735" y="408"/>
                  </a:lnTo>
                  <a:lnTo>
                    <a:pt x="736" y="409"/>
                  </a:lnTo>
                  <a:lnTo>
                    <a:pt x="736" y="410"/>
                  </a:lnTo>
                  <a:lnTo>
                    <a:pt x="736" y="411"/>
                  </a:lnTo>
                  <a:lnTo>
                    <a:pt x="736" y="638"/>
                  </a:lnTo>
                  <a:lnTo>
                    <a:pt x="736" y="641"/>
                  </a:lnTo>
                  <a:lnTo>
                    <a:pt x="734" y="643"/>
                  </a:lnTo>
                  <a:lnTo>
                    <a:pt x="732" y="645"/>
                  </a:lnTo>
                  <a:lnTo>
                    <a:pt x="560" y="738"/>
                  </a:lnTo>
                  <a:lnTo>
                    <a:pt x="557" y="739"/>
                  </a:lnTo>
                  <a:lnTo>
                    <a:pt x="556" y="739"/>
                  </a:lnTo>
                  <a:lnTo>
                    <a:pt x="554" y="739"/>
                  </a:lnTo>
                  <a:lnTo>
                    <a:pt x="552" y="738"/>
                  </a:lnTo>
                  <a:lnTo>
                    <a:pt x="551" y="738"/>
                  </a:lnTo>
                  <a:lnTo>
                    <a:pt x="550" y="737"/>
                  </a:lnTo>
                  <a:lnTo>
                    <a:pt x="548" y="736"/>
                  </a:lnTo>
                  <a:lnTo>
                    <a:pt x="547" y="736"/>
                  </a:lnTo>
                  <a:lnTo>
                    <a:pt x="372" y="645"/>
                  </a:lnTo>
                  <a:lnTo>
                    <a:pt x="370" y="643"/>
                  </a:lnTo>
                  <a:lnTo>
                    <a:pt x="369" y="641"/>
                  </a:lnTo>
                  <a:lnTo>
                    <a:pt x="367" y="644"/>
                  </a:lnTo>
                  <a:lnTo>
                    <a:pt x="365" y="645"/>
                  </a:lnTo>
                  <a:lnTo>
                    <a:pt x="193" y="738"/>
                  </a:lnTo>
                  <a:lnTo>
                    <a:pt x="191" y="739"/>
                  </a:lnTo>
                  <a:lnTo>
                    <a:pt x="189" y="739"/>
                  </a:lnTo>
                  <a:lnTo>
                    <a:pt x="187" y="739"/>
                  </a:lnTo>
                  <a:lnTo>
                    <a:pt x="185" y="738"/>
                  </a:lnTo>
                  <a:lnTo>
                    <a:pt x="183" y="737"/>
                  </a:lnTo>
                  <a:lnTo>
                    <a:pt x="182" y="736"/>
                  </a:lnTo>
                  <a:lnTo>
                    <a:pt x="180" y="736"/>
                  </a:lnTo>
                  <a:lnTo>
                    <a:pt x="5" y="645"/>
                  </a:lnTo>
                  <a:lnTo>
                    <a:pt x="3" y="643"/>
                  </a:lnTo>
                  <a:lnTo>
                    <a:pt x="1" y="641"/>
                  </a:lnTo>
                  <a:lnTo>
                    <a:pt x="1" y="638"/>
                  </a:lnTo>
                  <a:lnTo>
                    <a:pt x="0" y="420"/>
                  </a:lnTo>
                  <a:lnTo>
                    <a:pt x="1" y="415"/>
                  </a:lnTo>
                  <a:lnTo>
                    <a:pt x="2" y="412"/>
                  </a:lnTo>
                  <a:lnTo>
                    <a:pt x="5" y="410"/>
                  </a:lnTo>
                  <a:lnTo>
                    <a:pt x="180" y="319"/>
                  </a:lnTo>
                  <a:lnTo>
                    <a:pt x="183" y="318"/>
                  </a:lnTo>
                  <a:lnTo>
                    <a:pt x="182" y="102"/>
                  </a:lnTo>
                  <a:lnTo>
                    <a:pt x="183" y="99"/>
                  </a:lnTo>
                  <a:lnTo>
                    <a:pt x="183" y="96"/>
                  </a:lnTo>
                  <a:lnTo>
                    <a:pt x="185" y="94"/>
                  </a:lnTo>
                  <a:lnTo>
                    <a:pt x="187" y="92"/>
                  </a:lnTo>
                  <a:lnTo>
                    <a:pt x="363" y="1"/>
                  </a:lnTo>
                  <a:lnTo>
                    <a:pt x="366" y="0"/>
                  </a:lnTo>
                  <a:close/>
                </a:path>
              </a:pathLst>
            </a:custGeom>
            <a:solidFill>
              <a:schemeClr val="bg1">
                <a:alpha val="100000"/>
              </a:schemeClr>
            </a:solidFill>
            <a:ln w="0">
              <a:noFill/>
            </a:ln>
          </p:spPr>
          <p:txBody>
            <a:bodyPr/>
            <a:lstStyle/>
            <a:p>
              <a:endParaRPr lang="zh-CN" altLang="en-US">
                <a:latin typeface="+mn-ea"/>
              </a:endParaRPr>
            </a:p>
          </p:txBody>
        </p:sp>
      </p:grpSp>
      <p:grpSp>
        <p:nvGrpSpPr>
          <p:cNvPr id="113" name="组合 112">
            <a:extLst>
              <a:ext uri="{FF2B5EF4-FFF2-40B4-BE49-F238E27FC236}">
                <a16:creationId xmlns:a16="http://schemas.microsoft.com/office/drawing/2014/main" id="{9B5BBF02-BE19-F697-BC6E-D4A48F045197}"/>
              </a:ext>
            </a:extLst>
          </p:cNvPr>
          <p:cNvGrpSpPr/>
          <p:nvPr/>
        </p:nvGrpSpPr>
        <p:grpSpPr>
          <a:xfrm>
            <a:off x="1832417" y="4153610"/>
            <a:ext cx="9147207" cy="2490710"/>
            <a:chOff x="1605367" y="4334226"/>
            <a:chExt cx="3770313" cy="3978275"/>
          </a:xfrm>
        </p:grpSpPr>
        <p:sp>
          <p:nvSpPr>
            <p:cNvPr id="110" name="Freeform 91">
              <a:extLst>
                <a:ext uri="{FF2B5EF4-FFF2-40B4-BE49-F238E27FC236}">
                  <a16:creationId xmlns:a16="http://schemas.microsoft.com/office/drawing/2014/main" id="{DB88D84D-584C-44FC-D402-BA0FF6B970EA}"/>
                </a:ext>
              </a:extLst>
            </p:cNvPr>
            <p:cNvSpPr/>
            <p:nvPr/>
          </p:nvSpPr>
          <p:spPr bwMode="auto">
            <a:xfrm>
              <a:off x="1605367" y="4334226"/>
              <a:ext cx="3770313" cy="1211263"/>
            </a:xfrm>
            <a:custGeom>
              <a:avLst/>
              <a:gdLst>
                <a:gd name="T0" fmla="*/ 34 w 1032"/>
                <a:gd name="T1" fmla="*/ 0 h 456"/>
                <a:gd name="T2" fmla="*/ 1032 w 1032"/>
                <a:gd name="T3" fmla="*/ 0 h 456"/>
                <a:gd name="T4" fmla="*/ 1032 w 1032"/>
                <a:gd name="T5" fmla="*/ 456 h 456"/>
                <a:gd name="T6" fmla="*/ 34 w 1032"/>
                <a:gd name="T7" fmla="*/ 456 h 456"/>
                <a:gd name="T8" fmla="*/ 0 w 1032"/>
                <a:gd name="T9" fmla="*/ 423 h 456"/>
                <a:gd name="T10" fmla="*/ 0 w 1032"/>
                <a:gd name="T11" fmla="*/ 34 h 456"/>
                <a:gd name="T12" fmla="*/ 34 w 1032"/>
                <a:gd name="T13" fmla="*/ 0 h 456"/>
              </a:gdLst>
              <a:ahLst/>
              <a:cxnLst>
                <a:cxn ang="0">
                  <a:pos x="T0" y="T1"/>
                </a:cxn>
                <a:cxn ang="0">
                  <a:pos x="T2" y="T3"/>
                </a:cxn>
                <a:cxn ang="0">
                  <a:pos x="T4" y="T5"/>
                </a:cxn>
                <a:cxn ang="0">
                  <a:pos x="T6" y="T7"/>
                </a:cxn>
                <a:cxn ang="0">
                  <a:pos x="T8" y="T9"/>
                </a:cxn>
                <a:cxn ang="0">
                  <a:pos x="T10" y="T11"/>
                </a:cxn>
                <a:cxn ang="0">
                  <a:pos x="T12" y="T13"/>
                </a:cxn>
              </a:cxnLst>
              <a:rect l="0" t="0" r="r" b="b"/>
              <a:pathLst>
                <a:path w="1032" h="456">
                  <a:moveTo>
                    <a:pt x="34" y="0"/>
                  </a:moveTo>
                  <a:cubicBezTo>
                    <a:pt x="1032" y="0"/>
                    <a:pt x="1032" y="0"/>
                    <a:pt x="1032" y="0"/>
                  </a:cubicBezTo>
                  <a:cubicBezTo>
                    <a:pt x="1032" y="456"/>
                    <a:pt x="1032" y="456"/>
                    <a:pt x="1032" y="456"/>
                  </a:cubicBezTo>
                  <a:cubicBezTo>
                    <a:pt x="34" y="456"/>
                    <a:pt x="34" y="456"/>
                    <a:pt x="34" y="456"/>
                  </a:cubicBezTo>
                  <a:cubicBezTo>
                    <a:pt x="15" y="456"/>
                    <a:pt x="0" y="441"/>
                    <a:pt x="0" y="423"/>
                  </a:cubicBezTo>
                  <a:cubicBezTo>
                    <a:pt x="0" y="34"/>
                    <a:pt x="0" y="34"/>
                    <a:pt x="0" y="34"/>
                  </a:cubicBezTo>
                  <a:cubicBezTo>
                    <a:pt x="0" y="16"/>
                    <a:pt x="15" y="0"/>
                    <a:pt x="34" y="0"/>
                  </a:cubicBezTo>
                  <a:close/>
                </a:path>
              </a:pathLst>
            </a:custGeom>
            <a:solidFill>
              <a:schemeClr val="accent2">
                <a:lumMod val="60000"/>
                <a:lumOff val="40000"/>
              </a:schemeClr>
            </a:solidFill>
            <a:ln>
              <a:noFill/>
            </a:ln>
          </p:spPr>
          <p:txBody>
            <a:bodyPr anchor="ctr"/>
            <a:lstStyle/>
            <a:p>
              <a:pPr marL="146050" lvl="0">
                <a:spcBef>
                  <a:spcPts val="860"/>
                </a:spcBef>
                <a:tabLst>
                  <a:tab pos="466090" algn="l"/>
                </a:tabLst>
                <a:defRPr/>
              </a:pPr>
              <a:r>
                <a:rPr lang="zh-CN" altLang="en-US" sz="1600" b="1"/>
                <a:t>市场与经营维度：</a:t>
              </a:r>
              <a:r>
                <a:rPr lang="zh-CN" altLang="en-US" sz="1400" spc="-100">
                  <a:latin typeface="+mj-ea"/>
                  <a:ea typeface="+mj-ea"/>
                </a:rPr>
                <a:t>充分考量经营性增长态势，同时对部分项目面临的市场萎缩情况进行研判</a:t>
              </a:r>
              <a:endParaRPr lang="zh-CN" altLang="en-US" sz="1400" spc="-100" dirty="0">
                <a:latin typeface="+mj-ea"/>
                <a:ea typeface="+mj-ea"/>
              </a:endParaRPr>
            </a:p>
            <a:p>
              <a:pPr marL="146050" lvl="0">
                <a:spcBef>
                  <a:spcPts val="860"/>
                </a:spcBef>
                <a:tabLst>
                  <a:tab pos="466090" algn="l"/>
                </a:tabLst>
                <a:defRPr/>
              </a:pPr>
              <a:r>
                <a:rPr lang="zh-CN" altLang="en-US" sz="1200" spc="-100">
                  <a:latin typeface="+mj-ea"/>
                </a:rPr>
                <a:t>合理规划相关市场推广类预算</a:t>
              </a:r>
              <a:endParaRPr kumimoji="0" lang="zh-CN" altLang="en-US" sz="1200" b="0" i="0" u="none" strike="noStrike" kern="1200" cap="none" spc="-100" normalizeH="0" baseline="0" noProof="0" dirty="0">
                <a:ln>
                  <a:noFill/>
                </a:ln>
                <a:solidFill>
                  <a:schemeClr val="tx1">
                    <a:lumMod val="75000"/>
                    <a:lumOff val="25000"/>
                  </a:schemeClr>
                </a:solidFill>
                <a:effectLst/>
                <a:uLnTx/>
                <a:uFillTx/>
                <a:latin typeface="+mn-ea"/>
                <a:cs typeface="宋体" panose="02010600030101010101" pitchFamily="2" charset="-122"/>
              </a:endParaRPr>
            </a:p>
          </p:txBody>
        </p:sp>
        <p:sp>
          <p:nvSpPr>
            <p:cNvPr id="111" name="Freeform 67">
              <a:extLst>
                <a:ext uri="{FF2B5EF4-FFF2-40B4-BE49-F238E27FC236}">
                  <a16:creationId xmlns:a16="http://schemas.microsoft.com/office/drawing/2014/main" id="{A7D0AC87-F836-7E34-9972-F55CB228D52B}"/>
                </a:ext>
              </a:extLst>
            </p:cNvPr>
            <p:cNvSpPr/>
            <p:nvPr/>
          </p:nvSpPr>
          <p:spPr bwMode="auto">
            <a:xfrm>
              <a:off x="1605367" y="5718526"/>
              <a:ext cx="3770313" cy="1211263"/>
            </a:xfrm>
            <a:custGeom>
              <a:avLst/>
              <a:gdLst>
                <a:gd name="T0" fmla="*/ 34 w 1032"/>
                <a:gd name="T1" fmla="*/ 0 h 456"/>
                <a:gd name="T2" fmla="*/ 1032 w 1032"/>
                <a:gd name="T3" fmla="*/ 0 h 456"/>
                <a:gd name="T4" fmla="*/ 1032 w 1032"/>
                <a:gd name="T5" fmla="*/ 456 h 456"/>
                <a:gd name="T6" fmla="*/ 34 w 1032"/>
                <a:gd name="T7" fmla="*/ 456 h 456"/>
                <a:gd name="T8" fmla="*/ 0 w 1032"/>
                <a:gd name="T9" fmla="*/ 422 h 456"/>
                <a:gd name="T10" fmla="*/ 0 w 1032"/>
                <a:gd name="T11" fmla="*/ 34 h 456"/>
                <a:gd name="T12" fmla="*/ 34 w 1032"/>
                <a:gd name="T13" fmla="*/ 0 h 456"/>
              </a:gdLst>
              <a:ahLst/>
              <a:cxnLst>
                <a:cxn ang="0">
                  <a:pos x="T0" y="T1"/>
                </a:cxn>
                <a:cxn ang="0">
                  <a:pos x="T2" y="T3"/>
                </a:cxn>
                <a:cxn ang="0">
                  <a:pos x="T4" y="T5"/>
                </a:cxn>
                <a:cxn ang="0">
                  <a:pos x="T6" y="T7"/>
                </a:cxn>
                <a:cxn ang="0">
                  <a:pos x="T8" y="T9"/>
                </a:cxn>
                <a:cxn ang="0">
                  <a:pos x="T10" y="T11"/>
                </a:cxn>
                <a:cxn ang="0">
                  <a:pos x="T12" y="T13"/>
                </a:cxn>
              </a:cxnLst>
              <a:rect l="0" t="0" r="r" b="b"/>
              <a:pathLst>
                <a:path w="1032" h="456">
                  <a:moveTo>
                    <a:pt x="34" y="0"/>
                  </a:moveTo>
                  <a:cubicBezTo>
                    <a:pt x="1032" y="0"/>
                    <a:pt x="1032" y="0"/>
                    <a:pt x="1032" y="0"/>
                  </a:cubicBezTo>
                  <a:cubicBezTo>
                    <a:pt x="1032" y="456"/>
                    <a:pt x="1032" y="456"/>
                    <a:pt x="1032" y="456"/>
                  </a:cubicBezTo>
                  <a:cubicBezTo>
                    <a:pt x="34" y="456"/>
                    <a:pt x="34" y="456"/>
                    <a:pt x="34" y="456"/>
                  </a:cubicBezTo>
                  <a:cubicBezTo>
                    <a:pt x="15" y="456"/>
                    <a:pt x="0" y="441"/>
                    <a:pt x="0" y="422"/>
                  </a:cubicBezTo>
                  <a:cubicBezTo>
                    <a:pt x="0" y="34"/>
                    <a:pt x="0" y="34"/>
                    <a:pt x="0" y="34"/>
                  </a:cubicBezTo>
                  <a:cubicBezTo>
                    <a:pt x="0" y="15"/>
                    <a:pt x="15" y="0"/>
                    <a:pt x="34" y="0"/>
                  </a:cubicBezTo>
                  <a:close/>
                </a:path>
              </a:pathLst>
            </a:custGeom>
            <a:solidFill>
              <a:schemeClr val="bg1">
                <a:lumMod val="95000"/>
              </a:schemeClr>
            </a:solidFill>
            <a:ln>
              <a:noFill/>
            </a:ln>
          </p:spPr>
          <p:txBody>
            <a:bodyPr anchor="ctr"/>
            <a:lstStyle>
              <a:lvl1pPr marL="146050">
                <a:tabLst>
                  <a:tab pos="464820" algn="l"/>
                </a:tabLst>
                <a:defRPr>
                  <a:solidFill>
                    <a:schemeClr val="tx1"/>
                  </a:solidFill>
                  <a:latin typeface="等线" panose="02010600030101010101" pitchFamily="2" charset="-122"/>
                  <a:ea typeface="等线" panose="02010600030101010101" pitchFamily="2" charset="-122"/>
                </a:defRPr>
              </a:lvl1pPr>
              <a:lvl2pPr marL="742950" indent="-285750">
                <a:tabLst>
                  <a:tab pos="464820" algn="l"/>
                </a:tabLst>
                <a:defRPr>
                  <a:solidFill>
                    <a:schemeClr val="tx1"/>
                  </a:solidFill>
                  <a:latin typeface="等线" panose="02010600030101010101" pitchFamily="2" charset="-122"/>
                  <a:ea typeface="等线" panose="02010600030101010101" pitchFamily="2" charset="-122"/>
                </a:defRPr>
              </a:lvl2pPr>
              <a:lvl3pPr marL="1143000" indent="-228600">
                <a:tabLst>
                  <a:tab pos="464820" algn="l"/>
                </a:tabLst>
                <a:defRPr>
                  <a:solidFill>
                    <a:schemeClr val="tx1"/>
                  </a:solidFill>
                  <a:latin typeface="等线" panose="02010600030101010101" pitchFamily="2" charset="-122"/>
                  <a:ea typeface="等线" panose="02010600030101010101" pitchFamily="2" charset="-122"/>
                </a:defRPr>
              </a:lvl3pPr>
              <a:lvl4pPr marL="1600200" indent="-228600">
                <a:tabLst>
                  <a:tab pos="464820" algn="l"/>
                </a:tabLst>
                <a:defRPr>
                  <a:solidFill>
                    <a:schemeClr val="tx1"/>
                  </a:solidFill>
                  <a:latin typeface="等线" panose="02010600030101010101" pitchFamily="2" charset="-122"/>
                  <a:ea typeface="等线" panose="02010600030101010101" pitchFamily="2" charset="-122"/>
                </a:defRPr>
              </a:lvl4pPr>
              <a:lvl5pPr marL="2057400" indent="-228600">
                <a:tabLst>
                  <a:tab pos="464820" algn="l"/>
                </a:tabLst>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tabLst>
                  <a:tab pos="464820" algn="l"/>
                </a:tabLs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tabLst>
                  <a:tab pos="464820" algn="l"/>
                </a:tabLs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tabLst>
                  <a:tab pos="464820" algn="l"/>
                </a:tabLs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tabLst>
                  <a:tab pos="464820" algn="l"/>
                </a:tabLst>
                <a:defRPr>
                  <a:solidFill>
                    <a:schemeClr val="tx1"/>
                  </a:solidFill>
                  <a:latin typeface="等线" panose="02010600030101010101" pitchFamily="2" charset="-122"/>
                  <a:ea typeface="等线" panose="02010600030101010101" pitchFamily="2" charset="-122"/>
                </a:defRPr>
              </a:lvl9pPr>
            </a:lstStyle>
            <a:p>
              <a:pPr fontAlgn="base">
                <a:lnSpc>
                  <a:spcPct val="93000"/>
                </a:lnSpc>
                <a:spcBef>
                  <a:spcPts val="1425"/>
                </a:spcBef>
                <a:spcAft>
                  <a:spcPct val="0"/>
                </a:spcAft>
                <a:defRPr/>
              </a:pPr>
              <a:r>
                <a:rPr lang="zh-CN" altLang="en-US" sz="1600" b="1">
                  <a:latin typeface="+mj-ea"/>
                  <a:ea typeface="+mj-ea"/>
                </a:rPr>
                <a:t>成本与收入的平衡</a:t>
              </a:r>
              <a:r>
                <a:rPr lang="zh-CN" altLang="en-US" sz="1600">
                  <a:latin typeface="+mj-ea"/>
                  <a:ea typeface="+mj-ea"/>
                </a:rPr>
                <a:t>：</a:t>
              </a:r>
              <a:r>
                <a:rPr lang="zh-CN" altLang="en-US" sz="1400">
                  <a:latin typeface="+mj-ea"/>
                  <a:ea typeface="+mj-ea"/>
                </a:rPr>
                <a:t>各项目成本增长原则上不高于收入增长</a:t>
              </a:r>
              <a:r>
                <a:rPr kumimoji="0" lang="zh-CN" altLang="en-US" sz="1400" i="0" u="none" strike="noStrike" kern="1200" cap="none" spc="0" normalizeH="0" baseline="0" noProof="0">
                  <a:ln>
                    <a:noFill/>
                  </a:ln>
                  <a:solidFill>
                    <a:schemeClr val="tx1"/>
                  </a:solidFill>
                  <a:effectLst/>
                  <a:uLnTx/>
                  <a:uFillTx/>
                  <a:latin typeface="+mj-ea"/>
                  <a:ea typeface="+mj-ea"/>
                  <a:cs typeface="+mn-cs"/>
                </a:rPr>
                <a:t>产品</a:t>
              </a:r>
              <a:r>
                <a:rPr kumimoji="0" lang="zh-CN" altLang="en-US" sz="1400" i="0" u="none" strike="noStrike" kern="1200" cap="none" spc="0" normalizeH="0" baseline="0" noProof="0" dirty="0">
                  <a:ln>
                    <a:noFill/>
                  </a:ln>
                  <a:solidFill>
                    <a:schemeClr val="tx1"/>
                  </a:solidFill>
                  <a:effectLst/>
                  <a:uLnTx/>
                  <a:uFillTx/>
                  <a:latin typeface="+mj-ea"/>
                  <a:ea typeface="+mj-ea"/>
                  <a:cs typeface="+mn-cs"/>
                </a:rPr>
                <a:t>垂直向种草</a:t>
              </a:r>
            </a:p>
            <a:p>
              <a:pPr fontAlgn="base">
                <a:lnSpc>
                  <a:spcPct val="93000"/>
                </a:lnSpc>
                <a:spcBef>
                  <a:spcPts val="1425"/>
                </a:spcBef>
                <a:spcAft>
                  <a:spcPct val="0"/>
                </a:spcAft>
                <a:defRPr/>
              </a:pPr>
              <a:r>
                <a:rPr lang="zh-CN" altLang="en-US" sz="1200">
                  <a:solidFill>
                    <a:srgbClr val="404040"/>
                  </a:solidFill>
                  <a:latin typeface="+mn-ea"/>
                  <a:ea typeface="+mn-ea"/>
                </a:rPr>
                <a:t>超原则部分单独批注说明</a:t>
              </a:r>
            </a:p>
          </p:txBody>
        </p:sp>
        <p:sp>
          <p:nvSpPr>
            <p:cNvPr id="112" name="Freeform 115">
              <a:extLst>
                <a:ext uri="{FF2B5EF4-FFF2-40B4-BE49-F238E27FC236}">
                  <a16:creationId xmlns:a16="http://schemas.microsoft.com/office/drawing/2014/main" id="{3D543042-010C-C4AA-4C05-AF1323F764F7}"/>
                </a:ext>
              </a:extLst>
            </p:cNvPr>
            <p:cNvSpPr/>
            <p:nvPr/>
          </p:nvSpPr>
          <p:spPr bwMode="auto">
            <a:xfrm>
              <a:off x="1605367" y="7102826"/>
              <a:ext cx="3770313" cy="1209675"/>
            </a:xfrm>
            <a:custGeom>
              <a:avLst/>
              <a:gdLst>
                <a:gd name="T0" fmla="*/ 34 w 1032"/>
                <a:gd name="T1" fmla="*/ 0 h 456"/>
                <a:gd name="T2" fmla="*/ 1032 w 1032"/>
                <a:gd name="T3" fmla="*/ 0 h 456"/>
                <a:gd name="T4" fmla="*/ 1032 w 1032"/>
                <a:gd name="T5" fmla="*/ 456 h 456"/>
                <a:gd name="T6" fmla="*/ 34 w 1032"/>
                <a:gd name="T7" fmla="*/ 456 h 456"/>
                <a:gd name="T8" fmla="*/ 0 w 1032"/>
                <a:gd name="T9" fmla="*/ 423 h 456"/>
                <a:gd name="T10" fmla="*/ 0 w 1032"/>
                <a:gd name="T11" fmla="*/ 34 h 456"/>
                <a:gd name="T12" fmla="*/ 34 w 1032"/>
                <a:gd name="T13" fmla="*/ 0 h 456"/>
              </a:gdLst>
              <a:ahLst/>
              <a:cxnLst>
                <a:cxn ang="0">
                  <a:pos x="T0" y="T1"/>
                </a:cxn>
                <a:cxn ang="0">
                  <a:pos x="T2" y="T3"/>
                </a:cxn>
                <a:cxn ang="0">
                  <a:pos x="T4" y="T5"/>
                </a:cxn>
                <a:cxn ang="0">
                  <a:pos x="T6" y="T7"/>
                </a:cxn>
                <a:cxn ang="0">
                  <a:pos x="T8" y="T9"/>
                </a:cxn>
                <a:cxn ang="0">
                  <a:pos x="T10" y="T11"/>
                </a:cxn>
                <a:cxn ang="0">
                  <a:pos x="T12" y="T13"/>
                </a:cxn>
              </a:cxnLst>
              <a:rect l="0" t="0" r="r" b="b"/>
              <a:pathLst>
                <a:path w="1032" h="456">
                  <a:moveTo>
                    <a:pt x="34" y="0"/>
                  </a:moveTo>
                  <a:cubicBezTo>
                    <a:pt x="1032" y="0"/>
                    <a:pt x="1032" y="0"/>
                    <a:pt x="1032" y="0"/>
                  </a:cubicBezTo>
                  <a:cubicBezTo>
                    <a:pt x="1032" y="456"/>
                    <a:pt x="1032" y="456"/>
                    <a:pt x="1032" y="456"/>
                  </a:cubicBezTo>
                  <a:cubicBezTo>
                    <a:pt x="34" y="456"/>
                    <a:pt x="34" y="456"/>
                    <a:pt x="34" y="456"/>
                  </a:cubicBezTo>
                  <a:cubicBezTo>
                    <a:pt x="15" y="456"/>
                    <a:pt x="0" y="441"/>
                    <a:pt x="0" y="423"/>
                  </a:cubicBezTo>
                  <a:cubicBezTo>
                    <a:pt x="0" y="34"/>
                    <a:pt x="0" y="34"/>
                    <a:pt x="0" y="34"/>
                  </a:cubicBezTo>
                  <a:cubicBezTo>
                    <a:pt x="0" y="15"/>
                    <a:pt x="15" y="0"/>
                    <a:pt x="34" y="0"/>
                  </a:cubicBezTo>
                  <a:close/>
                </a:path>
              </a:pathLst>
            </a:custGeom>
            <a:solidFill>
              <a:schemeClr val="bg1">
                <a:lumMod val="95000"/>
              </a:schemeClr>
            </a:solidFill>
            <a:ln>
              <a:noFill/>
            </a:ln>
          </p:spPr>
          <p:txBody>
            <a:bodyPr anchor="ctr"/>
            <a:lstStyle>
              <a:lvl1pPr marL="146050">
                <a:tabLst>
                  <a:tab pos="464820" algn="l"/>
                </a:tabLst>
                <a:defRPr>
                  <a:solidFill>
                    <a:schemeClr val="tx1"/>
                  </a:solidFill>
                  <a:latin typeface="等线" panose="02010600030101010101" pitchFamily="2" charset="-122"/>
                  <a:ea typeface="等线" panose="02010600030101010101" pitchFamily="2" charset="-122"/>
                </a:defRPr>
              </a:lvl1pPr>
              <a:lvl2pPr marL="742950" indent="-285750">
                <a:tabLst>
                  <a:tab pos="464820" algn="l"/>
                </a:tabLst>
                <a:defRPr>
                  <a:solidFill>
                    <a:schemeClr val="tx1"/>
                  </a:solidFill>
                  <a:latin typeface="等线" panose="02010600030101010101" pitchFamily="2" charset="-122"/>
                  <a:ea typeface="等线" panose="02010600030101010101" pitchFamily="2" charset="-122"/>
                </a:defRPr>
              </a:lvl2pPr>
              <a:lvl3pPr marL="1143000" indent="-228600">
                <a:tabLst>
                  <a:tab pos="464820" algn="l"/>
                </a:tabLst>
                <a:defRPr>
                  <a:solidFill>
                    <a:schemeClr val="tx1"/>
                  </a:solidFill>
                  <a:latin typeface="等线" panose="02010600030101010101" pitchFamily="2" charset="-122"/>
                  <a:ea typeface="等线" panose="02010600030101010101" pitchFamily="2" charset="-122"/>
                </a:defRPr>
              </a:lvl3pPr>
              <a:lvl4pPr marL="1600200" indent="-228600">
                <a:tabLst>
                  <a:tab pos="464820" algn="l"/>
                </a:tabLst>
                <a:defRPr>
                  <a:solidFill>
                    <a:schemeClr val="tx1"/>
                  </a:solidFill>
                  <a:latin typeface="等线" panose="02010600030101010101" pitchFamily="2" charset="-122"/>
                  <a:ea typeface="等线" panose="02010600030101010101" pitchFamily="2" charset="-122"/>
                </a:defRPr>
              </a:lvl4pPr>
              <a:lvl5pPr marL="2057400" indent="-228600">
                <a:tabLst>
                  <a:tab pos="464820" algn="l"/>
                </a:tabLst>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tabLst>
                  <a:tab pos="464820" algn="l"/>
                </a:tabLs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tabLst>
                  <a:tab pos="464820" algn="l"/>
                </a:tabLs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tabLst>
                  <a:tab pos="464820" algn="l"/>
                </a:tabLs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tabLst>
                  <a:tab pos="464820" algn="l"/>
                </a:tabLst>
                <a:defRPr>
                  <a:solidFill>
                    <a:schemeClr val="tx1"/>
                  </a:solidFill>
                  <a:latin typeface="等线" panose="02010600030101010101" pitchFamily="2" charset="-122"/>
                  <a:ea typeface="等线" panose="02010600030101010101" pitchFamily="2" charset="-122"/>
                </a:defRPr>
              </a:lvl9pPr>
            </a:lstStyle>
            <a:p>
              <a:r>
                <a:rPr lang="zh-CN" altLang="en-US" sz="1600" b="1">
                  <a:latin typeface="+mj-ea"/>
                  <a:ea typeface="+mj-ea"/>
                </a:rPr>
                <a:t>人力成本管理：</a:t>
              </a:r>
              <a:r>
                <a:rPr lang="zh-CN" altLang="en-US" sz="1400">
                  <a:latin typeface="+mj-ea"/>
                  <a:ea typeface="+mj-ea"/>
                </a:rPr>
                <a:t>人力资源费预算由集团人力部门主导编制</a:t>
              </a:r>
              <a:endParaRPr lang="en-US" altLang="zh-CN" sz="1400">
                <a:latin typeface="+mj-ea"/>
                <a:ea typeface="+mj-ea"/>
              </a:endParaRPr>
            </a:p>
            <a:p>
              <a:endParaRPr lang="en-US" altLang="zh-CN" sz="1400">
                <a:latin typeface="+mj-ea"/>
                <a:ea typeface="+mj-ea"/>
              </a:endParaRPr>
            </a:p>
            <a:p>
              <a:r>
                <a:rPr lang="zh-CN" altLang="en-US" sz="1200">
                  <a:solidFill>
                    <a:srgbClr val="404040"/>
                  </a:solidFill>
                  <a:latin typeface="+mn-ea"/>
                  <a:ea typeface="+mn-ea"/>
                </a:rPr>
                <a:t>注重人效提升，以更高效配置人力成本</a:t>
              </a:r>
            </a:p>
          </p:txBody>
        </p:sp>
      </p:grpSp>
      <p:sp>
        <p:nvSpPr>
          <p:cNvPr id="114" name="圆角矩形 14">
            <a:extLst>
              <a:ext uri="{FF2B5EF4-FFF2-40B4-BE49-F238E27FC236}">
                <a16:creationId xmlns:a16="http://schemas.microsoft.com/office/drawing/2014/main" id="{884383FD-56F5-EE48-F461-50B64E9F6D6D}"/>
              </a:ext>
            </a:extLst>
          </p:cNvPr>
          <p:cNvSpPr/>
          <p:nvPr/>
        </p:nvSpPr>
        <p:spPr>
          <a:xfrm>
            <a:off x="11250499" y="4159420"/>
            <a:ext cx="649690" cy="2484899"/>
          </a:xfrm>
          <a:prstGeom prst="roundRect">
            <a:avLst>
              <a:gd name="adj" fmla="val 16302"/>
            </a:avLst>
          </a:prstGeom>
          <a:solidFill>
            <a:schemeClr val="accent4"/>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latin typeface="+mj-ea"/>
                <a:ea typeface="+mj-ea"/>
              </a:rPr>
              <a:t>预算编制原则</a:t>
            </a:r>
            <a:endParaRPr lang="zh-CN" altLang="en-US" sz="1100" dirty="0">
              <a:solidFill>
                <a:schemeClr val="bg1"/>
              </a:solidFill>
              <a:latin typeface="+mn-ea"/>
            </a:endParaRPr>
          </a:p>
        </p:txBody>
      </p:sp>
      <p:sp>
        <p:nvSpPr>
          <p:cNvPr id="116" name="矩形 115">
            <a:extLst>
              <a:ext uri="{FF2B5EF4-FFF2-40B4-BE49-F238E27FC236}">
                <a16:creationId xmlns:a16="http://schemas.microsoft.com/office/drawing/2014/main" id="{EB703754-19CD-C223-0647-B81FBCCA2587}"/>
              </a:ext>
            </a:extLst>
          </p:cNvPr>
          <p:cNvSpPr/>
          <p:nvPr/>
        </p:nvSpPr>
        <p:spPr>
          <a:xfrm>
            <a:off x="6845583" y="6929042"/>
            <a:ext cx="2694643" cy="3276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endParaRPr>
          </a:p>
        </p:txBody>
      </p:sp>
    </p:spTree>
    <p:extLst>
      <p:ext uri="{BB962C8B-B14F-4D97-AF65-F5344CB8AC3E}">
        <p14:creationId xmlns:p14="http://schemas.microsoft.com/office/powerpoint/2010/main" val="2397755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Box 10">
            <a:extLst>
              <a:ext uri="{FF2B5EF4-FFF2-40B4-BE49-F238E27FC236}">
                <a16:creationId xmlns:a16="http://schemas.microsoft.com/office/drawing/2014/main" id="{44746D1A-CBC9-4CC9-B55E-A4B124E3F346}"/>
              </a:ext>
            </a:extLst>
          </p:cNvPr>
          <p:cNvSpPr txBox="1"/>
          <p:nvPr/>
        </p:nvSpPr>
        <p:spPr>
          <a:xfrm>
            <a:off x="1214597" y="1114700"/>
            <a:ext cx="1415772" cy="338554"/>
          </a:xfrm>
          <a:prstGeom prst="rect">
            <a:avLst/>
          </a:prstGeom>
          <a:noFill/>
        </p:spPr>
        <p:txBody>
          <a:bodyPr wrap="none" rtlCol="0">
            <a:spAutoFit/>
          </a:bodyPr>
          <a:lstStyle/>
          <a:p>
            <a:pPr algn="ctr"/>
            <a:r>
              <a:rPr lang="zh-CN" altLang="en-US" sz="1600" b="1" dirty="0">
                <a:solidFill>
                  <a:srgbClr val="0A9689"/>
                </a:solidFill>
                <a:latin typeface="微软雅黑" panose="020B0503020204020204" pitchFamily="34" charset="-122"/>
                <a:ea typeface="微软雅黑" panose="020B0503020204020204" pitchFamily="34" charset="-122"/>
                <a:cs typeface="Open Sans" panose="020B0606030504020204" pitchFamily="34" charset="0"/>
              </a:rPr>
              <a:t>成立项目小组</a:t>
            </a:r>
            <a:endParaRPr lang="en-US" sz="1600" b="1" dirty="0">
              <a:solidFill>
                <a:srgbClr val="0A9689"/>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64" name="Rectangle 17">
            <a:extLst>
              <a:ext uri="{FF2B5EF4-FFF2-40B4-BE49-F238E27FC236}">
                <a16:creationId xmlns:a16="http://schemas.microsoft.com/office/drawing/2014/main" id="{E345E16A-D566-426B-8E04-50A72EB0DEBF}"/>
              </a:ext>
            </a:extLst>
          </p:cNvPr>
          <p:cNvSpPr/>
          <p:nvPr/>
        </p:nvSpPr>
        <p:spPr>
          <a:xfrm>
            <a:off x="1011587" y="1476592"/>
            <a:ext cx="2120481" cy="570284"/>
          </a:xfrm>
          <a:prstGeom prst="rect">
            <a:avLst/>
          </a:prstGeom>
        </p:spPr>
        <p:txBody>
          <a:bodyPr wrap="square">
            <a:spAutoFit/>
          </a:bodyPr>
          <a:lstStyle/>
          <a:p>
            <a:pPr marL="171450" indent="-171450">
              <a:lnSpc>
                <a:spcPct val="150000"/>
              </a:lnSpc>
              <a:buFont typeface="Arial" panose="020B0604020202020204" pitchFamily="34" charset="0"/>
              <a:buChar char="•"/>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rPr>
              <a:t>确定预算对接负责人</a:t>
            </a:r>
            <a:endParaRPr lang="en-US" altLang="zh-CN" sz="11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rPr>
              <a:t>小组成员由各公司拟定</a:t>
            </a:r>
            <a:endParaRPr lang="en-US" sz="11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8" name="TextBox 25">
            <a:extLst>
              <a:ext uri="{FF2B5EF4-FFF2-40B4-BE49-F238E27FC236}">
                <a16:creationId xmlns:a16="http://schemas.microsoft.com/office/drawing/2014/main" id="{E910ECD0-F77E-4834-8925-12BFC11976E0}"/>
              </a:ext>
            </a:extLst>
          </p:cNvPr>
          <p:cNvSpPr txBox="1"/>
          <p:nvPr/>
        </p:nvSpPr>
        <p:spPr>
          <a:xfrm>
            <a:off x="1362074" y="2696791"/>
            <a:ext cx="1120820" cy="307777"/>
          </a:xfrm>
          <a:prstGeom prst="rect">
            <a:avLst/>
          </a:prstGeom>
          <a:noFill/>
          <a:ln w="6350">
            <a:solidFill>
              <a:schemeClr val="tx2"/>
            </a:solidFill>
          </a:ln>
        </p:spPr>
        <p:txBody>
          <a:bodyPr wrap="none" rtlCol="0">
            <a:spAutoFit/>
          </a:bodyPr>
          <a:lstStyle/>
          <a:p>
            <a:pPr algn="ctr"/>
            <a:r>
              <a:rPr lang="en-US" sz="1400" b="1">
                <a:solidFill>
                  <a:schemeClr val="tx2"/>
                </a:solidFill>
                <a:latin typeface="Open Sans" panose="020B0606030504020204" pitchFamily="34" charset="0"/>
                <a:ea typeface="Open Sans" panose="020B0606030504020204" pitchFamily="34" charset="0"/>
                <a:cs typeface="Open Sans" panose="020B0606030504020204" pitchFamily="34" charset="0"/>
              </a:rPr>
              <a:t>2025-10-16</a:t>
            </a:r>
            <a:endPar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0" name="TextBox 10">
            <a:extLst>
              <a:ext uri="{FF2B5EF4-FFF2-40B4-BE49-F238E27FC236}">
                <a16:creationId xmlns:a16="http://schemas.microsoft.com/office/drawing/2014/main" id="{F99EA6B8-4B2E-4818-ADC3-38602CB66A68}"/>
              </a:ext>
            </a:extLst>
          </p:cNvPr>
          <p:cNvSpPr txBox="1"/>
          <p:nvPr/>
        </p:nvSpPr>
        <p:spPr>
          <a:xfrm>
            <a:off x="5595959" y="1111299"/>
            <a:ext cx="1005404" cy="338554"/>
          </a:xfrm>
          <a:prstGeom prst="rect">
            <a:avLst/>
          </a:prstGeom>
          <a:noFill/>
        </p:spPr>
        <p:txBody>
          <a:bodyPr wrap="none" rtlCol="0">
            <a:spAutoFit/>
          </a:bodyPr>
          <a:lstStyle/>
          <a:p>
            <a:pPr algn="ctr"/>
            <a:r>
              <a:rPr lang="zh-CN" altLang="en-US" sz="1600" b="1" dirty="0">
                <a:solidFill>
                  <a:srgbClr val="0A9689"/>
                </a:solidFill>
                <a:latin typeface="微软雅黑" panose="020B0503020204020204" pitchFamily="34" charset="-122"/>
                <a:ea typeface="微软雅黑" panose="020B0503020204020204" pitchFamily="34" charset="-122"/>
                <a:cs typeface="Open Sans" panose="020B0606030504020204" pitchFamily="34" charset="0"/>
              </a:rPr>
              <a:t>分配任务</a:t>
            </a:r>
            <a:endParaRPr lang="en-US" sz="1600" b="1" dirty="0">
              <a:solidFill>
                <a:srgbClr val="0A9689"/>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81" name="Rectangle 17">
            <a:extLst>
              <a:ext uri="{FF2B5EF4-FFF2-40B4-BE49-F238E27FC236}">
                <a16:creationId xmlns:a16="http://schemas.microsoft.com/office/drawing/2014/main" id="{2FA8B250-8C4C-42DE-9EF3-229E0024A034}"/>
              </a:ext>
            </a:extLst>
          </p:cNvPr>
          <p:cNvSpPr/>
          <p:nvPr/>
        </p:nvSpPr>
        <p:spPr>
          <a:xfrm>
            <a:off x="5140309" y="1469670"/>
            <a:ext cx="1947093" cy="1078116"/>
          </a:xfrm>
          <a:prstGeom prst="rect">
            <a:avLst/>
          </a:prstGeom>
        </p:spPr>
        <p:txBody>
          <a:bodyPr wrap="square">
            <a:spAutoFit/>
          </a:bodyPr>
          <a:lstStyle/>
          <a:p>
            <a:pPr marL="171450" indent="-171450">
              <a:lnSpc>
                <a:spcPct val="150000"/>
              </a:lnSpc>
              <a:buFont typeface="Arial" panose="020B0604020202020204" pitchFamily="34" charset="0"/>
              <a:buChar char="•"/>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rPr>
              <a:t>各公司总经理根据编制原则及年度经营计划将初步任务在部门与项目之间进行分配</a:t>
            </a:r>
            <a:endParaRPr lang="en-US" altLang="zh-CN" sz="11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4" name="TextBox 10">
            <a:extLst>
              <a:ext uri="{FF2B5EF4-FFF2-40B4-BE49-F238E27FC236}">
                <a16:creationId xmlns:a16="http://schemas.microsoft.com/office/drawing/2014/main" id="{ABDA0D05-A3A7-4918-9529-2A33ECE44584}"/>
              </a:ext>
            </a:extLst>
          </p:cNvPr>
          <p:cNvSpPr txBox="1"/>
          <p:nvPr/>
        </p:nvSpPr>
        <p:spPr>
          <a:xfrm>
            <a:off x="7122965" y="3855910"/>
            <a:ext cx="1620957" cy="338554"/>
          </a:xfrm>
          <a:prstGeom prst="rect">
            <a:avLst/>
          </a:prstGeom>
          <a:noFill/>
        </p:spPr>
        <p:txBody>
          <a:bodyPr wrap="none" rtlCol="0">
            <a:spAutoFit/>
          </a:bodyPr>
          <a:lstStyle/>
          <a:p>
            <a:pPr algn="ctr"/>
            <a:r>
              <a:rPr lang="zh-CN" altLang="en-US" sz="1600" b="1" dirty="0">
                <a:solidFill>
                  <a:srgbClr val="0A9689"/>
                </a:solidFill>
                <a:latin typeface="微软雅黑" panose="020B0503020204020204" pitchFamily="34" charset="-122"/>
                <a:ea typeface="微软雅黑" panose="020B0503020204020204" pitchFamily="34" charset="-122"/>
                <a:cs typeface="Open Sans" panose="020B0606030504020204" pitchFamily="34" charset="0"/>
              </a:rPr>
              <a:t>编制及内部平衡</a:t>
            </a:r>
            <a:endParaRPr lang="en-US" sz="1600" b="1" dirty="0">
              <a:solidFill>
                <a:srgbClr val="0A9689"/>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85" name="Rectangle 17">
            <a:extLst>
              <a:ext uri="{FF2B5EF4-FFF2-40B4-BE49-F238E27FC236}">
                <a16:creationId xmlns:a16="http://schemas.microsoft.com/office/drawing/2014/main" id="{E15BB94C-283A-4594-BD59-A49BD24C4234}"/>
              </a:ext>
            </a:extLst>
          </p:cNvPr>
          <p:cNvSpPr/>
          <p:nvPr/>
        </p:nvSpPr>
        <p:spPr>
          <a:xfrm>
            <a:off x="7022547" y="4217802"/>
            <a:ext cx="2120481" cy="824200"/>
          </a:xfrm>
          <a:prstGeom prst="rect">
            <a:avLst/>
          </a:prstGeom>
        </p:spPr>
        <p:txBody>
          <a:bodyPr wrap="square">
            <a:spAutoFit/>
          </a:bodyPr>
          <a:lstStyle/>
          <a:p>
            <a:pPr marL="171450" indent="-171450">
              <a:lnSpc>
                <a:spcPct val="150000"/>
              </a:lnSpc>
              <a:buFont typeface="Arial" panose="020B0604020202020204" pitchFamily="34" charset="0"/>
              <a:buChar char="•"/>
            </a:pPr>
            <a:r>
              <a:rPr lang="zh-CN" altLang="en-US" sz="1100" b="1" dirty="0">
                <a:solidFill>
                  <a:schemeClr val="tx1">
                    <a:lumMod val="65000"/>
                    <a:lumOff val="35000"/>
                  </a:schemeClr>
                </a:solidFill>
                <a:latin typeface="微软雅黑" panose="020B0503020204020204" pitchFamily="34" charset="-122"/>
                <a:ea typeface="微软雅黑" panose="020B0503020204020204" pitchFamily="34" charset="-122"/>
              </a:rPr>
              <a:t>预算编制</a:t>
            </a:r>
            <a:endParaRPr lang="en-US" altLang="zh-CN" sz="110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100" b="1" dirty="0">
                <a:solidFill>
                  <a:schemeClr val="tx1">
                    <a:lumMod val="65000"/>
                    <a:lumOff val="35000"/>
                  </a:schemeClr>
                </a:solidFill>
                <a:latin typeface="微软雅黑" panose="020B0503020204020204" pitchFamily="34" charset="-122"/>
                <a:ea typeface="微软雅黑" panose="020B0503020204020204" pitchFamily="34" charset="-122"/>
              </a:rPr>
              <a:t>预算汇总</a:t>
            </a:r>
            <a:endParaRPr lang="en-US" altLang="zh-CN" sz="110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100" b="1" dirty="0">
                <a:solidFill>
                  <a:schemeClr val="tx1">
                    <a:lumMod val="65000"/>
                    <a:lumOff val="35000"/>
                  </a:schemeClr>
                </a:solidFill>
                <a:latin typeface="微软雅黑" panose="020B0503020204020204" pitchFamily="34" charset="-122"/>
                <a:ea typeface="微软雅黑" panose="020B0503020204020204" pitchFamily="34" charset="-122"/>
              </a:rPr>
              <a:t>预算检验及内部平衡质询</a:t>
            </a:r>
            <a:endParaRPr lang="en-US" altLang="zh-CN" sz="11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88" name="TextBox 10">
            <a:extLst>
              <a:ext uri="{FF2B5EF4-FFF2-40B4-BE49-F238E27FC236}">
                <a16:creationId xmlns:a16="http://schemas.microsoft.com/office/drawing/2014/main" id="{8293C329-160A-498C-8CDE-6DC85BAA98F0}"/>
              </a:ext>
            </a:extLst>
          </p:cNvPr>
          <p:cNvSpPr txBox="1"/>
          <p:nvPr/>
        </p:nvSpPr>
        <p:spPr>
          <a:xfrm>
            <a:off x="9432605" y="1396232"/>
            <a:ext cx="1005404" cy="338554"/>
          </a:xfrm>
          <a:prstGeom prst="rect">
            <a:avLst/>
          </a:prstGeom>
          <a:noFill/>
        </p:spPr>
        <p:txBody>
          <a:bodyPr wrap="none" rtlCol="0">
            <a:spAutoFit/>
          </a:bodyPr>
          <a:lstStyle/>
          <a:p>
            <a:pPr algn="ctr"/>
            <a:r>
              <a:rPr lang="zh-CN" altLang="en-US" sz="1600" b="1" dirty="0">
                <a:solidFill>
                  <a:srgbClr val="0A9689"/>
                </a:solidFill>
                <a:latin typeface="微软雅黑" panose="020B0503020204020204" pitchFamily="34" charset="-122"/>
                <a:ea typeface="微软雅黑" panose="020B0503020204020204" pitchFamily="34" charset="-122"/>
                <a:cs typeface="Open Sans" panose="020B0606030504020204" pitchFamily="34" charset="0"/>
              </a:rPr>
              <a:t>上报集团</a:t>
            </a:r>
            <a:endParaRPr lang="en-US" sz="1600" b="1" dirty="0">
              <a:solidFill>
                <a:srgbClr val="0A9689"/>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89" name="Rectangle 17">
            <a:extLst>
              <a:ext uri="{FF2B5EF4-FFF2-40B4-BE49-F238E27FC236}">
                <a16:creationId xmlns:a16="http://schemas.microsoft.com/office/drawing/2014/main" id="{6E3651B4-A098-45FF-BEBA-C09213FA1FF6}"/>
              </a:ext>
            </a:extLst>
          </p:cNvPr>
          <p:cNvSpPr/>
          <p:nvPr/>
        </p:nvSpPr>
        <p:spPr>
          <a:xfrm>
            <a:off x="9083830" y="1758125"/>
            <a:ext cx="1640264" cy="824200"/>
          </a:xfrm>
          <a:prstGeom prst="rect">
            <a:avLst/>
          </a:prstGeom>
        </p:spPr>
        <p:txBody>
          <a:bodyPr wrap="square">
            <a:spAutoFit/>
          </a:bodyPr>
          <a:lstStyle/>
          <a:p>
            <a:pPr marL="171450" indent="-171450">
              <a:lnSpc>
                <a:spcPct val="150000"/>
              </a:lnSpc>
              <a:buFont typeface="Arial" panose="020B0604020202020204" pitchFamily="34" charset="0"/>
              <a:buChar char="•"/>
            </a:pPr>
            <a:r>
              <a:rPr lang="zh-CN" altLang="en-US" sz="1100" b="1" dirty="0">
                <a:solidFill>
                  <a:schemeClr val="tx1">
                    <a:lumMod val="65000"/>
                    <a:lumOff val="35000"/>
                  </a:schemeClr>
                </a:solidFill>
                <a:latin typeface="微软雅黑" panose="020B0503020204020204" pitchFamily="34" charset="-122"/>
                <a:ea typeface="微软雅黑" panose="020B0503020204020204" pitchFamily="34" charset="-122"/>
              </a:rPr>
              <a:t>经内部确定后上报集团预算管理小组秘书处</a:t>
            </a:r>
            <a:endParaRPr lang="en-US" sz="11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94" name="TextBox 10">
            <a:extLst>
              <a:ext uri="{FF2B5EF4-FFF2-40B4-BE49-F238E27FC236}">
                <a16:creationId xmlns:a16="http://schemas.microsoft.com/office/drawing/2014/main" id="{C776A047-67ED-46CB-8863-EBA83632C911}"/>
              </a:ext>
            </a:extLst>
          </p:cNvPr>
          <p:cNvSpPr txBox="1"/>
          <p:nvPr/>
        </p:nvSpPr>
        <p:spPr>
          <a:xfrm>
            <a:off x="3317480" y="3852389"/>
            <a:ext cx="1005404" cy="338554"/>
          </a:xfrm>
          <a:prstGeom prst="rect">
            <a:avLst/>
          </a:prstGeom>
          <a:noFill/>
        </p:spPr>
        <p:txBody>
          <a:bodyPr wrap="none" rtlCol="0">
            <a:spAutoFit/>
          </a:bodyPr>
          <a:lstStyle/>
          <a:p>
            <a:pPr algn="ctr"/>
            <a:r>
              <a:rPr lang="zh-CN" altLang="en-US" sz="1600" b="1" dirty="0">
                <a:solidFill>
                  <a:srgbClr val="0A9689"/>
                </a:solidFill>
                <a:latin typeface="微软雅黑" panose="020B0503020204020204" pitchFamily="34" charset="-122"/>
                <a:ea typeface="微软雅黑" panose="020B0503020204020204" pitchFamily="34" charset="-122"/>
                <a:cs typeface="Open Sans" panose="020B0606030504020204" pitchFamily="34" charset="0"/>
              </a:rPr>
              <a:t>模板培训</a:t>
            </a:r>
            <a:endParaRPr lang="en-US" sz="1600" b="1" dirty="0">
              <a:solidFill>
                <a:srgbClr val="0A9689"/>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95" name="Rectangle 17">
            <a:extLst>
              <a:ext uri="{FF2B5EF4-FFF2-40B4-BE49-F238E27FC236}">
                <a16:creationId xmlns:a16="http://schemas.microsoft.com/office/drawing/2014/main" id="{9C092E22-2B32-4731-8F6E-CB7B0F7EDB87}"/>
              </a:ext>
            </a:extLst>
          </p:cNvPr>
          <p:cNvSpPr/>
          <p:nvPr/>
        </p:nvSpPr>
        <p:spPr>
          <a:xfrm>
            <a:off x="2909287" y="4214281"/>
            <a:ext cx="1816611" cy="824200"/>
          </a:xfrm>
          <a:prstGeom prst="rect">
            <a:avLst/>
          </a:prstGeom>
        </p:spPr>
        <p:txBody>
          <a:bodyPr wrap="square">
            <a:spAutoFit/>
          </a:bodyPr>
          <a:lstStyle/>
          <a:p>
            <a:pPr marL="171450" indent="-171450">
              <a:lnSpc>
                <a:spcPct val="150000"/>
              </a:lnSpc>
              <a:buFont typeface="Arial" panose="020B0604020202020204" pitchFamily="34" charset="0"/>
              <a:buChar char="•"/>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rPr>
              <a:t>由集团统一对各公司编制小组成员进行模板填写培训</a:t>
            </a:r>
            <a:endParaRPr lang="en-US" sz="11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7" name="TextBox 25">
            <a:extLst>
              <a:ext uri="{FF2B5EF4-FFF2-40B4-BE49-F238E27FC236}">
                <a16:creationId xmlns:a16="http://schemas.microsoft.com/office/drawing/2014/main" id="{2EC3B3AA-2AE2-4D87-921C-C348F15A66B9}"/>
              </a:ext>
            </a:extLst>
          </p:cNvPr>
          <p:cNvSpPr txBox="1"/>
          <p:nvPr/>
        </p:nvSpPr>
        <p:spPr>
          <a:xfrm>
            <a:off x="3227760" y="5257154"/>
            <a:ext cx="1120820" cy="307777"/>
          </a:xfrm>
          <a:prstGeom prst="rect">
            <a:avLst/>
          </a:prstGeom>
          <a:noFill/>
          <a:ln w="6350">
            <a:solidFill>
              <a:schemeClr val="tx2"/>
            </a:solidFill>
          </a:ln>
        </p:spPr>
        <p:txBody>
          <a:bodyPr wrap="none" rtlCol="0">
            <a:spAutoFit/>
          </a:bodyPr>
          <a:lstStyle/>
          <a:p>
            <a:pPr algn="ctr"/>
            <a:r>
              <a:rPr lang="en-US" sz="1400" b="1">
                <a:solidFill>
                  <a:schemeClr val="tx2"/>
                </a:solidFill>
                <a:latin typeface="Open Sans" panose="020B0606030504020204" pitchFamily="34" charset="0"/>
                <a:ea typeface="Open Sans" panose="020B0606030504020204" pitchFamily="34" charset="0"/>
                <a:cs typeface="Open Sans" panose="020B0606030504020204" pitchFamily="34" charset="0"/>
              </a:rPr>
              <a:t>2025-10-16</a:t>
            </a:r>
            <a:endPar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8" name="TextBox 25">
            <a:extLst>
              <a:ext uri="{FF2B5EF4-FFF2-40B4-BE49-F238E27FC236}">
                <a16:creationId xmlns:a16="http://schemas.microsoft.com/office/drawing/2014/main" id="{535DEE06-8E95-4260-AB52-96381BD28CA6}"/>
              </a:ext>
            </a:extLst>
          </p:cNvPr>
          <p:cNvSpPr txBox="1"/>
          <p:nvPr/>
        </p:nvSpPr>
        <p:spPr>
          <a:xfrm>
            <a:off x="5474224" y="2696791"/>
            <a:ext cx="1120820" cy="307777"/>
          </a:xfrm>
          <a:prstGeom prst="rect">
            <a:avLst/>
          </a:prstGeom>
          <a:noFill/>
          <a:ln w="6350">
            <a:solidFill>
              <a:schemeClr val="tx2"/>
            </a:solidFill>
          </a:ln>
        </p:spPr>
        <p:txBody>
          <a:bodyPr wrap="none" rtlCol="0">
            <a:spAutoFit/>
          </a:bodyPr>
          <a:lstStyle/>
          <a:p>
            <a:pPr algn="ctr"/>
            <a:r>
              <a:rPr lang="en-US" sz="1400" b="1">
                <a:solidFill>
                  <a:schemeClr val="tx2"/>
                </a:solidFill>
                <a:latin typeface="Open Sans" panose="020B0606030504020204" pitchFamily="34" charset="0"/>
                <a:ea typeface="Open Sans" panose="020B0606030504020204" pitchFamily="34" charset="0"/>
                <a:cs typeface="Open Sans" panose="020B0606030504020204" pitchFamily="34" charset="0"/>
              </a:rPr>
              <a:t>2025-10-20</a:t>
            </a:r>
            <a:endPar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9" name="TextBox 25">
            <a:extLst>
              <a:ext uri="{FF2B5EF4-FFF2-40B4-BE49-F238E27FC236}">
                <a16:creationId xmlns:a16="http://schemas.microsoft.com/office/drawing/2014/main" id="{EC100267-1005-47A0-8252-C472439F92F3}"/>
              </a:ext>
            </a:extLst>
          </p:cNvPr>
          <p:cNvSpPr txBox="1"/>
          <p:nvPr/>
        </p:nvSpPr>
        <p:spPr>
          <a:xfrm>
            <a:off x="7381250" y="5257154"/>
            <a:ext cx="1120820" cy="307777"/>
          </a:xfrm>
          <a:prstGeom prst="rect">
            <a:avLst/>
          </a:prstGeom>
          <a:noFill/>
          <a:ln w="6350">
            <a:solidFill>
              <a:schemeClr val="tx2"/>
            </a:solidFill>
          </a:ln>
        </p:spPr>
        <p:txBody>
          <a:bodyPr wrap="none" rtlCol="0">
            <a:spAutoFit/>
          </a:bodyPr>
          <a:lstStyle/>
          <a:p>
            <a:pPr algn="ctr"/>
            <a:r>
              <a:rPr lang="en-US" sz="1400" b="1">
                <a:solidFill>
                  <a:schemeClr val="tx2"/>
                </a:solidFill>
                <a:latin typeface="Open Sans" panose="020B0606030504020204" pitchFamily="34" charset="0"/>
                <a:ea typeface="Open Sans" panose="020B0606030504020204" pitchFamily="34" charset="0"/>
                <a:cs typeface="Open Sans" panose="020B0606030504020204" pitchFamily="34" charset="0"/>
              </a:rPr>
              <a:t>2025-11-10</a:t>
            </a:r>
            <a:endPar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0" name="TextBox 25">
            <a:extLst>
              <a:ext uri="{FF2B5EF4-FFF2-40B4-BE49-F238E27FC236}">
                <a16:creationId xmlns:a16="http://schemas.microsoft.com/office/drawing/2014/main" id="{B0FC432C-644A-4E44-A50E-CC0ECEC5EC49}"/>
              </a:ext>
            </a:extLst>
          </p:cNvPr>
          <p:cNvSpPr txBox="1"/>
          <p:nvPr/>
        </p:nvSpPr>
        <p:spPr>
          <a:xfrm>
            <a:off x="9327865" y="2696791"/>
            <a:ext cx="1120820" cy="307777"/>
          </a:xfrm>
          <a:prstGeom prst="rect">
            <a:avLst/>
          </a:prstGeom>
          <a:noFill/>
          <a:ln w="6350">
            <a:solidFill>
              <a:schemeClr val="tx2"/>
            </a:solidFill>
          </a:ln>
        </p:spPr>
        <p:txBody>
          <a:bodyPr wrap="none" rtlCol="0">
            <a:spAutoFit/>
          </a:bodyPr>
          <a:lstStyle/>
          <a:p>
            <a:pPr algn="ctr"/>
            <a:r>
              <a:rPr lang="en-US" sz="1400" b="1">
                <a:solidFill>
                  <a:schemeClr val="tx2"/>
                </a:solidFill>
                <a:latin typeface="Open Sans" panose="020B0606030504020204" pitchFamily="34" charset="0"/>
                <a:ea typeface="Open Sans" panose="020B0606030504020204" pitchFamily="34" charset="0"/>
                <a:cs typeface="Open Sans" panose="020B0606030504020204" pitchFamily="34" charset="0"/>
              </a:rPr>
              <a:t>2025-11-15</a:t>
            </a:r>
            <a:endPar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2" name="直线连接符 7">
            <a:extLst>
              <a:ext uri="{FF2B5EF4-FFF2-40B4-BE49-F238E27FC236}">
                <a16:creationId xmlns:a16="http://schemas.microsoft.com/office/drawing/2014/main" id="{5AB4400D-E97F-2006-129F-BCB0A2324380}"/>
              </a:ext>
            </a:extLst>
          </p:cNvPr>
          <p:cNvCxnSpPr>
            <a:cxnSpLocks/>
          </p:cNvCxnSpPr>
          <p:nvPr/>
        </p:nvCxnSpPr>
        <p:spPr>
          <a:xfrm>
            <a:off x="421341" y="859164"/>
            <a:ext cx="11394290"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6DD004E6-19E2-E50A-371A-7923A7EA4E96}"/>
              </a:ext>
            </a:extLst>
          </p:cNvPr>
          <p:cNvSpPr txBox="1"/>
          <p:nvPr/>
        </p:nvSpPr>
        <p:spPr>
          <a:xfrm>
            <a:off x="373569" y="282341"/>
            <a:ext cx="5583806" cy="480131"/>
          </a:xfrm>
          <a:prstGeom prst="rect">
            <a:avLst/>
          </a:prstGeom>
          <a:noFill/>
        </p:spPr>
        <p:txBody>
          <a:bodyPr wrap="square" rtlCol="0">
            <a:spAutoFit/>
          </a:bodyPr>
          <a:lstStyle>
            <a:defPPr>
              <a:defRPr lang="zh-CN"/>
            </a:defPPr>
            <a:lvl1pPr>
              <a:lnSpc>
                <a:spcPct val="90000"/>
              </a:lnSpc>
              <a:spcBef>
                <a:spcPct val="0"/>
              </a:spcBef>
              <a:defRPr sz="2800" b="1">
                <a:solidFill>
                  <a:schemeClr val="tx2"/>
                </a:solidFill>
                <a:latin typeface="微软雅黑" panose="020B0503020204020204" pitchFamily="34" charset="-122"/>
                <a:ea typeface="微软雅黑" panose="020B0503020204020204" pitchFamily="34" charset="-122"/>
              </a:defRPr>
            </a:lvl1pPr>
          </a:lstStyle>
          <a:p>
            <a:r>
              <a:rPr lang="zh-CN" altLang="en-US"/>
              <a:t>子公司</a:t>
            </a:r>
            <a:r>
              <a:rPr lang="en-US" altLang="zh-CN"/>
              <a:t>/</a:t>
            </a:r>
            <a:r>
              <a:rPr lang="zh-CN" altLang="en-US"/>
              <a:t>业务单元预算工作安排</a:t>
            </a:r>
            <a:endParaRPr lang="en-US" altLang="zh-CN"/>
          </a:p>
        </p:txBody>
      </p:sp>
      <p:sp>
        <p:nvSpPr>
          <p:cNvPr id="6" name="五边形 12">
            <a:extLst>
              <a:ext uri="{FF2B5EF4-FFF2-40B4-BE49-F238E27FC236}">
                <a16:creationId xmlns:a16="http://schemas.microsoft.com/office/drawing/2014/main" id="{900DC958-E778-52E8-2D8F-C23EB39AFC82}"/>
              </a:ext>
            </a:extLst>
          </p:cNvPr>
          <p:cNvSpPr/>
          <p:nvPr>
            <p:custDataLst>
              <p:tags r:id="rId1"/>
            </p:custDataLst>
          </p:nvPr>
        </p:nvSpPr>
        <p:spPr>
          <a:xfrm>
            <a:off x="-1" y="3122076"/>
            <a:ext cx="11962263" cy="511640"/>
          </a:xfrm>
          <a:prstGeom prst="homePlate">
            <a:avLst>
              <a:gd name="adj" fmla="val 103616"/>
            </a:avLst>
          </a:prstGeom>
          <a:gradFill flip="none" rotWithShape="1">
            <a:gsLst>
              <a:gs pos="0">
                <a:schemeClr val="accent1"/>
              </a:gs>
              <a:gs pos="100000">
                <a:schemeClr val="accent3"/>
              </a:gs>
              <a:gs pos="58000">
                <a:schemeClr val="accent2"/>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100">
              <a:latin typeface="+mj-ea"/>
              <a:ea typeface="+mj-ea"/>
              <a:sym typeface="+mn-ea"/>
            </a:endParaRPr>
          </a:p>
        </p:txBody>
      </p:sp>
      <p:cxnSp>
        <p:nvCxnSpPr>
          <p:cNvPr id="7" name="直接箭头连接符 21">
            <a:extLst>
              <a:ext uri="{FF2B5EF4-FFF2-40B4-BE49-F238E27FC236}">
                <a16:creationId xmlns:a16="http://schemas.microsoft.com/office/drawing/2014/main" id="{4FF33807-73C9-1453-2AE2-C0C76223D370}"/>
              </a:ext>
            </a:extLst>
          </p:cNvPr>
          <p:cNvCxnSpPr/>
          <p:nvPr>
            <p:custDataLst>
              <p:tags r:id="rId2"/>
            </p:custDataLst>
          </p:nvPr>
        </p:nvCxnSpPr>
        <p:spPr>
          <a:xfrm>
            <a:off x="9264" y="3377611"/>
            <a:ext cx="10763292" cy="0"/>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 name="椭圆 7">
            <a:extLst>
              <a:ext uri="{FF2B5EF4-FFF2-40B4-BE49-F238E27FC236}">
                <a16:creationId xmlns:a16="http://schemas.microsoft.com/office/drawing/2014/main" id="{9BAF4E34-BBD4-19D7-001C-8E824A03BB2A}"/>
              </a:ext>
            </a:extLst>
          </p:cNvPr>
          <p:cNvSpPr/>
          <p:nvPr>
            <p:custDataLst>
              <p:tags r:id="rId3"/>
            </p:custDataLst>
          </p:nvPr>
        </p:nvSpPr>
        <p:spPr>
          <a:xfrm>
            <a:off x="614517" y="3337476"/>
            <a:ext cx="95315" cy="95315"/>
          </a:xfrm>
          <a:prstGeom prst="ellipse">
            <a:avLst/>
          </a:prstGeom>
          <a:solidFill>
            <a:schemeClr val="accent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tx1">
                  <a:lumMod val="85000"/>
                  <a:lumOff val="15000"/>
                </a:schemeClr>
              </a:solidFill>
              <a:latin typeface="+mn-ea"/>
              <a:cs typeface="微软雅黑" panose="020B0503020204020204" charset="-122"/>
            </a:endParaRPr>
          </a:p>
        </p:txBody>
      </p:sp>
      <p:sp>
        <p:nvSpPr>
          <p:cNvPr id="9" name="椭圆 8">
            <a:extLst>
              <a:ext uri="{FF2B5EF4-FFF2-40B4-BE49-F238E27FC236}">
                <a16:creationId xmlns:a16="http://schemas.microsoft.com/office/drawing/2014/main" id="{488A0EF8-531B-C252-8AC6-FB68577C90BB}"/>
              </a:ext>
            </a:extLst>
          </p:cNvPr>
          <p:cNvSpPr/>
          <p:nvPr>
            <p:custDataLst>
              <p:tags r:id="rId4"/>
            </p:custDataLst>
          </p:nvPr>
        </p:nvSpPr>
        <p:spPr>
          <a:xfrm>
            <a:off x="2371201" y="3337476"/>
            <a:ext cx="95315" cy="95315"/>
          </a:xfrm>
          <a:prstGeom prst="ellipse">
            <a:avLst/>
          </a:prstGeom>
          <a:solidFill>
            <a:schemeClr val="accent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tx1">
                  <a:lumMod val="85000"/>
                  <a:lumOff val="15000"/>
                </a:schemeClr>
              </a:solidFill>
              <a:latin typeface="+mn-ea"/>
              <a:cs typeface="微软雅黑" panose="020B0503020204020204" charset="-122"/>
            </a:endParaRPr>
          </a:p>
        </p:txBody>
      </p:sp>
      <p:sp>
        <p:nvSpPr>
          <p:cNvPr id="10" name="椭圆 9">
            <a:extLst>
              <a:ext uri="{FF2B5EF4-FFF2-40B4-BE49-F238E27FC236}">
                <a16:creationId xmlns:a16="http://schemas.microsoft.com/office/drawing/2014/main" id="{EDC33C3B-9E98-D024-2AEF-F96873ADF54B}"/>
              </a:ext>
            </a:extLst>
          </p:cNvPr>
          <p:cNvSpPr/>
          <p:nvPr>
            <p:custDataLst>
              <p:tags r:id="rId5"/>
            </p:custDataLst>
          </p:nvPr>
        </p:nvSpPr>
        <p:spPr>
          <a:xfrm>
            <a:off x="4716828" y="3337476"/>
            <a:ext cx="95315" cy="95315"/>
          </a:xfrm>
          <a:prstGeom prst="ellipse">
            <a:avLst/>
          </a:prstGeom>
          <a:solidFill>
            <a:schemeClr val="accent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tx1">
                  <a:lumMod val="85000"/>
                  <a:lumOff val="15000"/>
                </a:schemeClr>
              </a:solidFill>
              <a:latin typeface="+mn-ea"/>
              <a:cs typeface="微软雅黑" panose="020B0503020204020204" charset="-122"/>
            </a:endParaRPr>
          </a:p>
        </p:txBody>
      </p:sp>
      <p:sp>
        <p:nvSpPr>
          <p:cNvPr id="11" name="椭圆 10">
            <a:extLst>
              <a:ext uri="{FF2B5EF4-FFF2-40B4-BE49-F238E27FC236}">
                <a16:creationId xmlns:a16="http://schemas.microsoft.com/office/drawing/2014/main" id="{61679266-39F6-7377-7940-5250DD2624EC}"/>
              </a:ext>
            </a:extLst>
          </p:cNvPr>
          <p:cNvSpPr/>
          <p:nvPr>
            <p:custDataLst>
              <p:tags r:id="rId6"/>
            </p:custDataLst>
          </p:nvPr>
        </p:nvSpPr>
        <p:spPr>
          <a:xfrm>
            <a:off x="6506048" y="3337476"/>
            <a:ext cx="95315" cy="95315"/>
          </a:xfrm>
          <a:prstGeom prst="ellipse">
            <a:avLst/>
          </a:prstGeom>
          <a:solidFill>
            <a:schemeClr val="accent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tx1">
                  <a:lumMod val="85000"/>
                  <a:lumOff val="15000"/>
                </a:schemeClr>
              </a:solidFill>
              <a:latin typeface="+mn-ea"/>
              <a:cs typeface="微软雅黑" panose="020B0503020204020204" charset="-122"/>
            </a:endParaRPr>
          </a:p>
        </p:txBody>
      </p:sp>
      <p:cxnSp>
        <p:nvCxnSpPr>
          <p:cNvPr id="12" name="直接连接符 14">
            <a:extLst>
              <a:ext uri="{FF2B5EF4-FFF2-40B4-BE49-F238E27FC236}">
                <a16:creationId xmlns:a16="http://schemas.microsoft.com/office/drawing/2014/main" id="{85C70598-BC80-90B2-6601-192F23608F78}"/>
              </a:ext>
            </a:extLst>
          </p:cNvPr>
          <p:cNvCxnSpPr/>
          <p:nvPr>
            <p:custDataLst>
              <p:tags r:id="rId7"/>
            </p:custDataLst>
          </p:nvPr>
        </p:nvCxnSpPr>
        <p:spPr>
          <a:xfrm flipH="1">
            <a:off x="609344" y="1141372"/>
            <a:ext cx="5173" cy="2457813"/>
          </a:xfrm>
          <a:prstGeom prst="line">
            <a:avLst/>
          </a:prstGeom>
          <a:ln w="25400">
            <a:gradFill>
              <a:gsLst>
                <a:gs pos="17000">
                  <a:schemeClr val="accent1">
                    <a:alpha val="0"/>
                  </a:schemeClr>
                </a:gs>
                <a:gs pos="61000">
                  <a:schemeClr val="accent1"/>
                </a:gs>
              </a:gsLst>
              <a:lin ang="16200000" scaled="1"/>
            </a:gradFill>
          </a:ln>
        </p:spPr>
        <p:style>
          <a:lnRef idx="1">
            <a:schemeClr val="accent1"/>
          </a:lnRef>
          <a:fillRef idx="0">
            <a:schemeClr val="accent1"/>
          </a:fillRef>
          <a:effectRef idx="0">
            <a:schemeClr val="accent1"/>
          </a:effectRef>
          <a:fontRef idx="minor">
            <a:schemeClr val="tx1"/>
          </a:fontRef>
        </p:style>
      </p:cxnSp>
      <p:sp>
        <p:nvSpPr>
          <p:cNvPr id="13" name="流程图: 延期 22">
            <a:extLst>
              <a:ext uri="{FF2B5EF4-FFF2-40B4-BE49-F238E27FC236}">
                <a16:creationId xmlns:a16="http://schemas.microsoft.com/office/drawing/2014/main" id="{1EB6B7C9-14A2-569B-EDFB-CA4318FE30E2}"/>
              </a:ext>
            </a:extLst>
          </p:cNvPr>
          <p:cNvSpPr/>
          <p:nvPr>
            <p:custDataLst>
              <p:tags r:id="rId8"/>
            </p:custDataLst>
          </p:nvPr>
        </p:nvSpPr>
        <p:spPr>
          <a:xfrm>
            <a:off x="614517" y="1141372"/>
            <a:ext cx="483909" cy="516903"/>
          </a:xfrm>
          <a:prstGeom prst="flowChartDelay">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0"/>
              </a:spcBef>
              <a:spcAft>
                <a:spcPct val="0"/>
              </a:spcAft>
            </a:pPr>
            <a:r>
              <a:rPr lang="en-US" altLang="zh-CN" b="1">
                <a:solidFill>
                  <a:schemeClr val="bg1"/>
                </a:solidFill>
                <a:effectLst>
                  <a:outerShdw blurRad="50800" dist="38100" dir="5400000" algn="t" rotWithShape="0">
                    <a:schemeClr val="accent1">
                      <a:lumMod val="75000"/>
                      <a:alpha val="40000"/>
                    </a:schemeClr>
                  </a:outerShdw>
                </a:effectLst>
                <a:latin typeface="+mn-ea"/>
                <a:cs typeface="+mn-ea"/>
                <a:sym typeface="+mn-ea"/>
              </a:rPr>
              <a:t>01</a:t>
            </a:r>
          </a:p>
        </p:txBody>
      </p:sp>
      <p:cxnSp>
        <p:nvCxnSpPr>
          <p:cNvPr id="15" name="直接连接符 13">
            <a:extLst>
              <a:ext uri="{FF2B5EF4-FFF2-40B4-BE49-F238E27FC236}">
                <a16:creationId xmlns:a16="http://schemas.microsoft.com/office/drawing/2014/main" id="{D0B5CA62-D952-90F9-E01C-BF0C82B22787}"/>
              </a:ext>
            </a:extLst>
          </p:cNvPr>
          <p:cNvCxnSpPr/>
          <p:nvPr>
            <p:custDataLst>
              <p:tags r:id="rId9"/>
            </p:custDataLst>
          </p:nvPr>
        </p:nvCxnSpPr>
        <p:spPr>
          <a:xfrm flipH="1" flipV="1">
            <a:off x="2383605" y="3122076"/>
            <a:ext cx="1940" cy="2457813"/>
          </a:xfrm>
          <a:prstGeom prst="line">
            <a:avLst/>
          </a:prstGeom>
          <a:ln w="25400">
            <a:gradFill>
              <a:gsLst>
                <a:gs pos="17000">
                  <a:schemeClr val="accent1">
                    <a:alpha val="0"/>
                  </a:schemeClr>
                </a:gs>
                <a:gs pos="61000">
                  <a:schemeClr val="accent1"/>
                </a:gs>
              </a:gsLst>
              <a:lin ang="16200000" scaled="1"/>
            </a:gradFill>
          </a:ln>
        </p:spPr>
        <p:style>
          <a:lnRef idx="1">
            <a:schemeClr val="accent1"/>
          </a:lnRef>
          <a:fillRef idx="0">
            <a:schemeClr val="accent1"/>
          </a:fillRef>
          <a:effectRef idx="0">
            <a:schemeClr val="accent1"/>
          </a:effectRef>
          <a:fontRef idx="minor">
            <a:schemeClr val="tx1"/>
          </a:fontRef>
        </p:style>
      </p:cxnSp>
      <p:sp>
        <p:nvSpPr>
          <p:cNvPr id="17" name="流程图: 延期 29">
            <a:extLst>
              <a:ext uri="{FF2B5EF4-FFF2-40B4-BE49-F238E27FC236}">
                <a16:creationId xmlns:a16="http://schemas.microsoft.com/office/drawing/2014/main" id="{C8599494-A2FD-1C17-9F24-0F3CFAB9A382}"/>
              </a:ext>
            </a:extLst>
          </p:cNvPr>
          <p:cNvSpPr/>
          <p:nvPr>
            <p:custDataLst>
              <p:tags r:id="rId10"/>
            </p:custDataLst>
          </p:nvPr>
        </p:nvSpPr>
        <p:spPr>
          <a:xfrm>
            <a:off x="2397184" y="5057411"/>
            <a:ext cx="483909" cy="516903"/>
          </a:xfrm>
          <a:prstGeom prst="flowChartDelay">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p>
            <a:pPr lvl="0" algn="ctr">
              <a:spcBef>
                <a:spcPct val="0"/>
              </a:spcBef>
              <a:spcAft>
                <a:spcPct val="0"/>
              </a:spcAft>
              <a:buClrTx/>
              <a:buSzTx/>
              <a:buFontTx/>
            </a:pPr>
            <a:r>
              <a:rPr lang="en-US" altLang="zh-CN" b="1">
                <a:solidFill>
                  <a:schemeClr val="bg1"/>
                </a:solidFill>
                <a:effectLst>
                  <a:outerShdw blurRad="50800" dist="38100" dir="5400000" algn="t" rotWithShape="0">
                    <a:schemeClr val="accent1">
                      <a:lumMod val="75000"/>
                      <a:alpha val="40000"/>
                    </a:schemeClr>
                  </a:outerShdw>
                </a:effectLst>
                <a:latin typeface="+mn-ea"/>
                <a:cs typeface="+mn-ea"/>
                <a:sym typeface="+mn-ea"/>
              </a:rPr>
              <a:t>02</a:t>
            </a:r>
            <a:endParaRPr lang="en-US" altLang="zh-CN" b="1" dirty="0">
              <a:solidFill>
                <a:schemeClr val="bg1"/>
              </a:solidFill>
              <a:effectLst>
                <a:outerShdw blurRad="50800" dist="38100" dir="5400000" algn="t" rotWithShape="0">
                  <a:schemeClr val="accent1">
                    <a:lumMod val="75000"/>
                    <a:alpha val="40000"/>
                  </a:schemeClr>
                </a:outerShdw>
              </a:effectLst>
              <a:latin typeface="+mn-ea"/>
              <a:cs typeface="+mn-ea"/>
              <a:sym typeface="+mn-ea"/>
            </a:endParaRPr>
          </a:p>
        </p:txBody>
      </p:sp>
      <p:cxnSp>
        <p:nvCxnSpPr>
          <p:cNvPr id="18" name="直接连接符 14">
            <a:extLst>
              <a:ext uri="{FF2B5EF4-FFF2-40B4-BE49-F238E27FC236}">
                <a16:creationId xmlns:a16="http://schemas.microsoft.com/office/drawing/2014/main" id="{5B276BCA-D398-B517-051C-68BBAE687E48}"/>
              </a:ext>
            </a:extLst>
          </p:cNvPr>
          <p:cNvCxnSpPr/>
          <p:nvPr>
            <p:custDataLst>
              <p:tags r:id="rId11"/>
            </p:custDataLst>
          </p:nvPr>
        </p:nvCxnSpPr>
        <p:spPr>
          <a:xfrm flipH="1">
            <a:off x="4726000" y="1141372"/>
            <a:ext cx="5173" cy="2457813"/>
          </a:xfrm>
          <a:prstGeom prst="line">
            <a:avLst/>
          </a:prstGeom>
          <a:ln w="25400">
            <a:gradFill>
              <a:gsLst>
                <a:gs pos="17000">
                  <a:schemeClr val="accent2">
                    <a:alpha val="0"/>
                  </a:schemeClr>
                </a:gs>
                <a:gs pos="61000">
                  <a:schemeClr val="accent2"/>
                </a:gs>
              </a:gsLst>
              <a:lin ang="16200000" scaled="1"/>
            </a:gradFill>
          </a:ln>
        </p:spPr>
        <p:style>
          <a:lnRef idx="1">
            <a:schemeClr val="accent1"/>
          </a:lnRef>
          <a:fillRef idx="0">
            <a:schemeClr val="accent1"/>
          </a:fillRef>
          <a:effectRef idx="0">
            <a:schemeClr val="accent1"/>
          </a:effectRef>
          <a:fontRef idx="minor">
            <a:schemeClr val="tx1"/>
          </a:fontRef>
        </p:style>
      </p:cxnSp>
      <p:sp>
        <p:nvSpPr>
          <p:cNvPr id="19" name="流程图: 延期 22">
            <a:extLst>
              <a:ext uri="{FF2B5EF4-FFF2-40B4-BE49-F238E27FC236}">
                <a16:creationId xmlns:a16="http://schemas.microsoft.com/office/drawing/2014/main" id="{1A08C413-1246-D847-542D-8165B4C66A02}"/>
              </a:ext>
            </a:extLst>
          </p:cNvPr>
          <p:cNvSpPr/>
          <p:nvPr>
            <p:custDataLst>
              <p:tags r:id="rId12"/>
            </p:custDataLst>
          </p:nvPr>
        </p:nvSpPr>
        <p:spPr>
          <a:xfrm>
            <a:off x="4731173" y="1141372"/>
            <a:ext cx="483909" cy="516903"/>
          </a:xfrm>
          <a:prstGeom prst="flowChartDelay">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0"/>
              </a:spcBef>
              <a:spcAft>
                <a:spcPct val="0"/>
              </a:spcAft>
            </a:pPr>
            <a:r>
              <a:rPr lang="en-US" altLang="zh-CN" b="1">
                <a:solidFill>
                  <a:schemeClr val="bg1"/>
                </a:solidFill>
                <a:effectLst>
                  <a:outerShdw blurRad="50800" dist="38100" dir="5400000" algn="t" rotWithShape="0">
                    <a:schemeClr val="accent1">
                      <a:lumMod val="75000"/>
                      <a:alpha val="40000"/>
                    </a:schemeClr>
                  </a:outerShdw>
                </a:effectLst>
                <a:latin typeface="+mn-ea"/>
                <a:cs typeface="+mn-ea"/>
                <a:sym typeface="+mn-ea"/>
              </a:rPr>
              <a:t>03</a:t>
            </a:r>
          </a:p>
        </p:txBody>
      </p:sp>
      <p:cxnSp>
        <p:nvCxnSpPr>
          <p:cNvPr id="20" name="直接连接符 13">
            <a:extLst>
              <a:ext uri="{FF2B5EF4-FFF2-40B4-BE49-F238E27FC236}">
                <a16:creationId xmlns:a16="http://schemas.microsoft.com/office/drawing/2014/main" id="{D1E722F0-B13C-E45E-4BE0-E4F3CF90505F}"/>
              </a:ext>
            </a:extLst>
          </p:cNvPr>
          <p:cNvCxnSpPr/>
          <p:nvPr>
            <p:custDataLst>
              <p:tags r:id="rId13"/>
            </p:custDataLst>
          </p:nvPr>
        </p:nvCxnSpPr>
        <p:spPr>
          <a:xfrm flipH="1" flipV="1">
            <a:off x="6519726" y="3158291"/>
            <a:ext cx="1940" cy="2457813"/>
          </a:xfrm>
          <a:prstGeom prst="line">
            <a:avLst/>
          </a:prstGeom>
          <a:ln w="25400">
            <a:gradFill>
              <a:gsLst>
                <a:gs pos="17000">
                  <a:schemeClr val="accent2">
                    <a:alpha val="0"/>
                  </a:schemeClr>
                </a:gs>
                <a:gs pos="61000">
                  <a:schemeClr val="accent2"/>
                </a:gs>
              </a:gsLst>
              <a:lin ang="16200000" scaled="1"/>
            </a:gradFill>
          </a:ln>
        </p:spPr>
        <p:style>
          <a:lnRef idx="1">
            <a:schemeClr val="accent1"/>
          </a:lnRef>
          <a:fillRef idx="0">
            <a:schemeClr val="accent1"/>
          </a:fillRef>
          <a:effectRef idx="0">
            <a:schemeClr val="accent1"/>
          </a:effectRef>
          <a:fontRef idx="minor">
            <a:schemeClr val="tx1"/>
          </a:fontRef>
        </p:style>
      </p:cxnSp>
      <p:sp>
        <p:nvSpPr>
          <p:cNvPr id="21" name="流程图: 延期 29">
            <a:extLst>
              <a:ext uri="{FF2B5EF4-FFF2-40B4-BE49-F238E27FC236}">
                <a16:creationId xmlns:a16="http://schemas.microsoft.com/office/drawing/2014/main" id="{5A84EAFC-98F2-8AF3-F692-68EE1AF0861F}"/>
              </a:ext>
            </a:extLst>
          </p:cNvPr>
          <p:cNvSpPr/>
          <p:nvPr>
            <p:custDataLst>
              <p:tags r:id="rId14"/>
            </p:custDataLst>
          </p:nvPr>
        </p:nvSpPr>
        <p:spPr>
          <a:xfrm>
            <a:off x="6533305" y="5093626"/>
            <a:ext cx="483909" cy="516903"/>
          </a:xfrm>
          <a:prstGeom prst="flowChartDelay">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Autofit/>
          </a:bodyPr>
          <a:lstStyle/>
          <a:p>
            <a:pPr lvl="0" algn="ctr">
              <a:spcBef>
                <a:spcPct val="0"/>
              </a:spcBef>
              <a:spcAft>
                <a:spcPct val="0"/>
              </a:spcAft>
              <a:buClrTx/>
              <a:buSzTx/>
              <a:buFontTx/>
            </a:pPr>
            <a:r>
              <a:rPr lang="en-US" altLang="zh-CN" b="1">
                <a:solidFill>
                  <a:schemeClr val="bg1"/>
                </a:solidFill>
                <a:effectLst>
                  <a:outerShdw blurRad="50800" dist="38100" dir="5400000" algn="t" rotWithShape="0">
                    <a:schemeClr val="accent1">
                      <a:lumMod val="75000"/>
                      <a:alpha val="40000"/>
                    </a:schemeClr>
                  </a:outerShdw>
                </a:effectLst>
                <a:latin typeface="+mn-ea"/>
                <a:cs typeface="+mn-ea"/>
                <a:sym typeface="+mn-ea"/>
              </a:rPr>
              <a:t>04</a:t>
            </a:r>
            <a:endParaRPr lang="en-US" altLang="zh-CN" b="1" dirty="0">
              <a:solidFill>
                <a:schemeClr val="bg1"/>
              </a:solidFill>
              <a:effectLst>
                <a:outerShdw blurRad="50800" dist="38100" dir="5400000" algn="t" rotWithShape="0">
                  <a:schemeClr val="accent1">
                    <a:lumMod val="75000"/>
                    <a:alpha val="40000"/>
                  </a:schemeClr>
                </a:outerShdw>
              </a:effectLst>
              <a:latin typeface="+mn-ea"/>
              <a:cs typeface="+mn-ea"/>
              <a:sym typeface="+mn-ea"/>
            </a:endParaRPr>
          </a:p>
        </p:txBody>
      </p:sp>
      <p:cxnSp>
        <p:nvCxnSpPr>
          <p:cNvPr id="22" name="直接连接符 14">
            <a:extLst>
              <a:ext uri="{FF2B5EF4-FFF2-40B4-BE49-F238E27FC236}">
                <a16:creationId xmlns:a16="http://schemas.microsoft.com/office/drawing/2014/main" id="{A62E575F-7D3E-E515-1E3D-DAA5CE8A9FCE}"/>
              </a:ext>
            </a:extLst>
          </p:cNvPr>
          <p:cNvCxnSpPr/>
          <p:nvPr>
            <p:custDataLst>
              <p:tags r:id="rId15"/>
            </p:custDataLst>
          </p:nvPr>
        </p:nvCxnSpPr>
        <p:spPr>
          <a:xfrm flipH="1">
            <a:off x="8900446" y="1141372"/>
            <a:ext cx="5173" cy="2457813"/>
          </a:xfrm>
          <a:prstGeom prst="line">
            <a:avLst/>
          </a:prstGeom>
          <a:ln w="25400">
            <a:gradFill>
              <a:gsLst>
                <a:gs pos="17000">
                  <a:schemeClr val="accent4">
                    <a:alpha val="0"/>
                  </a:schemeClr>
                </a:gs>
                <a:gs pos="61000">
                  <a:schemeClr val="accent3"/>
                </a:gs>
              </a:gsLst>
              <a:lin ang="16200000" scaled="1"/>
            </a:gradFill>
          </a:ln>
        </p:spPr>
        <p:style>
          <a:lnRef idx="1">
            <a:schemeClr val="accent1"/>
          </a:lnRef>
          <a:fillRef idx="0">
            <a:schemeClr val="accent1"/>
          </a:fillRef>
          <a:effectRef idx="0">
            <a:schemeClr val="accent1"/>
          </a:effectRef>
          <a:fontRef idx="minor">
            <a:schemeClr val="tx1"/>
          </a:fontRef>
        </p:style>
      </p:cxnSp>
      <p:sp>
        <p:nvSpPr>
          <p:cNvPr id="23" name="流程图: 延期 22">
            <a:extLst>
              <a:ext uri="{FF2B5EF4-FFF2-40B4-BE49-F238E27FC236}">
                <a16:creationId xmlns:a16="http://schemas.microsoft.com/office/drawing/2014/main" id="{AE742B11-53D6-E955-388E-ACCFBAE23966}"/>
              </a:ext>
            </a:extLst>
          </p:cNvPr>
          <p:cNvSpPr/>
          <p:nvPr>
            <p:custDataLst>
              <p:tags r:id="rId16"/>
            </p:custDataLst>
          </p:nvPr>
        </p:nvSpPr>
        <p:spPr>
          <a:xfrm>
            <a:off x="8905619" y="1141372"/>
            <a:ext cx="483909" cy="516903"/>
          </a:xfrm>
          <a:prstGeom prst="flowChartDelay">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spcBef>
                <a:spcPct val="0"/>
              </a:spcBef>
              <a:spcAft>
                <a:spcPct val="0"/>
              </a:spcAft>
            </a:pPr>
            <a:r>
              <a:rPr lang="en-US" altLang="zh-CN" b="1">
                <a:solidFill>
                  <a:schemeClr val="bg1"/>
                </a:solidFill>
                <a:effectLst>
                  <a:outerShdw blurRad="50800" dist="38100" dir="5400000" algn="t" rotWithShape="0">
                    <a:schemeClr val="accent1">
                      <a:lumMod val="75000"/>
                      <a:alpha val="40000"/>
                    </a:schemeClr>
                  </a:outerShdw>
                </a:effectLst>
                <a:latin typeface="+mn-ea"/>
                <a:cs typeface="+mn-ea"/>
                <a:sym typeface="+mn-ea"/>
              </a:rPr>
              <a:t>05</a:t>
            </a:r>
          </a:p>
        </p:txBody>
      </p:sp>
      <p:sp>
        <p:nvSpPr>
          <p:cNvPr id="24" name="椭圆 23">
            <a:extLst>
              <a:ext uri="{FF2B5EF4-FFF2-40B4-BE49-F238E27FC236}">
                <a16:creationId xmlns:a16="http://schemas.microsoft.com/office/drawing/2014/main" id="{41EE2119-520E-5BFF-E81C-8BF6BE508442}"/>
              </a:ext>
            </a:extLst>
          </p:cNvPr>
          <p:cNvSpPr/>
          <p:nvPr>
            <p:custDataLst>
              <p:tags r:id="rId17"/>
            </p:custDataLst>
          </p:nvPr>
        </p:nvSpPr>
        <p:spPr>
          <a:xfrm>
            <a:off x="8852788" y="3339645"/>
            <a:ext cx="95315" cy="95315"/>
          </a:xfrm>
          <a:prstGeom prst="ellipse">
            <a:avLst/>
          </a:prstGeom>
          <a:solidFill>
            <a:schemeClr val="accent4"/>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chemeClr val="tx1">
                  <a:lumMod val="85000"/>
                  <a:lumOff val="15000"/>
                </a:schemeClr>
              </a:solidFill>
              <a:latin typeface="+mn-ea"/>
              <a:cs typeface="微软雅黑" panose="020B0503020204020204" charset="-122"/>
            </a:endParaRPr>
          </a:p>
        </p:txBody>
      </p:sp>
      <p:sp>
        <p:nvSpPr>
          <p:cNvPr id="25" name="圆角矩形 41">
            <a:extLst>
              <a:ext uri="{FF2B5EF4-FFF2-40B4-BE49-F238E27FC236}">
                <a16:creationId xmlns:a16="http://schemas.microsoft.com/office/drawing/2014/main" id="{6AB4D1C5-B800-3795-D8E8-F22DE2F4B622}"/>
              </a:ext>
            </a:extLst>
          </p:cNvPr>
          <p:cNvSpPr/>
          <p:nvPr/>
        </p:nvSpPr>
        <p:spPr>
          <a:xfrm>
            <a:off x="227796" y="5823384"/>
            <a:ext cx="11671113" cy="752275"/>
          </a:xfrm>
          <a:prstGeom prst="roundRect">
            <a:avLst>
              <a:gd name="adj" fmla="val 4634"/>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libaba PuHuiTi 2.0 55 Regular" pitchFamily="18" charset="-122"/>
              <a:ea typeface="Alibaba PuHuiTi 2.0 55 Regular" pitchFamily="18" charset="-122"/>
              <a:cs typeface="+mn-cs"/>
            </a:endParaRPr>
          </a:p>
        </p:txBody>
      </p:sp>
      <p:sp>
        <p:nvSpPr>
          <p:cNvPr id="27" name="文本框 26">
            <a:extLst>
              <a:ext uri="{FF2B5EF4-FFF2-40B4-BE49-F238E27FC236}">
                <a16:creationId xmlns:a16="http://schemas.microsoft.com/office/drawing/2014/main" id="{DD2204F7-2176-65F1-1486-578BB3BD4D73}"/>
              </a:ext>
            </a:extLst>
          </p:cNvPr>
          <p:cNvSpPr txBox="1"/>
          <p:nvPr/>
        </p:nvSpPr>
        <p:spPr>
          <a:xfrm>
            <a:off x="423973" y="5925344"/>
            <a:ext cx="11066803" cy="542649"/>
          </a:xfrm>
          <a:prstGeom prst="rect">
            <a:avLst/>
          </a:prstGeom>
          <a:noFill/>
        </p:spPr>
        <p:txBody>
          <a:bodyPr wrap="square">
            <a:spAutoFit/>
          </a:bodyPr>
          <a:lstStyle/>
          <a:p>
            <a:pPr>
              <a:lnSpc>
                <a:spcPts val="1800"/>
              </a:lnSpc>
            </a:pPr>
            <a:r>
              <a:rPr lang="en-US" altLang="zh-CN" sz="1300">
                <a:solidFill>
                  <a:schemeClr val="tx2">
                    <a:lumMod val="75000"/>
                  </a:schemeClr>
                </a:solidFill>
              </a:rPr>
              <a:t>&gt;&gt;</a:t>
            </a:r>
            <a:r>
              <a:rPr lang="zh-CN" altLang="en-US" sz="1300" b="0" i="0">
                <a:solidFill>
                  <a:schemeClr val="tx1">
                    <a:lumMod val="65000"/>
                    <a:lumOff val="35000"/>
                  </a:schemeClr>
                </a:solidFill>
                <a:effectLst/>
                <a:latin typeface="Inter"/>
              </a:rPr>
              <a:t>子公司需严格依照上述预算编制原则，有序推进本公司预算编制工作</a:t>
            </a:r>
            <a:endParaRPr lang="en-US" altLang="zh-CN" sz="1300" b="0" i="0">
              <a:solidFill>
                <a:schemeClr val="tx1">
                  <a:lumMod val="65000"/>
                  <a:lumOff val="35000"/>
                </a:schemeClr>
              </a:solidFill>
              <a:effectLst/>
              <a:latin typeface="Inter"/>
            </a:endParaRPr>
          </a:p>
          <a:p>
            <a:pPr>
              <a:lnSpc>
                <a:spcPts val="1800"/>
              </a:lnSpc>
            </a:pPr>
            <a:r>
              <a:rPr lang="en-US" altLang="zh-CN" sz="1300">
                <a:solidFill>
                  <a:schemeClr val="tx2">
                    <a:lumMod val="75000"/>
                  </a:schemeClr>
                </a:solidFill>
              </a:rPr>
              <a:t>&gt;&gt;</a:t>
            </a:r>
            <a:r>
              <a:rPr lang="en-US" altLang="zh-CN" sz="1300">
                <a:solidFill>
                  <a:schemeClr val="tx1">
                    <a:lumMod val="65000"/>
                    <a:lumOff val="35000"/>
                  </a:schemeClr>
                </a:solidFill>
                <a:latin typeface="Inter"/>
              </a:rPr>
              <a:t> </a:t>
            </a:r>
            <a:r>
              <a:rPr lang="zh-CN" altLang="en-US" sz="1300" b="0" i="0">
                <a:solidFill>
                  <a:schemeClr val="tx1">
                    <a:lumMod val="65000"/>
                    <a:lumOff val="35000"/>
                  </a:schemeClr>
                </a:solidFill>
                <a:effectLst/>
                <a:latin typeface="Inter"/>
              </a:rPr>
              <a:t>同时，要加强与集团各相关部门的沟通协作，及时反馈预算编制过程中的问题与需求</a:t>
            </a:r>
            <a:endParaRPr lang="zh-CN" altLang="en-US" sz="1300">
              <a:solidFill>
                <a:schemeClr val="tx1">
                  <a:lumMod val="65000"/>
                  <a:lumOff val="35000"/>
                </a:schemeClr>
              </a:solidFill>
            </a:endParaRPr>
          </a:p>
        </p:txBody>
      </p:sp>
    </p:spTree>
    <p:extLst>
      <p:ext uri="{BB962C8B-B14F-4D97-AF65-F5344CB8AC3E}">
        <p14:creationId xmlns:p14="http://schemas.microsoft.com/office/powerpoint/2010/main" val="238596133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327664" y="2875002"/>
            <a:ext cx="3536674" cy="923330"/>
          </a:xfrm>
          <a:prstGeom prst="rect">
            <a:avLst/>
          </a:prstGeom>
          <a:noFill/>
        </p:spPr>
        <p:txBody>
          <a:bodyPr wrap="none" rtlCol="0">
            <a:spAutoFit/>
          </a:bodyPr>
          <a:lstStyle/>
          <a:p>
            <a:pPr algn="ctr"/>
            <a:r>
              <a:rPr lang="en-US" sz="5400">
                <a:solidFill>
                  <a:schemeClr val="tx1">
                    <a:lumMod val="75000"/>
                    <a:lumOff val="25000"/>
                  </a:schemeClr>
                </a:solidFill>
                <a:latin typeface="GeosansLight" panose="02000603020000020003" pitchFamily="2" charset="0"/>
              </a:rPr>
              <a:t>THANK YOU</a:t>
            </a:r>
          </a:p>
        </p:txBody>
      </p:sp>
      <p:sp>
        <p:nvSpPr>
          <p:cNvPr id="10" name="TextBox 9"/>
          <p:cNvSpPr txBox="1"/>
          <p:nvPr/>
        </p:nvSpPr>
        <p:spPr>
          <a:xfrm>
            <a:off x="4919909" y="3775249"/>
            <a:ext cx="2268570" cy="230832"/>
          </a:xfrm>
          <a:prstGeom prst="rect">
            <a:avLst/>
          </a:prstGeom>
          <a:noFill/>
        </p:spPr>
        <p:txBody>
          <a:bodyPr wrap="none" rtlCol="0">
            <a:spAutoFit/>
          </a:bodyPr>
          <a:lstStyle/>
          <a:p>
            <a:r>
              <a:rPr lang="en-US" sz="9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BUSINESS | MARKETING | INFORMATION</a:t>
            </a:r>
          </a:p>
        </p:txBody>
      </p:sp>
    </p:spTree>
    <p:extLst>
      <p:ext uri="{BB962C8B-B14F-4D97-AF65-F5344CB8AC3E}">
        <p14:creationId xmlns:p14="http://schemas.microsoft.com/office/powerpoint/2010/main" val="32012539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DJUSTMENTS" val="8.42625"/>
  <p:tag name="TEXTSHADOWSIZE" val="100"/>
</p:tagLst>
</file>

<file path=ppt/tags/tag2.xml><?xml version="1.0" encoding="utf-8"?>
<p:tagLst xmlns:a="http://schemas.openxmlformats.org/drawingml/2006/main" xmlns:r="http://schemas.openxmlformats.org/officeDocument/2006/relationships" xmlns:p="http://schemas.openxmlformats.org/presentationml/2006/main">
  <p:tag name="ADJUSTMENTS" val="8.42625"/>
  <p:tag name="TEXTSHADOWSIZE" val="100"/>
</p:tagLst>
</file>

<file path=ppt/tags/tag3.xml><?xml version="1.0" encoding="utf-8"?>
<p:tagLst xmlns:a="http://schemas.openxmlformats.org/drawingml/2006/main" xmlns:r="http://schemas.openxmlformats.org/officeDocument/2006/relationships" xmlns:p="http://schemas.openxmlformats.org/presentationml/2006/main">
  <p:tag name="ADJUSTMENTS" val="8.42625"/>
  <p:tag name="TEXTSHADOWSIZE" val="100"/>
</p:tagLst>
</file>

<file path=ppt/tags/tag4.xml><?xml version="1.0" encoding="utf-8"?>
<p:tagLst xmlns:a="http://schemas.openxmlformats.org/drawingml/2006/main" xmlns:r="http://schemas.openxmlformats.org/officeDocument/2006/relationships" xmlns:p="http://schemas.openxmlformats.org/presentationml/2006/main">
  <p:tag name="ADJUSTMENTS" val="8.42625"/>
  <p:tag name="TEXTSHADOWSIZE" val="100"/>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552*267"/>
  <p:tag name="TABLE_ENDDRAG_RECT" val="366*225*552*267"/>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20230941_3*m_i*1_1"/>
  <p:tag name="KSO_WM_TEMPLATE_CATEGORY" val="diagram"/>
  <p:tag name="KSO_WM_TEMPLATE_INDEX" val="20230941"/>
  <p:tag name="KSO_WM_UNIT_LAYERLEVEL" val="1_1"/>
  <p:tag name="KSO_WM_TAG_VERSION" val="3.0"/>
  <p:tag name="KSO_WM_DIAGRAM_MAX_ITEMCNT" val="6"/>
  <p:tag name="KSO_WM_DIAGRAM_MIN_ITEMCNT" val="2"/>
  <p:tag name="KSO_WM_DIAGRAM_VIRTUALLY_FRAME" val="{&quot;height&quot;:388.86342870997635,&quot;left&quot;:39.72503937007874,&quot;top&quot;:98.21444530577173,&quot;width&quot;:915.7749606299212}"/>
  <p:tag name="KSO_WM_DIAGRAM_COLOR_MATCH_VALUE" val="{&quot;shape&quot;:{&quot;fill&quot;:{&quot;solid&quot;:{&quot;brightness&quot;:0,&quot;colorType&quot;:1,&quot;foreColorIndex&quot;:5,&quot;transparency&quot;:0},&quot;type&quot;:1},&quot;glow&quot;:{&quot;colorType&quot;:0},&quot;line&quot;:{&quot;gradient&quot;:[{&quot;brightness&quot;:0,&quot;colorType&quot;:1,&quot;foreColorIndex&quot;:5,&quot;pos&quot;:0.20000000298023224,&quot;transparency&quot;:1},{&quot;brightness&quot;:0,&quot;colorType&quot;:1,&quot;foreColorIndex&quot;:5,&quot;pos&quot;:0.89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_1_BRIGHTNESS" val="0"/>
  <p:tag name="KSO_WM_UNIT_LINE_FORE_SCHEMECOLOR_INDEX_1" val="5"/>
  <p:tag name="KSO_WM_UNIT_LINE_FORE_SCHEMECOLOR_INDEX_1_POS" val="0.2"/>
  <p:tag name="KSO_WM_UNIT_LINE_FORE_SCHEMECOLOR_INDEX_1_TRANS" val="1"/>
  <p:tag name="KSO_WM_UNIT_LINE_FORE_SCHEMECOLOR_INDEX_2_BRIGHTNESS" val="0"/>
  <p:tag name="KSO_WM_UNIT_LINE_FORE_SCHEMECOLOR_INDEX_2" val="5"/>
  <p:tag name="KSO_WM_UNIT_LINE_FORE_SCHEMECOLOR_INDEX_2_POS" val="0.9"/>
  <p:tag name="KSO_WM_UNIT_LINE_FORE_SCHEMECOLOR_INDEX_2_TRANS" val="0"/>
  <p:tag name="KSO_WM_UNIT_LINE_GRADIENT_TYPE" val="0"/>
  <p:tag name="KSO_WM_UNIT_LINE_GRADIENT_ANGLE" val="0"/>
  <p:tag name="KSO_WM_UNIT_LINE_GRADIENT_DIRECTION" val="3"/>
  <p:tag name="KSO_WM_UNIT_LINE_FILL_TYPE" val="5"/>
  <p:tag name="KSO_WM_UNIT_TEXT_FILL_FORE_SCHEMECOLOR_INDEX_BRIGHTNESS" val="0"/>
  <p:tag name="KSO_WM_UNIT_TEXT_FILL_FORE_SCHEMECOLOR_INDEX" val="2"/>
  <p:tag name="KSO_WM_UNIT_TEXT_FILL_TYPE" val="1"/>
  <p:tag name="KSO_WM_UNIT_USESOURCEFORMAT_APPLY" val="1"/>
  <p:tag name="KSO_WM_DIAGRAM_USE_COLOR_VALUE" val="{&quot;color_scheme&quot;:1,&quot;color_type&quot;:1,&quot;theme_color_indexes&quot;:[]}"/>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i"/>
  <p:tag name="KSO_WM_UNIT_INDEX" val="1_2"/>
  <p:tag name="KSO_WM_UNIT_ID" val="diagram20230941_3*m_i*1_2"/>
  <p:tag name="KSO_WM_TEMPLATE_CATEGORY" val="diagram"/>
  <p:tag name="KSO_WM_TEMPLATE_INDEX" val="20230941"/>
  <p:tag name="KSO_WM_UNIT_LAYERLEVEL" val="1_1"/>
  <p:tag name="KSO_WM_TAG_VERSION" val="3.0"/>
  <p:tag name="KSO_WM_DIAGRAM_MAX_ITEMCNT" val="6"/>
  <p:tag name="KSO_WM_DIAGRAM_MIN_ITEMCNT" val="2"/>
  <p:tag name="KSO_WM_DIAGRAM_VIRTUALLY_FRAME" val="{&quot;height&quot;:388.86342870997635,&quot;left&quot;:39.72503937007874,&quot;top&quot;:98.21444530577173,&quot;width&quot;:915.7749606299212}"/>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DIAGRAM_USE_COLOR_VALUE" val="{&quot;color_scheme&quot;:1,&quot;color_type&quot;:1,&quot;theme_color_indexes&quot;:[]}"/>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30941_3*m_h_i*1_1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88.86342870997635,&quot;left&quot;:39.72503937007874,&quot;top&quot;:98.21444530577173,&quot;width&quot;:915.7749606299212}"/>
  <p:tag name="KSO_WM_DIAGRAM_COLOR_MATCH_VALUE" val="{&quot;shape&quot;:{&quot;fill&quot;:{&quot;solid&quot;:{&quot;brightness&quot;:0.6000000238418579,&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 name="KSO_WM_UNIT_TEXT_FILL_FORE_SCHEMECOLOR_INDEX_BRIGHTNESS" val="0"/>
  <p:tag name="KSO_WM_UNIT_TEXT_FILL_FORE_SCHEMECOLOR_INDEX" val="2"/>
  <p:tag name="KSO_WM_UNIT_TEXT_FILL_TYPE" val="1"/>
  <p:tag name="KSO_WM_UNIT_USESOURCEFORMAT_APPLY" val="1"/>
  <p:tag name="KSO_WM_DIAGRAM_USE_COLOR_VALUE" val="{&quot;color_scheme&quot;:1,&quot;color_type&quot;:1,&quot;theme_color_indexes&quot;:[]}"/>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30941_3*m_h_i*1_2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88.86342870997635,&quot;left&quot;:39.72503937007874,&quot;top&quot;:98.21444530577173,&quot;width&quot;:915.7749606299212}"/>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UNIT_TEXT_FILL_FORE_SCHEMECOLOR_INDEX_BRIGHTNESS" val="0"/>
  <p:tag name="KSO_WM_UNIT_TEXT_FILL_FORE_SCHEMECOLOR_INDEX" val="2"/>
  <p:tag name="KSO_WM_UNIT_TEXT_FILL_TYPE" val="1"/>
  <p:tag name="KSO_WM_UNIT_USESOURCEFORMAT_APPLY" val="1"/>
  <p:tag name="KSO_WM_DIAGRAM_USE_COLOR_VALUE" val="{&quot;color_scheme&quot;:1,&quot;color_type&quot;:1,&quot;theme_color_indexes&quot;:[]}"/>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30941_3*m_h_i*1_3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88.86342870997635,&quot;left&quot;:39.72503937007874,&quot;top&quot;:98.21444530577173,&quot;width&quot;:915.7749606299212}"/>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UNIT_TEXT_FILL_FORE_SCHEMECOLOR_INDEX_BRIGHTNESS" val="0"/>
  <p:tag name="KSO_WM_UNIT_TEXT_FILL_FORE_SCHEMECOLOR_INDEX" val="2"/>
  <p:tag name="KSO_WM_UNIT_TEXT_FILL_TYPE" val="1"/>
  <p:tag name="KSO_WM_UNIT_USESOURCEFORMAT_APPLY" val="1"/>
  <p:tag name="KSO_WM_DIAGRAM_USE_COLOR_VALUE" val="{&quot;color_scheme&quot;:1,&quot;color_type&quot;:1,&quot;theme_color_indexes&quot;:[]}"/>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4_2"/>
  <p:tag name="KSO_WM_UNIT_ID" val="diagram20230941_3*m_h_i*1_4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88.86342870997635,&quot;left&quot;:39.72503937007874,&quot;top&quot;:98.21444530577173,&quot;width&quot;:915.7749606299212}"/>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UNIT_TEXT_FILL_FORE_SCHEMECOLOR_INDEX_BRIGHTNESS" val="0"/>
  <p:tag name="KSO_WM_UNIT_TEXT_FILL_FORE_SCHEMECOLOR_INDEX" val="2"/>
  <p:tag name="KSO_WM_UNIT_TEXT_FILL_TYPE" val="1"/>
  <p:tag name="KSO_WM_UNIT_USESOURCEFORMAT_APPLY" val="1"/>
  <p:tag name="KSO_WM_DIAGRAM_USE_COLOR_VALUE" val="{&quot;color_scheme&quot;:1,&quot;color_type&quot;:1,&quot;theme_color_indexes&quot;:[]}"/>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30941_3*m_h_i*1_1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88.86342870997635,&quot;left&quot;:39.72503937007874,&quot;top&quot;:98.21444530577173,&quot;width&quot;:915.7749606299212}"/>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_1_BRIGHTNESS" val="0"/>
  <p:tag name="KSO_WM_UNIT_LINE_FORE_SCHEMECOLOR_INDEX_1" val="5"/>
  <p:tag name="KSO_WM_UNIT_LINE_FORE_SCHEMECOLOR_INDEX_1_POS" val="0.17"/>
  <p:tag name="KSO_WM_UNIT_LINE_FORE_SCHEMECOLOR_INDEX_1_TRANS" val="1"/>
  <p:tag name="KSO_WM_UNIT_LINE_FORE_SCHEMECOLOR_INDEX_2_BRIGHTNESS" val="0"/>
  <p:tag name="KSO_WM_UNIT_LINE_FORE_SCHEMECOLOR_INDEX_2" val="5"/>
  <p:tag name="KSO_WM_UNIT_LINE_FORE_SCHEMECOLOR_INDEX_2_POS" val="0.61"/>
  <p:tag name="KSO_WM_UNIT_LINE_FORE_SCHEMECOLOR_INDEX_2_TRANS" val="0"/>
  <p:tag name="KSO_WM_UNIT_LINE_GRADIENT_TYPE" val="0"/>
  <p:tag name="KSO_WM_UNIT_LINE_GRADIENT_ANGLE" val="270"/>
  <p:tag name="KSO_WM_UNIT_LINE_GRADIENT_DIRECTION" val="6"/>
  <p:tag name="KSO_WM_UNIT_LINE_FILL_TYPE" val="5"/>
  <p:tag name="KSO_WM_UNIT_USESOURCEFORMAT_APPLY" val="1"/>
  <p:tag name="KSO_WM_DIAGRAM_USE_COLOR_VALUE" val="{&quot;color_scheme&quot;:1,&quot;color_type&quot;:1,&quot;theme_color_indexes&quot;:[]}"/>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0941_3*m_h_i*1_1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88.86342870997635,&quot;left&quot;:39.72503937007874,&quot;top&quot;:98.21444530577173,&quot;width&quot;:915.77496062992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PRESET_TEXT" val="01"/>
  <p:tag name="KSO_WM_UNIT_FILL_TYPE" val="1"/>
  <p:tag name="KSO_WM_UNIT_FILL_FORE_SCHEMECOLOR_INDEX" val="5"/>
  <p:tag name="KSO_WM_UNIT_FILL_FORE_SCHEMECOLOR_INDEX_BRIGHTNESS" val="0"/>
  <p:tag name="KSO_WM_UNIT_TEXT_SHADOW_SCHEMECOLOR_INDEX_BRIGHTNESS" val="-0.25"/>
  <p:tag name="KSO_WM_UNIT_TEXT_SHADOW_SCHEMECOLOR_INDEX" val="5"/>
  <p:tag name="KSO_WM_UNIT_USESOURCEFORMAT_APPLY" val="1"/>
  <p:tag name="KSO_WM_DIAGRAM_USE_COLOR_VALUE" val="{&quot;color_scheme&quot;:1,&quot;color_type&quot;:1,&quot;theme_color_indexes&quot;:[]}"/>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30941_3*m_h_i*1_2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88.86342870997635,&quot;left&quot;:39.72503937007874,&quot;top&quot;:98.21444530577173,&quot;width&quot;:915.7749606299212}"/>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_1_BRIGHTNESS" val="0"/>
  <p:tag name="KSO_WM_UNIT_LINE_FORE_SCHEMECOLOR_INDEX_1" val="5"/>
  <p:tag name="KSO_WM_UNIT_LINE_FORE_SCHEMECOLOR_INDEX_1_POS" val="0.17"/>
  <p:tag name="KSO_WM_UNIT_LINE_FORE_SCHEMECOLOR_INDEX_1_TRANS" val="1"/>
  <p:tag name="KSO_WM_UNIT_LINE_FORE_SCHEMECOLOR_INDEX_2_BRIGHTNESS" val="0"/>
  <p:tag name="KSO_WM_UNIT_LINE_FORE_SCHEMECOLOR_INDEX_2" val="5"/>
  <p:tag name="KSO_WM_UNIT_LINE_FORE_SCHEMECOLOR_INDEX_2_POS" val="0.61"/>
  <p:tag name="KSO_WM_UNIT_LINE_FORE_SCHEMECOLOR_INDEX_2_TRANS" val="0"/>
  <p:tag name="KSO_WM_UNIT_LINE_GRADIENT_TYPE" val="0"/>
  <p:tag name="KSO_WM_UNIT_LINE_GRADIENT_ANGLE" val="270"/>
  <p:tag name="KSO_WM_UNIT_LINE_GRADIENT_DIRECTION" val="6"/>
  <p:tag name="KSO_WM_UNIT_LINE_FILL_TYPE" val="5"/>
  <p:tag name="KSO_WM_UNIT_USESOURCEFORMAT_APPLY" val="1"/>
  <p:tag name="KSO_WM_DIAGRAM_USE_COLOR_VALUE" val="{&quot;color_scheme&quot;:1,&quot;color_type&quot;:1,&quot;theme_color_indexes&quot;:[]}"/>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2"/>
  <p:tag name="KSO_WM_UNIT_ID" val="diagram20230941_3*m_h_i*1_2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88.86342870997635,&quot;left&quot;:39.72503937007874,&quot;top&quot;:98.21444530577173,&quot;width&quot;:915.77496062992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PRESET_TEXT" val="02"/>
  <p:tag name="KSO_WM_UNIT_FILL_TYPE" val="1"/>
  <p:tag name="KSO_WM_UNIT_FILL_FORE_SCHEMECOLOR_INDEX" val="5"/>
  <p:tag name="KSO_WM_UNIT_FILL_FORE_SCHEMECOLOR_INDEX_BRIGHTNESS" val="0"/>
  <p:tag name="KSO_WM_UNIT_TEXT_SHADOW_SCHEMECOLOR_INDEX_BRIGHTNESS" val="-0.25"/>
  <p:tag name="KSO_WM_UNIT_TEXT_SHADOW_SCHEMECOLOR_INDEX" val="5"/>
  <p:tag name="KSO_WM_UNIT_USESOURCEFORMAT_APPLY" val="1"/>
  <p:tag name="KSO_WM_DIAGRAM_USE_COLOR_VALUE" val="{&quot;color_scheme&quot;:1,&quot;color_type&quot;:1,&quot;theme_color_indexes&quot;:[]}"/>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30941_3*m_h_i*1_1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88.86342870997635,&quot;left&quot;:39.72503937007874,&quot;top&quot;:98.21444530577173,&quot;width&quot;:915.7749606299212}"/>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_1_BRIGHTNESS" val="0"/>
  <p:tag name="KSO_WM_UNIT_LINE_FORE_SCHEMECOLOR_INDEX_1" val="5"/>
  <p:tag name="KSO_WM_UNIT_LINE_FORE_SCHEMECOLOR_INDEX_1_POS" val="0.17"/>
  <p:tag name="KSO_WM_UNIT_LINE_FORE_SCHEMECOLOR_INDEX_1_TRANS" val="1"/>
  <p:tag name="KSO_WM_UNIT_LINE_FORE_SCHEMECOLOR_INDEX_2_BRIGHTNESS" val="0"/>
  <p:tag name="KSO_WM_UNIT_LINE_FORE_SCHEMECOLOR_INDEX_2" val="5"/>
  <p:tag name="KSO_WM_UNIT_LINE_FORE_SCHEMECOLOR_INDEX_2_POS" val="0.61"/>
  <p:tag name="KSO_WM_UNIT_LINE_FORE_SCHEMECOLOR_INDEX_2_TRANS" val="0"/>
  <p:tag name="KSO_WM_UNIT_LINE_GRADIENT_TYPE" val="0"/>
  <p:tag name="KSO_WM_UNIT_LINE_GRADIENT_ANGLE" val="270"/>
  <p:tag name="KSO_WM_UNIT_LINE_GRADIENT_DIRECTION" val="6"/>
  <p:tag name="KSO_WM_UNIT_LINE_FILL_TYPE" val="5"/>
  <p:tag name="KSO_WM_UNIT_USESOURCEFORMAT_APPLY" val="1"/>
  <p:tag name="KSO_WM_DIAGRAM_USE_COLOR_VALUE" val="{&quot;color_scheme&quot;:1,&quot;color_type&quot;:1,&quot;theme_color_indexes&quot;:[]}"/>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0941_3*m_h_i*1_1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88.86342870997635,&quot;left&quot;:39.72503937007874,&quot;top&quot;:98.21444530577173,&quot;width&quot;:915.77496062992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PRESET_TEXT" val="01"/>
  <p:tag name="KSO_WM_UNIT_FILL_TYPE" val="1"/>
  <p:tag name="KSO_WM_UNIT_FILL_FORE_SCHEMECOLOR_INDEX" val="5"/>
  <p:tag name="KSO_WM_UNIT_FILL_FORE_SCHEMECOLOR_INDEX_BRIGHTNESS" val="0"/>
  <p:tag name="KSO_WM_UNIT_TEXT_SHADOW_SCHEMECOLOR_INDEX_BRIGHTNESS" val="-0.25"/>
  <p:tag name="KSO_WM_UNIT_TEXT_SHADOW_SCHEMECOLOR_INDEX" val="5"/>
  <p:tag name="KSO_WM_UNIT_USESOURCEFORMAT_APPLY" val="1"/>
  <p:tag name="KSO_WM_DIAGRAM_USE_COLOR_VALUE" val="{&quot;color_scheme&quot;:1,&quot;color_type&quot;:1,&quot;theme_color_indexes&quot;:[]}"/>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30941_3*m_h_i*1_2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88.86342870997635,&quot;left&quot;:39.72503937007874,&quot;top&quot;:98.21444530577173,&quot;width&quot;:915.7749606299212}"/>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_1_BRIGHTNESS" val="0"/>
  <p:tag name="KSO_WM_UNIT_LINE_FORE_SCHEMECOLOR_INDEX_1" val="5"/>
  <p:tag name="KSO_WM_UNIT_LINE_FORE_SCHEMECOLOR_INDEX_1_POS" val="0.17"/>
  <p:tag name="KSO_WM_UNIT_LINE_FORE_SCHEMECOLOR_INDEX_1_TRANS" val="1"/>
  <p:tag name="KSO_WM_UNIT_LINE_FORE_SCHEMECOLOR_INDEX_2_BRIGHTNESS" val="0"/>
  <p:tag name="KSO_WM_UNIT_LINE_FORE_SCHEMECOLOR_INDEX_2" val="5"/>
  <p:tag name="KSO_WM_UNIT_LINE_FORE_SCHEMECOLOR_INDEX_2_POS" val="0.61"/>
  <p:tag name="KSO_WM_UNIT_LINE_FORE_SCHEMECOLOR_INDEX_2_TRANS" val="0"/>
  <p:tag name="KSO_WM_UNIT_LINE_GRADIENT_TYPE" val="0"/>
  <p:tag name="KSO_WM_UNIT_LINE_GRADIENT_ANGLE" val="270"/>
  <p:tag name="KSO_WM_UNIT_LINE_GRADIENT_DIRECTION" val="6"/>
  <p:tag name="KSO_WM_UNIT_LINE_FILL_TYPE" val="5"/>
  <p:tag name="KSO_WM_UNIT_USESOURCEFORMAT_APPLY" val="1"/>
  <p:tag name="KSO_WM_DIAGRAM_USE_COLOR_VALUE" val="{&quot;color_scheme&quot;:1,&quot;color_type&quot;:1,&quot;theme_color_indexes&quot;:[]}"/>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2"/>
  <p:tag name="KSO_WM_UNIT_ID" val="diagram20230941_3*m_h_i*1_2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88.86342870997635,&quot;left&quot;:39.72503937007874,&quot;top&quot;:98.21444530577173,&quot;width&quot;:915.77496062992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PRESET_TEXT" val="02"/>
  <p:tag name="KSO_WM_UNIT_FILL_TYPE" val="1"/>
  <p:tag name="KSO_WM_UNIT_FILL_FORE_SCHEMECOLOR_INDEX" val="5"/>
  <p:tag name="KSO_WM_UNIT_FILL_FORE_SCHEMECOLOR_INDEX_BRIGHTNESS" val="0"/>
  <p:tag name="KSO_WM_UNIT_TEXT_SHADOW_SCHEMECOLOR_INDEX_BRIGHTNESS" val="-0.25"/>
  <p:tag name="KSO_WM_UNIT_TEXT_SHADOW_SCHEMECOLOR_INDEX" val="5"/>
  <p:tag name="KSO_WM_UNIT_USESOURCEFORMAT_APPLY" val="1"/>
  <p:tag name="KSO_WM_DIAGRAM_USE_COLOR_VALUE" val="{&quot;color_scheme&quot;:1,&quot;color_type&quot;:1,&quot;theme_color_indexes&quot;:[]}"/>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30941_3*m_h_i*1_1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88.86342870997635,&quot;left&quot;:39.72503937007874,&quot;top&quot;:98.21444530577173,&quot;width&quot;:915.7749606299212}"/>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_1_BRIGHTNESS" val="0"/>
  <p:tag name="KSO_WM_UNIT_LINE_FORE_SCHEMECOLOR_INDEX_1" val="5"/>
  <p:tag name="KSO_WM_UNIT_LINE_FORE_SCHEMECOLOR_INDEX_1_POS" val="0.17"/>
  <p:tag name="KSO_WM_UNIT_LINE_FORE_SCHEMECOLOR_INDEX_1_TRANS" val="1"/>
  <p:tag name="KSO_WM_UNIT_LINE_FORE_SCHEMECOLOR_INDEX_2_BRIGHTNESS" val="0"/>
  <p:tag name="KSO_WM_UNIT_LINE_FORE_SCHEMECOLOR_INDEX_2" val="5"/>
  <p:tag name="KSO_WM_UNIT_LINE_FORE_SCHEMECOLOR_INDEX_2_POS" val="0.61"/>
  <p:tag name="KSO_WM_UNIT_LINE_FORE_SCHEMECOLOR_INDEX_2_TRANS" val="0"/>
  <p:tag name="KSO_WM_UNIT_LINE_GRADIENT_TYPE" val="0"/>
  <p:tag name="KSO_WM_UNIT_LINE_GRADIENT_ANGLE" val="270"/>
  <p:tag name="KSO_WM_UNIT_LINE_GRADIENT_DIRECTION" val="6"/>
  <p:tag name="KSO_WM_UNIT_LINE_FILL_TYPE" val="5"/>
  <p:tag name="KSO_WM_UNIT_USESOURCEFORMAT_APPLY" val="1"/>
  <p:tag name="KSO_WM_DIAGRAM_USE_COLOR_VALUE" val="{&quot;color_scheme&quot;:1,&quot;color_type&quot;:1,&quot;theme_color_indexes&quot;:[]}"/>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0941_3*m_h_i*1_1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88.86342870997635,&quot;left&quot;:39.72503937007874,&quot;top&quot;:98.21444530577173,&quot;width&quot;:915.77496062992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PRESET_TEXT" val="01"/>
  <p:tag name="KSO_WM_UNIT_FILL_TYPE" val="1"/>
  <p:tag name="KSO_WM_UNIT_FILL_FORE_SCHEMECOLOR_INDEX" val="5"/>
  <p:tag name="KSO_WM_UNIT_FILL_FORE_SCHEMECOLOR_INDEX_BRIGHTNESS" val="0"/>
  <p:tag name="KSO_WM_UNIT_TEXT_SHADOW_SCHEMECOLOR_INDEX_BRIGHTNESS" val="-0.25"/>
  <p:tag name="KSO_WM_UNIT_TEXT_SHADOW_SCHEMECOLOR_INDEX" val="5"/>
  <p:tag name="KSO_WM_UNIT_USESOURCEFORMAT_APPLY" val="1"/>
  <p:tag name="KSO_WM_DIAGRAM_USE_COLOR_VALUE" val="{&quot;color_scheme&quot;:1,&quot;color_type&quot;:1,&quot;theme_color_indexes&quot;:[]}"/>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30941_3*m_h_i*1_3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388.86342870997635,&quot;left&quot;:39.72503937007874,&quot;top&quot;:98.21444530577173,&quot;width&quot;:915.7749606299212}"/>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UNIT_TEXT_FILL_FORE_SCHEMECOLOR_INDEX_BRIGHTNESS" val="0"/>
  <p:tag name="KSO_WM_UNIT_TEXT_FILL_FORE_SCHEMECOLOR_INDEX" val="2"/>
  <p:tag name="KSO_WM_UNIT_TEXT_FILL_TYPE" val="1"/>
  <p:tag name="KSO_WM_UNIT_USESOURCEFORMAT_APPLY" val="1"/>
  <p:tag name="KSO_WM_DIAGRAM_USE_COLOR_VALUE" val="{&quot;color_scheme&quot;:1,&quot;color_type&quot;:1,&quot;theme_color_indexes&quot;:[]}"/>
</p:tagLst>
</file>

<file path=ppt/theme/theme1.xml><?xml version="1.0" encoding="utf-8"?>
<a:theme xmlns:a="http://schemas.openxmlformats.org/drawingml/2006/main" name="Office 主题​​">
  <a:themeElements>
    <a:clrScheme name="蓝绿配色-2">
      <a:dk1>
        <a:srgbClr val="000000"/>
      </a:dk1>
      <a:lt1>
        <a:srgbClr val="FFFFFF"/>
      </a:lt1>
      <a:dk2>
        <a:srgbClr val="44546A"/>
      </a:dk2>
      <a:lt2>
        <a:srgbClr val="F2F5F6"/>
      </a:lt2>
      <a:accent1>
        <a:srgbClr val="0129AD"/>
      </a:accent1>
      <a:accent2>
        <a:srgbClr val="62D2C6"/>
      </a:accent2>
      <a:accent3>
        <a:srgbClr val="2769CA"/>
      </a:accent3>
      <a:accent4>
        <a:srgbClr val="4A66AC"/>
      </a:accent4>
      <a:accent5>
        <a:srgbClr val="B3C18E"/>
      </a:accent5>
      <a:accent6>
        <a:srgbClr val="305081"/>
      </a:accent6>
      <a:hlink>
        <a:srgbClr val="0563C1"/>
      </a:hlink>
      <a:folHlink>
        <a:srgbClr val="954F72"/>
      </a:folHlink>
    </a:clrScheme>
    <a:fontScheme name="自定义 2">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3818</TotalTime>
  <Words>2678</Words>
  <Application>Microsoft Office PowerPoint</Application>
  <PresentationFormat>宽屏</PresentationFormat>
  <Paragraphs>436</Paragraphs>
  <Slides>15</Slides>
  <Notes>8</Notes>
  <HiddenSlides>0</HiddenSlides>
  <MMClips>0</MMClips>
  <ScaleCrop>false</ScaleCrop>
  <HeadingPairs>
    <vt:vector size="6" baseType="variant">
      <vt:variant>
        <vt:lpstr>已用的字体</vt:lpstr>
      </vt:variant>
      <vt:variant>
        <vt:i4>26</vt:i4>
      </vt:variant>
      <vt:variant>
        <vt:lpstr>主题</vt:lpstr>
      </vt:variant>
      <vt:variant>
        <vt:i4>1</vt:i4>
      </vt:variant>
      <vt:variant>
        <vt:lpstr>幻灯片标题</vt:lpstr>
      </vt:variant>
      <vt:variant>
        <vt:i4>15</vt:i4>
      </vt:variant>
    </vt:vector>
  </HeadingPairs>
  <TitlesOfParts>
    <vt:vector size="42" baseType="lpstr">
      <vt:lpstr>Alibaba PuHuiTi 2.0 55 Regular</vt:lpstr>
      <vt:lpstr>-apple-system</vt:lpstr>
      <vt:lpstr>GeosansLight</vt:lpstr>
      <vt:lpstr>HarmonyOS Sans SC</vt:lpstr>
      <vt:lpstr>HarmonyOS Sans SC Light</vt:lpstr>
      <vt:lpstr>Inter</vt:lpstr>
      <vt:lpstr>Microsoft YaHei Regular</vt:lpstr>
      <vt:lpstr>OPPOSans B</vt:lpstr>
      <vt:lpstr>OPPOSans H</vt:lpstr>
      <vt:lpstr>OPPOSans M</vt:lpstr>
      <vt:lpstr>quote-cjk-patch</vt:lpstr>
      <vt:lpstr>Roboto Regular</vt:lpstr>
      <vt:lpstr>Source Han Sans CN Regular</vt:lpstr>
      <vt:lpstr>等线</vt:lpstr>
      <vt:lpstr>黑体</vt:lpstr>
      <vt:lpstr>时尚中黑简体</vt:lpstr>
      <vt:lpstr>思源黑体 CN Bold</vt:lpstr>
      <vt:lpstr>思源宋体 CN Heavy</vt:lpstr>
      <vt:lpstr>微软雅黑</vt:lpstr>
      <vt:lpstr>Arial</vt:lpstr>
      <vt:lpstr>Calibri</vt:lpstr>
      <vt:lpstr>Calibri Light</vt:lpstr>
      <vt:lpstr>Montserrat</vt:lpstr>
      <vt:lpstr>Open Sans</vt:lpstr>
      <vt:lpstr>Roboto</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veronique JI</dc:creator>
  <cp:lastModifiedBy>veronique JI</cp:lastModifiedBy>
  <cp:revision>35</cp:revision>
  <dcterms:created xsi:type="dcterms:W3CDTF">2025-09-09T13:05:50Z</dcterms:created>
  <dcterms:modified xsi:type="dcterms:W3CDTF">2025-09-14T02:41:37Z</dcterms:modified>
</cp:coreProperties>
</file>