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</p:sldMasterIdLst>
  <p:notesMasterIdLst>
    <p:notesMasterId r:id="rId7"/>
  </p:notesMasterIdLst>
  <p:handoutMasterIdLst>
    <p:handoutMasterId r:id="rId25"/>
  </p:handoutMasterIdLst>
  <p:sldIdLst>
    <p:sldId id="256" r:id="rId4"/>
    <p:sldId id="326" r:id="rId5"/>
    <p:sldId id="288" r:id="rId6"/>
    <p:sldId id="290" r:id="rId8"/>
    <p:sldId id="327" r:id="rId9"/>
    <p:sldId id="257" r:id="rId10"/>
    <p:sldId id="306" r:id="rId11"/>
    <p:sldId id="265" r:id="rId12"/>
    <p:sldId id="292" r:id="rId13"/>
    <p:sldId id="302" r:id="rId14"/>
    <p:sldId id="328" r:id="rId15"/>
    <p:sldId id="305" r:id="rId16"/>
    <p:sldId id="330" r:id="rId17"/>
    <p:sldId id="332" r:id="rId18"/>
    <p:sldId id="293" r:id="rId19"/>
    <p:sldId id="300" r:id="rId20"/>
    <p:sldId id="308" r:id="rId21"/>
    <p:sldId id="294" r:id="rId22"/>
    <p:sldId id="303" r:id="rId23"/>
    <p:sldId id="307" r:id="rId24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86" autoAdjust="0"/>
    <p:restoredTop sz="93724" autoAdjust="0"/>
  </p:normalViewPr>
  <p:slideViewPr>
    <p:cSldViewPr showGuides="1">
      <p:cViewPr>
        <p:scale>
          <a:sx n="50" d="100"/>
          <a:sy n="50" d="100"/>
        </p:scale>
        <p:origin x="688" y="296"/>
      </p:cViewPr>
      <p:guideLst>
        <p:guide orient="horz" pos="220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E59793B5-D6BD-44D1-B98A-977855FCE5B9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二级</a:t>
            </a:r>
            <a:endParaRPr lang="zh-CN" altLang="en-US" noProof="0"/>
          </a:p>
          <a:p>
            <a:pPr lvl="2"/>
            <a:r>
              <a:rPr lang="zh-CN" altLang="en-US" noProof="0"/>
              <a:t>三级</a:t>
            </a:r>
            <a:endParaRPr lang="zh-CN" altLang="en-US" noProof="0"/>
          </a:p>
          <a:p>
            <a:pPr lvl="3"/>
            <a:r>
              <a:rPr lang="zh-CN" altLang="en-US" noProof="0"/>
              <a:t>四级</a:t>
            </a:r>
            <a:endParaRPr lang="zh-CN" altLang="en-US" noProof="0"/>
          </a:p>
          <a:p>
            <a:pPr lvl="4"/>
            <a:r>
              <a:rPr lang="zh-CN" altLang="en-US" noProof="0"/>
              <a:t>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3228D75-8C70-4912-8BCD-C1A5759CE42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90E3B-9A90-4CD4-90B3-AD6DC5B8AB1E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741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955541-87B1-466C-8CE6-37B3E45530D1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290E3B-9A90-4CD4-90B3-AD6DC5B8AB1E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1741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9955541-87B1-466C-8CE6-37B3E45530D1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15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241427-4D0C-4851-A1F1-8D50713113F0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150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1241427-4D0C-4851-A1F1-8D50713113F0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765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318A2A6-DA6C-483E-BBFB-A555DF4E372C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765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318A2A6-DA6C-483E-BBFB-A555DF4E372C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765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318A2A6-DA6C-483E-BBFB-A555DF4E372C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765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318A2A6-DA6C-483E-BBFB-A555DF4E372C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765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318A2A6-DA6C-483E-BBFB-A555DF4E372C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备注占位符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2765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318A2A6-DA6C-483E-BBFB-A555DF4E372C}" type="slidenum">
              <a:rPr lang="zh-CN" altLang="en-US">
                <a:latin typeface="等线" panose="02010600030101010101" pitchFamily="2" charset="-122"/>
              </a:rPr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D6C7A-3606-4004-80AB-15710E4A4C77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76790" y="201289"/>
            <a:ext cx="1478280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b="1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21932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67074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761480" y="211449"/>
            <a:ext cx="18554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71149" y="211449"/>
            <a:ext cx="18021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76790" y="201289"/>
            <a:ext cx="1478280" cy="46037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21932" y="211449"/>
            <a:ext cx="1478280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67074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761480" y="211449"/>
            <a:ext cx="18554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71149" y="211449"/>
            <a:ext cx="18021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76790" y="201289"/>
            <a:ext cx="1478280" cy="4603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21932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67074" y="211449"/>
            <a:ext cx="1478280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761480" y="211449"/>
            <a:ext cx="18554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71149" y="211449"/>
            <a:ext cx="18021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76790" y="201289"/>
            <a:ext cx="1478280" cy="46037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21932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67074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761480" y="211449"/>
            <a:ext cx="1855470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71149" y="211449"/>
            <a:ext cx="18021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76790" y="201289"/>
            <a:ext cx="1478280" cy="46037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21932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67074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761480" y="211449"/>
            <a:ext cx="18554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71149" y="211449"/>
            <a:ext cx="1802130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E3877-53FC-404F-96C9-27BC20B323C8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D5DE5-D0DA-4541-929E-5C5EE2CA2846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148BD-D316-4015-9C28-F84CBE843EDC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25B89-9B12-480F-BD63-31AB04261B82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8F43E-8297-416E-ABC8-B69E737550FC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D6C7A-3606-4004-80AB-15710E4A4C77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76790" y="201289"/>
            <a:ext cx="1478280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b="1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21932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67074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761480" y="211449"/>
            <a:ext cx="18554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71149" y="211449"/>
            <a:ext cx="18021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76790" y="201289"/>
            <a:ext cx="1478280" cy="46037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21932" y="211449"/>
            <a:ext cx="1478280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67074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761480" y="211449"/>
            <a:ext cx="18554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71149" y="211449"/>
            <a:ext cx="18021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76790" y="201289"/>
            <a:ext cx="1478280" cy="46037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21932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67074" y="211449"/>
            <a:ext cx="1478280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761480" y="211449"/>
            <a:ext cx="18554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71149" y="211449"/>
            <a:ext cx="18021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76790" y="201289"/>
            <a:ext cx="1478280" cy="46037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21932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67074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761480" y="211449"/>
            <a:ext cx="1855470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71149" y="211449"/>
            <a:ext cx="18021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55600" dist="190500" dir="5400000" algn="t" rotWithShape="0">
              <a:prstClr val="black">
                <a:alpha val="11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976790" y="201289"/>
            <a:ext cx="1478280" cy="460375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3921932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5867074" y="211449"/>
            <a:ext cx="1478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7761480" y="211449"/>
            <a:ext cx="185547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r>
              <a:rPr lang="zh-CN" altLang="en-US" sz="2400" b="1" spc="1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spc="1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871149" y="211449"/>
            <a:ext cx="1802130" cy="4603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spc="15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spc="15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E3877-53FC-404F-96C9-27BC20B323C8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4D5DE5-D0DA-4541-929E-5C5EE2CA2846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148BD-D316-4015-9C28-F84CBE843EDC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25B89-9B12-480F-BD63-31AB04261B82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B8F43E-8297-416E-ABC8-B69E737550FC}" type="slidenum">
              <a:rPr lang="zh-CN" altLang="zh-CN"/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9689D73-9672-4CAF-B44A-3C3D904B089B}" type="slidenum">
              <a:rPr lang="zh-CN" altLang="zh-CN"/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9689D73-9672-4CAF-B44A-3C3D904B089B}" type="slidenum">
              <a:rPr lang="zh-CN" altLang="zh-CN"/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9800" y="2266950"/>
            <a:ext cx="7772400" cy="1470025"/>
          </a:xfrm>
        </p:spPr>
        <p:txBody>
          <a:bodyPr/>
          <a:lstStyle/>
          <a:p>
            <a:endParaRPr lang="zh-CN" altLang="zh-CN"/>
          </a:p>
        </p:txBody>
      </p:sp>
      <p:sp>
        <p:nvSpPr>
          <p:cNvPr id="3075" name="矩形 3"/>
          <p:cNvSpPr>
            <a:spLocks noChangeArrowheads="1"/>
          </p:cNvSpPr>
          <p:nvPr/>
        </p:nvSpPr>
        <p:spPr bwMode="auto">
          <a:xfrm>
            <a:off x="0" y="1722755"/>
            <a:ext cx="12192000" cy="25622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文本框 34"/>
          <p:cNvSpPr txBox="1">
            <a:spLocks noChangeArrowheads="1"/>
          </p:cNvSpPr>
          <p:nvPr/>
        </p:nvSpPr>
        <p:spPr bwMode="auto">
          <a:xfrm>
            <a:off x="784225" y="2168525"/>
            <a:ext cx="10623550" cy="132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基于时频分析与短时特征的非平稳信号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突发事件检测系统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8" name="文本框 46"/>
          <p:cNvSpPr txBox="1">
            <a:spLocks noChangeArrowheads="1"/>
          </p:cNvSpPr>
          <p:nvPr/>
        </p:nvSpPr>
        <p:spPr bwMode="auto">
          <a:xfrm>
            <a:off x="4300538" y="3330575"/>
            <a:ext cx="3711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Thesis Proposal Defense</a:t>
            </a:r>
            <a:endParaRPr lang="zh-CN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079" name="直接连接符 8"/>
          <p:cNvCxnSpPr/>
          <p:nvPr/>
        </p:nvCxnSpPr>
        <p:spPr bwMode="auto">
          <a:xfrm>
            <a:off x="1703388" y="3559175"/>
            <a:ext cx="2771775" cy="0"/>
          </a:xfrm>
          <a:prstGeom prst="line">
            <a:avLst/>
          </a:prstGeom>
          <a:noFill/>
          <a:ln w="19050" algn="ctr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2" name="直接连接符 11"/>
          <p:cNvCxnSpPr/>
          <p:nvPr/>
        </p:nvCxnSpPr>
        <p:spPr bwMode="auto">
          <a:xfrm>
            <a:off x="7853363" y="3559175"/>
            <a:ext cx="2771775" cy="0"/>
          </a:xfrm>
          <a:prstGeom prst="line">
            <a:avLst/>
          </a:prstGeom>
          <a:noFill/>
          <a:ln w="19050" algn="ctr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小李PPT16-1"/>
          <p:cNvSpPr/>
          <p:nvPr/>
        </p:nvSpPr>
        <p:spPr>
          <a:xfrm>
            <a:off x="3071495" y="5099685"/>
            <a:ext cx="5819140" cy="44132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小李PPT16-2"/>
          <p:cNvSpPr txBox="1"/>
          <p:nvPr/>
        </p:nvSpPr>
        <p:spPr>
          <a:xfrm>
            <a:off x="3651250" y="5128895"/>
            <a:ext cx="5132705" cy="374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800" cap="all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rPr>
              <a:t>成员：</a:t>
            </a:r>
            <a:r>
              <a:rPr lang="zh-CN" altLang="en-US" sz="1800" dirty="0">
                <a:solidFill>
                  <a:schemeClr val="tx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sym typeface="+mn-ea"/>
              </a:rPr>
              <a:t>杨玄鼗</a:t>
            </a:r>
            <a:r>
              <a:rPr lang="en-US" altLang="zh-CN" sz="1800" dirty="0">
                <a:solidFill>
                  <a:schemeClr val="tx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sym typeface="+mn-ea"/>
              </a:rPr>
              <a:t>*</a:t>
            </a:r>
            <a:r>
              <a:rPr lang="zh-CN" altLang="en-US" sz="1800" dirty="0">
                <a:solidFill>
                  <a:schemeClr val="tx1"/>
                </a:solidFill>
                <a:latin typeface="思源黑体 Normal" panose="020B0400000000000000" pitchFamily="34" charset="-122"/>
                <a:ea typeface="思源黑体 Normal" panose="020B0400000000000000" pitchFamily="34" charset="-122"/>
                <a:sym typeface="+mn-ea"/>
              </a:rPr>
              <a:t>、贾栋元、苏博纳</a:t>
            </a:r>
            <a:endParaRPr lang="zh-CN" altLang="en-US" sz="1800" dirty="0">
              <a:solidFill>
                <a:schemeClr val="tx1"/>
              </a:solidFill>
              <a:latin typeface="思源黑体 Normal" panose="020B0400000000000000" pitchFamily="34" charset="-122"/>
              <a:ea typeface="思源黑体 Normal" panose="020B0400000000000000" pitchFamily="34" charset="-122"/>
            </a:endParaRPr>
          </a:p>
          <a:p>
            <a:pPr algn="dist"/>
            <a:endParaRPr lang="zh-CN" altLang="en-US" sz="1800" cap="all" dirty="0">
              <a:solidFill>
                <a:schemeClr val="tx1"/>
              </a:solidFill>
              <a:latin typeface="思源黑体 Normal" panose="020B0400000000000000" pitchFamily="34" charset="-122"/>
              <a:ea typeface="思源黑体 Normal" panose="020B0400000000000000" pitchFamily="34" charset="-122"/>
              <a:cs typeface="思源黑体 CN Bold" panose="020B0800000000000000" charset="-122"/>
            </a:endParaRPr>
          </a:p>
        </p:txBody>
      </p:sp>
      <p:pic>
        <p:nvPicPr>
          <p:cNvPr id="20" name="小李PPT16-5"/>
          <p:cNvPicPr>
            <a:picLocks noChangeAspect="1"/>
          </p:cNvPicPr>
          <p:nvPr/>
        </p:nvPicPr>
        <p:blipFill>
          <a:blip r:embed="rId1" cstate="email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4715" y="5160010"/>
            <a:ext cx="241935" cy="241935"/>
          </a:xfrm>
          <a:prstGeom prst="rect">
            <a:avLst/>
          </a:prstGeom>
        </p:spPr>
      </p:pic>
      <p:sp>
        <p:nvSpPr>
          <p:cNvPr id="4" name="小李PPT16-1"/>
          <p:cNvSpPr/>
          <p:nvPr/>
        </p:nvSpPr>
        <p:spPr>
          <a:xfrm>
            <a:off x="3071495" y="5752465"/>
            <a:ext cx="5819140" cy="44132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3323908" y="5740400"/>
            <a:ext cx="3362960" cy="368300"/>
            <a:chOff x="9393" y="6952"/>
            <a:chExt cx="5296" cy="580"/>
          </a:xfrm>
        </p:grpSpPr>
        <p:sp>
          <p:nvSpPr>
            <p:cNvPr id="16" name="小李PPT16-3"/>
            <p:cNvSpPr txBox="1"/>
            <p:nvPr/>
          </p:nvSpPr>
          <p:spPr>
            <a:xfrm>
              <a:off x="9393" y="6952"/>
              <a:ext cx="529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800" cap="all" dirty="0">
                  <a:solidFill>
                    <a:srgbClr val="0D0D0D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Bold" panose="020B0800000000000000" charset="-122"/>
                </a:rPr>
                <a:t>时间：</a:t>
              </a:r>
              <a:r>
                <a:rPr lang="en-US" altLang="zh-CN" sz="1800" cap="all" dirty="0">
                  <a:solidFill>
                    <a:srgbClr val="0D0D0D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Bold" panose="020B0800000000000000" charset="-122"/>
                </a:rPr>
                <a:t>2025</a:t>
              </a:r>
              <a:r>
                <a:rPr lang="zh-CN" altLang="en-US" sz="1800" cap="all" dirty="0">
                  <a:solidFill>
                    <a:srgbClr val="0D0D0D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Bold" panose="020B0800000000000000" charset="-122"/>
                </a:rPr>
                <a:t>年</a:t>
              </a:r>
              <a:r>
                <a:rPr lang="en-US" altLang="zh-CN" sz="1800" cap="all" dirty="0">
                  <a:solidFill>
                    <a:srgbClr val="0D0D0D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Bold" panose="020B0800000000000000" charset="-122"/>
                </a:rPr>
                <a:t>12</a:t>
              </a:r>
              <a:r>
                <a:rPr lang="zh-CN" altLang="en-US" sz="1800" cap="all" dirty="0">
                  <a:solidFill>
                    <a:srgbClr val="0D0D0D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Bold" panose="020B0800000000000000" charset="-122"/>
                </a:rPr>
                <a:t>月</a:t>
              </a:r>
              <a:r>
                <a:rPr lang="en-US" altLang="zh-CN" sz="1800" cap="all" dirty="0">
                  <a:solidFill>
                    <a:srgbClr val="0D0D0D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Bold" panose="020B0800000000000000" charset="-122"/>
                </a:rPr>
                <a:t>02</a:t>
              </a:r>
              <a:r>
                <a:rPr lang="zh-CN" altLang="en-US" sz="1800" cap="all" dirty="0">
                  <a:solidFill>
                    <a:srgbClr val="0D0D0D">
                      <a:lumMod val="85000"/>
                      <a:lumOff val="15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 Bold" panose="020B0800000000000000" charset="-122"/>
                </a:rPr>
                <a:t>日</a:t>
              </a:r>
              <a:endParaRPr lang="zh-CN" altLang="en-US" sz="1800" cap="all" dirty="0">
                <a:solidFill>
                  <a:srgbClr val="0D0D0D">
                    <a:lumMod val="85000"/>
                    <a:lumOff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Bold" panose="020B0800000000000000" charset="-122"/>
              </a:endParaRPr>
            </a:p>
          </p:txBody>
        </p:sp>
        <p:pic>
          <p:nvPicPr>
            <p:cNvPr id="17" name="小李PPT16-4"/>
            <p:cNvPicPr>
              <a:picLocks noChangeAspect="1"/>
            </p:cNvPicPr>
            <p:nvPr/>
          </p:nvPicPr>
          <p:blipFill>
            <a:blip r:embed="rId3" cstate="email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67" y="7100"/>
              <a:ext cx="426" cy="4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480060" y="1341120"/>
          <a:ext cx="10732135" cy="4650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2835"/>
                <a:gridCol w="2710815"/>
                <a:gridCol w="5658485"/>
              </a:tblGrid>
              <a:tr h="4921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成员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权重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负责内容</a:t>
                      </a:r>
                      <a:endParaRPr lang="zh-CN" altLang="en-US" sz="3200"/>
                    </a:p>
                  </a:txBody>
                  <a:tcPr/>
                </a:tc>
              </a:tr>
              <a:tr h="24587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杨玄鼗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45%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/>
                        <a:t>（</a:t>
                      </a:r>
                      <a:r>
                        <a:rPr lang="en-US" altLang="zh-CN" sz="2800"/>
                        <a:t>1</a:t>
                      </a:r>
                      <a:r>
                        <a:rPr lang="zh-CN" altLang="en-US" sz="2800"/>
                        <a:t>）设计方案；</a:t>
                      </a:r>
                      <a:endParaRPr lang="zh-CN" altLang="en-US" sz="2800"/>
                    </a:p>
                    <a:p>
                      <a:pPr algn="l">
                        <a:buNone/>
                      </a:pPr>
                      <a:r>
                        <a:rPr lang="zh-CN" altLang="en-US" sz="2800"/>
                        <a:t>（</a:t>
                      </a:r>
                      <a:r>
                        <a:rPr lang="en-US" altLang="zh-CN" sz="2800"/>
                        <a:t>2</a:t>
                      </a:r>
                      <a:r>
                        <a:rPr lang="zh-CN" altLang="en-US" sz="2800"/>
                        <a:t>）算法</a:t>
                      </a:r>
                      <a:r>
                        <a:rPr lang="zh-CN" altLang="en-US" sz="2800"/>
                        <a:t>设计；</a:t>
                      </a:r>
                      <a:endParaRPr lang="zh-CN" altLang="en-US" sz="2800"/>
                    </a:p>
                    <a:p>
                      <a:pPr algn="l">
                        <a:buNone/>
                      </a:pPr>
                      <a:r>
                        <a:rPr lang="zh-CN" altLang="en-US" sz="2800"/>
                        <a:t>（</a:t>
                      </a:r>
                      <a:r>
                        <a:rPr lang="en-US" altLang="zh-CN" sz="2800"/>
                        <a:t>3</a:t>
                      </a:r>
                      <a:r>
                        <a:rPr lang="zh-CN" altLang="en-US" sz="2800"/>
                        <a:t>）实验内容设计与</a:t>
                      </a:r>
                      <a:r>
                        <a:rPr lang="en-US" altLang="zh-CN" sz="2800"/>
                        <a:t>Matlab</a:t>
                      </a:r>
                      <a:r>
                        <a:rPr lang="zh-CN" altLang="en-US" sz="2800"/>
                        <a:t>实现；</a:t>
                      </a:r>
                      <a:endParaRPr lang="zh-CN" altLang="en-US" sz="2800"/>
                    </a:p>
                    <a:p>
                      <a:pPr algn="l">
                        <a:buNone/>
                      </a:pPr>
                      <a:r>
                        <a:rPr lang="zh-CN" altLang="en-US" sz="2800"/>
                        <a:t>（</a:t>
                      </a:r>
                      <a:r>
                        <a:rPr lang="en-US" altLang="zh-CN" sz="2800"/>
                        <a:t>4</a:t>
                      </a:r>
                      <a:r>
                        <a:rPr lang="zh-CN" altLang="en-US" sz="2800"/>
                        <a:t>）可视化平台</a:t>
                      </a:r>
                      <a:r>
                        <a:rPr lang="zh-CN" altLang="en-US" sz="2800"/>
                        <a:t>实现；</a:t>
                      </a:r>
                      <a:endParaRPr lang="zh-CN" altLang="en-US" sz="2800"/>
                    </a:p>
                    <a:p>
                      <a:pPr algn="l">
                        <a:buNone/>
                      </a:pPr>
                      <a:r>
                        <a:rPr lang="zh-CN" altLang="en-US" sz="2800"/>
                        <a:t>（</a:t>
                      </a:r>
                      <a:r>
                        <a:rPr lang="en-US" altLang="zh-CN" sz="2800"/>
                        <a:t>5</a:t>
                      </a:r>
                      <a:r>
                        <a:rPr lang="zh-CN" altLang="en-US" sz="2800"/>
                        <a:t>）答辩</a:t>
                      </a:r>
                      <a:r>
                        <a:rPr lang="en-US" altLang="zh-CN" sz="2800"/>
                        <a:t>PPT</a:t>
                      </a:r>
                      <a:r>
                        <a:rPr lang="zh-CN" altLang="en-US" sz="2800"/>
                        <a:t>制作</a:t>
                      </a:r>
                      <a:endParaRPr lang="zh-CN" altLang="en-US" sz="2800"/>
                    </a:p>
                    <a:p>
                      <a:pPr algn="l">
                        <a:buNone/>
                      </a:pPr>
                      <a:endParaRPr lang="zh-CN" altLang="en-US" sz="2800"/>
                    </a:p>
                  </a:txBody>
                  <a:tcPr/>
                </a:tc>
              </a:tr>
              <a:tr h="5911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贾栋元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29%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/>
                        <a:t>（</a:t>
                      </a:r>
                      <a:r>
                        <a:rPr lang="en-US" altLang="zh-CN" sz="2800"/>
                        <a:t>1</a:t>
                      </a:r>
                      <a:r>
                        <a:rPr lang="zh-CN" altLang="en-US" sz="2800"/>
                        <a:t>）现场</a:t>
                      </a:r>
                      <a:r>
                        <a:rPr lang="zh-CN" altLang="en-US" sz="2800"/>
                        <a:t>答辩</a:t>
                      </a:r>
                      <a:endParaRPr lang="zh-CN" altLang="en-US" sz="2800"/>
                    </a:p>
                  </a:txBody>
                  <a:tcPr/>
                </a:tc>
              </a:tr>
              <a:tr h="828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苏博纳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26%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800"/>
                        <a:t>（</a:t>
                      </a:r>
                      <a:r>
                        <a:rPr lang="en-US" altLang="zh-CN" sz="2800"/>
                        <a:t>1</a:t>
                      </a:r>
                      <a:r>
                        <a:rPr lang="zh-CN" altLang="en-US" sz="2800"/>
                        <a:t>）答辩</a:t>
                      </a:r>
                      <a:r>
                        <a:rPr lang="en-US" altLang="zh-CN" sz="2800"/>
                        <a:t>PPT</a:t>
                      </a:r>
                      <a:r>
                        <a:rPr lang="zh-CN" altLang="en-US" sz="2800"/>
                        <a:t>修改，准备答辩</a:t>
                      </a:r>
                      <a:r>
                        <a:rPr lang="zh-CN" altLang="en-US" sz="2800"/>
                        <a:t>问题</a:t>
                      </a:r>
                      <a:endParaRPr lang="zh-CN" altLang="en-US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小李PPT2"/>
          <p:cNvSpPr txBox="1"/>
          <p:nvPr/>
        </p:nvSpPr>
        <p:spPr>
          <a:xfrm>
            <a:off x="584834" y="265105"/>
            <a:ext cx="3840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任务分工与成绩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权重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9" name="小李PPT3"/>
          <p:cNvSpPr/>
          <p:nvPr/>
        </p:nvSpPr>
        <p:spPr>
          <a:xfrm>
            <a:off x="480060" y="337281"/>
            <a:ext cx="79375" cy="40005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9"/>
          <p:cNvSpPr txBox="1">
            <a:spLocks noChangeArrowheads="1"/>
          </p:cNvSpPr>
          <p:nvPr/>
        </p:nvSpPr>
        <p:spPr bwMode="auto">
          <a:xfrm>
            <a:off x="5151737" y="1174601"/>
            <a:ext cx="4260931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</a:t>
            </a: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9"/>
          <p:cNvSpPr txBox="1">
            <a:spLocks noChangeArrowheads="1"/>
          </p:cNvSpPr>
          <p:nvPr/>
        </p:nvSpPr>
        <p:spPr bwMode="auto">
          <a:xfrm>
            <a:off x="5151755" y="2204720"/>
            <a:ext cx="487553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系统总体设计与方法框架  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19"/>
          <p:cNvSpPr txBox="1">
            <a:spLocks noChangeArrowheads="1"/>
          </p:cNvSpPr>
          <p:nvPr/>
        </p:nvSpPr>
        <p:spPr bwMode="auto">
          <a:xfrm>
            <a:off x="5151755" y="3254375"/>
            <a:ext cx="398081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实验内容与算法设计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9"/>
          <p:cNvSpPr txBox="1">
            <a:spLocks noChangeArrowheads="1"/>
          </p:cNvSpPr>
          <p:nvPr/>
        </p:nvSpPr>
        <p:spPr bwMode="auto">
          <a:xfrm>
            <a:off x="5151755" y="4323715"/>
            <a:ext cx="3980815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系统实现与 UI 展示  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9"/>
          <p:cNvSpPr txBox="1">
            <a:spLocks noChangeArrowheads="1"/>
          </p:cNvSpPr>
          <p:nvPr/>
        </p:nvSpPr>
        <p:spPr bwMode="auto">
          <a:xfrm>
            <a:off x="5151755" y="5364480"/>
            <a:ext cx="632079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讨论与扩展方向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9725" y="1174750"/>
            <a:ext cx="4726305" cy="4772660"/>
            <a:chOff x="2343" y="1850"/>
            <a:chExt cx="7443" cy="7516"/>
          </a:xfrm>
        </p:grpSpPr>
        <p:sp>
          <p:nvSpPr>
            <p:cNvPr id="5" name="矩形 4"/>
            <p:cNvSpPr/>
            <p:nvPr>
              <p:custDataLst>
                <p:tags r:id="rId1"/>
              </p:custDataLst>
            </p:nvPr>
          </p:nvSpPr>
          <p:spPr>
            <a:xfrm>
              <a:off x="2839" y="2338"/>
              <a:ext cx="3470" cy="6608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226" y="4529"/>
              <a:ext cx="2618" cy="1113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4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</a:t>
              </a:r>
              <a:r>
                <a:rPr kumimoji="1" lang="en-US" altLang="zh-CN" sz="4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kumimoji="1" lang="zh-CN" altLang="en-US" sz="40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录</a:t>
              </a:r>
              <a:endParaRPr kumimoji="1" lang="zh-CN" altLang="en-US" sz="40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343" y="5642"/>
              <a:ext cx="4463" cy="725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400" b="1" dirty="0">
                  <a:solidFill>
                    <a:schemeClr val="bg1"/>
                  </a:solidFill>
                  <a:latin typeface="Times New Roman Bold" panose="02020803070505020304" charset="0"/>
                  <a:cs typeface="Times New Roman Bold" panose="02020803070505020304" charset="0"/>
                </a:rPr>
                <a:t>CONTENTS</a:t>
              </a:r>
              <a:endParaRPr kumimoji="1" lang="en-US" altLang="zh-CN" sz="2400" b="1" dirty="0">
                <a:solidFill>
                  <a:schemeClr val="bg1"/>
                </a:solidFill>
                <a:latin typeface="Times New Roman Bold" panose="02020803070505020304" charset="0"/>
                <a:cs typeface="Times New Roman Bold" panose="02020803070505020304" charset="0"/>
              </a:endParaRPr>
            </a:p>
          </p:txBody>
        </p:sp>
        <p:cxnSp>
          <p:nvCxnSpPr>
            <p:cNvPr id="9" name="直线连接符 23"/>
            <p:cNvCxnSpPr/>
            <p:nvPr/>
          </p:nvCxnSpPr>
          <p:spPr>
            <a:xfrm>
              <a:off x="7332" y="2452"/>
              <a:ext cx="0" cy="6608"/>
            </a:xfrm>
            <a:prstGeom prst="line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组合 3"/>
            <p:cNvGrpSpPr/>
            <p:nvPr/>
          </p:nvGrpSpPr>
          <p:grpSpPr>
            <a:xfrm>
              <a:off x="8198" y="1850"/>
              <a:ext cx="1588" cy="1018"/>
              <a:chOff x="5205814" y="1174601"/>
              <a:chExt cx="1008112" cy="646331"/>
            </a:xfrm>
          </p:grpSpPr>
          <p:sp>
            <p:nvSpPr>
              <p:cNvPr id="15" name="矩形: 圆角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5363461" y="1216082"/>
                <a:ext cx="692819" cy="563371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14" name="TextBox 19"/>
              <p:cNvSpPr txBox="1">
                <a:spLocks noChangeArrowheads="1"/>
              </p:cNvSpPr>
              <p:nvPr/>
            </p:nvSpPr>
            <p:spPr bwMode="auto">
              <a:xfrm>
                <a:off x="5205814" y="1174601"/>
                <a:ext cx="1008112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fontAlgn="base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36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01</a:t>
                </a:r>
                <a:endPara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8" name="矩形: 圆角 17"/>
            <p:cNvSpPr/>
            <p:nvPr>
              <p:custDataLst>
                <p:tags r:id="rId3"/>
              </p:custDataLst>
            </p:nvPr>
          </p:nvSpPr>
          <p:spPr>
            <a:xfrm>
              <a:off x="8446" y="3455"/>
              <a:ext cx="1091" cy="887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8198" y="3359"/>
              <a:ext cx="1588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02</a:t>
              </a:r>
              <a:endPara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矩形: 圆角 20"/>
            <p:cNvSpPr/>
            <p:nvPr>
              <p:custDataLst>
                <p:tags r:id="rId4"/>
              </p:custDataLst>
            </p:nvPr>
          </p:nvSpPr>
          <p:spPr>
            <a:xfrm>
              <a:off x="8446" y="5125"/>
              <a:ext cx="1091" cy="887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3" name="TextBox 19"/>
            <p:cNvSpPr txBox="1">
              <a:spLocks noChangeArrowheads="1"/>
            </p:cNvSpPr>
            <p:nvPr/>
          </p:nvSpPr>
          <p:spPr bwMode="auto">
            <a:xfrm>
              <a:off x="8198" y="5060"/>
              <a:ext cx="1588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03</a:t>
              </a:r>
              <a:endPara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矩形: 圆角 23"/>
            <p:cNvSpPr/>
            <p:nvPr>
              <p:custDataLst>
                <p:tags r:id="rId5"/>
              </p:custDataLst>
            </p:nvPr>
          </p:nvSpPr>
          <p:spPr>
            <a:xfrm>
              <a:off x="8446" y="6826"/>
              <a:ext cx="1091" cy="887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6" name="TextBox 19"/>
            <p:cNvSpPr txBox="1">
              <a:spLocks noChangeArrowheads="1"/>
            </p:cNvSpPr>
            <p:nvPr/>
          </p:nvSpPr>
          <p:spPr bwMode="auto">
            <a:xfrm>
              <a:off x="8198" y="6764"/>
              <a:ext cx="1588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04</a:t>
              </a:r>
              <a:endPara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8" name="矩形: 圆角 7"/>
            <p:cNvSpPr/>
            <p:nvPr>
              <p:custDataLst>
                <p:tags r:id="rId6"/>
              </p:custDataLst>
            </p:nvPr>
          </p:nvSpPr>
          <p:spPr>
            <a:xfrm>
              <a:off x="8446" y="8414"/>
              <a:ext cx="1091" cy="887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2" name="TextBox 19"/>
            <p:cNvSpPr txBox="1">
              <a:spLocks noChangeArrowheads="1"/>
            </p:cNvSpPr>
            <p:nvPr/>
          </p:nvSpPr>
          <p:spPr bwMode="auto">
            <a:xfrm>
              <a:off x="8198" y="8348"/>
              <a:ext cx="1588" cy="1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05</a:t>
              </a:r>
              <a:endParaRPr lang="en-US" altLang="zh-CN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C83218-68AD-4C1E-A101-A98B71EABDE2}" type="slidenum">
              <a:rPr lang="zh-CN" altLang="zh-CN" smtClean="0"/>
            </a:fld>
            <a:endParaRPr lang="zh-CN" altLang="zh-CN"/>
          </a:p>
        </p:txBody>
      </p:sp>
      <p:grpSp>
        <p:nvGrpSpPr>
          <p:cNvPr id="3" name="组合 2"/>
          <p:cNvGrpSpPr/>
          <p:nvPr/>
        </p:nvGrpSpPr>
        <p:grpSpPr>
          <a:xfrm>
            <a:off x="-24680" y="1943082"/>
            <a:ext cx="12216680" cy="3142102"/>
            <a:chOff x="0" y="1133835"/>
            <a:chExt cx="9029700" cy="2536465"/>
          </a:xfrm>
        </p:grpSpPr>
        <p:sp>
          <p:nvSpPr>
            <p:cNvPr id="4" name="矩形 3"/>
            <p:cNvSpPr/>
            <p:nvPr/>
          </p:nvSpPr>
          <p:spPr>
            <a:xfrm>
              <a:off x="0" y="1156227"/>
              <a:ext cx="9029700" cy="2514073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/>
            <p:cNvSpPr/>
            <p:nvPr/>
          </p:nvSpPr>
          <p:spPr>
            <a:xfrm flipV="1">
              <a:off x="4382884" y="1133835"/>
              <a:ext cx="379616" cy="15072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353652" y="2534568"/>
            <a:ext cx="1616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17600" y="3786382"/>
            <a:ext cx="568863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17"/>
          <p:cNvSpPr txBox="1"/>
          <p:nvPr/>
        </p:nvSpPr>
        <p:spPr>
          <a:xfrm>
            <a:off x="560082" y="1012567"/>
            <a:ext cx="23586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404610" y="1688465"/>
            <a:ext cx="5096510" cy="4719955"/>
            <a:chOff x="10086" y="2659"/>
            <a:chExt cx="8026" cy="7433"/>
          </a:xfrm>
        </p:grpSpPr>
        <p:sp>
          <p:nvSpPr>
            <p:cNvPr id="12" name="矩形 2"/>
            <p:cNvSpPr>
              <a:spLocks noChangeArrowheads="1"/>
            </p:cNvSpPr>
            <p:nvPr/>
          </p:nvSpPr>
          <p:spPr bwMode="auto">
            <a:xfrm>
              <a:off x="10148" y="2659"/>
              <a:ext cx="7935" cy="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矩形 3"/>
            <p:cNvSpPr>
              <a:spLocks noChangeArrowheads="1"/>
            </p:cNvSpPr>
            <p:nvPr/>
          </p:nvSpPr>
          <p:spPr bwMode="auto">
            <a:xfrm>
              <a:off x="10146" y="6643"/>
              <a:ext cx="7950" cy="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TextBox 8"/>
            <p:cNvSpPr txBox="1">
              <a:spLocks noChangeArrowheads="1"/>
            </p:cNvSpPr>
            <p:nvPr/>
          </p:nvSpPr>
          <p:spPr bwMode="auto">
            <a:xfrm>
              <a:off x="10106" y="2659"/>
              <a:ext cx="7985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三、STFT 提供时–频联合分析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Box 13"/>
            <p:cNvSpPr txBox="1">
              <a:spLocks noChangeArrowheads="1"/>
            </p:cNvSpPr>
            <p:nvPr/>
          </p:nvSpPr>
          <p:spPr bwMode="auto">
            <a:xfrm>
              <a:off x="10149" y="6666"/>
              <a:ext cx="7963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四、突发事件具有可区分的短时特征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extBox 15"/>
            <p:cNvSpPr txBox="1">
              <a:spLocks noChangeArrowheads="1"/>
            </p:cNvSpPr>
            <p:nvPr/>
          </p:nvSpPr>
          <p:spPr bwMode="auto">
            <a:xfrm>
              <a:off x="10086" y="3247"/>
              <a:ext cx="7767" cy="2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indent="457200" defTabSz="914400" eaLnBrk="1" hangingPunct="1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短时傅里叶变换（</a:t>
              </a:r>
              <a:r>
                <a: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STFT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）可以实现时频联合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分析，是 DSP 里处理非平稳信号最常用也最基础的工具。通过 STFT，我们能找到突发事件在时频图中的表现。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Box 16"/>
            <p:cNvSpPr txBox="1">
              <a:spLocks noChangeArrowheads="1"/>
            </p:cNvSpPr>
            <p:nvPr/>
          </p:nvSpPr>
          <p:spPr bwMode="auto">
            <a:xfrm>
              <a:off x="10314" y="7331"/>
              <a:ext cx="7767" cy="2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indent="457200" defTabSz="914400" eaLnBrk="1" hangingPunct="1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突发事件具有不同的“短时特征”：比如机械冲击会表现为能量突增；鼓点会在某个频段能量变强；多普勒响应则体现在频率随时间的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变化。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0146" y="2659"/>
              <a:ext cx="7935" cy="32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0160" y="6643"/>
              <a:ext cx="7935" cy="3406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形状1234"/>
          <p:cNvSpPr/>
          <p:nvPr/>
        </p:nvSpPr>
        <p:spPr>
          <a:xfrm rot="5400000">
            <a:off x="3666162" y="3458537"/>
            <a:ext cx="4292964" cy="1051948"/>
          </a:xfrm>
          <a:custGeom>
            <a:avLst/>
            <a:gdLst>
              <a:gd name="connsiteX0" fmla="*/ 661459 w 1322916"/>
              <a:gd name="connsiteY0" fmla="*/ 0 h 1713357"/>
              <a:gd name="connsiteX1" fmla="*/ 865259 w 1322916"/>
              <a:gd name="connsiteY1" fmla="*/ 351380 h 1713357"/>
              <a:gd name="connsiteX2" fmla="*/ 786785 w 1322916"/>
              <a:gd name="connsiteY2" fmla="*/ 351380 h 1713357"/>
              <a:gd name="connsiteX3" fmla="*/ 1322916 w 1322916"/>
              <a:gd name="connsiteY3" fmla="*/ 1713357 h 1713357"/>
              <a:gd name="connsiteX4" fmla="*/ 0 w 1322916"/>
              <a:gd name="connsiteY4" fmla="*/ 1713357 h 1713357"/>
              <a:gd name="connsiteX5" fmla="*/ 536131 w 1322916"/>
              <a:gd name="connsiteY5" fmla="*/ 351380 h 1713357"/>
              <a:gd name="connsiteX6" fmla="*/ 457658 w 1322916"/>
              <a:gd name="connsiteY6" fmla="*/ 351380 h 1713357"/>
              <a:gd name="connsiteX0-1" fmla="*/ 661459 w 1322916"/>
              <a:gd name="connsiteY0-2" fmla="*/ 0 h 1713357"/>
              <a:gd name="connsiteX1-3" fmla="*/ 865259 w 1322916"/>
              <a:gd name="connsiteY1-4" fmla="*/ 351380 h 1713357"/>
              <a:gd name="connsiteX2-5" fmla="*/ 786785 w 1322916"/>
              <a:gd name="connsiteY2-6" fmla="*/ 351380 h 1713357"/>
              <a:gd name="connsiteX3-7" fmla="*/ 1322916 w 1322916"/>
              <a:gd name="connsiteY3-8" fmla="*/ 1713357 h 1713357"/>
              <a:gd name="connsiteX4-9" fmla="*/ 0 w 1322916"/>
              <a:gd name="connsiteY4-10" fmla="*/ 1713357 h 1713357"/>
              <a:gd name="connsiteX5-11" fmla="*/ 536131 w 1322916"/>
              <a:gd name="connsiteY5-12" fmla="*/ 351380 h 1713357"/>
              <a:gd name="connsiteX6-13" fmla="*/ 457658 w 1322916"/>
              <a:gd name="connsiteY6-14" fmla="*/ 351380 h 1713357"/>
              <a:gd name="connsiteX7" fmla="*/ 661459 w 1322916"/>
              <a:gd name="connsiteY7" fmla="*/ 0 h 1713357"/>
              <a:gd name="connsiteX0-15" fmla="*/ 661459 w 1322916"/>
              <a:gd name="connsiteY0-16" fmla="*/ 0 h 1713357"/>
              <a:gd name="connsiteX1-17" fmla="*/ 865259 w 1322916"/>
              <a:gd name="connsiteY1-18" fmla="*/ 351380 h 1713357"/>
              <a:gd name="connsiteX2-19" fmla="*/ 786785 w 1322916"/>
              <a:gd name="connsiteY2-20" fmla="*/ 351380 h 1713357"/>
              <a:gd name="connsiteX3-21" fmla="*/ 1322916 w 1322916"/>
              <a:gd name="connsiteY3-22" fmla="*/ 1713357 h 1713357"/>
              <a:gd name="connsiteX4-23" fmla="*/ 0 w 1322916"/>
              <a:gd name="connsiteY4-24" fmla="*/ 1713357 h 1713357"/>
              <a:gd name="connsiteX5-25" fmla="*/ 536131 w 1322916"/>
              <a:gd name="connsiteY5-26" fmla="*/ 351380 h 1713357"/>
              <a:gd name="connsiteX6-27" fmla="*/ 457658 w 1322916"/>
              <a:gd name="connsiteY6-28" fmla="*/ 351380 h 1713357"/>
              <a:gd name="connsiteX7-29" fmla="*/ 661459 w 1322916"/>
              <a:gd name="connsiteY7-30" fmla="*/ 0 h 1713357"/>
              <a:gd name="connsiteX0-31" fmla="*/ 661459 w 1322916"/>
              <a:gd name="connsiteY0-32" fmla="*/ 0 h 1713357"/>
              <a:gd name="connsiteX1-33" fmla="*/ 865259 w 1322916"/>
              <a:gd name="connsiteY1-34" fmla="*/ 351380 h 1713357"/>
              <a:gd name="connsiteX2-35" fmla="*/ 786785 w 1322916"/>
              <a:gd name="connsiteY2-36" fmla="*/ 351380 h 1713357"/>
              <a:gd name="connsiteX3-37" fmla="*/ 1322916 w 1322916"/>
              <a:gd name="connsiteY3-38" fmla="*/ 1713357 h 1713357"/>
              <a:gd name="connsiteX4-39" fmla="*/ 0 w 1322916"/>
              <a:gd name="connsiteY4-40" fmla="*/ 1713357 h 1713357"/>
              <a:gd name="connsiteX5-41" fmla="*/ 536131 w 1322916"/>
              <a:gd name="connsiteY5-42" fmla="*/ 351380 h 1713357"/>
              <a:gd name="connsiteX6-43" fmla="*/ 457658 w 1322916"/>
              <a:gd name="connsiteY6-44" fmla="*/ 351380 h 1713357"/>
              <a:gd name="connsiteX7-45" fmla="*/ 661459 w 1322916"/>
              <a:gd name="connsiteY7-46" fmla="*/ 0 h 1713357"/>
              <a:gd name="connsiteX0-47" fmla="*/ 661459 w 1322916"/>
              <a:gd name="connsiteY0-48" fmla="*/ 0 h 1713357"/>
              <a:gd name="connsiteX1-49" fmla="*/ 865259 w 1322916"/>
              <a:gd name="connsiteY1-50" fmla="*/ 351380 h 1713357"/>
              <a:gd name="connsiteX2-51" fmla="*/ 786785 w 1322916"/>
              <a:gd name="connsiteY2-52" fmla="*/ 351380 h 1713357"/>
              <a:gd name="connsiteX3-53" fmla="*/ 1322916 w 1322916"/>
              <a:gd name="connsiteY3-54" fmla="*/ 1713357 h 1713357"/>
              <a:gd name="connsiteX4-55" fmla="*/ 0 w 1322916"/>
              <a:gd name="connsiteY4-56" fmla="*/ 1713357 h 1713357"/>
              <a:gd name="connsiteX5-57" fmla="*/ 536131 w 1322916"/>
              <a:gd name="connsiteY5-58" fmla="*/ 351380 h 1713357"/>
              <a:gd name="connsiteX6-59" fmla="*/ 457658 w 1322916"/>
              <a:gd name="connsiteY6-60" fmla="*/ 351380 h 1713357"/>
              <a:gd name="connsiteX7-61" fmla="*/ 661459 w 1322916"/>
              <a:gd name="connsiteY7-62" fmla="*/ 0 h 1713357"/>
              <a:gd name="connsiteX0-63" fmla="*/ 661459 w 1322916"/>
              <a:gd name="connsiteY0-64" fmla="*/ 0 h 1713357"/>
              <a:gd name="connsiteX1-65" fmla="*/ 865259 w 1322916"/>
              <a:gd name="connsiteY1-66" fmla="*/ 351380 h 1713357"/>
              <a:gd name="connsiteX2-67" fmla="*/ 786785 w 1322916"/>
              <a:gd name="connsiteY2-68" fmla="*/ 351380 h 1713357"/>
              <a:gd name="connsiteX3-69" fmla="*/ 1322916 w 1322916"/>
              <a:gd name="connsiteY3-70" fmla="*/ 1713357 h 1713357"/>
              <a:gd name="connsiteX4-71" fmla="*/ 0 w 1322916"/>
              <a:gd name="connsiteY4-72" fmla="*/ 1713357 h 1713357"/>
              <a:gd name="connsiteX5-73" fmla="*/ 536131 w 1322916"/>
              <a:gd name="connsiteY5-74" fmla="*/ 351380 h 1713357"/>
              <a:gd name="connsiteX6-75" fmla="*/ 457658 w 1322916"/>
              <a:gd name="connsiteY6-76" fmla="*/ 351380 h 1713357"/>
              <a:gd name="connsiteX7-77" fmla="*/ 661459 w 1322916"/>
              <a:gd name="connsiteY7-78" fmla="*/ 0 h 1713357"/>
              <a:gd name="connsiteX0-79" fmla="*/ 661459 w 1322916"/>
              <a:gd name="connsiteY0-80" fmla="*/ 0 h 1713357"/>
              <a:gd name="connsiteX1-81" fmla="*/ 865259 w 1322916"/>
              <a:gd name="connsiteY1-82" fmla="*/ 351380 h 1713357"/>
              <a:gd name="connsiteX2-83" fmla="*/ 786785 w 1322916"/>
              <a:gd name="connsiteY2-84" fmla="*/ 351380 h 1713357"/>
              <a:gd name="connsiteX3-85" fmla="*/ 1322916 w 1322916"/>
              <a:gd name="connsiteY3-86" fmla="*/ 1713357 h 1713357"/>
              <a:gd name="connsiteX4-87" fmla="*/ 0 w 1322916"/>
              <a:gd name="connsiteY4-88" fmla="*/ 1713357 h 1713357"/>
              <a:gd name="connsiteX5-89" fmla="*/ 536131 w 1322916"/>
              <a:gd name="connsiteY5-90" fmla="*/ 351380 h 1713357"/>
              <a:gd name="connsiteX6-91" fmla="*/ 457658 w 1322916"/>
              <a:gd name="connsiteY6-92" fmla="*/ 351380 h 1713357"/>
              <a:gd name="connsiteX7-93" fmla="*/ 661459 w 1322916"/>
              <a:gd name="connsiteY7-94" fmla="*/ 0 h 1713357"/>
              <a:gd name="connsiteX0-95" fmla="*/ 661459 w 1322916"/>
              <a:gd name="connsiteY0-96" fmla="*/ 0 h 1713357"/>
              <a:gd name="connsiteX1-97" fmla="*/ 865259 w 1322916"/>
              <a:gd name="connsiteY1-98" fmla="*/ 351380 h 1713357"/>
              <a:gd name="connsiteX2-99" fmla="*/ 786785 w 1322916"/>
              <a:gd name="connsiteY2-100" fmla="*/ 351380 h 1713357"/>
              <a:gd name="connsiteX3-101" fmla="*/ 1322916 w 1322916"/>
              <a:gd name="connsiteY3-102" fmla="*/ 1713357 h 1713357"/>
              <a:gd name="connsiteX4-103" fmla="*/ 0 w 1322916"/>
              <a:gd name="connsiteY4-104" fmla="*/ 1713357 h 1713357"/>
              <a:gd name="connsiteX5-105" fmla="*/ 536131 w 1322916"/>
              <a:gd name="connsiteY5-106" fmla="*/ 351380 h 1713357"/>
              <a:gd name="connsiteX6-107" fmla="*/ 457658 w 1322916"/>
              <a:gd name="connsiteY6-108" fmla="*/ 351380 h 1713357"/>
              <a:gd name="connsiteX7-109" fmla="*/ 661459 w 1322916"/>
              <a:gd name="connsiteY7-110" fmla="*/ 0 h 1713357"/>
              <a:gd name="connsiteX0-111" fmla="*/ 661459 w 1322916"/>
              <a:gd name="connsiteY0-112" fmla="*/ 0 h 1713357"/>
              <a:gd name="connsiteX1-113" fmla="*/ 865259 w 1322916"/>
              <a:gd name="connsiteY1-114" fmla="*/ 351380 h 1713357"/>
              <a:gd name="connsiteX2-115" fmla="*/ 786785 w 1322916"/>
              <a:gd name="connsiteY2-116" fmla="*/ 351380 h 1713357"/>
              <a:gd name="connsiteX3-117" fmla="*/ 1322916 w 1322916"/>
              <a:gd name="connsiteY3-118" fmla="*/ 1713357 h 1713357"/>
              <a:gd name="connsiteX4-119" fmla="*/ 0 w 1322916"/>
              <a:gd name="connsiteY4-120" fmla="*/ 1713357 h 1713357"/>
              <a:gd name="connsiteX5-121" fmla="*/ 536131 w 1322916"/>
              <a:gd name="connsiteY5-122" fmla="*/ 351380 h 1713357"/>
              <a:gd name="connsiteX6-123" fmla="*/ 457658 w 1322916"/>
              <a:gd name="connsiteY6-124" fmla="*/ 351380 h 1713357"/>
              <a:gd name="connsiteX7-125" fmla="*/ 661459 w 1322916"/>
              <a:gd name="connsiteY7-126" fmla="*/ 0 h 171335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29" y="connsiteY7-30"/>
              </a:cxn>
            </a:cxnLst>
            <a:rect l="l" t="t" r="r" b="b"/>
            <a:pathLst>
              <a:path w="1322916" h="1713357">
                <a:moveTo>
                  <a:pt x="661459" y="0"/>
                </a:moveTo>
                <a:lnTo>
                  <a:pt x="865259" y="351380"/>
                </a:lnTo>
                <a:lnTo>
                  <a:pt x="786785" y="351380"/>
                </a:lnTo>
                <a:cubicBezTo>
                  <a:pt x="798939" y="855339"/>
                  <a:pt x="923518" y="1375955"/>
                  <a:pt x="1322916" y="1713357"/>
                </a:cubicBezTo>
                <a:lnTo>
                  <a:pt x="0" y="1713357"/>
                </a:lnTo>
                <a:cubicBezTo>
                  <a:pt x="386906" y="1296840"/>
                  <a:pt x="507322" y="801208"/>
                  <a:pt x="536131" y="351380"/>
                </a:cubicBezTo>
                <a:lnTo>
                  <a:pt x="457658" y="351380"/>
                </a:lnTo>
                <a:lnTo>
                  <a:pt x="661459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30000">
                <a:schemeClr val="accent1">
                  <a:alpha val="20000"/>
                </a:schemeClr>
              </a:gs>
              <a:gs pos="100000">
                <a:schemeClr val="accent1"/>
              </a:gs>
            </a:gsLst>
            <a:lin ang="16200000" scaled="0"/>
          </a:gradFill>
          <a:ln w="9525">
            <a:gradFill>
              <a:gsLst>
                <a:gs pos="30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solidFill>
                  <a:srgbClr val="FE6800"/>
                </a:solidFill>
              </a:ln>
              <a:solidFill>
                <a:srgbClr val="FFFFFF"/>
              </a:solidFill>
              <a:effectLst/>
              <a:uLnTx/>
              <a:uFillTx/>
              <a:latin typeface="阿里巴巴普惠体 3.0 65 Medium" panose="00020600040101010101" pitchFamily="18" charset="-122"/>
              <a:ea typeface="阿里巴巴普惠体 3 65 Medium" panose="00020600040101010101" pitchFamily="18" charset="-122"/>
              <a:cs typeface="阿里巴巴普惠体 3 65 Medium" panose="00020600040101010101" pitchFamily="18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1605" y="1688465"/>
            <a:ext cx="5066030" cy="4719955"/>
            <a:chOff x="10146" y="2659"/>
            <a:chExt cx="7978" cy="7433"/>
          </a:xfrm>
        </p:grpSpPr>
        <p:sp>
          <p:nvSpPr>
            <p:cNvPr id="5" name="矩形 2"/>
            <p:cNvSpPr>
              <a:spLocks noChangeArrowheads="1"/>
            </p:cNvSpPr>
            <p:nvPr/>
          </p:nvSpPr>
          <p:spPr bwMode="auto">
            <a:xfrm>
              <a:off x="10148" y="2659"/>
              <a:ext cx="7935" cy="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矩形 3"/>
            <p:cNvSpPr>
              <a:spLocks noChangeArrowheads="1"/>
            </p:cNvSpPr>
            <p:nvPr/>
          </p:nvSpPr>
          <p:spPr bwMode="auto">
            <a:xfrm>
              <a:off x="10146" y="6643"/>
              <a:ext cx="7950" cy="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TextBox 8"/>
            <p:cNvSpPr txBox="1">
              <a:spLocks noChangeArrowheads="1"/>
            </p:cNvSpPr>
            <p:nvPr/>
          </p:nvSpPr>
          <p:spPr bwMode="auto">
            <a:xfrm>
              <a:off x="10156" y="2659"/>
              <a:ext cx="7929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l"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一、非平稳信号中的突发事件广泛存在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Box 13"/>
            <p:cNvSpPr txBox="1">
              <a:spLocks noChangeArrowheads="1"/>
            </p:cNvSpPr>
            <p:nvPr/>
          </p:nvSpPr>
          <p:spPr bwMode="auto">
            <a:xfrm>
              <a:off x="10159" y="6666"/>
              <a:ext cx="7965" cy="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l" defTabSz="914400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二、传统 FFT 难以处理非平稳信号</a:t>
              </a:r>
              <a:endParaRPr lang="zh-CN" altLang="en-US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Box 15"/>
            <p:cNvSpPr txBox="1">
              <a:spLocks noChangeArrowheads="1"/>
            </p:cNvSpPr>
            <p:nvPr/>
          </p:nvSpPr>
          <p:spPr bwMode="auto">
            <a:xfrm>
              <a:off x="10312" y="3360"/>
              <a:ext cx="7767" cy="2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indent="457200" defTabSz="914400" eaLnBrk="1" hangingPunct="1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在工程中，很多信号都非平稳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信号，例如机械零件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振动、音乐中的鼓点、车辆经过时的多普勒效应，这些都属于典型的非平稳信号。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TextBox 16"/>
            <p:cNvSpPr txBox="1">
              <a:spLocks noChangeArrowheads="1"/>
            </p:cNvSpPr>
            <p:nvPr/>
          </p:nvSpPr>
          <p:spPr bwMode="auto">
            <a:xfrm>
              <a:off x="10314" y="7331"/>
              <a:ext cx="7767" cy="2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indent="457200" defTabSz="914400" eaLnBrk="1" hangingPunct="1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传统的 FFT 分析建立在信号平稳的基础上的，适用于整体频谱分析，无法准确反应时间局部事件、频率变化或能量突变等事件，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因此无法用来准确定位突发事件。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0146" y="2659"/>
              <a:ext cx="7935" cy="32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0160" y="6643"/>
              <a:ext cx="7935" cy="3406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Line 9"/>
          <p:cNvSpPr>
            <a:spLocks noChangeShapeType="1"/>
          </p:cNvSpPr>
          <p:nvPr/>
        </p:nvSpPr>
        <p:spPr bwMode="auto">
          <a:xfrm>
            <a:off x="2693988" y="2238251"/>
            <a:ext cx="8459787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3" name="TextBox 5"/>
          <p:cNvSpPr txBox="1">
            <a:spLocks noChangeArrowheads="1"/>
          </p:cNvSpPr>
          <p:nvPr/>
        </p:nvSpPr>
        <p:spPr bwMode="auto">
          <a:xfrm>
            <a:off x="2729230" y="1778000"/>
            <a:ext cx="579945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构建通用的非平稳信号</a:t>
            </a: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突发事件检测框架</a:t>
            </a:r>
            <a:endParaRPr lang="zh-CN" altLang="en-US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04" name="TextBox 6"/>
          <p:cNvSpPr txBox="1">
            <a:spLocks noChangeArrowheads="1"/>
          </p:cNvSpPr>
          <p:nvPr/>
        </p:nvSpPr>
        <p:spPr bwMode="auto">
          <a:xfrm>
            <a:off x="2720975" y="2289051"/>
            <a:ext cx="843280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57200" defTabSz="91440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首先，我们希望构建一个通用的非平稳信号事件检测框架，以机械冲击、音乐鼓点和车辆多普勒三类典型信号的仿真为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例，提供一个可控、可重复的测试环境。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06" name="Line 9"/>
          <p:cNvSpPr>
            <a:spLocks noChangeShapeType="1"/>
          </p:cNvSpPr>
          <p:nvPr/>
        </p:nvSpPr>
        <p:spPr bwMode="auto">
          <a:xfrm>
            <a:off x="2693988" y="5394325"/>
            <a:ext cx="8459787" cy="0"/>
          </a:xfrm>
          <a:prstGeom prst="line">
            <a:avLst/>
          </a:prstGeom>
          <a:noFill/>
          <a:ln w="13">
            <a:solidFill>
              <a:srgbClr val="2E2C2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7" name="TextBox 9"/>
          <p:cNvSpPr txBox="1">
            <a:spLocks noChangeArrowheads="1"/>
          </p:cNvSpPr>
          <p:nvPr/>
        </p:nvSpPr>
        <p:spPr bwMode="auto">
          <a:xfrm>
            <a:off x="2729230" y="4935855"/>
            <a:ext cx="725995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搭建交互式 MATLAB UI 平台并整合检测流程</a:t>
            </a:r>
            <a:endParaRPr lang="zh-CN" altLang="en-US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08" name="TextBox 10"/>
          <p:cNvSpPr txBox="1">
            <a:spLocks noChangeArrowheads="1"/>
          </p:cNvSpPr>
          <p:nvPr/>
        </p:nvSpPr>
        <p:spPr bwMode="auto">
          <a:xfrm>
            <a:off x="2720975" y="5447030"/>
            <a:ext cx="8502015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57200" defTabSz="91440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搭建交互式的 MATLAB 可视化系统，把信号仿真、时频分析、特征提取和事件检测整合到一个界面中，并提供参数设置和可视化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分析，形成一个完整的 DSP 实验平台。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10" name="Line 9"/>
          <p:cNvSpPr>
            <a:spLocks noChangeShapeType="1"/>
          </p:cNvSpPr>
          <p:nvPr/>
        </p:nvSpPr>
        <p:spPr bwMode="auto">
          <a:xfrm>
            <a:off x="2734945" y="3863340"/>
            <a:ext cx="8374380" cy="43815"/>
          </a:xfrm>
          <a:prstGeom prst="line">
            <a:avLst/>
          </a:prstGeom>
          <a:noFill/>
          <a:ln w="13">
            <a:solidFill>
              <a:srgbClr val="2E2C2C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1" name="TextBox 14"/>
          <p:cNvSpPr txBox="1">
            <a:spLocks noChangeArrowheads="1"/>
          </p:cNvSpPr>
          <p:nvPr/>
        </p:nvSpPr>
        <p:spPr bwMode="auto">
          <a:xfrm>
            <a:off x="2719070" y="3447415"/>
            <a:ext cx="795718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 STFT 参数与短时特征对事件检测的影响</a:t>
            </a:r>
            <a:endParaRPr lang="zh-CN" altLang="en-US" sz="2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12" name="TextBox 15"/>
          <p:cNvSpPr txBox="1">
            <a:spLocks noChangeArrowheads="1"/>
          </p:cNvSpPr>
          <p:nvPr/>
        </p:nvSpPr>
        <p:spPr bwMode="auto">
          <a:xfrm>
            <a:off x="2710815" y="3957320"/>
            <a:ext cx="839216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indent="457200" defTabSz="91440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重点分析了 STFT 和三类短时特征的参数对事件检测性能的影响。同时，分析不同阈值对检测率的影响，为参数选取提供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依据。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14" name="Oval 6"/>
          <p:cNvSpPr>
            <a:spLocks noChangeArrowheads="1"/>
          </p:cNvSpPr>
          <p:nvPr/>
        </p:nvSpPr>
        <p:spPr bwMode="auto">
          <a:xfrm>
            <a:off x="392430" y="1700088"/>
            <a:ext cx="1076325" cy="1076325"/>
          </a:xfrm>
          <a:prstGeom prst="ellipse">
            <a:avLst/>
          </a:prstGeom>
          <a:solidFill>
            <a:srgbClr val="DFD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15" name="Oval 7"/>
          <p:cNvSpPr>
            <a:spLocks noChangeArrowheads="1"/>
          </p:cNvSpPr>
          <p:nvPr/>
        </p:nvSpPr>
        <p:spPr bwMode="auto">
          <a:xfrm>
            <a:off x="482918" y="1790576"/>
            <a:ext cx="896937" cy="89535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16" name="TextBox 19"/>
          <p:cNvSpPr txBox="1">
            <a:spLocks noChangeArrowheads="1"/>
          </p:cNvSpPr>
          <p:nvPr/>
        </p:nvSpPr>
        <p:spPr bwMode="auto">
          <a:xfrm>
            <a:off x="482918" y="1914401"/>
            <a:ext cx="9017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17" name="Oval 6"/>
          <p:cNvSpPr>
            <a:spLocks noChangeArrowheads="1"/>
          </p:cNvSpPr>
          <p:nvPr/>
        </p:nvSpPr>
        <p:spPr bwMode="auto">
          <a:xfrm>
            <a:off x="392430" y="4856163"/>
            <a:ext cx="1076325" cy="1076325"/>
          </a:xfrm>
          <a:prstGeom prst="ellipse">
            <a:avLst/>
          </a:prstGeom>
          <a:solidFill>
            <a:srgbClr val="DFD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18" name="Oval 7"/>
          <p:cNvSpPr>
            <a:spLocks noChangeArrowheads="1"/>
          </p:cNvSpPr>
          <p:nvPr/>
        </p:nvSpPr>
        <p:spPr bwMode="auto">
          <a:xfrm>
            <a:off x="482918" y="4946650"/>
            <a:ext cx="896937" cy="89535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22" name="TextBox 25"/>
          <p:cNvSpPr txBox="1">
            <a:spLocks noChangeArrowheads="1"/>
          </p:cNvSpPr>
          <p:nvPr/>
        </p:nvSpPr>
        <p:spPr bwMode="auto">
          <a:xfrm>
            <a:off x="470218" y="5078413"/>
            <a:ext cx="9017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17"/>
          <p:cNvSpPr txBox="1"/>
          <p:nvPr/>
        </p:nvSpPr>
        <p:spPr>
          <a:xfrm>
            <a:off x="560082" y="1012567"/>
            <a:ext cx="23586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梯形 3"/>
          <p:cNvSpPr/>
          <p:nvPr/>
        </p:nvSpPr>
        <p:spPr>
          <a:xfrm rot="5400000">
            <a:off x="-565930" y="3279157"/>
            <a:ext cx="4339244" cy="1289033"/>
          </a:xfrm>
          <a:prstGeom prst="trapezoid">
            <a:avLst>
              <a:gd name="adj" fmla="val 124312"/>
            </a:avLst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45100">
                <a:schemeClr val="accent1">
                  <a:alpha val="30000"/>
                </a:schemeClr>
              </a:gs>
              <a:gs pos="100000">
                <a:schemeClr val="accent1">
                  <a:alpha val="8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19" name="Oval 6"/>
          <p:cNvSpPr>
            <a:spLocks noChangeArrowheads="1"/>
          </p:cNvSpPr>
          <p:nvPr/>
        </p:nvSpPr>
        <p:spPr bwMode="auto">
          <a:xfrm>
            <a:off x="1632268" y="3368080"/>
            <a:ext cx="1076325" cy="1076325"/>
          </a:xfrm>
          <a:prstGeom prst="ellipse">
            <a:avLst/>
          </a:prstGeom>
          <a:solidFill>
            <a:srgbClr val="DFDF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20" name="Oval 7"/>
          <p:cNvSpPr>
            <a:spLocks noChangeArrowheads="1"/>
          </p:cNvSpPr>
          <p:nvPr/>
        </p:nvSpPr>
        <p:spPr bwMode="auto">
          <a:xfrm>
            <a:off x="1722755" y="3458567"/>
            <a:ext cx="895350" cy="895350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21" name="TextBox 24"/>
          <p:cNvSpPr txBox="1">
            <a:spLocks noChangeArrowheads="1"/>
          </p:cNvSpPr>
          <p:nvPr/>
        </p:nvSpPr>
        <p:spPr bwMode="auto">
          <a:xfrm>
            <a:off x="1714818" y="3615730"/>
            <a:ext cx="9017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4680" y="1943082"/>
            <a:ext cx="12216680" cy="3142102"/>
            <a:chOff x="0" y="1133835"/>
            <a:chExt cx="9029700" cy="2536465"/>
          </a:xfrm>
        </p:grpSpPr>
        <p:sp>
          <p:nvSpPr>
            <p:cNvPr id="4" name="矩形 3"/>
            <p:cNvSpPr/>
            <p:nvPr/>
          </p:nvSpPr>
          <p:spPr>
            <a:xfrm>
              <a:off x="0" y="1156227"/>
              <a:ext cx="9029700" cy="2514073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/>
            <p:cNvSpPr/>
            <p:nvPr/>
          </p:nvSpPr>
          <p:spPr>
            <a:xfrm flipV="1">
              <a:off x="4382884" y="1133835"/>
              <a:ext cx="379616" cy="15072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353652" y="2534568"/>
            <a:ext cx="1616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43885" y="3786505"/>
            <a:ext cx="60636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系统总体设计与方法框架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17"/>
          <p:cNvSpPr txBox="1"/>
          <p:nvPr/>
        </p:nvSpPr>
        <p:spPr>
          <a:xfrm>
            <a:off x="560082" y="1012567"/>
            <a:ext cx="23586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2"/>
          <p:cNvSpPr>
            <a:spLocks noChangeArrowheads="1"/>
          </p:cNvSpPr>
          <p:nvPr/>
        </p:nvSpPr>
        <p:spPr bwMode="auto">
          <a:xfrm>
            <a:off x="6444114" y="1688652"/>
            <a:ext cx="5038973" cy="431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TextBox 8"/>
          <p:cNvSpPr txBox="1">
            <a:spLocks noChangeArrowheads="1"/>
          </p:cNvSpPr>
          <p:nvPr/>
        </p:nvSpPr>
        <p:spPr bwMode="auto">
          <a:xfrm>
            <a:off x="7572557" y="1688652"/>
            <a:ext cx="2716497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解读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480175" y="2133600"/>
            <a:ext cx="499999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首先，进行多场景信号仿真。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 STFT 进行时频分析，并研究窗函数类型，窗长的影响，为后续特征提取提供基础。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在时频基础上提取三类短时特征，包括短时能量、频带能量以及谱质心变化，三类短时特征从不同角度刻画信号的瞬时变化，用于对突发事件进行多维度检测分析。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根据特征序列设置阈值进行事件检测，通过连续超阈和去重处理获得最终的事件检测结果。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将检测结果与真实标签进行对比，计算 TP、FP 和 FN，用于分析不同参数和不同特征的检测能力。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这些模块被集成到 MATLAB 的 UI 系统中，可视化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平台呈现时域、时频、特征曲线和事件检测，并提供窗长、重叠率和阈值的实时调参，同时呈现检测结果统计。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这个框架完整覆盖了非平稳信号事件检测的全过程。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442710" y="1688465"/>
            <a:ext cx="5038725" cy="46932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31165" y="1721485"/>
            <a:ext cx="5876925" cy="4660265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系统框架_00"/>
          <p:cNvPicPr>
            <a:picLocks noChangeAspect="1"/>
          </p:cNvPicPr>
          <p:nvPr/>
        </p:nvPicPr>
        <p:blipFill>
          <a:blip r:embed="rId1"/>
          <a:srcRect l="8426" t="21481" r="15850" b="6954"/>
          <a:stretch>
            <a:fillRect/>
          </a:stretch>
        </p:blipFill>
        <p:spPr>
          <a:xfrm>
            <a:off x="477520" y="1772920"/>
            <a:ext cx="5721350" cy="4575810"/>
          </a:xfrm>
          <a:prstGeom prst="rect">
            <a:avLst/>
          </a:prstGeom>
          <a:ln>
            <a:noFill/>
            <a:prstDash val="sysDash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4680" y="1943082"/>
            <a:ext cx="12216680" cy="3142102"/>
            <a:chOff x="0" y="1133835"/>
            <a:chExt cx="9029700" cy="2536465"/>
          </a:xfrm>
        </p:grpSpPr>
        <p:sp>
          <p:nvSpPr>
            <p:cNvPr id="4" name="矩形 3"/>
            <p:cNvSpPr/>
            <p:nvPr/>
          </p:nvSpPr>
          <p:spPr>
            <a:xfrm>
              <a:off x="0" y="1156227"/>
              <a:ext cx="9029700" cy="2514073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/>
            <p:cNvSpPr/>
            <p:nvPr/>
          </p:nvSpPr>
          <p:spPr>
            <a:xfrm flipV="1">
              <a:off x="4382884" y="1133835"/>
              <a:ext cx="379616" cy="15072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353652" y="2534568"/>
            <a:ext cx="1616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17600" y="3786382"/>
            <a:ext cx="568863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实验内容与算法设计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82580" y="1555750"/>
            <a:ext cx="5984670" cy="5042966"/>
            <a:chOff x="9033" y="2111"/>
            <a:chExt cx="9425" cy="7942"/>
          </a:xfrm>
        </p:grpSpPr>
        <p:sp>
          <p:nvSpPr>
            <p:cNvPr id="14" name="稻壳儿智宇https://www.docer.com/works?userid=328340712"/>
            <p:cNvSpPr/>
            <p:nvPr/>
          </p:nvSpPr>
          <p:spPr>
            <a:xfrm>
              <a:off x="9033" y="2111"/>
              <a:ext cx="9425" cy="2201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F8F8FB"/>
                </a:gs>
                <a:gs pos="99000">
                  <a:schemeClr val="accent1">
                    <a:lumMod val="20000"/>
                    <a:lumOff val="80000"/>
                  </a:schemeClr>
                </a:gs>
                <a:gs pos="87000">
                  <a:srgbClr val="C9CBE5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稻壳儿智宇https://www.docer.com/works?userid=328340712"/>
            <p:cNvSpPr txBox="1"/>
            <p:nvPr/>
          </p:nvSpPr>
          <p:spPr>
            <a:xfrm>
              <a:off x="9390" y="2111"/>
              <a:ext cx="34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①机械冲击类信号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稻壳儿智宇https://www.docer.com/works?userid=328340712"/>
            <p:cNvSpPr txBox="1"/>
            <p:nvPr/>
          </p:nvSpPr>
          <p:spPr>
            <a:xfrm>
              <a:off x="9598" y="2900"/>
              <a:ext cx="8097" cy="1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基于背景振动 + 冲击脉冲模型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，冲击事件能量突增，特征：短瞬时高能量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稻壳儿智宇https://www.docer.com/works?userid=328340712"/>
            <p:cNvSpPr/>
            <p:nvPr/>
          </p:nvSpPr>
          <p:spPr>
            <a:xfrm>
              <a:off x="9033" y="4981"/>
              <a:ext cx="9425" cy="2201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F8F8FB"/>
                </a:gs>
                <a:gs pos="99000">
                  <a:schemeClr val="accent1">
                    <a:lumMod val="20000"/>
                    <a:lumOff val="80000"/>
                  </a:schemeClr>
                </a:gs>
                <a:gs pos="87000">
                  <a:srgbClr val="C9CBE5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稻壳儿智宇https://www.docer.com/works?userid=328340712"/>
            <p:cNvSpPr txBox="1"/>
            <p:nvPr/>
          </p:nvSpPr>
          <p:spPr>
            <a:xfrm>
              <a:off x="9390" y="4981"/>
              <a:ext cx="30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②音乐鼓点信号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稻壳儿智宇https://www.docer.com/works?userid=328340712"/>
            <p:cNvSpPr txBox="1"/>
            <p:nvPr/>
          </p:nvSpPr>
          <p:spPr>
            <a:xfrm>
              <a:off x="9598" y="5770"/>
              <a:ext cx="8401" cy="1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正弦音 + 带噪声 + 带节奏的脉冲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特征：周期性事件、频率集中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稻壳儿智宇https://www.docer.com/works?userid=328340712"/>
            <p:cNvSpPr/>
            <p:nvPr/>
          </p:nvSpPr>
          <p:spPr>
            <a:xfrm>
              <a:off x="9033" y="7851"/>
              <a:ext cx="9425" cy="2201"/>
            </a:xfrm>
            <a:prstGeom prst="roundRect">
              <a:avLst>
                <a:gd name="adj" fmla="val 0"/>
              </a:avLst>
            </a:prstGeom>
            <a:gradFill>
              <a:gsLst>
                <a:gs pos="0">
                  <a:srgbClr val="F8F8FB"/>
                </a:gs>
                <a:gs pos="99000">
                  <a:schemeClr val="accent1">
                    <a:lumMod val="20000"/>
                    <a:lumOff val="80000"/>
                  </a:schemeClr>
                </a:gs>
                <a:gs pos="87000">
                  <a:srgbClr val="C9CBE5"/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稻壳儿智宇https://www.docer.com/works?userid=328340712"/>
            <p:cNvSpPr txBox="1"/>
            <p:nvPr/>
          </p:nvSpPr>
          <p:spPr>
            <a:xfrm>
              <a:off x="9390" y="7851"/>
              <a:ext cx="38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③车辆多普勒类信号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稻壳儿智宇https://www.docer.com/works?userid=328340712"/>
            <p:cNvSpPr txBox="1"/>
            <p:nvPr/>
          </p:nvSpPr>
          <p:spPr>
            <a:xfrm>
              <a:off x="9598" y="8640"/>
              <a:ext cx="8401" cy="1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具有多普勒频移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现象：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特征：频率随时间连续变化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文本框 17"/>
          <p:cNvSpPr txBox="1"/>
          <p:nvPr/>
        </p:nvSpPr>
        <p:spPr>
          <a:xfrm>
            <a:off x="560070" y="1012825"/>
            <a:ext cx="93021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利用多场景信号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进行仿真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以三种典型非平稳信号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音乐鼓点信号（时域）"/>
          <p:cNvPicPr/>
          <p:nvPr/>
        </p:nvPicPr>
        <p:blipFill>
          <a:blip r:embed="rId1"/>
          <a:stretch>
            <a:fillRect/>
          </a:stretch>
        </p:blipFill>
        <p:spPr>
          <a:xfrm>
            <a:off x="7464425" y="3427095"/>
            <a:ext cx="4320000" cy="144000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4" name="图片 3" descr="机械振动冲击信号（时域）"/>
          <p:cNvPicPr/>
          <p:nvPr/>
        </p:nvPicPr>
        <p:blipFill>
          <a:blip r:embed="rId2"/>
          <a:stretch>
            <a:fillRect/>
          </a:stretch>
        </p:blipFill>
        <p:spPr>
          <a:xfrm>
            <a:off x="7464425" y="1554255"/>
            <a:ext cx="4320000" cy="144000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5" name="图片 4" descr="车辆多普勒信号时域图"/>
          <p:cNvPicPr/>
          <p:nvPr/>
        </p:nvPicPr>
        <p:blipFill>
          <a:blip r:embed="rId3"/>
          <a:stretch>
            <a:fillRect/>
          </a:stretch>
        </p:blipFill>
        <p:spPr>
          <a:xfrm>
            <a:off x="7464425" y="5208045"/>
            <a:ext cx="4320000" cy="144000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cxnSp>
        <p:nvCxnSpPr>
          <p:cNvPr id="6" name="直接连接符 5"/>
          <p:cNvCxnSpPr/>
          <p:nvPr/>
        </p:nvCxnSpPr>
        <p:spPr>
          <a:xfrm flipH="1">
            <a:off x="6780530" y="1628775"/>
            <a:ext cx="21590" cy="4968240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17"/>
          <p:cNvSpPr txBox="1"/>
          <p:nvPr/>
        </p:nvSpPr>
        <p:spPr>
          <a:xfrm>
            <a:off x="119380" y="908685"/>
            <a:ext cx="82416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3.2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短时傅里叶变换（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STFT</a:t>
            </a: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</a:t>
            </a:r>
            <a:r>
              <a:rPr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时频分析与参数影响</a:t>
            </a:r>
            <a:endParaRPr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546100" y="1680845"/>
            <a:ext cx="4594225" cy="627380"/>
          </a:xfrm>
          <a:prstGeom prst="roundRect">
            <a:avLst/>
          </a:prstGeom>
          <a:gradFill>
            <a:gsLst>
              <a:gs pos="0">
                <a:schemeClr val="accent1"/>
              </a:gs>
              <a:gs pos="67000">
                <a:srgbClr val="7C81C3"/>
              </a:gs>
              <a:gs pos="100000">
                <a:srgbClr val="E1E3FA"/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STFT 处理流程</a:t>
            </a:r>
            <a:endParaRPr kumimoji="0" lang="zh-CN" altLang="en-US" sz="2400" b="1" i="0" u="none" strike="noStrike" cap="none" spc="0" normalizeH="0" baseline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6796139" y="1680708"/>
            <a:ext cx="4178049" cy="667521"/>
          </a:xfrm>
          <a:prstGeom prst="roundRect">
            <a:avLst/>
          </a:prstGeom>
          <a:gradFill>
            <a:gsLst>
              <a:gs pos="0">
                <a:schemeClr val="accent1"/>
              </a:gs>
              <a:gs pos="67000">
                <a:srgbClr val="7C81C3"/>
              </a:gs>
              <a:gs pos="100000">
                <a:srgbClr val="E1E3FA"/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窗长对时频图</a:t>
            </a:r>
            <a:r>
              <a: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的影响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5961203" y="1680708"/>
            <a:ext cx="0" cy="4259125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344310" y="1545987"/>
            <a:ext cx="11296559" cy="5008430"/>
          </a:xfrm>
          <a:prstGeom prst="rect">
            <a:avLst/>
          </a:prstGeom>
          <a:noFill/>
          <a:ln w="19050">
            <a:gradFill flip="none" rotWithShape="1">
              <a:gsLst>
                <a:gs pos="0">
                  <a:srgbClr val="AEB3F2"/>
                </a:gs>
                <a:gs pos="50000">
                  <a:schemeClr val="accent1">
                    <a:lumMod val="45000"/>
                    <a:lumOff val="55000"/>
                  </a:schemeClr>
                </a:gs>
                <a:gs pos="99000">
                  <a:schemeClr val="accent1"/>
                </a:gs>
              </a:gsLst>
              <a:lin ang="135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407670" y="2629535"/>
            <a:ext cx="802640" cy="368300"/>
            <a:chOff x="642" y="4480"/>
            <a:chExt cx="1264" cy="580"/>
          </a:xfrm>
        </p:grpSpPr>
        <p:sp>
          <p:nvSpPr>
            <p:cNvPr id="9" name="矩形 8"/>
            <p:cNvSpPr/>
            <p:nvPr/>
          </p:nvSpPr>
          <p:spPr>
            <a:xfrm>
              <a:off x="642" y="4480"/>
              <a:ext cx="1264" cy="580"/>
            </a:xfrm>
            <a:prstGeom prst="rect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755" y="4480"/>
              <a:ext cx="110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分帧</a:t>
              </a:r>
              <a:endParaRPr lang="zh-CN" altLang="en-US"/>
            </a:p>
          </p:txBody>
        </p:sp>
      </p:grpSp>
      <p:sp>
        <p:nvSpPr>
          <p:cNvPr id="47" name="矩形 46"/>
          <p:cNvSpPr/>
          <p:nvPr/>
        </p:nvSpPr>
        <p:spPr>
          <a:xfrm>
            <a:off x="1607820" y="2629535"/>
            <a:ext cx="80264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1659255" y="2639060"/>
            <a:ext cx="69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加窗</a:t>
            </a: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807970" y="2629535"/>
            <a:ext cx="80264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2927350" y="2638743"/>
            <a:ext cx="560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FFT</a:t>
            </a:r>
            <a:endParaRPr lang="en-US" altLang="zh-CN"/>
          </a:p>
        </p:txBody>
      </p:sp>
      <p:sp>
        <p:nvSpPr>
          <p:cNvPr id="54" name="矩形 53"/>
          <p:cNvSpPr/>
          <p:nvPr/>
        </p:nvSpPr>
        <p:spPr>
          <a:xfrm>
            <a:off x="3991610" y="2647950"/>
            <a:ext cx="1746250" cy="36830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4008120" y="2629535"/>
            <a:ext cx="18700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拼接成时频矩阵</a:t>
            </a:r>
            <a:endParaRPr lang="zh-CN" altLang="en-US"/>
          </a:p>
        </p:txBody>
      </p:sp>
      <p:cxnSp>
        <p:nvCxnSpPr>
          <p:cNvPr id="56" name="直接箭头连接符 55"/>
          <p:cNvCxnSpPr>
            <a:stCxn id="13" idx="3"/>
            <a:endCxn id="47" idx="1"/>
          </p:cNvCxnSpPr>
          <p:nvPr/>
        </p:nvCxnSpPr>
        <p:spPr>
          <a:xfrm>
            <a:off x="1179830" y="2813685"/>
            <a:ext cx="42799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47" idx="3"/>
            <a:endCxn id="49" idx="1"/>
          </p:cNvCxnSpPr>
          <p:nvPr/>
        </p:nvCxnSpPr>
        <p:spPr>
          <a:xfrm>
            <a:off x="2410460" y="2813685"/>
            <a:ext cx="397510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49" idx="3"/>
            <a:endCxn id="55" idx="1"/>
          </p:cNvCxnSpPr>
          <p:nvPr/>
        </p:nvCxnSpPr>
        <p:spPr>
          <a:xfrm>
            <a:off x="3610610" y="2813685"/>
            <a:ext cx="3975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圆角矩形 59"/>
          <p:cNvSpPr/>
          <p:nvPr/>
        </p:nvSpPr>
        <p:spPr>
          <a:xfrm>
            <a:off x="479425" y="4935220"/>
            <a:ext cx="5184775" cy="139763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712470" y="5007610"/>
            <a:ext cx="48755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在参数方面，我们重点分析了窗长和重叠率对时频分辨能力的影响。</a:t>
            </a:r>
            <a:r>
              <a:rPr lang="zh-CN" altLang="en-US">
                <a:solidFill>
                  <a:srgbClr val="FF0000"/>
                </a:solidFill>
              </a:rPr>
              <a:t>窗长越长，越容易看到频率结构</a:t>
            </a:r>
            <a:r>
              <a:rPr lang="zh-CN" altLang="en-US"/>
              <a:t>；</a:t>
            </a:r>
            <a:r>
              <a:rPr lang="zh-CN" altLang="en-US">
                <a:solidFill>
                  <a:srgbClr val="FF0000"/>
                </a:solidFill>
              </a:rPr>
              <a:t>窗长越短，越容易定位事件发生时间</a:t>
            </a:r>
            <a:r>
              <a:rPr lang="zh-CN" altLang="en-US"/>
              <a:t>。这些分析为后续特征提取提供了依据。</a:t>
            </a:r>
            <a:endParaRPr lang="zh-CN" altLang="en-US"/>
          </a:p>
        </p:txBody>
      </p:sp>
      <p:pic>
        <p:nvPicPr>
          <p:cNvPr id="62" name="图片 61" descr="窗长128时频图"/>
          <p:cNvPicPr/>
          <p:nvPr/>
        </p:nvPicPr>
        <p:blipFill>
          <a:blip r:embed="rId1"/>
          <a:stretch>
            <a:fillRect/>
          </a:stretch>
        </p:blipFill>
        <p:spPr>
          <a:xfrm>
            <a:off x="6528435" y="2439035"/>
            <a:ext cx="4680000" cy="198000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63" name="图片 62" descr="窗长1024时频图"/>
          <p:cNvPicPr/>
          <p:nvPr/>
        </p:nvPicPr>
        <p:blipFill>
          <a:blip r:embed="rId2"/>
          <a:stretch>
            <a:fillRect/>
          </a:stretch>
        </p:blipFill>
        <p:spPr>
          <a:xfrm>
            <a:off x="6528435" y="4419600"/>
            <a:ext cx="4680000" cy="198000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64" name="圆角矩形 63"/>
          <p:cNvSpPr/>
          <p:nvPr/>
        </p:nvSpPr>
        <p:spPr>
          <a:xfrm>
            <a:off x="465455" y="3472180"/>
            <a:ext cx="5184775" cy="124587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1456690" y="39173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67" name="文本框 66"/>
          <p:cNvSpPr txBox="1"/>
          <p:nvPr/>
        </p:nvSpPr>
        <p:spPr>
          <a:xfrm>
            <a:off x="546100" y="3538220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① 分帧（Framing）：将信号切成短时片段</a:t>
            </a:r>
            <a:endParaRPr lang="zh-CN" altLang="en-US" sz="1600"/>
          </a:p>
          <a:p>
            <a:r>
              <a:rPr lang="zh-CN" altLang="en-US" sz="1600"/>
              <a:t>② 加窗（Windowing）：降低频谱泄漏</a:t>
            </a:r>
            <a:endParaRPr lang="zh-CN" altLang="en-US" sz="1600"/>
          </a:p>
          <a:p>
            <a:r>
              <a:rPr lang="zh-CN" altLang="en-US" sz="1600"/>
              <a:t>③ FFT（短时谱）：获得每一帧的频率结构</a:t>
            </a:r>
            <a:endParaRPr lang="zh-CN" altLang="en-US" sz="1600"/>
          </a:p>
          <a:p>
            <a:r>
              <a:rPr lang="zh-CN" altLang="en-US" sz="1600"/>
              <a:t>④ 拼接（Spectrogram）：构建时频矩阵</a:t>
            </a:r>
            <a:endParaRPr lang="zh-CN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635720" y="1780898"/>
            <a:ext cx="5359615" cy="1864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41000">
                <a:srgbClr val="E1E3FA"/>
              </a:gs>
              <a:gs pos="100000">
                <a:srgbClr val="F8F8FE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62563" y="4308473"/>
            <a:ext cx="5359615" cy="1864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41000">
                <a:srgbClr val="E1E3FA"/>
              </a:gs>
              <a:gs pos="100000">
                <a:srgbClr val="F8F8FE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7"/>
          <p:cNvSpPr txBox="1"/>
          <p:nvPr/>
        </p:nvSpPr>
        <p:spPr>
          <a:xfrm>
            <a:off x="560070" y="1012825"/>
            <a:ext cx="114617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三类典型的短时特征提取方法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不同角度检测突发事件（以机械振动冲击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E:/leaning/大三上/数字信号处理/PPT制作/机械信号短时能量图.png机械信号短时能量图"/>
          <p:cNvPicPr>
            <a:picLocks noChangeAspect="1"/>
          </p:cNvPicPr>
          <p:nvPr/>
        </p:nvPicPr>
        <p:blipFill>
          <a:blip r:embed="rId1"/>
          <a:srcRect t="9900" b="9900"/>
          <a:stretch>
            <a:fillRect/>
          </a:stretch>
        </p:blipFill>
        <p:spPr>
          <a:xfrm>
            <a:off x="6704287" y="1616921"/>
            <a:ext cx="4760089" cy="2100364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pic>
        <p:nvPicPr>
          <p:cNvPr id="4" name="图片 3" descr="E:/leaning/大三上/数字信号处理/PPT制作/机械信号频带能量图.png机械信号频带能量图"/>
          <p:cNvPicPr>
            <a:picLocks noChangeAspect="1"/>
          </p:cNvPicPr>
          <p:nvPr/>
        </p:nvPicPr>
        <p:blipFill>
          <a:blip r:embed="rId2"/>
          <a:srcRect t="11291" b="11291"/>
          <a:stretch>
            <a:fillRect/>
          </a:stretch>
        </p:blipFill>
        <p:spPr>
          <a:xfrm>
            <a:off x="709985" y="4229513"/>
            <a:ext cx="4607231" cy="1964158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5" name="矩形 4"/>
          <p:cNvSpPr/>
          <p:nvPr/>
        </p:nvSpPr>
        <p:spPr>
          <a:xfrm>
            <a:off x="425599" y="1556580"/>
            <a:ext cx="11287025" cy="223246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25598" y="4089096"/>
            <a:ext cx="11287025" cy="2232461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203548" y="4637016"/>
            <a:ext cx="535961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/>
            <a:r>
              <a:rPr lang="zh-CN" altLang="zh-CN" b="1" dirty="0">
                <a:effectLst/>
                <a:latin typeface="+mn-ea"/>
                <a:cs typeface="+mn-ea"/>
              </a:rPr>
              <a:t>（</a:t>
            </a:r>
            <a:r>
              <a:rPr lang="en-US" altLang="zh-CN" b="1" dirty="0">
                <a:effectLst/>
                <a:latin typeface="+mn-ea"/>
                <a:cs typeface="+mn-ea"/>
              </a:rPr>
              <a:t>1</a:t>
            </a:r>
            <a:r>
              <a:rPr lang="zh-CN" altLang="zh-CN" b="1" dirty="0">
                <a:effectLst/>
                <a:latin typeface="+mn-ea"/>
                <a:cs typeface="+mn-ea"/>
              </a:rPr>
              <a:t>）</a:t>
            </a:r>
            <a:r>
              <a:rPr lang="zh-CN" altLang="zh-CN" b="1" dirty="0">
                <a:effectLst/>
                <a:latin typeface="+mn-ea"/>
                <a:cs typeface="+mn-ea"/>
              </a:rPr>
              <a:t>定义：提取某一频段（例如 0–300Hz）的能量</a:t>
            </a:r>
            <a:endParaRPr lang="zh-CN" altLang="zh-CN" b="1" dirty="0">
              <a:effectLst/>
              <a:latin typeface="+mn-ea"/>
              <a:cs typeface="+mn-ea"/>
            </a:endParaRPr>
          </a:p>
          <a:p>
            <a:pPr eaLnBrk="1" fontAlgn="auto" hangingPunct="1"/>
            <a:r>
              <a:rPr lang="zh-CN" altLang="zh-CN" b="1" dirty="0">
                <a:effectLst/>
                <a:latin typeface="+mn-ea"/>
                <a:cs typeface="+mn-ea"/>
              </a:rPr>
              <a:t>（</a:t>
            </a:r>
            <a:r>
              <a:rPr lang="en-US" altLang="zh-CN" b="1" dirty="0">
                <a:effectLst/>
                <a:latin typeface="+mn-ea"/>
                <a:cs typeface="+mn-ea"/>
              </a:rPr>
              <a:t>2</a:t>
            </a:r>
            <a:r>
              <a:rPr lang="zh-CN" altLang="zh-CN" b="1" dirty="0">
                <a:effectLst/>
                <a:latin typeface="+mn-ea"/>
                <a:cs typeface="+mn-ea"/>
              </a:rPr>
              <a:t>）更适合多普勒、低频机械振动等场景</a:t>
            </a:r>
            <a:endParaRPr lang="zh-CN" altLang="zh-CN" b="1" dirty="0">
              <a:effectLst/>
              <a:latin typeface="+mn-ea"/>
              <a:cs typeface="+mn-ea"/>
            </a:endParaRPr>
          </a:p>
          <a:p>
            <a:pPr eaLnBrk="1" fontAlgn="auto" hangingPunct="1"/>
            <a:endParaRPr lang="zh-CN" altLang="zh-CN" b="1" dirty="0">
              <a:effectLst/>
              <a:latin typeface="+mn-ea"/>
              <a:cs typeface="+mn-ea"/>
            </a:endParaRPr>
          </a:p>
          <a:p>
            <a:pPr eaLnBrk="1" fontAlgn="auto" hangingPunct="1"/>
            <a:r>
              <a:rPr lang="zh-CN" altLang="zh-CN" b="1" dirty="0">
                <a:effectLst/>
                <a:latin typeface="+mn-ea"/>
                <a:cs typeface="+mn-ea"/>
              </a:rPr>
              <a:t>（</a:t>
            </a:r>
            <a:r>
              <a:rPr lang="en-US" altLang="zh-CN" b="1" dirty="0">
                <a:effectLst/>
                <a:latin typeface="+mn-ea"/>
                <a:cs typeface="+mn-ea"/>
              </a:rPr>
              <a:t>3</a:t>
            </a:r>
            <a:r>
              <a:rPr lang="zh-CN" altLang="zh-CN" b="1" dirty="0">
                <a:effectLst/>
                <a:latin typeface="+mn-ea"/>
                <a:cs typeface="+mn-ea"/>
              </a:rPr>
              <a:t>）能排除高频噪声干扰，提高检测 robustness</a:t>
            </a:r>
            <a:endParaRPr lang="zh-CN" altLang="zh-CN" b="1" dirty="0">
              <a:effectLst/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79425" y="1772920"/>
            <a:ext cx="1412240" cy="4318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1. 短时能量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1670" y="2349500"/>
            <a:ext cx="51365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）定义：每一帧信号能量的总量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）能量上升 → 存在撞击、鼓点等瞬时突发事件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）最基础、效果最稳定的检测方法</a:t>
            </a:r>
            <a:endParaRPr lang="zh-CN" altLang="en-US" b="1"/>
          </a:p>
        </p:txBody>
      </p:sp>
      <p:sp>
        <p:nvSpPr>
          <p:cNvPr id="9" name="矩形 8"/>
          <p:cNvSpPr/>
          <p:nvPr/>
        </p:nvSpPr>
        <p:spPr>
          <a:xfrm>
            <a:off x="10151110" y="4149090"/>
            <a:ext cx="1412240" cy="4318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2</a:t>
            </a:r>
            <a:r>
              <a:rPr lang="zh-CN" altLang="en-US"/>
              <a:t>. 频带能量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635720" y="1780898"/>
            <a:ext cx="5359615" cy="186412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41000">
                <a:srgbClr val="E1E3FA"/>
              </a:gs>
              <a:gs pos="100000">
                <a:srgbClr val="F8F8FE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7"/>
          <p:cNvSpPr txBox="1"/>
          <p:nvPr/>
        </p:nvSpPr>
        <p:spPr>
          <a:xfrm>
            <a:off x="560070" y="1012825"/>
            <a:ext cx="114617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三类典型的短时特征提取方法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不同角度检测突发事件（以机械振动冲击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为例）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E:/leaning/大三上/数字信号处理/PPT制作/机械信号谱质心图.png机械信号谱质心图"/>
          <p:cNvPicPr>
            <a:picLocks noChangeAspect="1"/>
          </p:cNvPicPr>
          <p:nvPr/>
        </p:nvPicPr>
        <p:blipFill>
          <a:blip r:embed="rId1"/>
          <a:srcRect t="16256" b="16256"/>
          <a:stretch>
            <a:fillRect/>
          </a:stretch>
        </p:blipFill>
        <p:spPr>
          <a:xfrm>
            <a:off x="6704287" y="1616921"/>
            <a:ext cx="4760089" cy="2100364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5" name="矩形 4"/>
          <p:cNvSpPr/>
          <p:nvPr/>
        </p:nvSpPr>
        <p:spPr>
          <a:xfrm>
            <a:off x="425599" y="1556580"/>
            <a:ext cx="11287025" cy="223246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79425" y="1772920"/>
            <a:ext cx="1640840" cy="4318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/>
              <a:t>3</a:t>
            </a:r>
            <a:r>
              <a:rPr lang="zh-CN" altLang="en-US"/>
              <a:t>. 谱质心变化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61670" y="2349500"/>
            <a:ext cx="51365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/>
              <a:t>（</a:t>
            </a:r>
            <a:r>
              <a:rPr lang="en-US" altLang="zh-CN" b="1"/>
              <a:t>1</a:t>
            </a:r>
            <a:r>
              <a:rPr lang="zh-CN" b="1"/>
              <a:t>）</a:t>
            </a:r>
            <a:r>
              <a:rPr b="1"/>
              <a:t>描述频谱的“重心位置”</a:t>
            </a:r>
            <a:endParaRPr b="1"/>
          </a:p>
          <a:p>
            <a:r>
              <a:rPr lang="zh-CN" b="1"/>
              <a:t>（</a:t>
            </a:r>
            <a:r>
              <a:rPr lang="en-US" altLang="zh-CN" b="1"/>
              <a:t>2</a:t>
            </a:r>
            <a:r>
              <a:rPr lang="zh-CN" b="1"/>
              <a:t>）</a:t>
            </a:r>
            <a:r>
              <a:rPr b="1"/>
              <a:t>对频率快速变化的事件更敏感，例如多普勒滑移</a:t>
            </a:r>
            <a:endParaRPr b="1"/>
          </a:p>
          <a:p>
            <a:r>
              <a:rPr lang="zh-CN" b="1"/>
              <a:t>（</a:t>
            </a:r>
            <a:r>
              <a:rPr lang="en-US" altLang="zh-CN" b="1"/>
              <a:t>3</a:t>
            </a:r>
            <a:r>
              <a:rPr lang="zh-CN" b="1"/>
              <a:t>）采用</a:t>
            </a:r>
            <a:r>
              <a:rPr b="1"/>
              <a:t>谱质心差分</a:t>
            </a:r>
            <a:r>
              <a:rPr lang="zh-CN" b="1"/>
              <a:t>，</a:t>
            </a:r>
            <a:r>
              <a:rPr b="1"/>
              <a:t>进一步放大突发变化</a:t>
            </a:r>
            <a:endParaRPr b="1"/>
          </a:p>
        </p:txBody>
      </p:sp>
      <p:sp>
        <p:nvSpPr>
          <p:cNvPr id="10" name="圆角矩形 9"/>
          <p:cNvSpPr/>
          <p:nvPr/>
        </p:nvSpPr>
        <p:spPr>
          <a:xfrm>
            <a:off x="407670" y="4436745"/>
            <a:ext cx="11376660" cy="96329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结论：三类短时特征从能量、频段与频谱结构三个维度刻画信号突变，可以实现对不同类型事件的多角度检测，对于不同场景下的非平稳信号，可能有不同的检测性能，本实验中采用三种短时特征进行联合测试，分析其检测</a:t>
            </a:r>
            <a:r>
              <a:rPr lang="zh-CN" altLang="en-US"/>
              <a:t>效果。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7"/>
          <p:cNvSpPr txBox="1"/>
          <p:nvPr/>
        </p:nvSpPr>
        <p:spPr>
          <a:xfrm>
            <a:off x="560070" y="1012825"/>
            <a:ext cx="114617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3.4 事件检测算法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1135" y="1674178"/>
            <a:ext cx="1386840" cy="5721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b="1"/>
              <a:t>核心目标：</a:t>
            </a:r>
            <a:endParaRPr lang="zh-CN" altLang="en-US" b="1"/>
          </a:p>
        </p:txBody>
      </p:sp>
      <p:sp>
        <p:nvSpPr>
          <p:cNvPr id="6" name="圆角矩形 5"/>
          <p:cNvSpPr/>
          <p:nvPr/>
        </p:nvSpPr>
        <p:spPr>
          <a:xfrm>
            <a:off x="1775460" y="1628775"/>
            <a:ext cx="9217025" cy="662940"/>
          </a:xfrm>
          <a:prstGeom prst="round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919605" y="1664970"/>
            <a:ext cx="90176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对于某场景下的非平稳信号，在通过</a:t>
            </a:r>
            <a:r>
              <a:rPr lang="en-US" altLang="zh-CN"/>
              <a:t>STFT</a:t>
            </a:r>
            <a:r>
              <a:rPr lang="zh-CN" altLang="en-US"/>
              <a:t>时频分析与短时特征提取后，</a:t>
            </a:r>
            <a:r>
              <a:rPr lang="zh-CN" altLang="en-US">
                <a:solidFill>
                  <a:srgbClr val="FF0000"/>
                </a:solidFill>
              </a:rPr>
              <a:t>从时频图，以及三种短时特征图中检测突发事件，</a:t>
            </a:r>
            <a:r>
              <a:rPr lang="zh-CN" altLang="en-US">
                <a:solidFill>
                  <a:schemeClr val="tx1"/>
                </a:solidFill>
              </a:rPr>
              <a:t>需要</a:t>
            </a:r>
            <a:r>
              <a:rPr lang="zh-CN" altLang="en-US">
                <a:solidFill>
                  <a:srgbClr val="FF0000"/>
                </a:solidFill>
              </a:rPr>
              <a:t>设计事件检测算法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91135" y="2636520"/>
            <a:ext cx="951865" cy="57213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b="1"/>
              <a:t>方法：</a:t>
            </a:r>
            <a:endParaRPr lang="zh-CN" altLang="en-US" b="1"/>
          </a:p>
        </p:txBody>
      </p:sp>
      <p:sp>
        <p:nvSpPr>
          <p:cNvPr id="14" name="圆角矩形 13"/>
          <p:cNvSpPr/>
          <p:nvPr/>
        </p:nvSpPr>
        <p:spPr>
          <a:xfrm>
            <a:off x="1559560" y="2635885"/>
            <a:ext cx="9001125" cy="577215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631315" y="2708910"/>
            <a:ext cx="8834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本系统基于短时特征曲线，采用“</a:t>
            </a:r>
            <a:r>
              <a:rPr lang="zh-CN" altLang="en-US">
                <a:solidFill>
                  <a:srgbClr val="FF0000"/>
                </a:solidFill>
              </a:rPr>
              <a:t>阈值检测 + 去抖 + 最小时间间隔</a:t>
            </a:r>
            <a:r>
              <a:rPr lang="zh-CN" altLang="en-US"/>
              <a:t>”策略完成事件识别。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5460" y="4666615"/>
            <a:ext cx="9216390" cy="187452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17" name="矩形 16"/>
          <p:cNvSpPr/>
          <p:nvPr/>
        </p:nvSpPr>
        <p:spPr>
          <a:xfrm>
            <a:off x="695325" y="4653280"/>
            <a:ext cx="720090" cy="1872615"/>
          </a:xfrm>
          <a:prstGeom prst="rect">
            <a:avLst/>
          </a:prstGeom>
          <a:ln cap="rnd">
            <a:round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39470" y="4997450"/>
            <a:ext cx="402590" cy="1332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算法</a:t>
            </a:r>
            <a:r>
              <a:rPr lang="zh-CN" altLang="en-US"/>
              <a:t>流程</a:t>
            </a:r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191135" y="4364990"/>
            <a:ext cx="11089640" cy="2304415"/>
          </a:xfrm>
          <a:prstGeom prst="round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147320" y="4270375"/>
            <a:ext cx="117176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4680" y="1943082"/>
            <a:ext cx="12216680" cy="3142102"/>
            <a:chOff x="0" y="1133835"/>
            <a:chExt cx="9029700" cy="2536465"/>
          </a:xfrm>
        </p:grpSpPr>
        <p:sp>
          <p:nvSpPr>
            <p:cNvPr id="4" name="矩形 3"/>
            <p:cNvSpPr/>
            <p:nvPr/>
          </p:nvSpPr>
          <p:spPr>
            <a:xfrm>
              <a:off x="0" y="1156227"/>
              <a:ext cx="9029700" cy="2514073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/>
            <p:cNvSpPr/>
            <p:nvPr/>
          </p:nvSpPr>
          <p:spPr>
            <a:xfrm flipV="1">
              <a:off x="4382884" y="1133835"/>
              <a:ext cx="379616" cy="15072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353652" y="2534568"/>
            <a:ext cx="1616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17600" y="3786382"/>
            <a:ext cx="568863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系统实现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与UI 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平台展示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17"/>
          <p:cNvSpPr txBox="1"/>
          <p:nvPr/>
        </p:nvSpPr>
        <p:spPr>
          <a:xfrm>
            <a:off x="201295" y="941070"/>
            <a:ext cx="1080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 UI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平台界面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b="6546"/>
          <a:stretch>
            <a:fillRect/>
          </a:stretch>
        </p:blipFill>
        <p:spPr>
          <a:xfrm>
            <a:off x="201295" y="1484630"/>
            <a:ext cx="8052435" cy="51600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圆角矩形 7"/>
          <p:cNvSpPr/>
          <p:nvPr/>
        </p:nvSpPr>
        <p:spPr>
          <a:xfrm>
            <a:off x="8434070" y="1412875"/>
            <a:ext cx="3620135" cy="5184775"/>
          </a:xfrm>
          <a:prstGeom prst="roundRect">
            <a:avLst>
              <a:gd name="adj" fmla="val 59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8472805" y="1485265"/>
            <a:ext cx="348615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本项目基于 MATLAB App Designer 自主开发“突发 / 标志事件检测可视化平台”，实现：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（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）2×2 图形联动</a:t>
            </a:r>
            <a:r>
              <a:rPr lang="zh-CN" altLang="en-US"/>
              <a:t>（时域、时频、特征、检测结果）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（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）右侧参数面板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/>
              <a:t>①场景选择（机械 / 音乐 / 多普勒）</a:t>
            </a:r>
            <a:endParaRPr lang="zh-CN" altLang="en-US"/>
          </a:p>
          <a:p>
            <a:r>
              <a:rPr lang="zh-CN" altLang="en-US"/>
              <a:t>②特征选择（短时能量 / 频带能量 / 谱质心）</a:t>
            </a:r>
            <a:endParaRPr lang="zh-CN" altLang="en-US"/>
          </a:p>
          <a:p>
            <a:r>
              <a:rPr lang="zh-CN" altLang="en-US"/>
              <a:t>③参数滑条（窗长、重叠率、阈值）</a:t>
            </a:r>
            <a:endParaRPr lang="zh-CN" altLang="en-US"/>
          </a:p>
          <a:p>
            <a:r>
              <a:rPr lang="zh-CN" altLang="en-US"/>
              <a:t>④检测结果统计（TP/FP/FN）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0"/>
          <p:cNvSpPr txBox="1"/>
          <p:nvPr/>
        </p:nvSpPr>
        <p:spPr>
          <a:xfrm>
            <a:off x="-83794" y="1456784"/>
            <a:ext cx="184731" cy="4589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 bwMode="auto">
          <a:xfrm>
            <a:off x="11445" y="765175"/>
            <a:ext cx="121968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gradFill flip="none" rotWithShape="1">
              <a:gsLst>
                <a:gs pos="29000">
                  <a:schemeClr val="accent1"/>
                </a:gs>
                <a:gs pos="100000">
                  <a:srgbClr val="FFFFFF"/>
                </a:gs>
              </a:gsLst>
              <a:lin ang="4200000" scaled="0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文本框 17"/>
          <p:cNvSpPr txBox="1"/>
          <p:nvPr/>
        </p:nvSpPr>
        <p:spPr>
          <a:xfrm>
            <a:off x="560070" y="1012825"/>
            <a:ext cx="2976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 UI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平台操作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1225" y="4221089"/>
            <a:ext cx="4968552" cy="2160239"/>
          </a:xfrm>
          <a:prstGeom prst="rect">
            <a:avLst/>
          </a:prstGeom>
          <a:gradFill>
            <a:gsLst>
              <a:gs pos="0">
                <a:srgbClr val="F0F0FA"/>
              </a:gs>
              <a:gs pos="100000">
                <a:srgbClr val="CFD2F7"/>
              </a:gs>
              <a:gs pos="82000">
                <a:srgbClr val="DADCF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文本框 56"/>
          <p:cNvSpPr txBox="1"/>
          <p:nvPr/>
        </p:nvSpPr>
        <p:spPr>
          <a:xfrm>
            <a:off x="1127249" y="4796771"/>
            <a:ext cx="4562471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defTabSz="91440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切换三种非平稳场景，进行事件检测。结果显示，短时能量最适合机械和鼓点场景，多普勒场景只适合时频图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观测。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66"/>
          <p:cNvSpPr txBox="1"/>
          <p:nvPr/>
        </p:nvSpPr>
        <p:spPr>
          <a:xfrm>
            <a:off x="1061085" y="4396740"/>
            <a:ext cx="4726940" cy="3302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）选择不同信号，判断合适检测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08520" y="1772817"/>
            <a:ext cx="4968552" cy="2160239"/>
          </a:xfrm>
          <a:prstGeom prst="rect">
            <a:avLst/>
          </a:prstGeom>
          <a:gradFill>
            <a:gsLst>
              <a:gs pos="0">
                <a:srgbClr val="F0F0FA"/>
              </a:gs>
              <a:gs pos="100000">
                <a:srgbClr val="CFD2F7"/>
              </a:gs>
              <a:gs pos="82000">
                <a:srgbClr val="DADCF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文本框 56"/>
          <p:cNvSpPr txBox="1"/>
          <p:nvPr/>
        </p:nvSpPr>
        <p:spPr>
          <a:xfrm>
            <a:off x="1124544" y="2420889"/>
            <a:ext cx="456247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defTabSz="91440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只滑动窗长参数，分别设置为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（最小）和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（最大），观察时频图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66"/>
          <p:cNvSpPr txBox="1"/>
          <p:nvPr/>
        </p:nvSpPr>
        <p:spPr>
          <a:xfrm>
            <a:off x="1073150" y="1948815"/>
            <a:ext cx="3458845" cy="39878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）窗长对时频图的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影响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434336" y="1772817"/>
            <a:ext cx="4968552" cy="2160239"/>
          </a:xfrm>
          <a:prstGeom prst="rect">
            <a:avLst/>
          </a:prstGeom>
          <a:gradFill>
            <a:gsLst>
              <a:gs pos="0">
                <a:srgbClr val="F0F0FA"/>
              </a:gs>
              <a:gs pos="100000">
                <a:srgbClr val="CFD2F7"/>
              </a:gs>
              <a:gs pos="82000">
                <a:srgbClr val="DADCF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文本框 56"/>
          <p:cNvSpPr txBox="1"/>
          <p:nvPr/>
        </p:nvSpPr>
        <p:spPr>
          <a:xfrm>
            <a:off x="6610985" y="2213610"/>
            <a:ext cx="4769485" cy="1744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defTabSz="914400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信号类型为机械振动，改变短时特征的选取，生成并分析检测结果，调整阈值直至检测结果完全正确。（说明不同特征需要不同的阈值判断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66"/>
          <p:cNvSpPr txBox="1"/>
          <p:nvPr/>
        </p:nvSpPr>
        <p:spPr>
          <a:xfrm>
            <a:off x="6478905" y="1877060"/>
            <a:ext cx="3507105" cy="39878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）选择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短时特征的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影响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908520" y="1772817"/>
            <a:ext cx="0" cy="216023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08520" y="4221089"/>
            <a:ext cx="0" cy="216023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6434336" y="1772817"/>
            <a:ext cx="0" cy="2160239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4680" y="1943082"/>
            <a:ext cx="12216680" cy="3142102"/>
            <a:chOff x="0" y="1133835"/>
            <a:chExt cx="9029700" cy="2536465"/>
          </a:xfrm>
        </p:grpSpPr>
        <p:sp>
          <p:nvSpPr>
            <p:cNvPr id="4" name="矩形 3"/>
            <p:cNvSpPr/>
            <p:nvPr/>
          </p:nvSpPr>
          <p:spPr>
            <a:xfrm>
              <a:off x="0" y="1156227"/>
              <a:ext cx="9029700" cy="2514073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等腰三角形 4"/>
            <p:cNvSpPr/>
            <p:nvPr/>
          </p:nvSpPr>
          <p:spPr>
            <a:xfrm flipV="1">
              <a:off x="4382884" y="1133835"/>
              <a:ext cx="379616" cy="15072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5353652" y="2534568"/>
            <a:ext cx="16165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317600" y="3786382"/>
            <a:ext cx="568863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讨论与扩展方向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600580" y="1826505"/>
            <a:ext cx="3035486" cy="334477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41000">
                <a:srgbClr val="E1E3FA"/>
              </a:gs>
              <a:gs pos="100000">
                <a:srgbClr val="F8F8FE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389243" y="2349908"/>
            <a:ext cx="3035486" cy="334477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41000">
                <a:srgbClr val="E1E3FA"/>
              </a:gs>
              <a:gs pos="100000">
                <a:srgbClr val="F8F8FE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76082" y="2349908"/>
            <a:ext cx="3035486" cy="334477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41000">
                <a:srgbClr val="E1E3FA"/>
              </a:gs>
              <a:gs pos="100000">
                <a:srgbClr val="F8F8FE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73382" y="2438862"/>
            <a:ext cx="2619375" cy="460375"/>
          </a:xfrm>
          <a:prstGeom prst="rect">
            <a:avLst/>
          </a:prstGeom>
        </p:spPr>
        <p:txBody>
          <a:bodyPr wrap="none" lIns="90000">
            <a:spAutoFit/>
          </a:bodyPr>
          <a:lstStyle/>
          <a:p>
            <a:pPr algn="ctr"/>
            <a:r>
              <a:rPr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信号模型的局限性</a:t>
            </a:r>
            <a:endParaRPr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60356" y="2944772"/>
            <a:ext cx="2592336" cy="274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 defTabSz="9144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本项目信号由仿真生成，优点是可控，局限在于：（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1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）真实信号可能更复杂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（噪声类型、环境混响等）（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2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）仿真模型可能无法完全覆盖工程场景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）未来可加入真实语音、机械故障、车辆录音的数据集进行验证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660399" y="1985923"/>
            <a:ext cx="725488" cy="900601"/>
          </a:xfrm>
          <a:custGeom>
            <a:avLst/>
            <a:gdLst>
              <a:gd name="connsiteX0" fmla="*/ 211555 w 619112"/>
              <a:gd name="connsiteY0" fmla="*/ 0 h 768549"/>
              <a:gd name="connsiteX1" fmla="*/ 619112 w 619112"/>
              <a:gd name="connsiteY1" fmla="*/ 0 h 768549"/>
              <a:gd name="connsiteX2" fmla="*/ 0 w 619112"/>
              <a:gd name="connsiteY2" fmla="*/ 768549 h 768549"/>
              <a:gd name="connsiteX3" fmla="*/ 0 w 619112"/>
              <a:gd name="connsiteY3" fmla="*/ 262619 h 76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112" h="768549">
                <a:moveTo>
                  <a:pt x="211555" y="0"/>
                </a:moveTo>
                <a:lnTo>
                  <a:pt x="619112" y="0"/>
                </a:lnTo>
                <a:lnTo>
                  <a:pt x="0" y="768549"/>
                </a:lnTo>
                <a:lnTo>
                  <a:pt x="0" y="2626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60400" y="2023399"/>
            <a:ext cx="526255" cy="521970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99965" y="1902460"/>
            <a:ext cx="2518410" cy="688975"/>
          </a:xfrm>
          <a:prstGeom prst="rect">
            <a:avLst/>
          </a:prstGeom>
        </p:spPr>
        <p:txBody>
          <a:bodyPr wrap="none" lIns="90000">
            <a:noAutofit/>
          </a:bodyPr>
          <a:lstStyle/>
          <a:p>
            <a:pPr algn="ctr"/>
            <a:r>
              <a:rPr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事件检测算法的</a:t>
            </a:r>
            <a:endParaRPr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可扩展性</a:t>
            </a:r>
            <a:endParaRPr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773295" y="2677160"/>
            <a:ext cx="2592070" cy="2848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just">
              <a:lnSpc>
                <a:spcPct val="130000"/>
              </a:lnSpc>
              <a:spcAft>
                <a:spcPts val="600"/>
              </a:spcAft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当前方法是基于阈值的检测，优点是可解释性强、实时性高；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局限是对噪声、弱事件、不规则事件有性能瓶颈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4473329" y="1449307"/>
            <a:ext cx="725488" cy="900601"/>
          </a:xfrm>
          <a:custGeom>
            <a:avLst/>
            <a:gdLst>
              <a:gd name="connsiteX0" fmla="*/ 211555 w 619112"/>
              <a:gd name="connsiteY0" fmla="*/ 0 h 768549"/>
              <a:gd name="connsiteX1" fmla="*/ 619112 w 619112"/>
              <a:gd name="connsiteY1" fmla="*/ 0 h 768549"/>
              <a:gd name="connsiteX2" fmla="*/ 0 w 619112"/>
              <a:gd name="connsiteY2" fmla="*/ 768549 h 768549"/>
              <a:gd name="connsiteX3" fmla="*/ 0 w 619112"/>
              <a:gd name="connsiteY3" fmla="*/ 262619 h 76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112" h="768549">
                <a:moveTo>
                  <a:pt x="211555" y="0"/>
                </a:moveTo>
                <a:lnTo>
                  <a:pt x="619112" y="0"/>
                </a:lnTo>
                <a:lnTo>
                  <a:pt x="0" y="768549"/>
                </a:lnTo>
                <a:lnTo>
                  <a:pt x="0" y="2626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73330" y="1486783"/>
            <a:ext cx="526255" cy="521970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34142" y="2438862"/>
            <a:ext cx="2924175" cy="460375"/>
          </a:xfrm>
          <a:prstGeom prst="rect">
            <a:avLst/>
          </a:prstGeom>
        </p:spPr>
        <p:txBody>
          <a:bodyPr wrap="none" lIns="9000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系统平台可扩展方向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451850" y="2944495"/>
            <a:ext cx="2854960" cy="274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4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）加入更多信号类型（语音爆破音、机械故障轴承信号）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思源黑体 CN Light" panose="020B0300000000000000" pitchFamily="34" charset="-122"/>
            </a:endParaRPr>
          </a:p>
          <a:p>
            <a:pPr algn="just" defTabSz="9144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）增加更多特征（MFCC、频谱熵、瞬时频率、Teager 能量）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思源黑体 CN Light" panose="020B0300000000000000" pitchFamily="34" charset="-122"/>
            </a:endParaRPr>
          </a:p>
          <a:p>
            <a:pPr algn="just" defTabSz="9144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）增加更多可调参数（不同窗函数、不同频段）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思源黑体 CN Light" panose="020B0300000000000000" pitchFamily="34" charset="-122"/>
            </a:endParaRPr>
          </a:p>
          <a:p>
            <a:pPr algn="just" defTabSz="914400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CN Light" panose="020B0300000000000000" pitchFamily="34" charset="-122"/>
              </a:rPr>
              <a:t>）支持实时音频采集与检测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8273560" y="1985923"/>
            <a:ext cx="725488" cy="900601"/>
          </a:xfrm>
          <a:custGeom>
            <a:avLst/>
            <a:gdLst>
              <a:gd name="connsiteX0" fmla="*/ 211555 w 619112"/>
              <a:gd name="connsiteY0" fmla="*/ 0 h 768549"/>
              <a:gd name="connsiteX1" fmla="*/ 619112 w 619112"/>
              <a:gd name="connsiteY1" fmla="*/ 0 h 768549"/>
              <a:gd name="connsiteX2" fmla="*/ 0 w 619112"/>
              <a:gd name="connsiteY2" fmla="*/ 768549 h 768549"/>
              <a:gd name="connsiteX3" fmla="*/ 0 w 619112"/>
              <a:gd name="connsiteY3" fmla="*/ 262619 h 76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112" h="768549">
                <a:moveTo>
                  <a:pt x="211555" y="0"/>
                </a:moveTo>
                <a:lnTo>
                  <a:pt x="619112" y="0"/>
                </a:lnTo>
                <a:lnTo>
                  <a:pt x="0" y="768549"/>
                </a:lnTo>
                <a:lnTo>
                  <a:pt x="0" y="2626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73561" y="2023399"/>
            <a:ext cx="526255" cy="521970"/>
          </a:xfrm>
          <a:prstGeom prst="rect">
            <a:avLst/>
          </a:prstGeom>
        </p:spPr>
        <p:txBody>
          <a:bodyPr wrap="square" lIns="9000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660400" y="5818190"/>
            <a:ext cx="32453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4473330" y="5284708"/>
            <a:ext cx="32453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273561" y="5818190"/>
            <a:ext cx="324533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17"/>
          <p:cNvSpPr txBox="1"/>
          <p:nvPr/>
        </p:nvSpPr>
        <p:spPr>
          <a:xfrm>
            <a:off x="560082" y="1012567"/>
            <a:ext cx="23586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讨论与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拓展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09800" y="2266950"/>
            <a:ext cx="7772400" cy="1470025"/>
          </a:xfrm>
        </p:spPr>
        <p:txBody>
          <a:bodyPr/>
          <a:lstStyle/>
          <a:p>
            <a:endParaRPr lang="zh-CN" altLang="zh-CN"/>
          </a:p>
        </p:txBody>
      </p:sp>
      <p:sp>
        <p:nvSpPr>
          <p:cNvPr id="3075" name="矩形 3"/>
          <p:cNvSpPr>
            <a:spLocks noChangeArrowheads="1"/>
          </p:cNvSpPr>
          <p:nvPr/>
        </p:nvSpPr>
        <p:spPr bwMode="auto">
          <a:xfrm>
            <a:off x="0" y="1722438"/>
            <a:ext cx="12192000" cy="28305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文本框 34"/>
          <p:cNvSpPr txBox="1">
            <a:spLocks noChangeArrowheads="1"/>
          </p:cNvSpPr>
          <p:nvPr/>
        </p:nvSpPr>
        <p:spPr bwMode="auto">
          <a:xfrm>
            <a:off x="784225" y="1988840"/>
            <a:ext cx="10623550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6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感谢各位专家聆听</a:t>
            </a:r>
            <a:endParaRPr lang="en-US" altLang="zh-CN" sz="6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6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敬请批评指正</a:t>
            </a:r>
            <a:endParaRPr lang="zh-CN" altLang="en-US" sz="6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85" name="文本框 34"/>
          <p:cNvSpPr txBox="1">
            <a:spLocks noChangeArrowheads="1"/>
          </p:cNvSpPr>
          <p:nvPr/>
        </p:nvSpPr>
        <p:spPr bwMode="auto">
          <a:xfrm>
            <a:off x="1303655" y="3951605"/>
            <a:ext cx="94011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通信工程学院        通信</a:t>
            </a:r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工程专业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11*266"/>
  <p:tag name="TABLE_ENDDRAG_RECT" val="37*105*811*266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浙大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1E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浙大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1E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2885</Words>
  <Application>WPS 演示</Application>
  <PresentationFormat>宽屏</PresentationFormat>
  <Paragraphs>263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Calibri Light</vt:lpstr>
      <vt:lpstr>Calibri</vt:lpstr>
      <vt:lpstr>微软雅黑</vt:lpstr>
      <vt:lpstr>Times New Roman</vt:lpstr>
      <vt:lpstr>华文细黑</vt:lpstr>
      <vt:lpstr>思源黑体 CN Bold</vt:lpstr>
      <vt:lpstr>黑体</vt:lpstr>
      <vt:lpstr>思源黑体 Normal</vt:lpstr>
      <vt:lpstr>OPPOSans R</vt:lpstr>
      <vt:lpstr>Times New Roman Bold</vt:lpstr>
      <vt:lpstr>等线</vt:lpstr>
      <vt:lpstr>阿里巴巴普惠体 3.0 65 Medium</vt:lpstr>
      <vt:lpstr>阿里巴巴普惠体 3 65 Medium</vt:lpstr>
      <vt:lpstr>等线 Light</vt:lpstr>
      <vt:lpstr>Arial Unicode MS</vt:lpstr>
      <vt:lpstr>思源黑体 CN Light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笑应动人</cp:lastModifiedBy>
  <cp:revision>58</cp:revision>
  <dcterms:created xsi:type="dcterms:W3CDTF">2016-12-02T08:56:00Z</dcterms:created>
  <dcterms:modified xsi:type="dcterms:W3CDTF">2025-12-01T06:38:00Z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2052-12.8.2.17838</vt:lpwstr>
  </property>
  <property fmtid="{D5CDD505-2E9C-101B-9397-08002B2CF9AE}" pid="3" name="ICV">
    <vt:lpwstr>E76B455257184DC98A49A44BAF71D23F_13</vt:lpwstr>
  </property>
</Properties>
</file>